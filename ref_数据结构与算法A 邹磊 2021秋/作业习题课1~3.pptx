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5"/>
  </p:notesMasterIdLst>
  <p:sldIdLst>
    <p:sldId id="636" r:id="rId3"/>
    <p:sldId id="641" r:id="rId4"/>
    <p:sldId id="661" r:id="rId5"/>
    <p:sldId id="663" r:id="rId6"/>
    <p:sldId id="662" r:id="rId7"/>
    <p:sldId id="665" r:id="rId8"/>
    <p:sldId id="666" r:id="rId9"/>
    <p:sldId id="664" r:id="rId10"/>
    <p:sldId id="667" r:id="rId11"/>
    <p:sldId id="668" r:id="rId12"/>
    <p:sldId id="670" r:id="rId13"/>
    <p:sldId id="671" r:id="rId14"/>
    <p:sldId id="672" r:id="rId15"/>
    <p:sldId id="673" r:id="rId16"/>
    <p:sldId id="677" r:id="rId17"/>
    <p:sldId id="675" r:id="rId18"/>
    <p:sldId id="676" r:id="rId19"/>
    <p:sldId id="678" r:id="rId20"/>
    <p:sldId id="679" r:id="rId21"/>
    <p:sldId id="680" r:id="rId22"/>
    <p:sldId id="681" r:id="rId23"/>
    <p:sldId id="683" r:id="rId24"/>
    <p:sldId id="682" r:id="rId25"/>
    <p:sldId id="684" r:id="rId26"/>
    <p:sldId id="685" r:id="rId27"/>
    <p:sldId id="686" r:id="rId28"/>
    <p:sldId id="687" r:id="rId29"/>
    <p:sldId id="689" r:id="rId30"/>
    <p:sldId id="690" r:id="rId31"/>
    <p:sldId id="691" r:id="rId32"/>
    <p:sldId id="692" r:id="rId33"/>
    <p:sldId id="693"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8110" autoAdjust="0"/>
  </p:normalViewPr>
  <p:slideViewPr>
    <p:cSldViewPr snapToGrid="0">
      <p:cViewPr varScale="1">
        <p:scale>
          <a:sx n="99" d="100"/>
          <a:sy n="99" d="100"/>
        </p:scale>
        <p:origin x="10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420A0-3F76-4ED5-A491-A6D4F2E8A782}" type="datetimeFigureOut">
              <a:rPr lang="zh-CN" altLang="en-US" smtClean="0"/>
              <a:t>2021/10/20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F472E-0071-4A33-8625-5340564E53A3}" type="slidenum">
              <a:rPr lang="zh-CN" altLang="en-US" smtClean="0"/>
              <a:t>‹#›</a:t>
            </a:fld>
            <a:endParaRPr lang="zh-CN" altLang="en-US"/>
          </a:p>
        </p:txBody>
      </p:sp>
    </p:spTree>
    <p:extLst>
      <p:ext uri="{BB962C8B-B14F-4D97-AF65-F5344CB8AC3E}">
        <p14:creationId xmlns:p14="http://schemas.microsoft.com/office/powerpoint/2010/main" val="281017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794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程序</a:t>
            </a:r>
            <a:r>
              <a:rPr lang="en-US" altLang="zh-CN"/>
              <a:t>=</a:t>
            </a:r>
            <a:r>
              <a:rPr lang="zh-CN" altLang="en-US"/>
              <a:t>数据结构</a:t>
            </a:r>
            <a:r>
              <a:rPr lang="en-US" altLang="zh-CN"/>
              <a:t>+</a:t>
            </a:r>
            <a:r>
              <a:rPr lang="zh-CN" altLang="en-US"/>
              <a:t>算法</a:t>
            </a:r>
            <a:endParaRPr lang="en-US" altLang="zh-CN"/>
          </a:p>
          <a:p>
            <a:endParaRPr lang="en-US" altLang="zh-CN"/>
          </a:p>
          <a:p>
            <a:r>
              <a:rPr lang="zh-CN" altLang="en-US"/>
              <a:t>本章重点要掌握的：几个概念；算法时间和空间复杂度分析</a:t>
            </a:r>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1380055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4029638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3573129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112800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698752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3046685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几个主要错误：</a:t>
            </a:r>
            <a:r>
              <a:rPr lang="en-US" altLang="zh-CN" dirty="0"/>
              <a:t>theta</a:t>
            </a:r>
            <a:r>
              <a:rPr lang="zh-CN" altLang="en-US" dirty="0"/>
              <a:t>的概念不清楚，只写了一边</a:t>
            </a:r>
            <a:endParaRPr lang="en-US" altLang="zh-CN" dirty="0"/>
          </a:p>
          <a:p>
            <a:r>
              <a:rPr lang="zh-CN" altLang="en-US" dirty="0"/>
              <a:t>没有用定义证明，讲的很不清楚。因为</a:t>
            </a:r>
            <a:r>
              <a:rPr lang="en-US" altLang="zh-CN" dirty="0" err="1"/>
              <a:t>limb^n</a:t>
            </a:r>
            <a:r>
              <a:rPr lang="en-US" altLang="zh-CN" dirty="0"/>
              <a:t>/</a:t>
            </a:r>
            <a:r>
              <a:rPr lang="en-US" altLang="zh-CN" dirty="0" err="1"/>
              <a:t>a^n</a:t>
            </a:r>
            <a:r>
              <a:rPr lang="en-US" altLang="zh-CN" dirty="0"/>
              <a:t>=0</a:t>
            </a:r>
            <a:r>
              <a:rPr lang="zh-CN" altLang="en-US" dirty="0"/>
              <a:t>可知结论成立。</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3385708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149781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本章重点：顺序表和链表的概念、增删改查操作、与顺序表和链表相关的算法设计</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3414858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2156316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线性表的存储结构分为顺序表和链表，题目指定是顺序表，就不能用链表</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41851470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方法</a:t>
            </a:r>
            <a:r>
              <a:rPr lang="en-US" altLang="zh-CN" dirty="0"/>
              <a:t>1</a:t>
            </a:r>
            <a:r>
              <a:rPr lang="zh-CN" altLang="en-US" dirty="0"/>
              <a:t>，时间</a:t>
            </a:r>
            <a:r>
              <a:rPr lang="en-US" altLang="zh-CN" dirty="0"/>
              <a:t>O(n^2)</a:t>
            </a:r>
          </a:p>
          <a:p>
            <a:endParaRPr lang="en-US" altLang="zh-CN" dirty="0"/>
          </a:p>
          <a:p>
            <a:r>
              <a:rPr lang="zh-CN" altLang="en-US" dirty="0"/>
              <a:t>或者遇到相同之后一直向后遍历，直到找到两个不相同的跳出循环，再通过集体左移删除元素，复杂度依然为</a:t>
            </a:r>
            <a:r>
              <a:rPr lang="en-US" altLang="zh-CN" dirty="0"/>
              <a:t>O(n^2)</a:t>
            </a:r>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459826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方法</a:t>
            </a:r>
            <a:r>
              <a:rPr lang="en-US" altLang="zh-CN" dirty="0"/>
              <a:t>2</a:t>
            </a:r>
            <a:r>
              <a:rPr lang="zh-CN" altLang="en-US" dirty="0"/>
              <a:t>，用一个变量记录位置，时间</a:t>
            </a:r>
            <a:r>
              <a:rPr lang="en-US" altLang="zh-CN" dirty="0"/>
              <a:t>O(n)</a:t>
            </a:r>
          </a:p>
          <a:p>
            <a:r>
              <a:rPr lang="en-US" altLang="zh-CN" dirty="0"/>
              <a:t>A[0]</a:t>
            </a:r>
            <a:r>
              <a:rPr lang="zh-CN" altLang="en-US" dirty="0"/>
              <a:t>不用动，直接从</a:t>
            </a:r>
            <a:r>
              <a:rPr lang="en-US" altLang="zh-CN" dirty="0"/>
              <a:t>A[1]</a:t>
            </a:r>
            <a:r>
              <a:rPr lang="zh-CN" altLang="en-US" dirty="0"/>
              <a:t>开始</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14</a:t>
            </a:fld>
            <a:endParaRPr lang="zh-CN" altLang="en-US"/>
          </a:p>
        </p:txBody>
      </p:sp>
    </p:spTree>
    <p:extLst>
      <p:ext uri="{BB962C8B-B14F-4D97-AF65-F5344CB8AC3E}">
        <p14:creationId xmlns:p14="http://schemas.microsoft.com/office/powerpoint/2010/main" val="585767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一个典型的错误方法</a:t>
            </a:r>
            <a:endParaRPr lang="en-US" altLang="zh-CN" dirty="0"/>
          </a:p>
          <a:p>
            <a:r>
              <a:rPr lang="en-US" altLang="zh-CN" dirty="0"/>
              <a:t>A[</a:t>
            </a:r>
            <a:r>
              <a:rPr lang="en-US" altLang="zh-CN" dirty="0" err="1"/>
              <a:t>i</a:t>
            </a:r>
            <a:r>
              <a:rPr lang="en-US" altLang="zh-CN" dirty="0"/>
              <a:t>]</a:t>
            </a:r>
            <a:r>
              <a:rPr lang="zh-CN" altLang="en-US" dirty="0"/>
              <a:t> </a:t>
            </a:r>
            <a:r>
              <a:rPr lang="en-US" altLang="zh-CN" dirty="0"/>
              <a:t>=</a:t>
            </a:r>
            <a:r>
              <a:rPr lang="zh-CN" altLang="en-US" dirty="0"/>
              <a:t> </a:t>
            </a:r>
            <a:r>
              <a:rPr lang="en-US" altLang="zh-CN" dirty="0"/>
              <a:t>A[</a:t>
            </a:r>
            <a:r>
              <a:rPr lang="en-US" altLang="zh-CN" dirty="0" err="1"/>
              <a:t>i+tmp</a:t>
            </a:r>
            <a:r>
              <a:rPr lang="en-US" altLang="zh-CN" dirty="0"/>
              <a:t>]</a:t>
            </a:r>
            <a:r>
              <a:rPr lang="zh-CN" altLang="en-US" dirty="0"/>
              <a:t>的逻辑也有问题，连续多个重复时未成功删除</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15</a:t>
            </a:fld>
            <a:endParaRPr lang="zh-CN" altLang="en-US"/>
          </a:p>
        </p:txBody>
      </p:sp>
    </p:spTree>
    <p:extLst>
      <p:ext uri="{BB962C8B-B14F-4D97-AF65-F5344CB8AC3E}">
        <p14:creationId xmlns:p14="http://schemas.microsoft.com/office/powerpoint/2010/main" val="590243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这一题用栈没扣分，但是考试的时候复杂度较高的算法会影响成绩。</a:t>
            </a:r>
            <a:endParaRPr lang="en-US" altLang="zh-CN" dirty="0"/>
          </a:p>
          <a:p>
            <a:endParaRPr lang="en-US" altLang="zh-CN" dirty="0"/>
          </a:p>
          <a:p>
            <a:r>
              <a:rPr lang="zh-CN" altLang="en-US" dirty="0"/>
              <a:t>分析时间和空间复杂度，有同学漏了一部分。</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16</a:t>
            </a:fld>
            <a:endParaRPr lang="zh-CN" altLang="en-US"/>
          </a:p>
        </p:txBody>
      </p:sp>
    </p:spTree>
    <p:extLst>
      <p:ext uri="{BB962C8B-B14F-4D97-AF65-F5344CB8AC3E}">
        <p14:creationId xmlns:p14="http://schemas.microsoft.com/office/powerpoint/2010/main" val="1730243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有的同学作业写的非常漂亮</a:t>
            </a:r>
            <a:endParaRPr lang="en-US" altLang="zh-CN" dirty="0"/>
          </a:p>
          <a:p>
            <a:r>
              <a:rPr lang="zh-CN" altLang="en-US" dirty="0"/>
              <a:t>有的就手写了几行很乱的代码，命名不规范，也不说清楚几个指针代表什么意思，思路也不清晰。</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17</a:t>
            </a:fld>
            <a:endParaRPr lang="zh-CN" altLang="en-US"/>
          </a:p>
        </p:txBody>
      </p:sp>
    </p:spTree>
    <p:extLst>
      <p:ext uri="{BB962C8B-B14F-4D97-AF65-F5344CB8AC3E}">
        <p14:creationId xmlns:p14="http://schemas.microsoft.com/office/powerpoint/2010/main" val="4612913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18</a:t>
            </a:fld>
            <a:endParaRPr lang="zh-CN" altLang="en-US"/>
          </a:p>
        </p:txBody>
      </p:sp>
    </p:spTree>
    <p:extLst>
      <p:ext uri="{BB962C8B-B14F-4D97-AF65-F5344CB8AC3E}">
        <p14:creationId xmlns:p14="http://schemas.microsoft.com/office/powerpoint/2010/main" val="3880163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几个错误案例，不展开了</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extLst>
      <p:ext uri="{BB962C8B-B14F-4D97-AF65-F5344CB8AC3E}">
        <p14:creationId xmlns:p14="http://schemas.microsoft.com/office/powerpoint/2010/main" val="2936715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6725704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21</a:t>
            </a:fld>
            <a:endParaRPr lang="zh-CN" altLang="en-US"/>
          </a:p>
        </p:txBody>
      </p:sp>
    </p:spTree>
    <p:extLst>
      <p:ext uri="{BB962C8B-B14F-4D97-AF65-F5344CB8AC3E}">
        <p14:creationId xmlns:p14="http://schemas.microsoft.com/office/powerpoint/2010/main" val="4190106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22</a:t>
            </a:fld>
            <a:endParaRPr lang="zh-CN" altLang="en-US"/>
          </a:p>
        </p:txBody>
      </p:sp>
    </p:spTree>
    <p:extLst>
      <p:ext uri="{BB962C8B-B14F-4D97-AF65-F5344CB8AC3E}">
        <p14:creationId xmlns:p14="http://schemas.microsoft.com/office/powerpoint/2010/main" val="1439165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23</a:t>
            </a:fld>
            <a:endParaRPr lang="zh-CN" altLang="en-US"/>
          </a:p>
        </p:txBody>
      </p:sp>
    </p:spTree>
    <p:extLst>
      <p:ext uri="{BB962C8B-B14F-4D97-AF65-F5344CB8AC3E}">
        <p14:creationId xmlns:p14="http://schemas.microsoft.com/office/powerpoint/2010/main" val="1339649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求环的长度：可以保存相遇点，计数下一次走到相遇点的长度，也是一样的</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24</a:t>
            </a:fld>
            <a:endParaRPr lang="zh-CN" altLang="en-US"/>
          </a:p>
        </p:txBody>
      </p:sp>
    </p:spTree>
    <p:extLst>
      <p:ext uri="{BB962C8B-B14F-4D97-AF65-F5344CB8AC3E}">
        <p14:creationId xmlns:p14="http://schemas.microsoft.com/office/powerpoint/2010/main" val="1696286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重点：栈的操作和应用</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25</a:t>
            </a:fld>
            <a:endParaRPr lang="zh-CN" altLang="en-US"/>
          </a:p>
        </p:txBody>
      </p:sp>
    </p:spTree>
    <p:extLst>
      <p:ext uri="{BB962C8B-B14F-4D97-AF65-F5344CB8AC3E}">
        <p14:creationId xmlns:p14="http://schemas.microsoft.com/office/powerpoint/2010/main" val="4134369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26</a:t>
            </a:fld>
            <a:endParaRPr lang="zh-CN" altLang="en-US"/>
          </a:p>
        </p:txBody>
      </p:sp>
    </p:spTree>
    <p:extLst>
      <p:ext uri="{BB962C8B-B14F-4D97-AF65-F5344CB8AC3E}">
        <p14:creationId xmlns:p14="http://schemas.microsoft.com/office/powerpoint/2010/main" val="1537201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或者按老师上课讲过的方法</a:t>
            </a:r>
            <a:endParaRPr lang="en-US" altLang="zh-CN" dirty="0"/>
          </a:p>
          <a:p>
            <a:r>
              <a:rPr lang="en-US" altLang="zh-CN" dirty="0"/>
              <a:t>S1</a:t>
            </a:r>
            <a:r>
              <a:rPr lang="zh-CN" altLang="en-US" dirty="0"/>
              <a:t>作基础栈，</a:t>
            </a:r>
            <a:r>
              <a:rPr lang="en-US" altLang="zh-CN" dirty="0"/>
              <a:t>S2</a:t>
            </a:r>
            <a:r>
              <a:rPr lang="zh-CN" altLang="en-US" dirty="0"/>
              <a:t>作辅助栈</a:t>
            </a:r>
            <a:endParaRPr lang="en-US" altLang="zh-CN" dirty="0"/>
          </a:p>
          <a:p>
            <a:r>
              <a:rPr lang="zh-CN" altLang="en-US" dirty="0"/>
              <a:t>入队列直接放入</a:t>
            </a:r>
            <a:r>
              <a:rPr lang="en-US" altLang="zh-CN" dirty="0"/>
              <a:t>S1</a:t>
            </a:r>
            <a:r>
              <a:rPr lang="zh-CN" altLang="en-US" dirty="0"/>
              <a:t>，出队列先将</a:t>
            </a:r>
            <a:r>
              <a:rPr lang="en-US" altLang="zh-CN" dirty="0"/>
              <a:t>S1pop</a:t>
            </a:r>
            <a:r>
              <a:rPr lang="zh-CN" altLang="en-US" dirty="0"/>
              <a:t>出来放入</a:t>
            </a:r>
            <a:r>
              <a:rPr lang="en-US" altLang="zh-CN" dirty="0"/>
              <a:t>S2</a:t>
            </a:r>
            <a:r>
              <a:rPr lang="zh-CN" altLang="en-US" dirty="0"/>
              <a:t>，删除栈顶元素后，再将元素导回</a:t>
            </a:r>
            <a:r>
              <a:rPr lang="en-US" altLang="zh-CN" dirty="0"/>
              <a:t>S1</a:t>
            </a:r>
          </a:p>
          <a:p>
            <a:endParaRPr lang="en-US" altLang="zh-CN" dirty="0"/>
          </a:p>
          <a:p>
            <a:r>
              <a:rPr lang="zh-CN" altLang="en-US" dirty="0"/>
              <a:t>另一个类似问题：用两个队列模拟一个栈</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27</a:t>
            </a:fld>
            <a:endParaRPr lang="zh-CN" altLang="en-US"/>
          </a:p>
        </p:txBody>
      </p:sp>
    </p:spTree>
    <p:extLst>
      <p:ext uri="{BB962C8B-B14F-4D97-AF65-F5344CB8AC3E}">
        <p14:creationId xmlns:p14="http://schemas.microsoft.com/office/powerpoint/2010/main" val="21641318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会做的基本都对</a:t>
            </a:r>
            <a:endParaRPr lang="en-US" altLang="zh-CN" dirty="0"/>
          </a:p>
          <a:p>
            <a:r>
              <a:rPr lang="zh-CN" altLang="en-US" dirty="0"/>
              <a:t>但是有几个问题：只给出了递归式没有求出表达式；表达式求错了；要求写出推导过程，不能只给一个结果</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28</a:t>
            </a:fld>
            <a:endParaRPr lang="zh-CN" altLang="en-US"/>
          </a:p>
        </p:txBody>
      </p:sp>
    </p:spTree>
    <p:extLst>
      <p:ext uri="{BB962C8B-B14F-4D97-AF65-F5344CB8AC3E}">
        <p14:creationId xmlns:p14="http://schemas.microsoft.com/office/powerpoint/2010/main" val="14342457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会做的基本都对</a:t>
            </a:r>
            <a:endParaRPr lang="en-US" altLang="zh-CN" dirty="0"/>
          </a:p>
          <a:p>
            <a:r>
              <a:rPr lang="zh-CN" altLang="en-US" dirty="0"/>
              <a:t>但是有几个问题：只给出了递归式没有求出表达式；表达式求错了；要求写出推导过程，不能只给一个结果</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29</a:t>
            </a:fld>
            <a:endParaRPr lang="zh-CN" altLang="en-US"/>
          </a:p>
        </p:txBody>
      </p:sp>
    </p:spTree>
    <p:extLst>
      <p:ext uri="{BB962C8B-B14F-4D97-AF65-F5344CB8AC3E}">
        <p14:creationId xmlns:p14="http://schemas.microsoft.com/office/powerpoint/2010/main" val="40164372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证明充分必要条件，不能只简单写几句话，或者只证了必要性</a:t>
            </a:r>
            <a:endParaRPr lang="en-US" altLang="zh-CN" dirty="0"/>
          </a:p>
          <a:p>
            <a:r>
              <a:rPr lang="zh-CN" altLang="en-US" dirty="0"/>
              <a:t>没扣分并不代表写的没问题</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30</a:t>
            </a:fld>
            <a:endParaRPr lang="zh-CN" altLang="en-US"/>
          </a:p>
        </p:txBody>
      </p:sp>
    </p:spTree>
    <p:extLst>
      <p:ext uri="{BB962C8B-B14F-4D97-AF65-F5344CB8AC3E}">
        <p14:creationId xmlns:p14="http://schemas.microsoft.com/office/powerpoint/2010/main" val="232526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证明充分必要条件，不能只简单写几句话，或者只证了必要性</a:t>
            </a:r>
          </a:p>
        </p:txBody>
      </p:sp>
      <p:sp>
        <p:nvSpPr>
          <p:cNvPr id="4" name="灯片编号占位符 3"/>
          <p:cNvSpPr>
            <a:spLocks noGrp="1"/>
          </p:cNvSpPr>
          <p:nvPr>
            <p:ph type="sldNum" sz="quarter" idx="5"/>
          </p:nvPr>
        </p:nvSpPr>
        <p:spPr/>
        <p:txBody>
          <a:bodyPr/>
          <a:lstStyle/>
          <a:p>
            <a:fld id="{C2A75D99-2AE7-49F1-BB03-59E2BF5579C1}" type="slidenum">
              <a:rPr lang="zh-CN" altLang="en-US" smtClean="0"/>
              <a:t>31</a:t>
            </a:fld>
            <a:endParaRPr lang="zh-CN" altLang="en-US"/>
          </a:p>
        </p:txBody>
      </p:sp>
    </p:spTree>
    <p:extLst>
      <p:ext uri="{BB962C8B-B14F-4D97-AF65-F5344CB8AC3E}">
        <p14:creationId xmlns:p14="http://schemas.microsoft.com/office/powerpoint/2010/main" val="3778157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32</a:t>
            </a:fld>
            <a:endParaRPr lang="zh-CN" altLang="en-US"/>
          </a:p>
        </p:txBody>
      </p:sp>
    </p:spTree>
    <p:extLst>
      <p:ext uri="{BB962C8B-B14F-4D97-AF65-F5344CB8AC3E}">
        <p14:creationId xmlns:p14="http://schemas.microsoft.com/office/powerpoint/2010/main" val="319746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CDDDB-7C04-43BB-B204-99FA124806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8CFC805-7917-48EC-805A-2CDF4658F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51A655-FC12-4240-BC77-7D89C7F65AF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2CC8E920-EF2D-43B5-9513-4595EC634E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0D34B5-488D-4162-B02D-C0C02CB73BF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60783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D7DA1-8149-4B8D-AA7B-1F5B718BC8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555B50-8915-463E-B918-52B377F3C7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39FFA-9327-4A3F-8200-D3B98890EF5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472A232-10B9-41D9-8C1A-AA6845C8C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6635C-4DD4-4BD6-9665-77FC7967D6E3}"/>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75778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CF8C7-C500-4CD5-919A-6158C0A98B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A622C59-50AB-4CA0-ABB4-19121B2CB9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637927-D423-47BA-81E7-D7F673B3F9F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F96632F-57AF-42C2-BF3D-26EC04CD15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EED63-73F5-4B28-85B3-EB0E111DD53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09161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3F96F-7DD6-4BD3-A4DD-E926D908C7F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952CFA7-876F-47DC-B8BA-C85F223CF6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410C0FD-C516-4F24-9F24-F42355ED5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DEB56BC-AD95-4D55-9455-77D5C3830CE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09EDFDC-ACD9-4A34-9FA4-883F581419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DE2F23-F480-4748-A48A-0D1246EC923B}"/>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37237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6208E-2116-4025-9950-D2377645E0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32A21E-D3DD-4E75-9E9D-5C87E58009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6935C11-C5A7-4027-A22E-2B5603FF2C7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FF8F6-7481-4B06-8307-A502AAAC5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6295B9C-91E8-49F9-B732-E2DE98BBA38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025AD6A-914A-4DB7-B086-FF500B740324}"/>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95E0EA91-9490-4EF3-B946-287B34C8DC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A198CA2-E0C2-4680-A081-EBDDE080B73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96636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5F21C-2793-4194-9317-83472E45025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DC048B-AD09-49AD-8287-8D547C72D39E}"/>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CBD866D6-52ED-4B0D-8F41-018C32C882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6A4FCF-F27B-4CA0-B605-ADE6FFF16A4F}"/>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52928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059181-E631-4B1A-B924-AAE3387B4FF5}"/>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9E53192E-9287-4663-ADDB-F5AFDF1816B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DACA25-9278-464F-8666-9DC9169A437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83002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4CE83-CC4A-46A2-926E-86FCE3F602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ECA719-D570-4E10-9D1E-229A3D42C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024995A-89A0-4592-A926-56262C1AE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D6E123-2FC6-4326-BA9A-07F9A90EAE0D}"/>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6A53CF9C-BAF2-4797-B080-82A6B7AD77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94C22E-DFC8-4B43-A045-AB522FF5E674}"/>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404331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9D47B-2BDC-4EF9-AEE6-4C3EBC08CF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369BA18-19EC-45BC-A79C-FA87924E9A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89C145-EC25-45E8-8F71-0C6B999DF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150F4F-EB4A-4FF4-9570-B0428773AC8B}"/>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7579902-1D8B-45E1-9590-ACC4232962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1B7CD1-1E91-41AC-B562-22A10AA9B18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20465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C5E82-EDF4-45B8-849A-A6BDAED781F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158223-16E4-4600-9456-B701B66F7E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E94BA3-459C-42E9-8838-765D95B1758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CFEFDACB-73A9-48BD-BB89-6307904423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BE8F70-83B9-4DE2-B6C3-04BB4405071C}"/>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09136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6DCCE4-4877-48D6-A11D-F2258F91CC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76EED3-3CCE-4E4C-AB19-B381F90F07E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DA9827-18D4-4B85-ACD5-404A80D70D8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67CFEE7-8E70-44B3-B67B-2095302356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30CEA0-AC33-4CFF-84D3-425421F9E6D9}"/>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671551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2553958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14381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21624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363003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710524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07460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64201858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7631627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56740207"/>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302374986"/>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31753214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734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347991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741431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78707024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392112008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47247552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82842858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77855067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38028280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3455C0-832D-42B5-87CA-98983ACE7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F2D6243-D774-493B-A6CB-55BA5AC17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DB6C0E-2F8F-4954-AD0C-342D1686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FCB4F914-6D13-4D21-B73D-FFA3F0B9D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C55A3A-A704-474B-876D-9A80CCBAA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001298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48299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hyperlink" Target="https://www.cnblogs.com/tojian/p/10055036.html" TargetMode="External"/><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1.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60D80825-8C48-474D-87A6-364ABCC81FF0}"/>
              </a:ext>
            </a:extLst>
          </p:cNvPr>
          <p:cNvSpPr/>
          <p:nvPr/>
        </p:nvSpPr>
        <p:spPr>
          <a:xfrm>
            <a:off x="1" y="2698230"/>
            <a:ext cx="12192000" cy="17355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3" name="矩形 122">
            <a:extLst>
              <a:ext uri="{FF2B5EF4-FFF2-40B4-BE49-F238E27FC236}">
                <a16:creationId xmlns:a16="http://schemas.microsoft.com/office/drawing/2014/main" id="{A83A5D28-9D83-48F5-9E5A-9FE4B0EEFCD2}"/>
              </a:ext>
            </a:extLst>
          </p:cNvPr>
          <p:cNvSpPr/>
          <p:nvPr/>
        </p:nvSpPr>
        <p:spPr>
          <a:xfrm>
            <a:off x="1622712" y="3182291"/>
            <a:ext cx="8944132" cy="767390"/>
          </a:xfrm>
          <a:prstGeom prst="rect">
            <a:avLst/>
          </a:prstGeom>
        </p:spPr>
        <p:txBody>
          <a:bodyPr wrap="square">
            <a:spAutoFit/>
          </a:bodyPr>
          <a:lstStyle/>
          <a:p>
            <a:pPr algn="ctr">
              <a:lnSpc>
                <a:spcPct val="120000"/>
              </a:lnSpc>
              <a:defRPr sz="4000" b="1" spc="300">
                <a:solidFill>
                  <a:srgbClr val="FFFFFF"/>
                </a:solidFill>
                <a:latin typeface="Arial"/>
                <a:ea typeface="Arial"/>
                <a:cs typeface="Arial"/>
                <a:sym typeface="Arial"/>
              </a:defRPr>
            </a:pPr>
            <a:r>
              <a:rPr lang="en-US" altLang="zh-CN" dirty="0">
                <a:latin typeface="Microsoft YaHei"/>
                <a:ea typeface="Microsoft YaHei"/>
                <a:cs typeface="Microsoft YaHei"/>
                <a:sym typeface="Microsoft YaHei"/>
              </a:rPr>
              <a:t>2021</a:t>
            </a:r>
            <a:r>
              <a:rPr lang="zh-CN" altLang="en-US" dirty="0">
                <a:latin typeface="Microsoft YaHei"/>
                <a:ea typeface="Microsoft YaHei"/>
                <a:cs typeface="Microsoft YaHei"/>
                <a:sym typeface="Microsoft YaHei"/>
              </a:rPr>
              <a:t>数算一</a:t>
            </a:r>
            <a:r>
              <a:rPr lang="en-US" altLang="zh-CN" dirty="0">
                <a:latin typeface="Microsoft YaHei"/>
                <a:ea typeface="Microsoft YaHei"/>
                <a:cs typeface="Microsoft YaHei"/>
                <a:sym typeface="Microsoft YaHei"/>
              </a:rPr>
              <a:t>-</a:t>
            </a:r>
            <a:r>
              <a:rPr lang="zh-CN" altLang="en-US" dirty="0">
                <a:latin typeface="Microsoft YaHei"/>
                <a:ea typeface="Microsoft YaHei"/>
                <a:cs typeface="Microsoft YaHei"/>
                <a:sym typeface="Microsoft YaHei"/>
              </a:rPr>
              <a:t>三章习题课</a:t>
            </a:r>
          </a:p>
        </p:txBody>
      </p:sp>
      <p:grpSp>
        <p:nvGrpSpPr>
          <p:cNvPr id="119" name="组合 118">
            <a:extLst>
              <a:ext uri="{FF2B5EF4-FFF2-40B4-BE49-F238E27FC236}">
                <a16:creationId xmlns:a16="http://schemas.microsoft.com/office/drawing/2014/main" id="{6112D7F5-0BB5-439E-BE56-6514A6EF151C}"/>
              </a:ext>
            </a:extLst>
          </p:cNvPr>
          <p:cNvGrpSpPr/>
          <p:nvPr/>
        </p:nvGrpSpPr>
        <p:grpSpPr>
          <a:xfrm>
            <a:off x="5049188" y="326210"/>
            <a:ext cx="2093624" cy="2088742"/>
            <a:chOff x="2105799" y="20055838"/>
            <a:chExt cx="6748090" cy="6732363"/>
          </a:xfrm>
          <a:solidFill>
            <a:schemeClr val="accent1"/>
          </a:solidFill>
        </p:grpSpPr>
        <p:sp>
          <p:nvSpPr>
            <p:cNvPr id="120" name="Freeform 8">
              <a:extLst>
                <a:ext uri="{FF2B5EF4-FFF2-40B4-BE49-F238E27FC236}">
                  <a16:creationId xmlns:a16="http://schemas.microsoft.com/office/drawing/2014/main" id="{E2C71814-3CD5-4384-BD75-5B90DC1171A9}"/>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4" name="Freeform 42">
              <a:extLst>
                <a:ext uri="{FF2B5EF4-FFF2-40B4-BE49-F238E27FC236}">
                  <a16:creationId xmlns:a16="http://schemas.microsoft.com/office/drawing/2014/main" id="{26FE1644-E9DD-4D51-80EE-783310CEF052}"/>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5" name="Freeform 43">
              <a:extLst>
                <a:ext uri="{FF2B5EF4-FFF2-40B4-BE49-F238E27FC236}">
                  <a16:creationId xmlns:a16="http://schemas.microsoft.com/office/drawing/2014/main" id="{FD497158-79D6-46F7-966F-3425FA2B755F}"/>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6" name="Freeform 44">
              <a:extLst>
                <a:ext uri="{FF2B5EF4-FFF2-40B4-BE49-F238E27FC236}">
                  <a16:creationId xmlns:a16="http://schemas.microsoft.com/office/drawing/2014/main" id="{CFF5618C-E761-44F7-896F-4FE288C508CA}"/>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7" name="Freeform 45">
              <a:extLst>
                <a:ext uri="{FF2B5EF4-FFF2-40B4-BE49-F238E27FC236}">
                  <a16:creationId xmlns:a16="http://schemas.microsoft.com/office/drawing/2014/main" id="{D7446E18-F17A-4984-BCC6-B7E1F52DBA2C}"/>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8" name="Freeform 46">
              <a:extLst>
                <a:ext uri="{FF2B5EF4-FFF2-40B4-BE49-F238E27FC236}">
                  <a16:creationId xmlns:a16="http://schemas.microsoft.com/office/drawing/2014/main" id="{F6E61D19-7B2C-4497-B399-701EFE5F4B46}"/>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9" name="Freeform 47">
              <a:extLst>
                <a:ext uri="{FF2B5EF4-FFF2-40B4-BE49-F238E27FC236}">
                  <a16:creationId xmlns:a16="http://schemas.microsoft.com/office/drawing/2014/main" id="{7BAC70CB-898B-4A15-B1F7-C4CE85925914}"/>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0" name="Freeform 48">
              <a:extLst>
                <a:ext uri="{FF2B5EF4-FFF2-40B4-BE49-F238E27FC236}">
                  <a16:creationId xmlns:a16="http://schemas.microsoft.com/office/drawing/2014/main" id="{9F1A83BD-85A3-469B-AC00-6602A68BA1D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1" name="Freeform 49">
              <a:extLst>
                <a:ext uri="{FF2B5EF4-FFF2-40B4-BE49-F238E27FC236}">
                  <a16:creationId xmlns:a16="http://schemas.microsoft.com/office/drawing/2014/main" id="{F32EB500-90B0-4205-82ED-166B57C7E8B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2" name="Freeform 50">
              <a:extLst>
                <a:ext uri="{FF2B5EF4-FFF2-40B4-BE49-F238E27FC236}">
                  <a16:creationId xmlns:a16="http://schemas.microsoft.com/office/drawing/2014/main" id="{4F617127-BCBB-4A32-AAA8-36502E80FCF6}"/>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3" name="Freeform 51">
              <a:extLst>
                <a:ext uri="{FF2B5EF4-FFF2-40B4-BE49-F238E27FC236}">
                  <a16:creationId xmlns:a16="http://schemas.microsoft.com/office/drawing/2014/main" id="{897B8C90-DEB2-4158-B384-343B9267466E}"/>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4" name="Freeform 52">
              <a:extLst>
                <a:ext uri="{FF2B5EF4-FFF2-40B4-BE49-F238E27FC236}">
                  <a16:creationId xmlns:a16="http://schemas.microsoft.com/office/drawing/2014/main" id="{CB13675F-D179-44C4-BC0A-462F3976992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5" name="Freeform 53">
              <a:extLst>
                <a:ext uri="{FF2B5EF4-FFF2-40B4-BE49-F238E27FC236}">
                  <a16:creationId xmlns:a16="http://schemas.microsoft.com/office/drawing/2014/main" id="{E70B5CC0-D928-4EFD-B2C5-2F6F0CE8DBC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6" name="Freeform 54">
              <a:extLst>
                <a:ext uri="{FF2B5EF4-FFF2-40B4-BE49-F238E27FC236}">
                  <a16:creationId xmlns:a16="http://schemas.microsoft.com/office/drawing/2014/main" id="{4FBB0DCE-F889-4809-ACE2-3F2CF7BF726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7" name="Freeform 55">
              <a:extLst>
                <a:ext uri="{FF2B5EF4-FFF2-40B4-BE49-F238E27FC236}">
                  <a16:creationId xmlns:a16="http://schemas.microsoft.com/office/drawing/2014/main" id="{EFCD19A0-81A0-4BA3-B910-84F8654B5E34}"/>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8" name="Freeform 56">
              <a:extLst>
                <a:ext uri="{FF2B5EF4-FFF2-40B4-BE49-F238E27FC236}">
                  <a16:creationId xmlns:a16="http://schemas.microsoft.com/office/drawing/2014/main" id="{2CA3269D-9C7D-4B20-A5AE-325A8A0D4DB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9" name="Freeform 57">
              <a:extLst>
                <a:ext uri="{FF2B5EF4-FFF2-40B4-BE49-F238E27FC236}">
                  <a16:creationId xmlns:a16="http://schemas.microsoft.com/office/drawing/2014/main" id="{1B5FE221-3E48-4E96-B8E5-5FE1CD6CFF13}"/>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0" name="Freeform 58">
              <a:extLst>
                <a:ext uri="{FF2B5EF4-FFF2-40B4-BE49-F238E27FC236}">
                  <a16:creationId xmlns:a16="http://schemas.microsoft.com/office/drawing/2014/main" id="{0C80588D-DFE1-4FB4-962E-E3C92D9E11E7}"/>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1" name="Freeform 59">
              <a:extLst>
                <a:ext uri="{FF2B5EF4-FFF2-40B4-BE49-F238E27FC236}">
                  <a16:creationId xmlns:a16="http://schemas.microsoft.com/office/drawing/2014/main" id="{320EA19E-5EAD-4B80-911A-EBF3A28694B6}"/>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2" name="Freeform 60">
              <a:extLst>
                <a:ext uri="{FF2B5EF4-FFF2-40B4-BE49-F238E27FC236}">
                  <a16:creationId xmlns:a16="http://schemas.microsoft.com/office/drawing/2014/main" id="{CE249F1C-D798-4BD0-8FB9-089BB37E767F}"/>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3" name="Freeform 61">
              <a:extLst>
                <a:ext uri="{FF2B5EF4-FFF2-40B4-BE49-F238E27FC236}">
                  <a16:creationId xmlns:a16="http://schemas.microsoft.com/office/drawing/2014/main" id="{BC1A26E3-0AA5-4CA3-9984-A9FA381A1C0A}"/>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4" name="Freeform 62">
              <a:extLst>
                <a:ext uri="{FF2B5EF4-FFF2-40B4-BE49-F238E27FC236}">
                  <a16:creationId xmlns:a16="http://schemas.microsoft.com/office/drawing/2014/main" id="{019A6925-DD6B-4C29-B18F-663928AE5C79}"/>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5" name="Freeform 71">
              <a:extLst>
                <a:ext uri="{FF2B5EF4-FFF2-40B4-BE49-F238E27FC236}">
                  <a16:creationId xmlns:a16="http://schemas.microsoft.com/office/drawing/2014/main" id="{4E677B05-5C62-4629-A766-3F659E7E1A6A}"/>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2" name="文本框 1">
            <a:extLst>
              <a:ext uri="{FF2B5EF4-FFF2-40B4-BE49-F238E27FC236}">
                <a16:creationId xmlns:a16="http://schemas.microsoft.com/office/drawing/2014/main" id="{4803BD50-60D5-1E4D-AB2A-3FB1716057C4}"/>
              </a:ext>
            </a:extLst>
          </p:cNvPr>
          <p:cNvSpPr txBox="1"/>
          <p:nvPr/>
        </p:nvSpPr>
        <p:spPr>
          <a:xfrm>
            <a:off x="2429177" y="5719230"/>
            <a:ext cx="7572778" cy="943528"/>
          </a:xfrm>
          <a:prstGeom prst="rect">
            <a:avLst/>
          </a:prstGeom>
          <a:noFill/>
        </p:spPr>
        <p:txBody>
          <a:bodyPr wrap="square" rtlCol="0">
            <a:spAutoFit/>
          </a:bodyPr>
          <a:lstStyle/>
          <a:p>
            <a:pPr algn="ct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薛冰聪（助教） </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gn="ctr">
              <a:lnSpc>
                <a:spcPct val="150000"/>
              </a:lnSpc>
            </a:pP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xuebingcong@pku.edu.cn</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10185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a:latin typeface="微软雅黑"/>
                <a:ea typeface="微软雅黑"/>
                <a:sym typeface="微软雅黑"/>
              </a:rPr>
              <a:t>第一章</a:t>
            </a:r>
            <a:r>
              <a:rPr lang="en-US" altLang="zh-CN">
                <a:latin typeface="微软雅黑"/>
                <a:ea typeface="微软雅黑"/>
                <a:sym typeface="微软雅黑"/>
              </a:rPr>
              <a:t>-</a:t>
            </a:r>
            <a:r>
              <a:rPr lang="zh-CN" altLang="en-US">
                <a:latin typeface="微软雅黑"/>
                <a:ea typeface="微软雅黑"/>
                <a:sym typeface="微软雅黑"/>
              </a:rPr>
              <a:t>概论</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907913" y="982789"/>
            <a:ext cx="10142708" cy="509133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数据结构的三要素：逻辑结构、存储结构、运算</a:t>
            </a: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逻辑结构：线性结构、树型结构、图结构</a:t>
            </a: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存储结构：顺序、链接、索引、散列</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运算：增、删、改、遍历、排序等</a:t>
            </a: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算法：</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性质：通用性、有效性、确定性、有穷性</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分类：穷举、回溯、贪心、递归、动规等</a:t>
            </a: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算法分析：时间和空间的定量分析</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渐进分析：大</a:t>
            </a:r>
            <a:r>
              <a:rPr lang="en-US" altLang="zh-CN" sz="2200" kern="100" dirty="0">
                <a:latin typeface="宋体" panose="02010600030101010101" pitchFamily="2" charset="-122"/>
                <a:ea typeface="宋体" panose="02010600030101010101" pitchFamily="2" charset="-122"/>
              </a:rPr>
              <a:t>O</a:t>
            </a:r>
            <a:r>
              <a:rPr lang="zh-CN" altLang="en-US" sz="2200" kern="100" dirty="0">
                <a:latin typeface="宋体" panose="02010600030101010101" pitchFamily="2" charset="-122"/>
                <a:ea typeface="宋体" panose="02010600030101010101" pitchFamily="2" charset="-122"/>
              </a:rPr>
              <a:t>、</a:t>
            </a:r>
            <a:r>
              <a:rPr lang="el-GR" altLang="zh-CN" sz="2200" kern="100" dirty="0">
                <a:latin typeface="宋体" panose="02010600030101010101" pitchFamily="2" charset="-122"/>
                <a:ea typeface="宋体" panose="02010600030101010101" pitchFamily="2" charset="-122"/>
              </a:rPr>
              <a:t>Ω</a:t>
            </a:r>
            <a:r>
              <a:rPr lang="zh-CN" altLang="en-US" sz="2200" kern="100" dirty="0">
                <a:latin typeface="宋体" panose="02010600030101010101" pitchFamily="2" charset="-122"/>
                <a:ea typeface="宋体" panose="02010600030101010101" pitchFamily="2" charset="-122"/>
              </a:rPr>
              <a:t>、</a:t>
            </a:r>
            <a:r>
              <a:rPr lang="el-GR" altLang="zh-CN" sz="2200" kern="100" dirty="0">
                <a:latin typeface="宋体" panose="02010600030101010101" pitchFamily="2" charset="-122"/>
                <a:ea typeface="宋体" panose="02010600030101010101" pitchFamily="2" charset="-122"/>
              </a:rPr>
              <a:t>Θ</a:t>
            </a:r>
            <a:r>
              <a:rPr lang="zh-CN" altLang="en-US" sz="2200" kern="100" dirty="0">
                <a:latin typeface="宋体" panose="02010600030101010101" pitchFamily="2" charset="-122"/>
                <a:ea typeface="宋体" panose="02010600030101010101" pitchFamily="2" charset="-122"/>
              </a:rPr>
              <a:t>表示法</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最好、最坏、平均情况</a:t>
            </a:r>
          </a:p>
        </p:txBody>
      </p:sp>
    </p:spTree>
    <p:extLst>
      <p:ext uri="{BB962C8B-B14F-4D97-AF65-F5344CB8AC3E}">
        <p14:creationId xmlns:p14="http://schemas.microsoft.com/office/powerpoint/2010/main" val="4109697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a:latin typeface="微软雅黑"/>
                <a:ea typeface="微软雅黑"/>
                <a:sym typeface="微软雅黑"/>
              </a:rPr>
              <a:t>第一章</a:t>
            </a:r>
            <a:r>
              <a:rPr lang="en-US" altLang="zh-CN">
                <a:latin typeface="微软雅黑"/>
                <a:ea typeface="微软雅黑"/>
                <a:sym typeface="微软雅黑"/>
              </a:rPr>
              <a:t>-</a:t>
            </a:r>
            <a:r>
              <a:rPr lang="zh-CN" altLang="en-US">
                <a:latin typeface="微软雅黑"/>
                <a:ea typeface="微软雅黑"/>
                <a:sym typeface="微软雅黑"/>
              </a:rPr>
              <a:t>概论</a:t>
            </a:r>
            <a:r>
              <a:rPr lang="en-US" altLang="zh-CN">
                <a:latin typeface="微软雅黑"/>
                <a:ea typeface="微软雅黑"/>
                <a:sym typeface="微软雅黑"/>
              </a:rPr>
              <a:t>_</a:t>
            </a:r>
            <a:r>
              <a:rPr lang="zh-CN" altLang="en-US">
                <a:latin typeface="微软雅黑"/>
                <a:ea typeface="微软雅黑"/>
                <a:sym typeface="微软雅黑"/>
              </a:rPr>
              <a:t>作业</a:t>
            </a:r>
            <a:r>
              <a:rPr lang="en-US" altLang="zh-CN">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a:extLst>
              <a:ext uri="{FF2B5EF4-FFF2-40B4-BE49-F238E27FC236}">
                <a16:creationId xmlns:a16="http://schemas.microsoft.com/office/drawing/2014/main" id="{6972558C-6519-694B-898C-665998052A6C}"/>
              </a:ext>
            </a:extLst>
          </p:cNvPr>
          <p:cNvPicPr>
            <a:picLocks noChangeAspect="1"/>
          </p:cNvPicPr>
          <p:nvPr/>
        </p:nvPicPr>
        <p:blipFill>
          <a:blip r:embed="rId3"/>
          <a:stretch>
            <a:fillRect/>
          </a:stretch>
        </p:blipFill>
        <p:spPr>
          <a:xfrm>
            <a:off x="932180" y="1122098"/>
            <a:ext cx="9779000" cy="3175000"/>
          </a:xfrm>
          <a:prstGeom prst="rect">
            <a:avLst/>
          </a:prstGeom>
        </p:spPr>
      </p:pic>
    </p:spTree>
    <p:extLst>
      <p:ext uri="{BB962C8B-B14F-4D97-AF65-F5344CB8AC3E}">
        <p14:creationId xmlns:p14="http://schemas.microsoft.com/office/powerpoint/2010/main" val="627460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a:latin typeface="微软雅黑"/>
                <a:ea typeface="微软雅黑"/>
                <a:sym typeface="微软雅黑"/>
              </a:rPr>
              <a:t>第一章</a:t>
            </a:r>
            <a:r>
              <a:rPr lang="en-US" altLang="zh-CN">
                <a:latin typeface="微软雅黑"/>
                <a:ea typeface="微软雅黑"/>
                <a:sym typeface="微软雅黑"/>
              </a:rPr>
              <a:t>-</a:t>
            </a:r>
            <a:r>
              <a:rPr lang="zh-CN" altLang="en-US">
                <a:latin typeface="微软雅黑"/>
                <a:ea typeface="微软雅黑"/>
                <a:sym typeface="微软雅黑"/>
              </a:rPr>
              <a:t>概论</a:t>
            </a:r>
            <a:r>
              <a:rPr lang="en-US" altLang="zh-CN">
                <a:latin typeface="微软雅黑"/>
                <a:ea typeface="微软雅黑"/>
                <a:sym typeface="微软雅黑"/>
              </a:rPr>
              <a:t>_</a:t>
            </a:r>
            <a:r>
              <a:rPr lang="zh-CN" altLang="en-US">
                <a:latin typeface="微软雅黑"/>
                <a:ea typeface="微软雅黑"/>
                <a:sym typeface="微软雅黑"/>
              </a:rPr>
              <a:t>作业</a:t>
            </a:r>
            <a:r>
              <a:rPr lang="en-US" altLang="zh-CN">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1082293" y="4262702"/>
            <a:ext cx="10142708" cy="2044278"/>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注意审题：赋值语句、计算过程、准确的次数</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赋值语句：</a:t>
            </a:r>
            <a:r>
              <a:rPr lang="en-US" altLang="zh-CN" sz="2200" kern="100" dirty="0">
                <a:latin typeface="宋体" panose="02010600030101010101" pitchFamily="2" charset="-122"/>
                <a:ea typeface="宋体" panose="02010600030101010101" pitchFamily="2" charset="-122"/>
              </a:rPr>
              <a:t>a[</a:t>
            </a:r>
            <a:r>
              <a:rPr lang="en-US" altLang="zh-CN" sz="2200" kern="100" dirty="0" err="1">
                <a:latin typeface="宋体" panose="02010600030101010101" pitchFamily="2" charset="-122"/>
                <a:ea typeface="宋体" panose="02010600030101010101" pitchFamily="2" charset="-122"/>
              </a:rPr>
              <a:t>i</a:t>
            </a:r>
            <a:r>
              <a:rPr lang="en-US" altLang="zh-CN" sz="2200" kern="100" dirty="0">
                <a:latin typeface="宋体" panose="02010600030101010101" pitchFamily="2" charset="-122"/>
                <a:ea typeface="宋体" panose="02010600030101010101" pitchFamily="2" charset="-122"/>
              </a:rPr>
              <a:t>][j]</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1;</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i</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1;</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j</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n;</a:t>
            </a:r>
            <a:r>
              <a:rPr lang="zh-CN" altLang="en-US" sz="2200" kern="100" dirty="0">
                <a:latin typeface="宋体" panose="02010600030101010101" pitchFamily="2" charset="-122"/>
                <a:ea typeface="宋体" panose="02010600030101010101" pitchFamily="2" charset="-122"/>
              </a:rPr>
              <a:t> </a:t>
            </a:r>
            <a:r>
              <a:rPr lang="en-US" altLang="zh-CN" sz="2200" kern="100" dirty="0" err="1">
                <a:latin typeface="宋体" panose="02010600030101010101" pitchFamily="2" charset="-122"/>
                <a:ea typeface="宋体" panose="02010600030101010101" pitchFamily="2" charset="-122"/>
              </a:rPr>
              <a:t>i</a:t>
            </a:r>
            <a:r>
              <a:rPr lang="en-US" altLang="zh-CN" sz="2200" kern="100" dirty="0">
                <a:latin typeface="宋体" panose="02010600030101010101" pitchFamily="2" charset="-122"/>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j—</a:t>
            </a: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内层循环次数是</a:t>
            </a:r>
            <a:r>
              <a:rPr lang="en-US" altLang="zh-CN" sz="2200" kern="100" dirty="0">
                <a:latin typeface="宋体" panose="02010600030101010101" pitchFamily="2" charset="-122"/>
                <a:ea typeface="宋体" panose="02010600030101010101" pitchFamily="2" charset="-122"/>
              </a:rPr>
              <a:t>n-i+1</a:t>
            </a:r>
            <a:r>
              <a:rPr lang="zh-CN" altLang="en-US" sz="2200" kern="100" dirty="0">
                <a:latin typeface="宋体" panose="02010600030101010101" pitchFamily="2" charset="-122"/>
                <a:ea typeface="宋体" panose="02010600030101010101" pitchFamily="2" charset="-122"/>
              </a:rPr>
              <a:t>，不是</a:t>
            </a:r>
            <a:r>
              <a:rPr lang="en-US" altLang="zh-CN" sz="2200" kern="100" dirty="0">
                <a:latin typeface="宋体" panose="02010600030101010101" pitchFamily="2" charset="-122"/>
                <a:ea typeface="宋体" panose="02010600030101010101" pitchFamily="2" charset="-122"/>
              </a:rPr>
              <a:t>n-</a:t>
            </a:r>
            <a:r>
              <a:rPr lang="en-US" altLang="zh-CN" sz="2200" kern="100" dirty="0" err="1">
                <a:latin typeface="宋体" panose="02010600030101010101" pitchFamily="2" charset="-122"/>
                <a:ea typeface="宋体" panose="02010600030101010101" pitchFamily="2" charset="-122"/>
              </a:rPr>
              <a:t>i</a:t>
            </a:r>
            <a:r>
              <a:rPr lang="zh-CN" altLang="en-US" sz="2200" kern="100" dirty="0">
                <a:latin typeface="宋体" panose="02010600030101010101" pitchFamily="2" charset="-122"/>
                <a:ea typeface="宋体" panose="02010600030101010101" pitchFamily="2" charset="-122"/>
              </a:rPr>
              <a:t>次</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12C8DC08-1B8A-5E4B-9DA5-5F7A759751C0}"/>
              </a:ext>
            </a:extLst>
          </p:cNvPr>
          <p:cNvPicPr>
            <a:picLocks noChangeAspect="1"/>
          </p:cNvPicPr>
          <p:nvPr/>
        </p:nvPicPr>
        <p:blipFill>
          <a:blip r:embed="rId3"/>
          <a:stretch>
            <a:fillRect/>
          </a:stretch>
        </p:blipFill>
        <p:spPr>
          <a:xfrm>
            <a:off x="974144" y="1049202"/>
            <a:ext cx="9702800" cy="3175000"/>
          </a:xfrm>
          <a:prstGeom prst="rect">
            <a:avLst/>
          </a:prstGeom>
        </p:spPr>
      </p:pic>
    </p:spTree>
    <p:extLst>
      <p:ext uri="{BB962C8B-B14F-4D97-AF65-F5344CB8AC3E}">
        <p14:creationId xmlns:p14="http://schemas.microsoft.com/office/powerpoint/2010/main" val="2340496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F013EB7-0727-D44E-9F88-3AEE59D14D27}"/>
              </a:ext>
            </a:extLst>
          </p:cNvPr>
          <p:cNvPicPr>
            <a:picLocks noChangeAspect="1"/>
          </p:cNvPicPr>
          <p:nvPr/>
        </p:nvPicPr>
        <p:blipFill>
          <a:blip r:embed="rId3"/>
          <a:stretch>
            <a:fillRect/>
          </a:stretch>
        </p:blipFill>
        <p:spPr>
          <a:xfrm>
            <a:off x="911861" y="2241453"/>
            <a:ext cx="9550400" cy="4152900"/>
          </a:xfrm>
          <a:prstGeom prst="rect">
            <a:avLst/>
          </a:prstGeom>
          <a:ln>
            <a:solidFill>
              <a:schemeClr val="accent1"/>
            </a:solidFill>
          </a:ln>
        </p:spPr>
      </p:pic>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a:latin typeface="微软雅黑"/>
                <a:ea typeface="微软雅黑"/>
                <a:sym typeface="微软雅黑"/>
              </a:rPr>
              <a:t>第一章</a:t>
            </a:r>
            <a:r>
              <a:rPr lang="en-US" altLang="zh-CN">
                <a:latin typeface="微软雅黑"/>
                <a:ea typeface="微软雅黑"/>
                <a:sym typeface="微软雅黑"/>
              </a:rPr>
              <a:t>-</a:t>
            </a:r>
            <a:r>
              <a:rPr lang="zh-CN" altLang="en-US">
                <a:latin typeface="微软雅黑"/>
                <a:ea typeface="微软雅黑"/>
                <a:sym typeface="微软雅黑"/>
              </a:rPr>
              <a:t>概论</a:t>
            </a:r>
            <a:r>
              <a:rPr lang="en-US" altLang="zh-CN">
                <a:latin typeface="微软雅黑"/>
                <a:ea typeface="微软雅黑"/>
                <a:sym typeface="微软雅黑"/>
              </a:rPr>
              <a:t>_</a:t>
            </a:r>
            <a:r>
              <a:rPr lang="zh-CN" altLang="en-US">
                <a:latin typeface="微软雅黑"/>
                <a:ea typeface="微软雅黑"/>
                <a:sym typeface="微软雅黑"/>
              </a:rPr>
              <a:t>作业</a:t>
            </a:r>
            <a:r>
              <a:rPr lang="en-US" altLang="zh-CN">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13D36E9E-6DA5-E549-95C2-D0B0F43D93DD}"/>
              </a:ext>
            </a:extLst>
          </p:cNvPr>
          <p:cNvPicPr>
            <a:picLocks noChangeAspect="1"/>
          </p:cNvPicPr>
          <p:nvPr/>
        </p:nvPicPr>
        <p:blipFill rotWithShape="1">
          <a:blip r:embed="rId4"/>
          <a:srcRect l="2171" t="19525" r="51821" b="14769"/>
          <a:stretch/>
        </p:blipFill>
        <p:spPr>
          <a:xfrm>
            <a:off x="3469640" y="861087"/>
            <a:ext cx="4434841" cy="1360170"/>
          </a:xfrm>
          <a:prstGeom prst="rect">
            <a:avLst/>
          </a:prstGeom>
        </p:spPr>
      </p:pic>
    </p:spTree>
    <p:extLst>
      <p:ext uri="{BB962C8B-B14F-4D97-AF65-F5344CB8AC3E}">
        <p14:creationId xmlns:p14="http://schemas.microsoft.com/office/powerpoint/2010/main" val="3490758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第一章</a:t>
            </a:r>
            <a:r>
              <a:rPr lang="en-US" altLang="zh-CN" dirty="0">
                <a:latin typeface="微软雅黑"/>
                <a:ea typeface="微软雅黑"/>
                <a:sym typeface="微软雅黑"/>
              </a:rPr>
              <a:t>-</a:t>
            </a:r>
            <a:r>
              <a:rPr lang="zh-CN" altLang="en-US" dirty="0">
                <a:latin typeface="微软雅黑"/>
                <a:ea typeface="微软雅黑"/>
                <a:sym typeface="微软雅黑"/>
              </a:rPr>
              <a:t>概论</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D660B3DD-002C-924A-9B96-D8680486290A}"/>
              </a:ext>
            </a:extLst>
          </p:cNvPr>
          <p:cNvPicPr>
            <a:picLocks noChangeAspect="1"/>
          </p:cNvPicPr>
          <p:nvPr/>
        </p:nvPicPr>
        <p:blipFill>
          <a:blip r:embed="rId3"/>
          <a:stretch>
            <a:fillRect/>
          </a:stretch>
        </p:blipFill>
        <p:spPr>
          <a:xfrm>
            <a:off x="1082293" y="1158240"/>
            <a:ext cx="9626600" cy="1752600"/>
          </a:xfrm>
          <a:prstGeom prst="rect">
            <a:avLst/>
          </a:prstGeom>
        </p:spPr>
      </p:pic>
    </p:spTree>
    <p:extLst>
      <p:ext uri="{BB962C8B-B14F-4D97-AF65-F5344CB8AC3E}">
        <p14:creationId xmlns:p14="http://schemas.microsoft.com/office/powerpoint/2010/main" val="150624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第一章</a:t>
            </a:r>
            <a:r>
              <a:rPr lang="en-US" altLang="zh-CN" dirty="0">
                <a:latin typeface="微软雅黑"/>
                <a:ea typeface="微软雅黑"/>
                <a:sym typeface="微软雅黑"/>
              </a:rPr>
              <a:t>-</a:t>
            </a:r>
            <a:r>
              <a:rPr lang="zh-CN" altLang="en-US" dirty="0">
                <a:latin typeface="微软雅黑"/>
                <a:ea typeface="微软雅黑"/>
                <a:sym typeface="微软雅黑"/>
              </a:rPr>
              <a:t>概论</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1077742" y="2779408"/>
            <a:ext cx="10142708" cy="1028615"/>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注意审题：第二小题，给出计算过程，并用数学归纳法证明</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DB7E3242-099B-4645-9B7C-F2F85B3928FE}"/>
              </a:ext>
            </a:extLst>
          </p:cNvPr>
          <p:cNvPicPr>
            <a:picLocks noChangeAspect="1"/>
          </p:cNvPicPr>
          <p:nvPr/>
        </p:nvPicPr>
        <p:blipFill>
          <a:blip r:embed="rId3"/>
          <a:stretch>
            <a:fillRect/>
          </a:stretch>
        </p:blipFill>
        <p:spPr>
          <a:xfrm>
            <a:off x="971550" y="1026808"/>
            <a:ext cx="9677400" cy="1752600"/>
          </a:xfrm>
          <a:prstGeom prst="rect">
            <a:avLst/>
          </a:prstGeom>
        </p:spPr>
      </p:pic>
      <p:pic>
        <p:nvPicPr>
          <p:cNvPr id="8" name="图片 7">
            <a:extLst>
              <a:ext uri="{FF2B5EF4-FFF2-40B4-BE49-F238E27FC236}">
                <a16:creationId xmlns:a16="http://schemas.microsoft.com/office/drawing/2014/main" id="{8DA41A1C-3BB9-8D4F-893B-B5DA1C1301E8}"/>
              </a:ext>
            </a:extLst>
          </p:cNvPr>
          <p:cNvPicPr>
            <a:picLocks noChangeAspect="1"/>
          </p:cNvPicPr>
          <p:nvPr/>
        </p:nvPicPr>
        <p:blipFill>
          <a:blip r:embed="rId4"/>
          <a:stretch>
            <a:fillRect/>
          </a:stretch>
        </p:blipFill>
        <p:spPr>
          <a:xfrm>
            <a:off x="5082823" y="1918593"/>
            <a:ext cx="6960587" cy="4320000"/>
          </a:xfrm>
          <a:prstGeom prst="rect">
            <a:avLst/>
          </a:prstGeom>
          <a:ln>
            <a:solidFill>
              <a:schemeClr val="accent1"/>
            </a:solidFill>
          </a:ln>
        </p:spPr>
      </p:pic>
    </p:spTree>
    <p:extLst>
      <p:ext uri="{BB962C8B-B14F-4D97-AF65-F5344CB8AC3E}">
        <p14:creationId xmlns:p14="http://schemas.microsoft.com/office/powerpoint/2010/main" val="84551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第一章</a:t>
            </a:r>
            <a:r>
              <a:rPr lang="en-US" altLang="zh-CN" dirty="0">
                <a:latin typeface="微软雅黑"/>
                <a:ea typeface="微软雅黑"/>
                <a:sym typeface="微软雅黑"/>
              </a:rPr>
              <a:t>-</a:t>
            </a:r>
            <a:r>
              <a:rPr lang="zh-CN" altLang="en-US" dirty="0">
                <a:latin typeface="微软雅黑"/>
                <a:ea typeface="微软雅黑"/>
                <a:sym typeface="微软雅黑"/>
              </a:rPr>
              <a:t>概论</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1082293" y="3073982"/>
            <a:ext cx="10142708" cy="305994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根据定义证明：</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大</a:t>
            </a:r>
            <a:r>
              <a:rPr lang="en-US" altLang="zh-CN" sz="2200" kern="100" dirty="0">
                <a:latin typeface="宋体" panose="02010600030101010101" pitchFamily="2" charset="-122"/>
                <a:ea typeface="宋体" panose="02010600030101010101" pitchFamily="2" charset="-122"/>
              </a:rPr>
              <a:t>O</a:t>
            </a:r>
            <a:r>
              <a:rPr lang="zh-CN" altLang="en-US" sz="2200" kern="100" dirty="0">
                <a:latin typeface="宋体" panose="02010600030101010101" pitchFamily="2" charset="-122"/>
                <a:ea typeface="宋体" panose="02010600030101010101" pitchFamily="2" charset="-122"/>
              </a:rPr>
              <a:t>：存在正数</a:t>
            </a:r>
            <a:r>
              <a:rPr lang="en-US" altLang="zh-CN" sz="2200" kern="100" dirty="0">
                <a:latin typeface="宋体" panose="02010600030101010101" pitchFamily="2" charset="-122"/>
                <a:ea typeface="宋体" panose="02010600030101010101" pitchFamily="2" charset="-122"/>
              </a:rPr>
              <a:t>c</a:t>
            </a:r>
            <a:r>
              <a:rPr lang="zh-CN" altLang="en-US" sz="2200" kern="100" dirty="0">
                <a:latin typeface="宋体" panose="02010600030101010101" pitchFamily="2" charset="-122"/>
                <a:ea typeface="宋体" panose="02010600030101010101" pitchFamily="2" charset="-122"/>
              </a:rPr>
              <a:t>和</a:t>
            </a:r>
            <a:r>
              <a:rPr lang="en-US" altLang="zh-CN" sz="2200" kern="100" dirty="0">
                <a:latin typeface="宋体" panose="02010600030101010101" pitchFamily="2" charset="-122"/>
                <a:ea typeface="宋体" panose="02010600030101010101" pitchFamily="2" charset="-122"/>
              </a:rPr>
              <a:t>n</a:t>
            </a:r>
            <a:r>
              <a:rPr lang="en-US" altLang="zh-CN" sz="2200" kern="100" baseline="-25000" dirty="0">
                <a:latin typeface="宋体" panose="02010600030101010101" pitchFamily="2" charset="-122"/>
                <a:ea typeface="宋体" panose="02010600030101010101" pitchFamily="2" charset="-122"/>
              </a:rPr>
              <a:t>0</a:t>
            </a:r>
            <a:r>
              <a:rPr lang="zh-CN" altLang="en-US" sz="2200" kern="100" dirty="0">
                <a:latin typeface="宋体" panose="02010600030101010101" pitchFamily="2" charset="-122"/>
                <a:ea typeface="宋体" panose="02010600030101010101" pitchFamily="2" charset="-122"/>
              </a:rPr>
              <a:t>，使得对任意</a:t>
            </a:r>
            <a:r>
              <a:rPr lang="en-US" altLang="zh-CN" sz="2200" kern="100" dirty="0">
                <a:latin typeface="宋体" panose="02010600030101010101" pitchFamily="2" charset="-122"/>
                <a:ea typeface="宋体" panose="02010600030101010101" pitchFamily="2" charset="-122"/>
              </a:rPr>
              <a:t>n&gt;=n</a:t>
            </a:r>
            <a:r>
              <a:rPr lang="en-US" altLang="zh-CN" sz="2200" kern="100" baseline="-25000" dirty="0">
                <a:latin typeface="宋体" panose="02010600030101010101" pitchFamily="2" charset="-122"/>
                <a:ea typeface="宋体" panose="02010600030101010101" pitchFamily="2" charset="-122"/>
              </a:rPr>
              <a:t>0</a:t>
            </a:r>
            <a:r>
              <a:rPr lang="zh-CN" altLang="en-US" sz="2200" kern="100" dirty="0">
                <a:latin typeface="宋体" panose="02010600030101010101" pitchFamily="2" charset="-122"/>
                <a:ea typeface="宋体" panose="02010600030101010101" pitchFamily="2" charset="-122"/>
              </a:rPr>
              <a:t>，都有</a:t>
            </a:r>
            <a:r>
              <a:rPr lang="en-US" altLang="zh-CN" sz="2200" kern="100" dirty="0">
                <a:latin typeface="宋体" panose="02010600030101010101" pitchFamily="2" charset="-122"/>
                <a:ea typeface="宋体" panose="02010600030101010101" pitchFamily="2" charset="-122"/>
              </a:rPr>
              <a:t>f(n)</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&lt;=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cg(n).</a:t>
            </a:r>
          </a:p>
          <a:p>
            <a:pPr marL="800100" lvl="1" indent="-342900" algn="just">
              <a:lnSpc>
                <a:spcPct val="150000"/>
              </a:lnSpc>
              <a:buFont typeface="Arial" panose="020B0604020202020204" pitchFamily="34" charset="0"/>
              <a:buChar char="•"/>
            </a:pPr>
            <a:r>
              <a:rPr lang="el-GR" altLang="zh-CN" sz="2200" kern="100" dirty="0">
                <a:ea typeface="宋体" panose="02010600030101010101" pitchFamily="2" charset="-122"/>
              </a:rPr>
              <a:t>θ </a:t>
            </a:r>
            <a:r>
              <a:rPr lang="zh-CN" altLang="en-US" sz="2200" kern="100" dirty="0">
                <a:ea typeface="宋体" panose="02010600030101010101" pitchFamily="2" charset="-122"/>
              </a:rPr>
              <a:t>：</a:t>
            </a:r>
            <a:r>
              <a:rPr lang="zh-CN" altLang="en-US" sz="2200" kern="100" dirty="0">
                <a:latin typeface="宋体" panose="02010600030101010101" pitchFamily="2" charset="-122"/>
                <a:ea typeface="宋体" panose="02010600030101010101" pitchFamily="2" charset="-122"/>
              </a:rPr>
              <a:t>存在正常数</a:t>
            </a:r>
            <a:r>
              <a:rPr lang="en-US" altLang="zh-CN" sz="2200" kern="100" dirty="0">
                <a:latin typeface="宋体" panose="02010600030101010101" pitchFamily="2" charset="-122"/>
                <a:ea typeface="宋体" panose="02010600030101010101" pitchFamily="2" charset="-122"/>
              </a:rPr>
              <a:t>c</a:t>
            </a:r>
            <a:r>
              <a:rPr lang="en-US" altLang="zh-CN" sz="2200" kern="100" baseline="-25000" dirty="0">
                <a:latin typeface="宋体" panose="02010600030101010101" pitchFamily="2" charset="-122"/>
                <a:ea typeface="宋体" panose="02010600030101010101" pitchFamily="2" charset="-122"/>
              </a:rPr>
              <a:t>1</a:t>
            </a:r>
            <a:r>
              <a:rPr lang="zh-CN" altLang="en-US" sz="2200" kern="100" dirty="0">
                <a:latin typeface="宋体" panose="02010600030101010101" pitchFamily="2" charset="-122"/>
                <a:ea typeface="宋体" panose="02010600030101010101" pitchFamily="2" charset="-122"/>
              </a:rPr>
              <a:t>、</a:t>
            </a:r>
            <a:r>
              <a:rPr lang="en-US" altLang="zh-CN" sz="2200" kern="100" dirty="0">
                <a:latin typeface="宋体" panose="02010600030101010101" pitchFamily="2" charset="-122"/>
                <a:ea typeface="宋体" panose="02010600030101010101" pitchFamily="2" charset="-122"/>
              </a:rPr>
              <a:t>c</a:t>
            </a:r>
            <a:r>
              <a:rPr lang="en-US" altLang="zh-CN" sz="2200" kern="100" baseline="-25000" dirty="0">
                <a:latin typeface="宋体" panose="02010600030101010101" pitchFamily="2" charset="-122"/>
                <a:ea typeface="宋体" panose="02010600030101010101" pitchFamily="2" charset="-122"/>
              </a:rPr>
              <a:t>2</a:t>
            </a:r>
            <a:r>
              <a:rPr lang="zh-CN" altLang="en-US" sz="2200" kern="100" dirty="0">
                <a:latin typeface="宋体" panose="02010600030101010101" pitchFamily="2" charset="-122"/>
                <a:ea typeface="宋体" panose="02010600030101010101" pitchFamily="2" charset="-122"/>
              </a:rPr>
              <a:t>和正整数</a:t>
            </a:r>
            <a:r>
              <a:rPr lang="en-US" altLang="zh-CN" sz="2200" kern="100" dirty="0">
                <a:latin typeface="宋体" panose="02010600030101010101" pitchFamily="2" charset="-122"/>
                <a:ea typeface="宋体" panose="02010600030101010101" pitchFamily="2" charset="-122"/>
              </a:rPr>
              <a:t>n</a:t>
            </a:r>
            <a:r>
              <a:rPr lang="en-US" altLang="zh-CN" sz="2200" kern="100" baseline="-25000" dirty="0">
                <a:latin typeface="宋体" panose="02010600030101010101" pitchFamily="2" charset="-122"/>
                <a:ea typeface="宋体" panose="02010600030101010101" pitchFamily="2" charset="-122"/>
              </a:rPr>
              <a:t>0</a:t>
            </a:r>
            <a:r>
              <a:rPr lang="zh-CN" altLang="en-US" sz="2200" kern="100" dirty="0">
                <a:latin typeface="宋体" panose="02010600030101010101" pitchFamily="2" charset="-122"/>
                <a:ea typeface="宋体" panose="02010600030101010101" pitchFamily="2" charset="-122"/>
              </a:rPr>
              <a:t>，使得对任意</a:t>
            </a:r>
            <a:r>
              <a:rPr lang="en-US" altLang="zh-CN" sz="2200" kern="100" dirty="0">
                <a:latin typeface="宋体" panose="02010600030101010101" pitchFamily="2" charset="-122"/>
                <a:ea typeface="宋体" panose="02010600030101010101" pitchFamily="2" charset="-122"/>
              </a:rPr>
              <a:t>n&gt;=n</a:t>
            </a:r>
            <a:r>
              <a:rPr lang="en-US" altLang="zh-CN" sz="2200" kern="100" baseline="-25000" dirty="0">
                <a:latin typeface="宋体" panose="02010600030101010101" pitchFamily="2" charset="-122"/>
                <a:ea typeface="宋体" panose="02010600030101010101" pitchFamily="2" charset="-122"/>
              </a:rPr>
              <a:t>0</a:t>
            </a:r>
            <a:r>
              <a:rPr lang="zh-CN" altLang="en-US" sz="2200" kern="100" dirty="0">
                <a:latin typeface="宋体" panose="02010600030101010101" pitchFamily="2" charset="-122"/>
                <a:ea typeface="宋体" panose="02010600030101010101" pitchFamily="2" charset="-122"/>
              </a:rPr>
              <a:t>，都有</a:t>
            </a:r>
            <a:r>
              <a:rPr lang="en-US" altLang="zh-CN" sz="2200" kern="100" dirty="0">
                <a:latin typeface="宋体" panose="02010600030101010101" pitchFamily="2" charset="-122"/>
                <a:ea typeface="宋体" panose="02010600030101010101" pitchFamily="2" charset="-122"/>
              </a:rPr>
              <a:t>c</a:t>
            </a:r>
            <a:r>
              <a:rPr lang="en-US" altLang="zh-CN" sz="2200" kern="100" baseline="-25000" dirty="0">
                <a:latin typeface="宋体" panose="02010600030101010101" pitchFamily="2" charset="-122"/>
                <a:ea typeface="宋体" panose="02010600030101010101" pitchFamily="2" charset="-122"/>
              </a:rPr>
              <a:t>1</a:t>
            </a:r>
            <a:r>
              <a:rPr lang="en-US" altLang="zh-CN" sz="2200" kern="100" dirty="0">
                <a:latin typeface="宋体" panose="02010600030101010101" pitchFamily="2" charset="-122"/>
                <a:ea typeface="宋体" panose="02010600030101010101" pitchFamily="2" charset="-122"/>
              </a:rPr>
              <a:t>g(n)&lt;=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f(n)</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&lt;=</a:t>
            </a:r>
            <a:r>
              <a:rPr lang="zh-CN" altLang="en-US" sz="2200" kern="100" dirty="0">
                <a:latin typeface="宋体" panose="02010600030101010101" pitchFamily="2" charset="-122"/>
                <a:ea typeface="宋体" panose="02010600030101010101" pitchFamily="2" charset="-122"/>
              </a:rPr>
              <a:t> </a:t>
            </a:r>
            <a:r>
              <a:rPr lang="en-US" altLang="zh-CN" sz="2200" kern="100" dirty="0">
                <a:latin typeface="宋体" panose="02010600030101010101" pitchFamily="2" charset="-122"/>
                <a:ea typeface="宋体" panose="02010600030101010101" pitchFamily="2" charset="-122"/>
              </a:rPr>
              <a:t>c</a:t>
            </a:r>
            <a:r>
              <a:rPr lang="en-US" altLang="zh-CN" sz="2200" kern="100" baseline="-25000" dirty="0">
                <a:latin typeface="宋体" panose="02010600030101010101" pitchFamily="2" charset="-122"/>
                <a:ea typeface="宋体" panose="02010600030101010101" pitchFamily="2" charset="-122"/>
              </a:rPr>
              <a:t>2</a:t>
            </a:r>
            <a:r>
              <a:rPr lang="en-US" altLang="zh-CN" sz="2200" kern="100" dirty="0">
                <a:latin typeface="宋体" panose="02010600030101010101" pitchFamily="2" charset="-122"/>
                <a:ea typeface="宋体" panose="02010600030101010101" pitchFamily="2" charset="-122"/>
              </a:rPr>
              <a:t>g(n).</a:t>
            </a:r>
            <a:endParaRPr lang="el-GR" altLang="zh-CN" sz="2200" kern="100" dirty="0">
              <a:ea typeface="宋体" panose="02010600030101010101" pitchFamily="2" charset="-122"/>
            </a:endParaRPr>
          </a:p>
          <a:p>
            <a:pPr marL="342900"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证明重点在于找到符合题意的</a:t>
            </a:r>
            <a:r>
              <a:rPr lang="en-US" altLang="zh-CN" sz="2200" kern="100" dirty="0">
                <a:latin typeface="宋体" panose="02010600030101010101" pitchFamily="2" charset="-122"/>
                <a:ea typeface="宋体" panose="02010600030101010101" pitchFamily="2" charset="-122"/>
              </a:rPr>
              <a:t>c</a:t>
            </a:r>
            <a:r>
              <a:rPr lang="zh-CN" altLang="en-US" sz="2200" kern="100" dirty="0">
                <a:latin typeface="宋体" panose="02010600030101010101" pitchFamily="2" charset="-122"/>
                <a:ea typeface="宋体" panose="02010600030101010101" pitchFamily="2" charset="-122"/>
              </a:rPr>
              <a:t>，反证则重点说明不存在这样的</a:t>
            </a:r>
            <a:r>
              <a:rPr lang="en-US" altLang="zh-CN" sz="2200" kern="100" dirty="0">
                <a:latin typeface="宋体" panose="02010600030101010101" pitchFamily="2" charset="-122"/>
                <a:ea typeface="宋体" panose="02010600030101010101" pitchFamily="2" charset="-122"/>
              </a:rPr>
              <a:t>c</a:t>
            </a: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F35222E3-5FFC-B540-B17F-31ADD8D067A7}"/>
              </a:ext>
            </a:extLst>
          </p:cNvPr>
          <p:cNvPicPr>
            <a:picLocks noChangeAspect="1"/>
          </p:cNvPicPr>
          <p:nvPr/>
        </p:nvPicPr>
        <p:blipFill>
          <a:blip r:embed="rId3"/>
          <a:stretch>
            <a:fillRect/>
          </a:stretch>
        </p:blipFill>
        <p:spPr>
          <a:xfrm>
            <a:off x="1082293" y="1067422"/>
            <a:ext cx="9156700" cy="1701800"/>
          </a:xfrm>
          <a:prstGeom prst="rect">
            <a:avLst/>
          </a:prstGeom>
        </p:spPr>
      </p:pic>
    </p:spTree>
    <p:extLst>
      <p:ext uri="{BB962C8B-B14F-4D97-AF65-F5344CB8AC3E}">
        <p14:creationId xmlns:p14="http://schemas.microsoft.com/office/powerpoint/2010/main" val="349955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第一章</a:t>
            </a:r>
            <a:r>
              <a:rPr lang="en-US" altLang="zh-CN" dirty="0">
                <a:latin typeface="微软雅黑"/>
                <a:ea typeface="微软雅黑"/>
                <a:sym typeface="微软雅黑"/>
              </a:rPr>
              <a:t>-</a:t>
            </a:r>
            <a:r>
              <a:rPr lang="zh-CN" altLang="en-US" dirty="0">
                <a:latin typeface="微软雅黑"/>
                <a:ea typeface="微软雅黑"/>
                <a:sym typeface="微软雅黑"/>
              </a:rPr>
              <a:t>概论</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BD2835BF-B753-734A-B1E1-8A2D1F70E146}"/>
              </a:ext>
            </a:extLst>
          </p:cNvPr>
          <p:cNvPicPr>
            <a:picLocks noChangeAspect="1"/>
          </p:cNvPicPr>
          <p:nvPr/>
        </p:nvPicPr>
        <p:blipFill rotWithShape="1">
          <a:blip r:embed="rId3"/>
          <a:srcRect t="23400"/>
          <a:stretch/>
        </p:blipFill>
        <p:spPr>
          <a:xfrm>
            <a:off x="949314" y="2178000"/>
            <a:ext cx="8710834" cy="4680000"/>
          </a:xfrm>
          <a:prstGeom prst="rect">
            <a:avLst/>
          </a:prstGeom>
          <a:ln>
            <a:solidFill>
              <a:schemeClr val="accent1"/>
            </a:solidFill>
          </a:ln>
        </p:spPr>
      </p:pic>
      <p:pic>
        <p:nvPicPr>
          <p:cNvPr id="7" name="图片 6">
            <a:extLst>
              <a:ext uri="{FF2B5EF4-FFF2-40B4-BE49-F238E27FC236}">
                <a16:creationId xmlns:a16="http://schemas.microsoft.com/office/drawing/2014/main" id="{6EEDC181-CD92-8E44-8511-1263FF2022C5}"/>
              </a:ext>
            </a:extLst>
          </p:cNvPr>
          <p:cNvPicPr>
            <a:picLocks noChangeAspect="1"/>
          </p:cNvPicPr>
          <p:nvPr/>
        </p:nvPicPr>
        <p:blipFill>
          <a:blip r:embed="rId4"/>
          <a:stretch>
            <a:fillRect/>
          </a:stretch>
        </p:blipFill>
        <p:spPr>
          <a:xfrm>
            <a:off x="949314" y="834350"/>
            <a:ext cx="7690667" cy="1440000"/>
          </a:xfrm>
          <a:prstGeom prst="rect">
            <a:avLst/>
          </a:prstGeom>
        </p:spPr>
      </p:pic>
    </p:spTree>
    <p:extLst>
      <p:ext uri="{BB962C8B-B14F-4D97-AF65-F5344CB8AC3E}">
        <p14:creationId xmlns:p14="http://schemas.microsoft.com/office/powerpoint/2010/main" val="4016145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907913" y="982789"/>
            <a:ext cx="10142708" cy="5091266"/>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线性结构：线性表（未施加任何约束的线性结构）；栈与队列（操作受限的线性表）；字符串（内容受限的线性表）</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线性表的存储结构：</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顺序表：向量</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链表：单链表、双链表、循环链表</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线性表的实现方法比较：顺序表 </a:t>
            </a:r>
            <a:r>
              <a:rPr lang="en-US" altLang="zh-CN" sz="2200" kern="100" dirty="0">
                <a:latin typeface="宋体" panose="02010600030101010101" pitchFamily="2" charset="-122"/>
                <a:ea typeface="宋体" panose="02010600030101010101" pitchFamily="2" charset="-122"/>
              </a:rPr>
              <a:t>vs</a:t>
            </a:r>
            <a:r>
              <a:rPr lang="zh-CN" altLang="en-US" sz="2200" kern="100" dirty="0">
                <a:latin typeface="宋体" panose="02010600030101010101" pitchFamily="2" charset="-122"/>
                <a:ea typeface="宋体" panose="02010600030101010101" pitchFamily="2" charset="-122"/>
              </a:rPr>
              <a:t> 链表</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65075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1D97A7BF-BC75-EB40-ADA4-69C3E00BA512}"/>
              </a:ext>
            </a:extLst>
          </p:cNvPr>
          <p:cNvPicPr>
            <a:picLocks noChangeAspect="1"/>
          </p:cNvPicPr>
          <p:nvPr/>
        </p:nvPicPr>
        <p:blipFill>
          <a:blip r:embed="rId3"/>
          <a:stretch>
            <a:fillRect/>
          </a:stretch>
        </p:blipFill>
        <p:spPr>
          <a:xfrm>
            <a:off x="988060" y="1143304"/>
            <a:ext cx="9690100" cy="927100"/>
          </a:xfrm>
          <a:prstGeom prst="rect">
            <a:avLst/>
          </a:prstGeom>
        </p:spPr>
      </p:pic>
    </p:spTree>
    <p:extLst>
      <p:ext uri="{BB962C8B-B14F-4D97-AF65-F5344CB8AC3E}">
        <p14:creationId xmlns:p14="http://schemas.microsoft.com/office/powerpoint/2010/main" val="1736730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1186207" y="2400403"/>
            <a:ext cx="10142708" cy="4075603"/>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注意审题：</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顺序表，不是线性表，也不是链表；也不能针对特殊的线性结构，如栈和队列</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要求删除相同元素，即修改了顺序表，不能仅仅遍历一遍把不同值输出；重点在删除元素，不能仅仅写一个</a:t>
            </a:r>
            <a:r>
              <a:rPr lang="en-US" altLang="zh-CN" sz="2200" kern="100" dirty="0">
                <a:latin typeface="宋体" panose="02010600030101010101" pitchFamily="2" charset="-122"/>
                <a:ea typeface="宋体" panose="02010600030101010101" pitchFamily="2" charset="-122"/>
              </a:rPr>
              <a:t>delete</a:t>
            </a: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空间复杂度</a:t>
            </a:r>
            <a:r>
              <a:rPr lang="en-US" altLang="zh-CN" sz="2200" kern="100" dirty="0">
                <a:latin typeface="宋体" panose="02010600030101010101" pitchFamily="2" charset="-122"/>
                <a:ea typeface="宋体" panose="02010600030101010101" pitchFamily="2" charset="-122"/>
              </a:rPr>
              <a:t>O(1)</a:t>
            </a:r>
            <a:r>
              <a:rPr lang="zh-CN" altLang="en-US" sz="2200" kern="100" dirty="0">
                <a:latin typeface="宋体" panose="02010600030101010101" pitchFamily="2" charset="-122"/>
                <a:ea typeface="宋体" panose="02010600030101010101" pitchFamily="2" charset="-122"/>
              </a:rPr>
              <a:t>，不能开一个新的数组存储</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需要分析时间复杂度，不要漏掉了</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3340105B-FBD8-1145-A6CF-D0C7757C3FA7}"/>
              </a:ext>
            </a:extLst>
          </p:cNvPr>
          <p:cNvPicPr>
            <a:picLocks noChangeAspect="1"/>
          </p:cNvPicPr>
          <p:nvPr/>
        </p:nvPicPr>
        <p:blipFill>
          <a:blip r:embed="rId3"/>
          <a:stretch>
            <a:fillRect/>
          </a:stretch>
        </p:blipFill>
        <p:spPr>
          <a:xfrm>
            <a:off x="991870" y="1148145"/>
            <a:ext cx="9842500" cy="965200"/>
          </a:xfrm>
          <a:prstGeom prst="rect">
            <a:avLst/>
          </a:prstGeom>
        </p:spPr>
      </p:pic>
    </p:spTree>
    <p:extLst>
      <p:ext uri="{BB962C8B-B14F-4D97-AF65-F5344CB8AC3E}">
        <p14:creationId xmlns:p14="http://schemas.microsoft.com/office/powerpoint/2010/main" val="332041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a:extLst>
              <a:ext uri="{FF2B5EF4-FFF2-40B4-BE49-F238E27FC236}">
                <a16:creationId xmlns:a16="http://schemas.microsoft.com/office/drawing/2014/main" id="{8FAD1480-8555-6942-A381-73119D624559}"/>
              </a:ext>
            </a:extLst>
          </p:cNvPr>
          <p:cNvPicPr>
            <a:picLocks noChangeAspect="1"/>
          </p:cNvPicPr>
          <p:nvPr/>
        </p:nvPicPr>
        <p:blipFill>
          <a:blip r:embed="rId3"/>
          <a:stretch>
            <a:fillRect/>
          </a:stretch>
        </p:blipFill>
        <p:spPr>
          <a:xfrm>
            <a:off x="988060" y="963032"/>
            <a:ext cx="9690100" cy="927100"/>
          </a:xfrm>
          <a:prstGeom prst="rect">
            <a:avLst/>
          </a:prstGeom>
        </p:spPr>
      </p:pic>
      <p:pic>
        <p:nvPicPr>
          <p:cNvPr id="2049" name="Picture 1">
            <a:extLst>
              <a:ext uri="{FF2B5EF4-FFF2-40B4-BE49-F238E27FC236}">
                <a16:creationId xmlns:a16="http://schemas.microsoft.com/office/drawing/2014/main" id="{6CB5138F-7E09-B447-A464-0E7F29C5EB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12" y="1890132"/>
            <a:ext cx="7340600" cy="45974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292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a:extLst>
              <a:ext uri="{FF2B5EF4-FFF2-40B4-BE49-F238E27FC236}">
                <a16:creationId xmlns:a16="http://schemas.microsoft.com/office/drawing/2014/main" id="{8FAD1480-8555-6942-A381-73119D624559}"/>
              </a:ext>
            </a:extLst>
          </p:cNvPr>
          <p:cNvPicPr>
            <a:picLocks noChangeAspect="1"/>
          </p:cNvPicPr>
          <p:nvPr/>
        </p:nvPicPr>
        <p:blipFill>
          <a:blip r:embed="rId3"/>
          <a:stretch>
            <a:fillRect/>
          </a:stretch>
        </p:blipFill>
        <p:spPr>
          <a:xfrm>
            <a:off x="988060" y="963032"/>
            <a:ext cx="9690100" cy="927100"/>
          </a:xfrm>
          <a:prstGeom prst="rect">
            <a:avLst/>
          </a:prstGeom>
        </p:spPr>
      </p:pic>
      <p:pic>
        <p:nvPicPr>
          <p:cNvPr id="6" name="图片 5">
            <a:extLst>
              <a:ext uri="{FF2B5EF4-FFF2-40B4-BE49-F238E27FC236}">
                <a16:creationId xmlns:a16="http://schemas.microsoft.com/office/drawing/2014/main" id="{A03A0C68-C316-1448-856C-CDB6ABD55388}"/>
              </a:ext>
            </a:extLst>
          </p:cNvPr>
          <p:cNvPicPr>
            <a:picLocks noChangeAspect="1"/>
          </p:cNvPicPr>
          <p:nvPr/>
        </p:nvPicPr>
        <p:blipFill>
          <a:blip r:embed="rId4"/>
          <a:stretch>
            <a:fillRect/>
          </a:stretch>
        </p:blipFill>
        <p:spPr>
          <a:xfrm>
            <a:off x="1332231" y="1913750"/>
            <a:ext cx="9506441" cy="4320000"/>
          </a:xfrm>
          <a:prstGeom prst="rect">
            <a:avLst/>
          </a:prstGeom>
          <a:ln>
            <a:solidFill>
              <a:schemeClr val="accent1"/>
            </a:solidFill>
          </a:ln>
        </p:spPr>
      </p:pic>
    </p:spTree>
    <p:extLst>
      <p:ext uri="{BB962C8B-B14F-4D97-AF65-F5344CB8AC3E}">
        <p14:creationId xmlns:p14="http://schemas.microsoft.com/office/powerpoint/2010/main" val="1478671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8" name="图片 7">
            <a:extLst>
              <a:ext uri="{FF2B5EF4-FFF2-40B4-BE49-F238E27FC236}">
                <a16:creationId xmlns:a16="http://schemas.microsoft.com/office/drawing/2014/main" id="{8FAD1480-8555-6942-A381-73119D624559}"/>
              </a:ext>
            </a:extLst>
          </p:cNvPr>
          <p:cNvPicPr>
            <a:picLocks noChangeAspect="1"/>
          </p:cNvPicPr>
          <p:nvPr/>
        </p:nvPicPr>
        <p:blipFill>
          <a:blip r:embed="rId3"/>
          <a:stretch>
            <a:fillRect/>
          </a:stretch>
        </p:blipFill>
        <p:spPr>
          <a:xfrm>
            <a:off x="988060" y="963032"/>
            <a:ext cx="9690100" cy="927100"/>
          </a:xfrm>
          <a:prstGeom prst="rect">
            <a:avLst/>
          </a:prstGeom>
        </p:spPr>
      </p:pic>
      <p:pic>
        <p:nvPicPr>
          <p:cNvPr id="3073" name="Picture 1">
            <a:extLst>
              <a:ext uri="{FF2B5EF4-FFF2-40B4-BE49-F238E27FC236}">
                <a16:creationId xmlns:a16="http://schemas.microsoft.com/office/drawing/2014/main" id="{72651E15-1E46-0043-BA60-49296350F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0180" y="2171700"/>
            <a:ext cx="5384800" cy="35179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3BF03EC5-6A9E-744C-BC4A-28CF06F859E6}"/>
              </a:ext>
            </a:extLst>
          </p:cNvPr>
          <p:cNvSpPr txBox="1"/>
          <p:nvPr/>
        </p:nvSpPr>
        <p:spPr>
          <a:xfrm>
            <a:off x="7242338" y="2171700"/>
            <a:ext cx="4587711" cy="4075603"/>
          </a:xfrm>
          <a:prstGeom prst="rect">
            <a:avLst/>
          </a:prstGeom>
          <a:noFill/>
        </p:spPr>
        <p:txBody>
          <a:bodyPr wrap="square" rtlCol="0">
            <a:spAutoFit/>
          </a:bodyPr>
          <a:lstStyle/>
          <a:p>
            <a:pPr>
              <a:lnSpc>
                <a:spcPct val="150000"/>
              </a:lnSpc>
            </a:pPr>
            <a:r>
              <a:rPr lang="zh-CN" altLang="en-US" sz="2200" kern="100" dirty="0">
                <a:latin typeface="宋体" panose="02010600030101010101" pitchFamily="2" charset="-122"/>
                <a:ea typeface="宋体" panose="02010600030101010101" pitchFamily="2" charset="-122"/>
                <a:sym typeface="Arial" panose="020B0604020202020204" pitchFamily="34" charset="0"/>
              </a:rPr>
              <a:t>先遍历一遍，将被删除元素置为特定数</a:t>
            </a:r>
            <a:r>
              <a:rPr lang="en-US" altLang="zh-CN" sz="2200" kern="100" dirty="0">
                <a:latin typeface="宋体" panose="02010600030101010101" pitchFamily="2" charset="-122"/>
                <a:ea typeface="宋体" panose="02010600030101010101" pitchFamily="2" charset="-122"/>
                <a:sym typeface="Arial" panose="020B0604020202020204" pitchFamily="34" charset="0"/>
              </a:rPr>
              <a:t>(</a:t>
            </a:r>
            <a:r>
              <a:rPr lang="zh-CN" altLang="en-US" sz="2200" kern="100" dirty="0">
                <a:latin typeface="宋体" panose="02010600030101010101" pitchFamily="2" charset="-122"/>
                <a:ea typeface="宋体" panose="02010600030101010101" pitchFamily="2" charset="-122"/>
                <a:sym typeface="Arial" panose="020B0604020202020204" pitchFamily="34" charset="0"/>
              </a:rPr>
              <a:t>最大数</a:t>
            </a:r>
            <a:r>
              <a:rPr lang="en-US" altLang="zh-CN" sz="2200" kern="100" dirty="0">
                <a:latin typeface="宋体" panose="02010600030101010101" pitchFamily="2" charset="-122"/>
                <a:ea typeface="宋体" panose="02010600030101010101" pitchFamily="2" charset="-122"/>
                <a:sym typeface="Arial" panose="020B0604020202020204" pitchFamily="34" charset="0"/>
              </a:rPr>
              <a:t>+1)</a:t>
            </a:r>
            <a:r>
              <a:rPr lang="zh-CN" altLang="en-US" sz="2200" kern="100" dirty="0">
                <a:latin typeface="宋体" panose="02010600030101010101" pitchFamily="2" charset="-122"/>
                <a:ea typeface="宋体" panose="02010600030101010101" pitchFamily="2" charset="-122"/>
                <a:sym typeface="Arial" panose="020B0604020202020204" pitchFamily="34" charset="0"/>
              </a:rPr>
              <a:t>，再遍历一遍进行删除。</a:t>
            </a:r>
            <a:r>
              <a:rPr lang="en-US" altLang="zh-CN" sz="2200" kern="100" dirty="0">
                <a:latin typeface="宋体" panose="02010600030101010101" pitchFamily="2" charset="-122"/>
                <a:ea typeface="宋体" panose="02010600030101010101" pitchFamily="2" charset="-122"/>
                <a:sym typeface="Arial" panose="020B0604020202020204" pitchFamily="34" charset="0"/>
              </a:rPr>
              <a:t>❌</a:t>
            </a:r>
          </a:p>
          <a:p>
            <a:pPr>
              <a:lnSpc>
                <a:spcPct val="150000"/>
              </a:lnSpc>
            </a:pPr>
            <a:endParaRPr lang="en-US" altLang="zh-CN" sz="2200" kern="100" dirty="0">
              <a:latin typeface="宋体" panose="02010600030101010101" pitchFamily="2" charset="-122"/>
              <a:ea typeface="宋体" panose="02010600030101010101" pitchFamily="2" charset="-122"/>
              <a:sym typeface="Arial" panose="020B0604020202020204" pitchFamily="34" charset="0"/>
            </a:endParaRPr>
          </a:p>
          <a:p>
            <a:pPr>
              <a:lnSpc>
                <a:spcPct val="150000"/>
              </a:lnSpc>
            </a:pPr>
            <a:r>
              <a:rPr lang="zh-CN" altLang="en-US" sz="2200" kern="100" dirty="0">
                <a:latin typeface="宋体" panose="02010600030101010101" pitchFamily="2" charset="-122"/>
                <a:ea typeface="宋体" panose="02010600030101010101" pitchFamily="2" charset="-122"/>
                <a:sym typeface="Arial" panose="020B0604020202020204" pitchFamily="34" charset="0"/>
              </a:rPr>
              <a:t>两个问题：</a:t>
            </a:r>
            <a:endParaRPr lang="en-US" altLang="zh-CN" sz="2200" kern="100" dirty="0">
              <a:latin typeface="宋体" panose="02010600030101010101" pitchFamily="2" charset="-122"/>
              <a:ea typeface="宋体" panose="02010600030101010101" pitchFamily="2" charset="-122"/>
              <a:sym typeface="Arial" panose="020B0604020202020204" pitchFamily="34" charset="0"/>
            </a:endParaRPr>
          </a:p>
          <a:p>
            <a:pPr marL="342900" indent="-342900">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sym typeface="Arial" panose="020B0604020202020204" pitchFamily="34" charset="0"/>
              </a:rPr>
              <a:t>连续多个相同的数，</a:t>
            </a:r>
            <a:r>
              <a:rPr lang="en-US" altLang="zh-CN" sz="2200" kern="100" dirty="0">
                <a:latin typeface="宋体" panose="02010600030101010101" pitchFamily="2" charset="-122"/>
                <a:ea typeface="宋体" panose="02010600030101010101" pitchFamily="2" charset="-122"/>
                <a:sym typeface="Arial" panose="020B0604020202020204" pitchFamily="34" charset="0"/>
              </a:rPr>
              <a:t>A[</a:t>
            </a:r>
            <a:r>
              <a:rPr lang="en-US" altLang="zh-CN" sz="2200" kern="100" dirty="0" err="1">
                <a:latin typeface="宋体" panose="02010600030101010101" pitchFamily="2" charset="-122"/>
                <a:ea typeface="宋体" panose="02010600030101010101" pitchFamily="2" charset="-122"/>
                <a:sym typeface="Arial" panose="020B0604020202020204" pitchFamily="34" charset="0"/>
              </a:rPr>
              <a:t>i</a:t>
            </a:r>
            <a:r>
              <a:rPr lang="en-US" altLang="zh-CN" sz="2200" kern="100" dirty="0">
                <a:latin typeface="宋体" panose="02010600030101010101" pitchFamily="2" charset="-122"/>
                <a:ea typeface="宋体" panose="02010600030101010101" pitchFamily="2" charset="-122"/>
                <a:sym typeface="Arial" panose="020B0604020202020204" pitchFamily="34" charset="0"/>
              </a:rPr>
              <a:t>]=zero</a:t>
            </a:r>
            <a:r>
              <a:rPr lang="zh-CN" altLang="en-US" sz="2200" kern="100" dirty="0">
                <a:latin typeface="宋体" panose="02010600030101010101" pitchFamily="2" charset="-122"/>
                <a:ea typeface="宋体" panose="02010600030101010101" pitchFamily="2" charset="-122"/>
                <a:sym typeface="Arial" panose="020B0604020202020204" pitchFamily="34" charset="0"/>
              </a:rPr>
              <a:t>有问题</a:t>
            </a:r>
            <a:endParaRPr lang="en-US" altLang="zh-CN" sz="2200" kern="100" dirty="0">
              <a:latin typeface="宋体" panose="02010600030101010101" pitchFamily="2" charset="-122"/>
              <a:ea typeface="宋体" panose="02010600030101010101" pitchFamily="2" charset="-122"/>
              <a:sym typeface="Arial" panose="020B0604020202020204" pitchFamily="34" charset="0"/>
            </a:endParaRPr>
          </a:p>
          <a:p>
            <a:pPr marL="342900" indent="-342900">
              <a:lnSpc>
                <a:spcPct val="150000"/>
              </a:lnSpc>
              <a:buFont typeface="Arial" panose="020B0604020202020204" pitchFamily="34" charset="0"/>
              <a:buChar char="•"/>
            </a:pPr>
            <a:r>
              <a:rPr lang="en-US" altLang="zh-CN" sz="2200" kern="100" dirty="0">
                <a:latin typeface="宋体" panose="02010600030101010101" pitchFamily="2" charset="-122"/>
                <a:ea typeface="宋体" panose="02010600030101010101" pitchFamily="2" charset="-122"/>
                <a:sym typeface="Arial" panose="020B0604020202020204" pitchFamily="34" charset="0"/>
              </a:rPr>
              <a:t>A[</a:t>
            </a:r>
            <a:r>
              <a:rPr lang="en-US" altLang="zh-CN" sz="2200" kern="100" dirty="0" err="1">
                <a:latin typeface="宋体" panose="02010600030101010101" pitchFamily="2" charset="-122"/>
                <a:ea typeface="宋体" panose="02010600030101010101" pitchFamily="2" charset="-122"/>
                <a:sym typeface="Arial" panose="020B0604020202020204" pitchFamily="34" charset="0"/>
              </a:rPr>
              <a:t>i</a:t>
            </a:r>
            <a:r>
              <a:rPr lang="en-US" altLang="zh-CN" sz="2200" kern="100" dirty="0">
                <a:latin typeface="宋体" panose="02010600030101010101" pitchFamily="2" charset="-122"/>
                <a:ea typeface="宋体" panose="02010600030101010101" pitchFamily="2" charset="-122"/>
                <a:sym typeface="Arial" panose="020B0604020202020204" pitchFamily="34" charset="0"/>
              </a:rPr>
              <a:t>]</a:t>
            </a:r>
            <a:r>
              <a:rPr lang="zh-CN" altLang="en-US" sz="2200" kern="100" dirty="0">
                <a:latin typeface="宋体" panose="02010600030101010101" pitchFamily="2" charset="-122"/>
                <a:ea typeface="宋体" panose="02010600030101010101" pitchFamily="2" charset="-122"/>
                <a:sym typeface="Arial" panose="020B0604020202020204" pitchFamily="34" charset="0"/>
              </a:rPr>
              <a:t> </a:t>
            </a:r>
            <a:r>
              <a:rPr lang="en-US" altLang="zh-CN" sz="2200" kern="100" dirty="0">
                <a:latin typeface="宋体" panose="02010600030101010101" pitchFamily="2" charset="-122"/>
                <a:ea typeface="宋体" panose="02010600030101010101" pitchFamily="2" charset="-122"/>
                <a:sym typeface="Arial" panose="020B0604020202020204" pitchFamily="34" charset="0"/>
              </a:rPr>
              <a:t>=</a:t>
            </a:r>
            <a:r>
              <a:rPr lang="zh-CN" altLang="en-US" sz="2200" kern="100" dirty="0">
                <a:latin typeface="宋体" panose="02010600030101010101" pitchFamily="2" charset="-122"/>
                <a:ea typeface="宋体" panose="02010600030101010101" pitchFamily="2" charset="-122"/>
                <a:sym typeface="Arial" panose="020B0604020202020204" pitchFamily="34" charset="0"/>
              </a:rPr>
              <a:t> </a:t>
            </a:r>
            <a:r>
              <a:rPr lang="en-US" altLang="zh-CN" sz="2200" kern="100" dirty="0">
                <a:latin typeface="宋体" panose="02010600030101010101" pitchFamily="2" charset="-122"/>
                <a:ea typeface="宋体" panose="02010600030101010101" pitchFamily="2" charset="-122"/>
                <a:sym typeface="Arial" panose="020B0604020202020204" pitchFamily="34" charset="0"/>
              </a:rPr>
              <a:t>A[</a:t>
            </a:r>
            <a:r>
              <a:rPr lang="en-US" altLang="zh-CN" sz="2200" kern="100" dirty="0" err="1">
                <a:latin typeface="宋体" panose="02010600030101010101" pitchFamily="2" charset="-122"/>
                <a:ea typeface="宋体" panose="02010600030101010101" pitchFamily="2" charset="-122"/>
                <a:sym typeface="Arial" panose="020B0604020202020204" pitchFamily="34" charset="0"/>
              </a:rPr>
              <a:t>i+tmp</a:t>
            </a:r>
            <a:r>
              <a:rPr lang="en-US" altLang="zh-CN" sz="2200" kern="100" dirty="0">
                <a:latin typeface="宋体" panose="02010600030101010101" pitchFamily="2" charset="-122"/>
                <a:ea typeface="宋体" panose="02010600030101010101" pitchFamily="2" charset="-122"/>
                <a:sym typeface="Arial" panose="020B0604020202020204" pitchFamily="34" charset="0"/>
              </a:rPr>
              <a:t>]</a:t>
            </a:r>
            <a:r>
              <a:rPr lang="zh-CN" altLang="en-US" sz="2200" kern="100" dirty="0">
                <a:latin typeface="宋体" panose="02010600030101010101" pitchFamily="2" charset="-122"/>
                <a:ea typeface="宋体" panose="02010600030101010101" pitchFamily="2" charset="-122"/>
                <a:sym typeface="Arial" panose="020B0604020202020204" pitchFamily="34" charset="0"/>
              </a:rPr>
              <a:t>逻辑有问题</a:t>
            </a:r>
          </a:p>
        </p:txBody>
      </p:sp>
    </p:spTree>
    <p:extLst>
      <p:ext uri="{BB962C8B-B14F-4D97-AF65-F5344CB8AC3E}">
        <p14:creationId xmlns:p14="http://schemas.microsoft.com/office/powerpoint/2010/main" val="219504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矩形 4">
            <a:extLst>
              <a:ext uri="{FF2B5EF4-FFF2-40B4-BE49-F238E27FC236}">
                <a16:creationId xmlns:a16="http://schemas.microsoft.com/office/drawing/2014/main" id="{476F6088-871E-48F1-BA80-09EDAD0B2A31}"/>
              </a:ext>
            </a:extLst>
          </p:cNvPr>
          <p:cNvSpPr/>
          <p:nvPr/>
        </p:nvSpPr>
        <p:spPr>
          <a:xfrm>
            <a:off x="1186207" y="2319623"/>
            <a:ext cx="10142708" cy="305994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注意审题：</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尽可能少地使用附加单元。有同学用了栈来实现，复杂度</a:t>
            </a:r>
            <a:r>
              <a:rPr lang="en-US" altLang="zh-CN" sz="2200" kern="100" dirty="0">
                <a:latin typeface="宋体" panose="02010600030101010101" pitchFamily="2" charset="-122"/>
                <a:ea typeface="宋体" panose="02010600030101010101" pitchFamily="2" charset="-122"/>
              </a:rPr>
              <a:t>O(n)</a:t>
            </a: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时间和空间复杂度分析。</a:t>
            </a:r>
            <a:endParaRPr lang="en-US" altLang="zh-CN" sz="2200" kern="100" dirty="0">
              <a:latin typeface="宋体" panose="02010600030101010101" pitchFamily="2" charset="-122"/>
              <a:ea typeface="宋体" panose="02010600030101010101" pitchFamily="2" charset="-122"/>
            </a:endParaRPr>
          </a:p>
          <a:p>
            <a:pPr lvl="1" algn="just">
              <a:lnSpc>
                <a:spcPct val="150000"/>
              </a:lnSpc>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很多同学都知道用三个指针一边遍历一边反转，但是没有绕明白那几个指针的变化，代码存在逻辑问题。</a:t>
            </a:r>
          </a:p>
        </p:txBody>
      </p:sp>
      <p:pic>
        <p:nvPicPr>
          <p:cNvPr id="6" name="图片 5">
            <a:extLst>
              <a:ext uri="{FF2B5EF4-FFF2-40B4-BE49-F238E27FC236}">
                <a16:creationId xmlns:a16="http://schemas.microsoft.com/office/drawing/2014/main" id="{1A55F595-7C99-1946-96C3-4EFD0D93C65A}"/>
              </a:ext>
            </a:extLst>
          </p:cNvPr>
          <p:cNvPicPr>
            <a:picLocks noChangeAspect="1"/>
          </p:cNvPicPr>
          <p:nvPr/>
        </p:nvPicPr>
        <p:blipFill>
          <a:blip r:embed="rId3"/>
          <a:stretch>
            <a:fillRect/>
          </a:stretch>
        </p:blipFill>
        <p:spPr>
          <a:xfrm>
            <a:off x="1069340" y="1050355"/>
            <a:ext cx="10673766" cy="1080000"/>
          </a:xfrm>
          <a:prstGeom prst="rect">
            <a:avLst/>
          </a:prstGeom>
        </p:spPr>
      </p:pic>
    </p:spTree>
    <p:extLst>
      <p:ext uri="{BB962C8B-B14F-4D97-AF65-F5344CB8AC3E}">
        <p14:creationId xmlns:p14="http://schemas.microsoft.com/office/powerpoint/2010/main" val="56527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1A55F595-7C99-1946-96C3-4EFD0D93C65A}"/>
              </a:ext>
            </a:extLst>
          </p:cNvPr>
          <p:cNvPicPr>
            <a:picLocks noChangeAspect="1"/>
          </p:cNvPicPr>
          <p:nvPr/>
        </p:nvPicPr>
        <p:blipFill>
          <a:blip r:embed="rId3"/>
          <a:stretch>
            <a:fillRect/>
          </a:stretch>
        </p:blipFill>
        <p:spPr>
          <a:xfrm>
            <a:off x="1069340" y="1050355"/>
            <a:ext cx="9664700" cy="977900"/>
          </a:xfrm>
          <a:prstGeom prst="rect">
            <a:avLst/>
          </a:prstGeom>
        </p:spPr>
      </p:pic>
      <p:pic>
        <p:nvPicPr>
          <p:cNvPr id="7" name="图片 6">
            <a:extLst>
              <a:ext uri="{FF2B5EF4-FFF2-40B4-BE49-F238E27FC236}">
                <a16:creationId xmlns:a16="http://schemas.microsoft.com/office/drawing/2014/main" id="{08718663-684A-D840-8D9F-C32182E9AAD0}"/>
              </a:ext>
            </a:extLst>
          </p:cNvPr>
          <p:cNvPicPr>
            <a:picLocks noChangeAspect="1"/>
          </p:cNvPicPr>
          <p:nvPr/>
        </p:nvPicPr>
        <p:blipFill>
          <a:blip r:embed="rId4"/>
          <a:stretch>
            <a:fillRect/>
          </a:stretch>
        </p:blipFill>
        <p:spPr>
          <a:xfrm>
            <a:off x="1069340" y="926549"/>
            <a:ext cx="6487273" cy="5760000"/>
          </a:xfrm>
          <a:prstGeom prst="rect">
            <a:avLst/>
          </a:prstGeom>
          <a:ln>
            <a:solidFill>
              <a:schemeClr val="accent1"/>
            </a:solidFill>
          </a:ln>
        </p:spPr>
      </p:pic>
      <p:grpSp>
        <p:nvGrpSpPr>
          <p:cNvPr id="17" name="组合 16">
            <a:extLst>
              <a:ext uri="{FF2B5EF4-FFF2-40B4-BE49-F238E27FC236}">
                <a16:creationId xmlns:a16="http://schemas.microsoft.com/office/drawing/2014/main" id="{A981DA3F-2D83-4749-B292-380018FD941A}"/>
              </a:ext>
            </a:extLst>
          </p:cNvPr>
          <p:cNvGrpSpPr/>
          <p:nvPr/>
        </p:nvGrpSpPr>
        <p:grpSpPr>
          <a:xfrm>
            <a:off x="8001000" y="2343150"/>
            <a:ext cx="3520440" cy="2986318"/>
            <a:chOff x="8001000" y="2343150"/>
            <a:chExt cx="3520440" cy="2986318"/>
          </a:xfrm>
        </p:grpSpPr>
        <p:grpSp>
          <p:nvGrpSpPr>
            <p:cNvPr id="15" name="组合 14">
              <a:extLst>
                <a:ext uri="{FF2B5EF4-FFF2-40B4-BE49-F238E27FC236}">
                  <a16:creationId xmlns:a16="http://schemas.microsoft.com/office/drawing/2014/main" id="{4CA9CC08-2DB8-9B4C-ABB5-EE53BB3C750D}"/>
                </a:ext>
              </a:extLst>
            </p:cNvPr>
            <p:cNvGrpSpPr/>
            <p:nvPr/>
          </p:nvGrpSpPr>
          <p:grpSpPr>
            <a:xfrm>
              <a:off x="8309610" y="2343150"/>
              <a:ext cx="2677488" cy="342900"/>
              <a:chOff x="7898130" y="2594610"/>
              <a:chExt cx="2677488" cy="342900"/>
            </a:xfrm>
          </p:grpSpPr>
          <p:sp>
            <p:nvSpPr>
              <p:cNvPr id="8" name="矩形 7">
                <a:extLst>
                  <a:ext uri="{FF2B5EF4-FFF2-40B4-BE49-F238E27FC236}">
                    <a16:creationId xmlns:a16="http://schemas.microsoft.com/office/drawing/2014/main" id="{8DD16A0E-D737-6247-B093-B4F1E3473F00}"/>
                  </a:ext>
                </a:extLst>
              </p:cNvPr>
              <p:cNvSpPr/>
              <p:nvPr/>
            </p:nvSpPr>
            <p:spPr>
              <a:xfrm>
                <a:off x="7898130"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pre</a:t>
                </a:r>
                <a:endParaRPr kumimoji="1" lang="zh-CN" altLang="en-US" dirty="0"/>
              </a:p>
            </p:txBody>
          </p:sp>
          <p:sp>
            <p:nvSpPr>
              <p:cNvPr id="9" name="矩形 8">
                <a:extLst>
                  <a:ext uri="{FF2B5EF4-FFF2-40B4-BE49-F238E27FC236}">
                    <a16:creationId xmlns:a16="http://schemas.microsoft.com/office/drawing/2014/main" id="{9E4F9A9B-E511-4B41-B862-03057D5C067A}"/>
                  </a:ext>
                </a:extLst>
              </p:cNvPr>
              <p:cNvSpPr/>
              <p:nvPr/>
            </p:nvSpPr>
            <p:spPr>
              <a:xfrm>
                <a:off x="8905404"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cur</a:t>
                </a:r>
                <a:endParaRPr kumimoji="1" lang="zh-CN" altLang="en-US" dirty="0"/>
              </a:p>
            </p:txBody>
          </p:sp>
          <p:sp>
            <p:nvSpPr>
              <p:cNvPr id="10" name="矩形 9">
                <a:extLst>
                  <a:ext uri="{FF2B5EF4-FFF2-40B4-BE49-F238E27FC236}">
                    <a16:creationId xmlns:a16="http://schemas.microsoft.com/office/drawing/2014/main" id="{E88DA82E-E3D5-754B-AAF4-79A110E20D93}"/>
                  </a:ext>
                </a:extLst>
              </p:cNvPr>
              <p:cNvSpPr/>
              <p:nvPr/>
            </p:nvSpPr>
            <p:spPr>
              <a:xfrm>
                <a:off x="9935538"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err="1"/>
                  <a:t>tmp</a:t>
                </a:r>
                <a:endParaRPr kumimoji="1" lang="zh-CN" altLang="en-US" dirty="0"/>
              </a:p>
            </p:txBody>
          </p:sp>
          <p:cxnSp>
            <p:nvCxnSpPr>
              <p:cNvPr id="12" name="直线箭头连接符 11">
                <a:extLst>
                  <a:ext uri="{FF2B5EF4-FFF2-40B4-BE49-F238E27FC236}">
                    <a16:creationId xmlns:a16="http://schemas.microsoft.com/office/drawing/2014/main" id="{952F39B9-DE9A-134A-98E7-7B53024FC52C}"/>
                  </a:ext>
                </a:extLst>
              </p:cNvPr>
              <p:cNvCxnSpPr>
                <a:stCxn id="8" idx="3"/>
                <a:endCxn id="9" idx="1"/>
              </p:cNvCxnSpPr>
              <p:nvPr/>
            </p:nvCxnSpPr>
            <p:spPr>
              <a:xfrm>
                <a:off x="8538210" y="2766060"/>
                <a:ext cx="367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8764F256-782B-FA4D-9202-B76BB7CDA6EE}"/>
                  </a:ext>
                </a:extLst>
              </p:cNvPr>
              <p:cNvCxnSpPr>
                <a:stCxn id="9" idx="3"/>
                <a:endCxn id="10" idx="1"/>
              </p:cNvCxnSpPr>
              <p:nvPr/>
            </p:nvCxnSpPr>
            <p:spPr>
              <a:xfrm>
                <a:off x="9545484" y="2766060"/>
                <a:ext cx="39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6B383B51-2357-E246-BBAB-CA653E51EED8}"/>
                </a:ext>
              </a:extLst>
            </p:cNvPr>
            <p:cNvSpPr txBox="1"/>
            <p:nvPr/>
          </p:nvSpPr>
          <p:spPr>
            <a:xfrm>
              <a:off x="8001000" y="3000945"/>
              <a:ext cx="3520440" cy="2328523"/>
            </a:xfrm>
            <a:prstGeom prst="rect">
              <a:avLst/>
            </a:prstGeom>
            <a:noFill/>
          </p:spPr>
          <p:txBody>
            <a:bodyPr wrap="square" rtlCol="0">
              <a:spAutoFit/>
            </a:bodyPr>
            <a:lstStyle/>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每一次翻转要做</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4</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件事：</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tmp</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cur-&gt;next</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cur-&gt;next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tmp</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grpSp>
    </p:spTree>
    <p:extLst>
      <p:ext uri="{BB962C8B-B14F-4D97-AF65-F5344CB8AC3E}">
        <p14:creationId xmlns:p14="http://schemas.microsoft.com/office/powerpoint/2010/main" val="253074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1A55F595-7C99-1946-96C3-4EFD0D93C65A}"/>
              </a:ext>
            </a:extLst>
          </p:cNvPr>
          <p:cNvPicPr>
            <a:picLocks noChangeAspect="1"/>
          </p:cNvPicPr>
          <p:nvPr/>
        </p:nvPicPr>
        <p:blipFill>
          <a:blip r:embed="rId3"/>
          <a:stretch>
            <a:fillRect/>
          </a:stretch>
        </p:blipFill>
        <p:spPr>
          <a:xfrm>
            <a:off x="1069340" y="1050355"/>
            <a:ext cx="9664700" cy="977900"/>
          </a:xfrm>
          <a:prstGeom prst="rect">
            <a:avLst/>
          </a:prstGeom>
        </p:spPr>
      </p:pic>
      <p:grpSp>
        <p:nvGrpSpPr>
          <p:cNvPr id="17" name="组合 16">
            <a:extLst>
              <a:ext uri="{FF2B5EF4-FFF2-40B4-BE49-F238E27FC236}">
                <a16:creationId xmlns:a16="http://schemas.microsoft.com/office/drawing/2014/main" id="{A981DA3F-2D83-4749-B292-380018FD941A}"/>
              </a:ext>
            </a:extLst>
          </p:cNvPr>
          <p:cNvGrpSpPr/>
          <p:nvPr/>
        </p:nvGrpSpPr>
        <p:grpSpPr>
          <a:xfrm>
            <a:off x="1577340" y="2366010"/>
            <a:ext cx="3520440" cy="2986318"/>
            <a:chOff x="8001000" y="2343150"/>
            <a:chExt cx="3520440" cy="2986318"/>
          </a:xfrm>
        </p:grpSpPr>
        <p:grpSp>
          <p:nvGrpSpPr>
            <p:cNvPr id="15" name="组合 14">
              <a:extLst>
                <a:ext uri="{FF2B5EF4-FFF2-40B4-BE49-F238E27FC236}">
                  <a16:creationId xmlns:a16="http://schemas.microsoft.com/office/drawing/2014/main" id="{4CA9CC08-2DB8-9B4C-ABB5-EE53BB3C750D}"/>
                </a:ext>
              </a:extLst>
            </p:cNvPr>
            <p:cNvGrpSpPr/>
            <p:nvPr/>
          </p:nvGrpSpPr>
          <p:grpSpPr>
            <a:xfrm>
              <a:off x="8309610" y="2343150"/>
              <a:ext cx="2677488" cy="342900"/>
              <a:chOff x="7898130" y="2594610"/>
              <a:chExt cx="2677488" cy="342900"/>
            </a:xfrm>
          </p:grpSpPr>
          <p:sp>
            <p:nvSpPr>
              <p:cNvPr id="8" name="矩形 7">
                <a:extLst>
                  <a:ext uri="{FF2B5EF4-FFF2-40B4-BE49-F238E27FC236}">
                    <a16:creationId xmlns:a16="http://schemas.microsoft.com/office/drawing/2014/main" id="{8DD16A0E-D737-6247-B093-B4F1E3473F00}"/>
                  </a:ext>
                </a:extLst>
              </p:cNvPr>
              <p:cNvSpPr/>
              <p:nvPr/>
            </p:nvSpPr>
            <p:spPr>
              <a:xfrm>
                <a:off x="7898130"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pre</a:t>
                </a:r>
                <a:endParaRPr kumimoji="1" lang="zh-CN" altLang="en-US" dirty="0"/>
              </a:p>
            </p:txBody>
          </p:sp>
          <p:sp>
            <p:nvSpPr>
              <p:cNvPr id="9" name="矩形 8">
                <a:extLst>
                  <a:ext uri="{FF2B5EF4-FFF2-40B4-BE49-F238E27FC236}">
                    <a16:creationId xmlns:a16="http://schemas.microsoft.com/office/drawing/2014/main" id="{9E4F9A9B-E511-4B41-B862-03057D5C067A}"/>
                  </a:ext>
                </a:extLst>
              </p:cNvPr>
              <p:cNvSpPr/>
              <p:nvPr/>
            </p:nvSpPr>
            <p:spPr>
              <a:xfrm>
                <a:off x="8905404"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cur</a:t>
                </a:r>
                <a:endParaRPr kumimoji="1" lang="zh-CN" altLang="en-US" dirty="0"/>
              </a:p>
            </p:txBody>
          </p:sp>
          <p:sp>
            <p:nvSpPr>
              <p:cNvPr id="10" name="矩形 9">
                <a:extLst>
                  <a:ext uri="{FF2B5EF4-FFF2-40B4-BE49-F238E27FC236}">
                    <a16:creationId xmlns:a16="http://schemas.microsoft.com/office/drawing/2014/main" id="{E88DA82E-E3D5-754B-AAF4-79A110E20D93}"/>
                  </a:ext>
                </a:extLst>
              </p:cNvPr>
              <p:cNvSpPr/>
              <p:nvPr/>
            </p:nvSpPr>
            <p:spPr>
              <a:xfrm>
                <a:off x="9935538" y="2594610"/>
                <a:ext cx="640080" cy="3429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err="1"/>
                  <a:t>tmp</a:t>
                </a:r>
                <a:endParaRPr kumimoji="1" lang="zh-CN" altLang="en-US" dirty="0"/>
              </a:p>
            </p:txBody>
          </p:sp>
          <p:cxnSp>
            <p:nvCxnSpPr>
              <p:cNvPr id="12" name="直线箭头连接符 11">
                <a:extLst>
                  <a:ext uri="{FF2B5EF4-FFF2-40B4-BE49-F238E27FC236}">
                    <a16:creationId xmlns:a16="http://schemas.microsoft.com/office/drawing/2014/main" id="{952F39B9-DE9A-134A-98E7-7B53024FC52C}"/>
                  </a:ext>
                </a:extLst>
              </p:cNvPr>
              <p:cNvCxnSpPr>
                <a:stCxn id="8" idx="3"/>
                <a:endCxn id="9" idx="1"/>
              </p:cNvCxnSpPr>
              <p:nvPr/>
            </p:nvCxnSpPr>
            <p:spPr>
              <a:xfrm>
                <a:off x="8538210" y="2766060"/>
                <a:ext cx="3671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8764F256-782B-FA4D-9202-B76BB7CDA6EE}"/>
                  </a:ext>
                </a:extLst>
              </p:cNvPr>
              <p:cNvCxnSpPr>
                <a:stCxn id="9" idx="3"/>
                <a:endCxn id="10" idx="1"/>
              </p:cNvCxnSpPr>
              <p:nvPr/>
            </p:nvCxnSpPr>
            <p:spPr>
              <a:xfrm>
                <a:off x="9545484" y="2766060"/>
                <a:ext cx="3900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6B383B51-2357-E246-BBAB-CA653E51EED8}"/>
                </a:ext>
              </a:extLst>
            </p:cNvPr>
            <p:cNvSpPr txBox="1"/>
            <p:nvPr/>
          </p:nvSpPr>
          <p:spPr>
            <a:xfrm>
              <a:off x="8001000" y="3000945"/>
              <a:ext cx="3520440" cy="2328523"/>
            </a:xfrm>
            <a:prstGeom prst="rect">
              <a:avLst/>
            </a:prstGeom>
            <a:noFill/>
          </p:spPr>
          <p:txBody>
            <a:bodyPr wrap="square" rtlCol="0">
              <a:spAutoFit/>
            </a:bodyPr>
            <a:lstStyle/>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每一次翻转要做</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4</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件事：</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tmp</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cur-&gt;next</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cur-&gt;next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 </a:t>
              </a: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tmp</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grpSp>
      <p:sp>
        <p:nvSpPr>
          <p:cNvPr id="5" name="文本框 4">
            <a:extLst>
              <a:ext uri="{FF2B5EF4-FFF2-40B4-BE49-F238E27FC236}">
                <a16:creationId xmlns:a16="http://schemas.microsoft.com/office/drawing/2014/main" id="{4E619ABA-8DAC-4B48-9963-6C5A4489B56B}"/>
              </a:ext>
            </a:extLst>
          </p:cNvPr>
          <p:cNvSpPr txBox="1"/>
          <p:nvPr/>
        </p:nvSpPr>
        <p:spPr>
          <a:xfrm>
            <a:off x="5303520" y="2240280"/>
            <a:ext cx="5886450" cy="3713517"/>
          </a:xfrm>
          <a:prstGeom prst="rect">
            <a:avLst/>
          </a:prstGeom>
          <a:noFill/>
        </p:spPr>
        <p:txBody>
          <a:bodyPr wrap="square" rtlCol="0">
            <a:spAutoFit/>
          </a:bodyPr>
          <a:lstStyle/>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常见的几个错误：</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没有提前存好</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cur-&gt;next</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，更改之后又试图访问</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遍历过程中没有更新</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和</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p>
          <a:p>
            <a:pPr marL="342900" indent="-342900">
              <a:lnSpc>
                <a:spcPct val="150000"/>
              </a:lnSpc>
              <a:buFont typeface="Arial" panose="020B0604020202020204" pitchFamily="34" charset="0"/>
              <a:buChar char="•"/>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pre</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和</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cur</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的更新顺序反了</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一次跳两步</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时间复杂度：遍历一遍，</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O(n)</a:t>
            </a: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空间复杂度：三个指针，</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O(1)</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244401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2_</a:t>
            </a:r>
            <a:r>
              <a:rPr lang="zh-CN" altLang="en-US" dirty="0">
                <a:latin typeface="微软雅黑"/>
                <a:ea typeface="微软雅黑"/>
                <a:sym typeface="微软雅黑"/>
              </a:rPr>
              <a:t>一些错误</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4098" name="Picture 2">
            <a:extLst>
              <a:ext uri="{FF2B5EF4-FFF2-40B4-BE49-F238E27FC236}">
                <a16:creationId xmlns:a16="http://schemas.microsoft.com/office/drawing/2014/main" id="{D195A510-1563-264B-976A-4E030F39B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8491" y="618504"/>
            <a:ext cx="3898900" cy="34544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6301DB18-0891-7C46-ABD4-CE09A41C2C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5352" y="861087"/>
            <a:ext cx="3098800" cy="31369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101" name="Picture 5">
            <a:extLst>
              <a:ext uri="{FF2B5EF4-FFF2-40B4-BE49-F238E27FC236}">
                <a16:creationId xmlns:a16="http://schemas.microsoft.com/office/drawing/2014/main" id="{0CFA53C9-C7C1-D646-9C02-18D6494EB9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8820" y="2872805"/>
            <a:ext cx="7645400" cy="34036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103" name="Picture 7">
            <a:extLst>
              <a:ext uri="{FF2B5EF4-FFF2-40B4-BE49-F238E27FC236}">
                <a16:creationId xmlns:a16="http://schemas.microsoft.com/office/drawing/2014/main" id="{C19BB933-EA5E-5B48-B6CF-A4405A14B0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913" y="1769137"/>
            <a:ext cx="4686300" cy="44577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BC9B6D86-47CE-914E-B126-2B8BD0A330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8204" y="1618305"/>
            <a:ext cx="6946900" cy="29972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406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C154C791-07EA-5C46-A042-B8BF0DB03966}"/>
              </a:ext>
            </a:extLst>
          </p:cNvPr>
          <p:cNvPicPr>
            <a:picLocks noChangeAspect="1"/>
          </p:cNvPicPr>
          <p:nvPr/>
        </p:nvPicPr>
        <p:blipFill>
          <a:blip r:embed="rId3"/>
          <a:stretch>
            <a:fillRect/>
          </a:stretch>
        </p:blipFill>
        <p:spPr>
          <a:xfrm>
            <a:off x="942203" y="1047750"/>
            <a:ext cx="9715500" cy="876300"/>
          </a:xfrm>
          <a:prstGeom prst="rect">
            <a:avLst/>
          </a:prstGeom>
        </p:spPr>
      </p:pic>
      <p:grpSp>
        <p:nvGrpSpPr>
          <p:cNvPr id="7" name="组合 6">
            <a:extLst>
              <a:ext uri="{FF2B5EF4-FFF2-40B4-BE49-F238E27FC236}">
                <a16:creationId xmlns:a16="http://schemas.microsoft.com/office/drawing/2014/main" id="{C4A2A776-C177-7843-A2E5-66D28A4178E5}"/>
              </a:ext>
            </a:extLst>
          </p:cNvPr>
          <p:cNvGrpSpPr/>
          <p:nvPr/>
        </p:nvGrpSpPr>
        <p:grpSpPr>
          <a:xfrm>
            <a:off x="911317" y="2110713"/>
            <a:ext cx="10142708" cy="5091266"/>
            <a:chOff x="942203" y="2103115"/>
            <a:chExt cx="10142708" cy="5091266"/>
          </a:xfrm>
        </p:grpSpPr>
        <p:sp>
          <p:nvSpPr>
            <p:cNvPr id="5" name="矩形 4">
              <a:extLst>
                <a:ext uri="{FF2B5EF4-FFF2-40B4-BE49-F238E27FC236}">
                  <a16:creationId xmlns:a16="http://schemas.microsoft.com/office/drawing/2014/main" id="{476F6088-871E-48F1-BA80-09EDAD0B2A31}"/>
                </a:ext>
              </a:extLst>
            </p:cNvPr>
            <p:cNvSpPr/>
            <p:nvPr/>
          </p:nvSpPr>
          <p:spPr>
            <a:xfrm>
              <a:off x="942203" y="2103115"/>
              <a:ext cx="10142708" cy="5091266"/>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判断单向链表是否有环，一个典型错误：</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计算一个</a:t>
              </a:r>
              <a:r>
                <a:rPr lang="en-US" altLang="zh-CN" sz="2200" kern="100" dirty="0">
                  <a:latin typeface="宋体" panose="02010600030101010101" pitchFamily="2" charset="-122"/>
                  <a:ea typeface="宋体" panose="02010600030101010101" pitchFamily="2" charset="-122"/>
                </a:rPr>
                <a:t>length</a:t>
              </a:r>
              <a:r>
                <a:rPr lang="zh-CN" altLang="en-US" sz="2200" kern="100" dirty="0">
                  <a:latin typeface="宋体" panose="02010600030101010101" pitchFamily="2" charset="-122"/>
                  <a:ea typeface="宋体" panose="02010600030101010101" pitchFamily="2" charset="-122"/>
                </a:rPr>
                <a:t>进行判断</a:t>
              </a:r>
              <a:r>
                <a:rPr lang="en-US" altLang="zh-CN" sz="2200" kern="100" dirty="0">
                  <a:latin typeface="宋体" panose="02010600030101010101" pitchFamily="2" charset="-122"/>
                  <a:ea typeface="宋体" panose="02010600030101010101" pitchFamily="2" charset="-122"/>
                </a:rPr>
                <a:t>❌</a:t>
              </a: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5121" name="Picture 1">
              <a:extLst>
                <a:ext uri="{FF2B5EF4-FFF2-40B4-BE49-F238E27FC236}">
                  <a16:creationId xmlns:a16="http://schemas.microsoft.com/office/drawing/2014/main" id="{A4172C40-6635-9A44-8FA8-82BCF1035E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838" y="2731700"/>
              <a:ext cx="7747000" cy="28702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grpSp>
      <p:grpSp>
        <p:nvGrpSpPr>
          <p:cNvPr id="26" name="组合 25">
            <a:extLst>
              <a:ext uri="{FF2B5EF4-FFF2-40B4-BE49-F238E27FC236}">
                <a16:creationId xmlns:a16="http://schemas.microsoft.com/office/drawing/2014/main" id="{0771ED46-213D-8045-B1EF-CB369ECD6744}"/>
              </a:ext>
            </a:extLst>
          </p:cNvPr>
          <p:cNvGrpSpPr/>
          <p:nvPr/>
        </p:nvGrpSpPr>
        <p:grpSpPr>
          <a:xfrm>
            <a:off x="7674968" y="3147300"/>
            <a:ext cx="4074023" cy="1208887"/>
            <a:chOff x="7360920" y="2101357"/>
            <a:chExt cx="4074023" cy="1208887"/>
          </a:xfrm>
        </p:grpSpPr>
        <p:sp>
          <p:nvSpPr>
            <p:cNvPr id="8" name="矩形 7">
              <a:extLst>
                <a:ext uri="{FF2B5EF4-FFF2-40B4-BE49-F238E27FC236}">
                  <a16:creationId xmlns:a16="http://schemas.microsoft.com/office/drawing/2014/main" id="{048FBF13-217E-7642-A932-B505A27678DD}"/>
                </a:ext>
              </a:extLst>
            </p:cNvPr>
            <p:cNvSpPr/>
            <p:nvPr/>
          </p:nvSpPr>
          <p:spPr>
            <a:xfrm>
              <a:off x="7360920" y="2103115"/>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Head</a:t>
              </a:r>
            </a:p>
          </p:txBody>
        </p:sp>
        <p:sp>
          <p:nvSpPr>
            <p:cNvPr id="10" name="矩形 9">
              <a:extLst>
                <a:ext uri="{FF2B5EF4-FFF2-40B4-BE49-F238E27FC236}">
                  <a16:creationId xmlns:a16="http://schemas.microsoft.com/office/drawing/2014/main" id="{8548E680-0431-5D43-8212-3C39F1EF2732}"/>
                </a:ext>
              </a:extLst>
            </p:cNvPr>
            <p:cNvSpPr/>
            <p:nvPr/>
          </p:nvSpPr>
          <p:spPr>
            <a:xfrm>
              <a:off x="8456218" y="2110713"/>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1" name="矩形 10">
              <a:extLst>
                <a:ext uri="{FF2B5EF4-FFF2-40B4-BE49-F238E27FC236}">
                  <a16:creationId xmlns:a16="http://schemas.microsoft.com/office/drawing/2014/main" id="{ECAE844D-F768-3D45-90FA-36ABE51662FA}"/>
                </a:ext>
              </a:extLst>
            </p:cNvPr>
            <p:cNvSpPr/>
            <p:nvPr/>
          </p:nvSpPr>
          <p:spPr>
            <a:xfrm>
              <a:off x="9543502" y="2103114"/>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2" name="矩形 11">
              <a:extLst>
                <a:ext uri="{FF2B5EF4-FFF2-40B4-BE49-F238E27FC236}">
                  <a16:creationId xmlns:a16="http://schemas.microsoft.com/office/drawing/2014/main" id="{2B95F144-4750-1346-B3FA-5FE79918F114}"/>
                </a:ext>
              </a:extLst>
            </p:cNvPr>
            <p:cNvSpPr/>
            <p:nvPr/>
          </p:nvSpPr>
          <p:spPr>
            <a:xfrm>
              <a:off x="10638800" y="2101357"/>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3" name="矩形 12">
              <a:extLst>
                <a:ext uri="{FF2B5EF4-FFF2-40B4-BE49-F238E27FC236}">
                  <a16:creationId xmlns:a16="http://schemas.microsoft.com/office/drawing/2014/main" id="{25580DAC-4A30-8245-BBD6-6471B4069D15}"/>
                </a:ext>
              </a:extLst>
            </p:cNvPr>
            <p:cNvSpPr/>
            <p:nvPr/>
          </p:nvSpPr>
          <p:spPr>
            <a:xfrm>
              <a:off x="10657703" y="28975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4" name="矩形 13">
              <a:extLst>
                <a:ext uri="{FF2B5EF4-FFF2-40B4-BE49-F238E27FC236}">
                  <a16:creationId xmlns:a16="http://schemas.microsoft.com/office/drawing/2014/main" id="{60479E33-2389-AD46-A6ED-BAE7A5538787}"/>
                </a:ext>
              </a:extLst>
            </p:cNvPr>
            <p:cNvSpPr/>
            <p:nvPr/>
          </p:nvSpPr>
          <p:spPr>
            <a:xfrm>
              <a:off x="9576254" y="28987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cxnSp>
          <p:nvCxnSpPr>
            <p:cNvPr id="15" name="直线箭头连接符 14">
              <a:extLst>
                <a:ext uri="{FF2B5EF4-FFF2-40B4-BE49-F238E27FC236}">
                  <a16:creationId xmlns:a16="http://schemas.microsoft.com/office/drawing/2014/main" id="{91DC0A18-5389-3947-B050-87E3C4EB738E}"/>
                </a:ext>
              </a:extLst>
            </p:cNvPr>
            <p:cNvCxnSpPr>
              <a:stCxn id="8" idx="3"/>
              <a:endCxn id="10" idx="1"/>
            </p:cNvCxnSpPr>
            <p:nvPr/>
          </p:nvCxnSpPr>
          <p:spPr>
            <a:xfrm>
              <a:off x="8138160" y="2308858"/>
              <a:ext cx="318058" cy="7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4F35344-6D21-A749-8CEF-9028F9D861BF}"/>
                </a:ext>
              </a:extLst>
            </p:cNvPr>
            <p:cNvCxnSpPr>
              <a:stCxn id="10" idx="3"/>
              <a:endCxn id="11" idx="1"/>
            </p:cNvCxnSpPr>
            <p:nvPr/>
          </p:nvCxnSpPr>
          <p:spPr>
            <a:xfrm flipV="1">
              <a:off x="9233458" y="2308857"/>
              <a:ext cx="310044" cy="7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5E134989-FFCF-2549-B7CA-9D1D835057EA}"/>
                </a:ext>
              </a:extLst>
            </p:cNvPr>
            <p:cNvCxnSpPr>
              <a:stCxn id="11" idx="3"/>
              <a:endCxn id="12" idx="1"/>
            </p:cNvCxnSpPr>
            <p:nvPr/>
          </p:nvCxnSpPr>
          <p:spPr>
            <a:xfrm flipV="1">
              <a:off x="10320742" y="2307100"/>
              <a:ext cx="31805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14DE7022-FD33-F94D-81B9-1557F1B84A92}"/>
                </a:ext>
              </a:extLst>
            </p:cNvPr>
            <p:cNvCxnSpPr>
              <a:stCxn id="12" idx="2"/>
              <a:endCxn id="13" idx="0"/>
            </p:cNvCxnSpPr>
            <p:nvPr/>
          </p:nvCxnSpPr>
          <p:spPr>
            <a:xfrm>
              <a:off x="11027420" y="2512842"/>
              <a:ext cx="18903" cy="38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D950593-8454-1342-9962-99555EB76A8D}"/>
                </a:ext>
              </a:extLst>
            </p:cNvPr>
            <p:cNvCxnSpPr>
              <a:stCxn id="13" idx="1"/>
              <a:endCxn id="14" idx="3"/>
            </p:cNvCxnSpPr>
            <p:nvPr/>
          </p:nvCxnSpPr>
          <p:spPr>
            <a:xfrm flipH="1">
              <a:off x="10353494" y="3103302"/>
              <a:ext cx="304209" cy="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751CB651-69E9-B940-A2F8-C40850BF14A4}"/>
                </a:ext>
              </a:extLst>
            </p:cNvPr>
            <p:cNvCxnSpPr>
              <a:stCxn id="14" idx="0"/>
              <a:endCxn id="11" idx="2"/>
            </p:cNvCxnSpPr>
            <p:nvPr/>
          </p:nvCxnSpPr>
          <p:spPr>
            <a:xfrm flipH="1" flipV="1">
              <a:off x="9932122" y="2514599"/>
              <a:ext cx="32752" cy="38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575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C154C791-07EA-5C46-A042-B8BF0DB03966}"/>
              </a:ext>
            </a:extLst>
          </p:cNvPr>
          <p:cNvPicPr>
            <a:picLocks noChangeAspect="1"/>
          </p:cNvPicPr>
          <p:nvPr/>
        </p:nvPicPr>
        <p:blipFill>
          <a:blip r:embed="rId3"/>
          <a:stretch>
            <a:fillRect/>
          </a:stretch>
        </p:blipFill>
        <p:spPr>
          <a:xfrm>
            <a:off x="942203" y="1047750"/>
            <a:ext cx="9715500" cy="876300"/>
          </a:xfrm>
          <a:prstGeom prst="rect">
            <a:avLst/>
          </a:prstGeom>
        </p:spPr>
      </p:pic>
      <p:grpSp>
        <p:nvGrpSpPr>
          <p:cNvPr id="26" name="组合 25">
            <a:extLst>
              <a:ext uri="{FF2B5EF4-FFF2-40B4-BE49-F238E27FC236}">
                <a16:creationId xmlns:a16="http://schemas.microsoft.com/office/drawing/2014/main" id="{0771ED46-213D-8045-B1EF-CB369ECD6744}"/>
              </a:ext>
            </a:extLst>
          </p:cNvPr>
          <p:cNvGrpSpPr/>
          <p:nvPr/>
        </p:nvGrpSpPr>
        <p:grpSpPr>
          <a:xfrm>
            <a:off x="7800698" y="1821988"/>
            <a:ext cx="4074023" cy="1208887"/>
            <a:chOff x="7360920" y="2101357"/>
            <a:chExt cx="4074023" cy="1208887"/>
          </a:xfrm>
        </p:grpSpPr>
        <p:sp>
          <p:nvSpPr>
            <p:cNvPr id="8" name="矩形 7">
              <a:extLst>
                <a:ext uri="{FF2B5EF4-FFF2-40B4-BE49-F238E27FC236}">
                  <a16:creationId xmlns:a16="http://schemas.microsoft.com/office/drawing/2014/main" id="{048FBF13-217E-7642-A932-B505A27678DD}"/>
                </a:ext>
              </a:extLst>
            </p:cNvPr>
            <p:cNvSpPr/>
            <p:nvPr/>
          </p:nvSpPr>
          <p:spPr>
            <a:xfrm>
              <a:off x="7360920" y="2103115"/>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Head</a:t>
              </a:r>
            </a:p>
          </p:txBody>
        </p:sp>
        <p:sp>
          <p:nvSpPr>
            <p:cNvPr id="10" name="矩形 9">
              <a:extLst>
                <a:ext uri="{FF2B5EF4-FFF2-40B4-BE49-F238E27FC236}">
                  <a16:creationId xmlns:a16="http://schemas.microsoft.com/office/drawing/2014/main" id="{8548E680-0431-5D43-8212-3C39F1EF2732}"/>
                </a:ext>
              </a:extLst>
            </p:cNvPr>
            <p:cNvSpPr/>
            <p:nvPr/>
          </p:nvSpPr>
          <p:spPr>
            <a:xfrm>
              <a:off x="8456218" y="2110713"/>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1" name="矩形 10">
              <a:extLst>
                <a:ext uri="{FF2B5EF4-FFF2-40B4-BE49-F238E27FC236}">
                  <a16:creationId xmlns:a16="http://schemas.microsoft.com/office/drawing/2014/main" id="{ECAE844D-F768-3D45-90FA-36ABE51662FA}"/>
                </a:ext>
              </a:extLst>
            </p:cNvPr>
            <p:cNvSpPr/>
            <p:nvPr/>
          </p:nvSpPr>
          <p:spPr>
            <a:xfrm>
              <a:off x="9543502" y="2103114"/>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2" name="矩形 11">
              <a:extLst>
                <a:ext uri="{FF2B5EF4-FFF2-40B4-BE49-F238E27FC236}">
                  <a16:creationId xmlns:a16="http://schemas.microsoft.com/office/drawing/2014/main" id="{2B95F144-4750-1346-B3FA-5FE79918F114}"/>
                </a:ext>
              </a:extLst>
            </p:cNvPr>
            <p:cNvSpPr/>
            <p:nvPr/>
          </p:nvSpPr>
          <p:spPr>
            <a:xfrm>
              <a:off x="10638800" y="2101357"/>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3" name="矩形 12">
              <a:extLst>
                <a:ext uri="{FF2B5EF4-FFF2-40B4-BE49-F238E27FC236}">
                  <a16:creationId xmlns:a16="http://schemas.microsoft.com/office/drawing/2014/main" id="{25580DAC-4A30-8245-BBD6-6471B4069D15}"/>
                </a:ext>
              </a:extLst>
            </p:cNvPr>
            <p:cNvSpPr/>
            <p:nvPr/>
          </p:nvSpPr>
          <p:spPr>
            <a:xfrm>
              <a:off x="10657703" y="28975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4" name="矩形 13">
              <a:extLst>
                <a:ext uri="{FF2B5EF4-FFF2-40B4-BE49-F238E27FC236}">
                  <a16:creationId xmlns:a16="http://schemas.microsoft.com/office/drawing/2014/main" id="{60479E33-2389-AD46-A6ED-BAE7A5538787}"/>
                </a:ext>
              </a:extLst>
            </p:cNvPr>
            <p:cNvSpPr/>
            <p:nvPr/>
          </p:nvSpPr>
          <p:spPr>
            <a:xfrm>
              <a:off x="9576254" y="28987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cxnSp>
          <p:nvCxnSpPr>
            <p:cNvPr id="15" name="直线箭头连接符 14">
              <a:extLst>
                <a:ext uri="{FF2B5EF4-FFF2-40B4-BE49-F238E27FC236}">
                  <a16:creationId xmlns:a16="http://schemas.microsoft.com/office/drawing/2014/main" id="{91DC0A18-5389-3947-B050-87E3C4EB738E}"/>
                </a:ext>
              </a:extLst>
            </p:cNvPr>
            <p:cNvCxnSpPr>
              <a:stCxn id="8" idx="3"/>
              <a:endCxn id="10" idx="1"/>
            </p:cNvCxnSpPr>
            <p:nvPr/>
          </p:nvCxnSpPr>
          <p:spPr>
            <a:xfrm>
              <a:off x="8138160" y="2308858"/>
              <a:ext cx="318058" cy="7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4F35344-6D21-A749-8CEF-9028F9D861BF}"/>
                </a:ext>
              </a:extLst>
            </p:cNvPr>
            <p:cNvCxnSpPr>
              <a:stCxn id="10" idx="3"/>
              <a:endCxn id="11" idx="1"/>
            </p:cNvCxnSpPr>
            <p:nvPr/>
          </p:nvCxnSpPr>
          <p:spPr>
            <a:xfrm flipV="1">
              <a:off x="9233458" y="2308857"/>
              <a:ext cx="310044" cy="7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5E134989-FFCF-2549-B7CA-9D1D835057EA}"/>
                </a:ext>
              </a:extLst>
            </p:cNvPr>
            <p:cNvCxnSpPr>
              <a:stCxn id="11" idx="3"/>
              <a:endCxn id="12" idx="1"/>
            </p:cNvCxnSpPr>
            <p:nvPr/>
          </p:nvCxnSpPr>
          <p:spPr>
            <a:xfrm flipV="1">
              <a:off x="10320742" y="2307100"/>
              <a:ext cx="31805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14DE7022-FD33-F94D-81B9-1557F1B84A92}"/>
                </a:ext>
              </a:extLst>
            </p:cNvPr>
            <p:cNvCxnSpPr>
              <a:stCxn id="12" idx="2"/>
              <a:endCxn id="13" idx="0"/>
            </p:cNvCxnSpPr>
            <p:nvPr/>
          </p:nvCxnSpPr>
          <p:spPr>
            <a:xfrm>
              <a:off x="11027420" y="2512842"/>
              <a:ext cx="18903" cy="38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D950593-8454-1342-9962-99555EB76A8D}"/>
                </a:ext>
              </a:extLst>
            </p:cNvPr>
            <p:cNvCxnSpPr>
              <a:stCxn id="13" idx="1"/>
              <a:endCxn id="14" idx="3"/>
            </p:cNvCxnSpPr>
            <p:nvPr/>
          </p:nvCxnSpPr>
          <p:spPr>
            <a:xfrm flipH="1">
              <a:off x="10353494" y="3103302"/>
              <a:ext cx="304209" cy="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751CB651-69E9-B940-A2F8-C40850BF14A4}"/>
                </a:ext>
              </a:extLst>
            </p:cNvPr>
            <p:cNvCxnSpPr>
              <a:stCxn id="14" idx="0"/>
              <a:endCxn id="11" idx="2"/>
            </p:cNvCxnSpPr>
            <p:nvPr/>
          </p:nvCxnSpPr>
          <p:spPr>
            <a:xfrm flipH="1" flipV="1">
              <a:off x="9932122" y="2514599"/>
              <a:ext cx="32752" cy="38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6" name="图片 15">
            <a:extLst>
              <a:ext uri="{FF2B5EF4-FFF2-40B4-BE49-F238E27FC236}">
                <a16:creationId xmlns:a16="http://schemas.microsoft.com/office/drawing/2014/main" id="{A0CC44EE-C134-4946-B7CB-FF027008A1BB}"/>
              </a:ext>
            </a:extLst>
          </p:cNvPr>
          <p:cNvPicPr>
            <a:picLocks noChangeAspect="1"/>
          </p:cNvPicPr>
          <p:nvPr/>
        </p:nvPicPr>
        <p:blipFill>
          <a:blip r:embed="rId4"/>
          <a:stretch>
            <a:fillRect/>
          </a:stretch>
        </p:blipFill>
        <p:spPr>
          <a:xfrm>
            <a:off x="841407" y="1874450"/>
            <a:ext cx="6273800" cy="4584700"/>
          </a:xfrm>
          <a:prstGeom prst="rect">
            <a:avLst/>
          </a:prstGeom>
          <a:ln>
            <a:solidFill>
              <a:schemeClr val="accent1"/>
            </a:solidFill>
          </a:ln>
        </p:spPr>
      </p:pic>
      <p:sp>
        <p:nvSpPr>
          <p:cNvPr id="18" name="文本框 17">
            <a:extLst>
              <a:ext uri="{FF2B5EF4-FFF2-40B4-BE49-F238E27FC236}">
                <a16:creationId xmlns:a16="http://schemas.microsoft.com/office/drawing/2014/main" id="{E0ECD233-6B21-6B4A-96BA-EE5D6F6716C1}"/>
              </a:ext>
            </a:extLst>
          </p:cNvPr>
          <p:cNvSpPr txBox="1"/>
          <p:nvPr/>
        </p:nvSpPr>
        <p:spPr>
          <a:xfrm>
            <a:off x="7519205" y="2846183"/>
            <a:ext cx="4539445" cy="3559629"/>
          </a:xfrm>
          <a:prstGeom prst="rect">
            <a:avLst/>
          </a:prstGeom>
          <a:noFill/>
        </p:spPr>
        <p:txBody>
          <a:bodyPr wrap="square" rtlCol="0">
            <a:spAutoFit/>
          </a:bodyPr>
          <a:lstStyle/>
          <a:p>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方法一：</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用一个数据结构存储访问过的所有节点，每走到一个节点，检查之前是否来过。空间复杂度</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O(n)</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注意不同数据结构的时间复杂度不同：</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数组：</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O(n^2)</a:t>
            </a:r>
          </a:p>
          <a:p>
            <a:pPr marL="342900" indent="-342900">
              <a:lnSpc>
                <a:spcPct val="150000"/>
              </a:lnSpc>
              <a:buFont typeface="Arial" panose="020B0604020202020204" pitchFamily="34" charset="0"/>
              <a:buChar char="•"/>
            </a:pP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Set:O</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r>
              <a:rPr kumimoji="1" lang="en-US" altLang="zh-CN" sz="2000" dirty="0" err="1">
                <a:latin typeface="SimSun" panose="02010600030101010101" pitchFamily="2" charset="-122"/>
                <a:ea typeface="SimSun" panose="02010600030101010101" pitchFamily="2" charset="-122"/>
                <a:cs typeface="+mn-ea"/>
                <a:sym typeface="Arial" panose="020B0604020202020204" pitchFamily="34" charset="0"/>
              </a:rPr>
              <a:t>nlogn</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a:t>
            </a:r>
          </a:p>
          <a:p>
            <a:pPr marL="342900" indent="-342900">
              <a:lnSpc>
                <a:spcPct val="150000"/>
              </a:lnSpc>
              <a:buFont typeface="Arial" panose="020B0604020202020204" pitchFamily="34" charset="0"/>
              <a:buChar char="•"/>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哈希表：</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O(n)</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2752302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C154C791-07EA-5C46-A042-B8BF0DB03966}"/>
              </a:ext>
            </a:extLst>
          </p:cNvPr>
          <p:cNvPicPr>
            <a:picLocks noChangeAspect="1"/>
          </p:cNvPicPr>
          <p:nvPr/>
        </p:nvPicPr>
        <p:blipFill>
          <a:blip r:embed="rId3"/>
          <a:stretch>
            <a:fillRect/>
          </a:stretch>
        </p:blipFill>
        <p:spPr>
          <a:xfrm>
            <a:off x="942203" y="1047750"/>
            <a:ext cx="9715500" cy="876300"/>
          </a:xfrm>
          <a:prstGeom prst="rect">
            <a:avLst/>
          </a:prstGeom>
        </p:spPr>
      </p:pic>
      <p:grpSp>
        <p:nvGrpSpPr>
          <p:cNvPr id="26" name="组合 25">
            <a:extLst>
              <a:ext uri="{FF2B5EF4-FFF2-40B4-BE49-F238E27FC236}">
                <a16:creationId xmlns:a16="http://schemas.microsoft.com/office/drawing/2014/main" id="{0771ED46-213D-8045-B1EF-CB369ECD6744}"/>
              </a:ext>
            </a:extLst>
          </p:cNvPr>
          <p:cNvGrpSpPr/>
          <p:nvPr/>
        </p:nvGrpSpPr>
        <p:grpSpPr>
          <a:xfrm>
            <a:off x="7800698" y="1821988"/>
            <a:ext cx="4074023" cy="1208887"/>
            <a:chOff x="7360920" y="2101357"/>
            <a:chExt cx="4074023" cy="1208887"/>
          </a:xfrm>
        </p:grpSpPr>
        <p:sp>
          <p:nvSpPr>
            <p:cNvPr id="8" name="矩形 7">
              <a:extLst>
                <a:ext uri="{FF2B5EF4-FFF2-40B4-BE49-F238E27FC236}">
                  <a16:creationId xmlns:a16="http://schemas.microsoft.com/office/drawing/2014/main" id="{048FBF13-217E-7642-A932-B505A27678DD}"/>
                </a:ext>
              </a:extLst>
            </p:cNvPr>
            <p:cNvSpPr/>
            <p:nvPr/>
          </p:nvSpPr>
          <p:spPr>
            <a:xfrm>
              <a:off x="7360920" y="2103115"/>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Head</a:t>
              </a:r>
            </a:p>
          </p:txBody>
        </p:sp>
        <p:sp>
          <p:nvSpPr>
            <p:cNvPr id="10" name="矩形 9">
              <a:extLst>
                <a:ext uri="{FF2B5EF4-FFF2-40B4-BE49-F238E27FC236}">
                  <a16:creationId xmlns:a16="http://schemas.microsoft.com/office/drawing/2014/main" id="{8548E680-0431-5D43-8212-3C39F1EF2732}"/>
                </a:ext>
              </a:extLst>
            </p:cNvPr>
            <p:cNvSpPr/>
            <p:nvPr/>
          </p:nvSpPr>
          <p:spPr>
            <a:xfrm>
              <a:off x="8456218" y="2110713"/>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1" name="矩形 10">
              <a:extLst>
                <a:ext uri="{FF2B5EF4-FFF2-40B4-BE49-F238E27FC236}">
                  <a16:creationId xmlns:a16="http://schemas.microsoft.com/office/drawing/2014/main" id="{ECAE844D-F768-3D45-90FA-36ABE51662FA}"/>
                </a:ext>
              </a:extLst>
            </p:cNvPr>
            <p:cNvSpPr/>
            <p:nvPr/>
          </p:nvSpPr>
          <p:spPr>
            <a:xfrm>
              <a:off x="9543502" y="2103114"/>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2" name="矩形 11">
              <a:extLst>
                <a:ext uri="{FF2B5EF4-FFF2-40B4-BE49-F238E27FC236}">
                  <a16:creationId xmlns:a16="http://schemas.microsoft.com/office/drawing/2014/main" id="{2B95F144-4750-1346-B3FA-5FE79918F114}"/>
                </a:ext>
              </a:extLst>
            </p:cNvPr>
            <p:cNvSpPr/>
            <p:nvPr/>
          </p:nvSpPr>
          <p:spPr>
            <a:xfrm>
              <a:off x="10638800" y="2101357"/>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3" name="矩形 12">
              <a:extLst>
                <a:ext uri="{FF2B5EF4-FFF2-40B4-BE49-F238E27FC236}">
                  <a16:creationId xmlns:a16="http://schemas.microsoft.com/office/drawing/2014/main" id="{25580DAC-4A30-8245-BBD6-6471B4069D15}"/>
                </a:ext>
              </a:extLst>
            </p:cNvPr>
            <p:cNvSpPr/>
            <p:nvPr/>
          </p:nvSpPr>
          <p:spPr>
            <a:xfrm>
              <a:off x="10657703" y="28975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4" name="矩形 13">
              <a:extLst>
                <a:ext uri="{FF2B5EF4-FFF2-40B4-BE49-F238E27FC236}">
                  <a16:creationId xmlns:a16="http://schemas.microsoft.com/office/drawing/2014/main" id="{60479E33-2389-AD46-A6ED-BAE7A5538787}"/>
                </a:ext>
              </a:extLst>
            </p:cNvPr>
            <p:cNvSpPr/>
            <p:nvPr/>
          </p:nvSpPr>
          <p:spPr>
            <a:xfrm>
              <a:off x="9576254" y="28987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cxnSp>
          <p:nvCxnSpPr>
            <p:cNvPr id="15" name="直线箭头连接符 14">
              <a:extLst>
                <a:ext uri="{FF2B5EF4-FFF2-40B4-BE49-F238E27FC236}">
                  <a16:creationId xmlns:a16="http://schemas.microsoft.com/office/drawing/2014/main" id="{91DC0A18-5389-3947-B050-87E3C4EB738E}"/>
                </a:ext>
              </a:extLst>
            </p:cNvPr>
            <p:cNvCxnSpPr>
              <a:stCxn id="8" idx="3"/>
              <a:endCxn id="10" idx="1"/>
            </p:cNvCxnSpPr>
            <p:nvPr/>
          </p:nvCxnSpPr>
          <p:spPr>
            <a:xfrm>
              <a:off x="8138160" y="2308858"/>
              <a:ext cx="318058" cy="7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4F35344-6D21-A749-8CEF-9028F9D861BF}"/>
                </a:ext>
              </a:extLst>
            </p:cNvPr>
            <p:cNvCxnSpPr>
              <a:stCxn id="10" idx="3"/>
              <a:endCxn id="11" idx="1"/>
            </p:cNvCxnSpPr>
            <p:nvPr/>
          </p:nvCxnSpPr>
          <p:spPr>
            <a:xfrm flipV="1">
              <a:off x="9233458" y="2308857"/>
              <a:ext cx="310044" cy="7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5E134989-FFCF-2549-B7CA-9D1D835057EA}"/>
                </a:ext>
              </a:extLst>
            </p:cNvPr>
            <p:cNvCxnSpPr>
              <a:stCxn id="11" idx="3"/>
              <a:endCxn id="12" idx="1"/>
            </p:cNvCxnSpPr>
            <p:nvPr/>
          </p:nvCxnSpPr>
          <p:spPr>
            <a:xfrm flipV="1">
              <a:off x="10320742" y="2307100"/>
              <a:ext cx="31805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14DE7022-FD33-F94D-81B9-1557F1B84A92}"/>
                </a:ext>
              </a:extLst>
            </p:cNvPr>
            <p:cNvCxnSpPr>
              <a:stCxn id="12" idx="2"/>
              <a:endCxn id="13" idx="0"/>
            </p:cNvCxnSpPr>
            <p:nvPr/>
          </p:nvCxnSpPr>
          <p:spPr>
            <a:xfrm>
              <a:off x="11027420" y="2512842"/>
              <a:ext cx="18903" cy="38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D950593-8454-1342-9962-99555EB76A8D}"/>
                </a:ext>
              </a:extLst>
            </p:cNvPr>
            <p:cNvCxnSpPr>
              <a:stCxn id="13" idx="1"/>
              <a:endCxn id="14" idx="3"/>
            </p:cNvCxnSpPr>
            <p:nvPr/>
          </p:nvCxnSpPr>
          <p:spPr>
            <a:xfrm flipH="1">
              <a:off x="10353494" y="3103302"/>
              <a:ext cx="304209" cy="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751CB651-69E9-B940-A2F8-C40850BF14A4}"/>
                </a:ext>
              </a:extLst>
            </p:cNvPr>
            <p:cNvCxnSpPr>
              <a:stCxn id="14" idx="0"/>
              <a:endCxn id="11" idx="2"/>
            </p:cNvCxnSpPr>
            <p:nvPr/>
          </p:nvCxnSpPr>
          <p:spPr>
            <a:xfrm flipH="1" flipV="1">
              <a:off x="9932122" y="2514599"/>
              <a:ext cx="32752" cy="38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5" name="图片 4">
            <a:extLst>
              <a:ext uri="{FF2B5EF4-FFF2-40B4-BE49-F238E27FC236}">
                <a16:creationId xmlns:a16="http://schemas.microsoft.com/office/drawing/2014/main" id="{9C0F1622-B4D1-A242-8637-6218002B3C7E}"/>
              </a:ext>
            </a:extLst>
          </p:cNvPr>
          <p:cNvPicPr>
            <a:picLocks noChangeAspect="1"/>
          </p:cNvPicPr>
          <p:nvPr/>
        </p:nvPicPr>
        <p:blipFill rotWithShape="1">
          <a:blip r:embed="rId4"/>
          <a:srcRect r="23620" b="4838"/>
          <a:stretch/>
        </p:blipFill>
        <p:spPr>
          <a:xfrm>
            <a:off x="586238" y="1924050"/>
            <a:ext cx="6643803" cy="4110990"/>
          </a:xfrm>
          <a:prstGeom prst="rect">
            <a:avLst/>
          </a:prstGeom>
          <a:ln>
            <a:solidFill>
              <a:schemeClr val="accent1"/>
            </a:solidFill>
          </a:ln>
        </p:spPr>
      </p:pic>
      <p:sp>
        <p:nvSpPr>
          <p:cNvPr id="18" name="文本框 17">
            <a:extLst>
              <a:ext uri="{FF2B5EF4-FFF2-40B4-BE49-F238E27FC236}">
                <a16:creationId xmlns:a16="http://schemas.microsoft.com/office/drawing/2014/main" id="{E0ECD233-6B21-6B4A-96BA-EE5D6F6716C1}"/>
              </a:ext>
            </a:extLst>
          </p:cNvPr>
          <p:cNvSpPr txBox="1"/>
          <p:nvPr/>
        </p:nvSpPr>
        <p:spPr>
          <a:xfrm>
            <a:off x="7403513" y="3304620"/>
            <a:ext cx="4539445" cy="2636299"/>
          </a:xfrm>
          <a:prstGeom prst="rect">
            <a:avLst/>
          </a:prstGeom>
          <a:noFill/>
        </p:spPr>
        <p:txBody>
          <a:bodyPr wrap="square" rtlCol="0">
            <a:spAutoFit/>
          </a:bodyPr>
          <a:lstStyle/>
          <a:p>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方法二：</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使用快慢指针，快指针每次走两步，慢指针每次走一步。有环必相遇，快指针走到链尾无环。</a:t>
            </a:r>
          </a:p>
          <a:p>
            <a:pP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空间复杂度：两个指针 </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O(1) </a:t>
            </a: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；时间复杂度：</a:t>
            </a: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O(n)</a:t>
            </a:r>
          </a:p>
        </p:txBody>
      </p:sp>
    </p:spTree>
    <p:extLst>
      <p:ext uri="{BB962C8B-B14F-4D97-AF65-F5344CB8AC3E}">
        <p14:creationId xmlns:p14="http://schemas.microsoft.com/office/powerpoint/2010/main" val="3672228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快慢指针</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6" name="组合 25">
            <a:extLst>
              <a:ext uri="{FF2B5EF4-FFF2-40B4-BE49-F238E27FC236}">
                <a16:creationId xmlns:a16="http://schemas.microsoft.com/office/drawing/2014/main" id="{0771ED46-213D-8045-B1EF-CB369ECD6744}"/>
              </a:ext>
            </a:extLst>
          </p:cNvPr>
          <p:cNvGrpSpPr/>
          <p:nvPr/>
        </p:nvGrpSpPr>
        <p:grpSpPr>
          <a:xfrm>
            <a:off x="7549238" y="2118600"/>
            <a:ext cx="4074023" cy="1208887"/>
            <a:chOff x="7360920" y="2101357"/>
            <a:chExt cx="4074023" cy="1208887"/>
          </a:xfrm>
        </p:grpSpPr>
        <p:sp>
          <p:nvSpPr>
            <p:cNvPr id="8" name="矩形 7">
              <a:extLst>
                <a:ext uri="{FF2B5EF4-FFF2-40B4-BE49-F238E27FC236}">
                  <a16:creationId xmlns:a16="http://schemas.microsoft.com/office/drawing/2014/main" id="{048FBF13-217E-7642-A932-B505A27678DD}"/>
                </a:ext>
              </a:extLst>
            </p:cNvPr>
            <p:cNvSpPr/>
            <p:nvPr/>
          </p:nvSpPr>
          <p:spPr>
            <a:xfrm>
              <a:off x="7360920" y="2103115"/>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Head</a:t>
              </a:r>
            </a:p>
          </p:txBody>
        </p:sp>
        <p:sp>
          <p:nvSpPr>
            <p:cNvPr id="10" name="矩形 9">
              <a:extLst>
                <a:ext uri="{FF2B5EF4-FFF2-40B4-BE49-F238E27FC236}">
                  <a16:creationId xmlns:a16="http://schemas.microsoft.com/office/drawing/2014/main" id="{8548E680-0431-5D43-8212-3C39F1EF2732}"/>
                </a:ext>
              </a:extLst>
            </p:cNvPr>
            <p:cNvSpPr/>
            <p:nvPr/>
          </p:nvSpPr>
          <p:spPr>
            <a:xfrm>
              <a:off x="8456218" y="2110713"/>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1" name="矩形 10">
              <a:extLst>
                <a:ext uri="{FF2B5EF4-FFF2-40B4-BE49-F238E27FC236}">
                  <a16:creationId xmlns:a16="http://schemas.microsoft.com/office/drawing/2014/main" id="{ECAE844D-F768-3D45-90FA-36ABE51662FA}"/>
                </a:ext>
              </a:extLst>
            </p:cNvPr>
            <p:cNvSpPr/>
            <p:nvPr/>
          </p:nvSpPr>
          <p:spPr>
            <a:xfrm>
              <a:off x="9543502" y="2103114"/>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2" name="矩形 11">
              <a:extLst>
                <a:ext uri="{FF2B5EF4-FFF2-40B4-BE49-F238E27FC236}">
                  <a16:creationId xmlns:a16="http://schemas.microsoft.com/office/drawing/2014/main" id="{2B95F144-4750-1346-B3FA-5FE79918F114}"/>
                </a:ext>
              </a:extLst>
            </p:cNvPr>
            <p:cNvSpPr/>
            <p:nvPr/>
          </p:nvSpPr>
          <p:spPr>
            <a:xfrm>
              <a:off x="10638800" y="2101357"/>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3" name="矩形 12">
              <a:extLst>
                <a:ext uri="{FF2B5EF4-FFF2-40B4-BE49-F238E27FC236}">
                  <a16:creationId xmlns:a16="http://schemas.microsoft.com/office/drawing/2014/main" id="{25580DAC-4A30-8245-BBD6-6471B4069D15}"/>
                </a:ext>
              </a:extLst>
            </p:cNvPr>
            <p:cNvSpPr/>
            <p:nvPr/>
          </p:nvSpPr>
          <p:spPr>
            <a:xfrm>
              <a:off x="10657703" y="28975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4" name="矩形 13">
              <a:extLst>
                <a:ext uri="{FF2B5EF4-FFF2-40B4-BE49-F238E27FC236}">
                  <a16:creationId xmlns:a16="http://schemas.microsoft.com/office/drawing/2014/main" id="{60479E33-2389-AD46-A6ED-BAE7A5538787}"/>
                </a:ext>
              </a:extLst>
            </p:cNvPr>
            <p:cNvSpPr/>
            <p:nvPr/>
          </p:nvSpPr>
          <p:spPr>
            <a:xfrm>
              <a:off x="9576254" y="28987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cxnSp>
          <p:nvCxnSpPr>
            <p:cNvPr id="15" name="直线箭头连接符 14">
              <a:extLst>
                <a:ext uri="{FF2B5EF4-FFF2-40B4-BE49-F238E27FC236}">
                  <a16:creationId xmlns:a16="http://schemas.microsoft.com/office/drawing/2014/main" id="{91DC0A18-5389-3947-B050-87E3C4EB738E}"/>
                </a:ext>
              </a:extLst>
            </p:cNvPr>
            <p:cNvCxnSpPr>
              <a:stCxn id="8" idx="3"/>
              <a:endCxn id="10" idx="1"/>
            </p:cNvCxnSpPr>
            <p:nvPr/>
          </p:nvCxnSpPr>
          <p:spPr>
            <a:xfrm>
              <a:off x="8138160" y="2308858"/>
              <a:ext cx="318058" cy="7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4F35344-6D21-A749-8CEF-9028F9D861BF}"/>
                </a:ext>
              </a:extLst>
            </p:cNvPr>
            <p:cNvCxnSpPr>
              <a:stCxn id="10" idx="3"/>
              <a:endCxn id="11" idx="1"/>
            </p:cNvCxnSpPr>
            <p:nvPr/>
          </p:nvCxnSpPr>
          <p:spPr>
            <a:xfrm flipV="1">
              <a:off x="9233458" y="2308857"/>
              <a:ext cx="310044" cy="7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5E134989-FFCF-2549-B7CA-9D1D835057EA}"/>
                </a:ext>
              </a:extLst>
            </p:cNvPr>
            <p:cNvCxnSpPr>
              <a:stCxn id="11" idx="3"/>
              <a:endCxn id="12" idx="1"/>
            </p:cNvCxnSpPr>
            <p:nvPr/>
          </p:nvCxnSpPr>
          <p:spPr>
            <a:xfrm flipV="1">
              <a:off x="10320742" y="2307100"/>
              <a:ext cx="31805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14DE7022-FD33-F94D-81B9-1557F1B84A92}"/>
                </a:ext>
              </a:extLst>
            </p:cNvPr>
            <p:cNvCxnSpPr>
              <a:stCxn id="12" idx="2"/>
              <a:endCxn id="13" idx="0"/>
            </p:cNvCxnSpPr>
            <p:nvPr/>
          </p:nvCxnSpPr>
          <p:spPr>
            <a:xfrm>
              <a:off x="11027420" y="2512842"/>
              <a:ext cx="18903" cy="38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D950593-8454-1342-9962-99555EB76A8D}"/>
                </a:ext>
              </a:extLst>
            </p:cNvPr>
            <p:cNvCxnSpPr>
              <a:stCxn id="13" idx="1"/>
              <a:endCxn id="14" idx="3"/>
            </p:cNvCxnSpPr>
            <p:nvPr/>
          </p:nvCxnSpPr>
          <p:spPr>
            <a:xfrm flipH="1">
              <a:off x="10353494" y="3103302"/>
              <a:ext cx="304209" cy="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751CB651-69E9-B940-A2F8-C40850BF14A4}"/>
                </a:ext>
              </a:extLst>
            </p:cNvPr>
            <p:cNvCxnSpPr>
              <a:stCxn id="14" idx="0"/>
              <a:endCxn id="11" idx="2"/>
            </p:cNvCxnSpPr>
            <p:nvPr/>
          </p:nvCxnSpPr>
          <p:spPr>
            <a:xfrm flipH="1" flipV="1">
              <a:off x="9932122" y="2514599"/>
              <a:ext cx="32752" cy="38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0" name="文本框 19">
            <a:extLst>
              <a:ext uri="{FF2B5EF4-FFF2-40B4-BE49-F238E27FC236}">
                <a16:creationId xmlns:a16="http://schemas.microsoft.com/office/drawing/2014/main" id="{63754E63-4B9F-454D-A296-E7B2EC0B8B01}"/>
              </a:ext>
            </a:extLst>
          </p:cNvPr>
          <p:cNvSpPr txBox="1"/>
          <p:nvPr/>
        </p:nvSpPr>
        <p:spPr>
          <a:xfrm>
            <a:off x="984519" y="1087452"/>
            <a:ext cx="9842599" cy="5599097"/>
          </a:xfrm>
          <a:prstGeom prst="rect">
            <a:avLst/>
          </a:prstGeom>
          <a:noFill/>
        </p:spPr>
        <p:txBody>
          <a:bodyPr wrap="square" rtlCol="0">
            <a:spAutoFit/>
          </a:bodyPr>
          <a:lstStyle/>
          <a:p>
            <a:pPr>
              <a:lnSpc>
                <a:spcPct val="150000"/>
              </a:lnSpc>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快慢指针</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双指针是关于链表问题的一种经典方法，还可以用于许多其他问题：</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求环的长度</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求环的入口</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求链表的中点</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求链表中倒数第</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k</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个元素</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一些参考博客：</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en-US" altLang="zh-CN" sz="2200" u="sng" dirty="0">
                <a:latin typeface="SimSun" panose="02010600030101010101" pitchFamily="2" charset="-122"/>
                <a:ea typeface="SimSun" panose="02010600030101010101" pitchFamily="2" charset="-122"/>
                <a:cs typeface="+mn-ea"/>
                <a:sym typeface="Arial" panose="020B0604020202020204" pitchFamily="34" charset="0"/>
                <a:hlinkClick r:id="rId3">
                  <a:extLst>
                    <a:ext uri="{A12FA001-AC4F-418D-AE19-62706E023703}">
                      <ahyp:hlinkClr xmlns:ahyp="http://schemas.microsoft.com/office/drawing/2018/hyperlinkcolor" val="tx"/>
                    </a:ext>
                  </a:extLst>
                </a:hlinkClick>
              </a:rPr>
              <a:t>https://www.cnblogs.com/tojian/p/10055036.html</a:t>
            </a:r>
            <a:endParaRPr kumimoji="1" lang="en-US" altLang="zh-CN" sz="2200" u="sng"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en-US" altLang="zh-CN" sz="2200" u="sng" dirty="0">
                <a:latin typeface="SimSun" panose="02010600030101010101" pitchFamily="2" charset="-122"/>
                <a:ea typeface="SimSun" panose="02010600030101010101" pitchFamily="2" charset="-122"/>
                <a:cs typeface="+mn-ea"/>
                <a:sym typeface="Arial" panose="020B0604020202020204" pitchFamily="34" charset="0"/>
              </a:rPr>
              <a:t>https://</a:t>
            </a:r>
            <a:r>
              <a:rPr kumimoji="1" lang="en-US" altLang="zh-CN" sz="2200" u="sng" dirty="0" err="1">
                <a:latin typeface="SimSun" panose="02010600030101010101" pitchFamily="2" charset="-122"/>
                <a:ea typeface="SimSun" panose="02010600030101010101" pitchFamily="2" charset="-122"/>
                <a:cs typeface="+mn-ea"/>
                <a:sym typeface="Arial" panose="020B0604020202020204" pitchFamily="34" charset="0"/>
              </a:rPr>
              <a:t>lucifer.ren</a:t>
            </a:r>
            <a:r>
              <a:rPr kumimoji="1" lang="en-US" altLang="zh-CN" sz="2200" u="sng" dirty="0">
                <a:latin typeface="SimSun" panose="02010600030101010101" pitchFamily="2" charset="-122"/>
                <a:ea typeface="SimSun" panose="02010600030101010101" pitchFamily="2" charset="-122"/>
                <a:cs typeface="+mn-ea"/>
                <a:sym typeface="Arial" panose="020B0604020202020204" pitchFamily="34" charset="0"/>
              </a:rPr>
              <a:t>/blog/2020/11/08/linked-list/</a:t>
            </a:r>
          </a:p>
          <a:p>
            <a:pPr>
              <a:lnSpc>
                <a:spcPct val="150000"/>
              </a:lnSpc>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1862138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第二章</a:t>
            </a:r>
            <a:r>
              <a:rPr lang="en-US" altLang="zh-CN" dirty="0">
                <a:latin typeface="微软雅黑"/>
                <a:ea typeface="微软雅黑"/>
                <a:sym typeface="微软雅黑"/>
              </a:rPr>
              <a:t>-</a:t>
            </a:r>
            <a:r>
              <a:rPr lang="zh-CN" altLang="en-US" dirty="0">
                <a:latin typeface="微软雅黑"/>
                <a:ea typeface="微软雅黑"/>
                <a:sym typeface="微软雅黑"/>
              </a:rPr>
              <a:t>线性表</a:t>
            </a:r>
            <a:r>
              <a:rPr lang="en-US" altLang="zh-CN" dirty="0">
                <a:latin typeface="微软雅黑"/>
                <a:ea typeface="微软雅黑"/>
                <a:sym typeface="微软雅黑"/>
              </a:rPr>
              <a:t>_</a:t>
            </a:r>
            <a:r>
              <a:rPr lang="zh-CN" altLang="en-US" dirty="0">
                <a:latin typeface="微软雅黑"/>
                <a:ea typeface="微软雅黑"/>
                <a:sym typeface="微软雅黑"/>
              </a:rPr>
              <a:t>快慢指针</a:t>
            </a:r>
            <a:r>
              <a:rPr lang="en-US" altLang="zh-CN" dirty="0">
                <a:latin typeface="微软雅黑"/>
                <a:ea typeface="微软雅黑"/>
                <a:sym typeface="微软雅黑"/>
              </a:rPr>
              <a:t>(</a:t>
            </a:r>
            <a:r>
              <a:rPr lang="zh-CN" altLang="en-US" dirty="0">
                <a:latin typeface="微软雅黑"/>
                <a:ea typeface="微软雅黑"/>
                <a:sym typeface="微软雅黑"/>
              </a:rPr>
              <a:t>续</a:t>
            </a:r>
            <a:r>
              <a:rPr lang="en-US" altLang="zh-CN" dirty="0">
                <a:latin typeface="微软雅黑"/>
                <a:ea typeface="微软雅黑"/>
                <a:sym typeface="微软雅黑"/>
              </a:rPr>
              <a:t>)</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6" name="组合 25">
            <a:extLst>
              <a:ext uri="{FF2B5EF4-FFF2-40B4-BE49-F238E27FC236}">
                <a16:creationId xmlns:a16="http://schemas.microsoft.com/office/drawing/2014/main" id="{0771ED46-213D-8045-B1EF-CB369ECD6744}"/>
              </a:ext>
            </a:extLst>
          </p:cNvPr>
          <p:cNvGrpSpPr/>
          <p:nvPr/>
        </p:nvGrpSpPr>
        <p:grpSpPr>
          <a:xfrm>
            <a:off x="7674968" y="676988"/>
            <a:ext cx="4074023" cy="1208887"/>
            <a:chOff x="7360920" y="2101357"/>
            <a:chExt cx="4074023" cy="1208887"/>
          </a:xfrm>
        </p:grpSpPr>
        <p:sp>
          <p:nvSpPr>
            <p:cNvPr id="8" name="矩形 7">
              <a:extLst>
                <a:ext uri="{FF2B5EF4-FFF2-40B4-BE49-F238E27FC236}">
                  <a16:creationId xmlns:a16="http://schemas.microsoft.com/office/drawing/2014/main" id="{048FBF13-217E-7642-A932-B505A27678DD}"/>
                </a:ext>
              </a:extLst>
            </p:cNvPr>
            <p:cNvSpPr/>
            <p:nvPr/>
          </p:nvSpPr>
          <p:spPr>
            <a:xfrm>
              <a:off x="7360920" y="2103115"/>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Head</a:t>
              </a:r>
            </a:p>
          </p:txBody>
        </p:sp>
        <p:sp>
          <p:nvSpPr>
            <p:cNvPr id="10" name="矩形 9">
              <a:extLst>
                <a:ext uri="{FF2B5EF4-FFF2-40B4-BE49-F238E27FC236}">
                  <a16:creationId xmlns:a16="http://schemas.microsoft.com/office/drawing/2014/main" id="{8548E680-0431-5D43-8212-3C39F1EF2732}"/>
                </a:ext>
              </a:extLst>
            </p:cNvPr>
            <p:cNvSpPr/>
            <p:nvPr/>
          </p:nvSpPr>
          <p:spPr>
            <a:xfrm>
              <a:off x="8456218" y="2110713"/>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1" name="矩形 10">
              <a:extLst>
                <a:ext uri="{FF2B5EF4-FFF2-40B4-BE49-F238E27FC236}">
                  <a16:creationId xmlns:a16="http://schemas.microsoft.com/office/drawing/2014/main" id="{ECAE844D-F768-3D45-90FA-36ABE51662FA}"/>
                </a:ext>
              </a:extLst>
            </p:cNvPr>
            <p:cNvSpPr/>
            <p:nvPr/>
          </p:nvSpPr>
          <p:spPr>
            <a:xfrm>
              <a:off x="9543502" y="2103114"/>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2" name="矩形 11">
              <a:extLst>
                <a:ext uri="{FF2B5EF4-FFF2-40B4-BE49-F238E27FC236}">
                  <a16:creationId xmlns:a16="http://schemas.microsoft.com/office/drawing/2014/main" id="{2B95F144-4750-1346-B3FA-5FE79918F114}"/>
                </a:ext>
              </a:extLst>
            </p:cNvPr>
            <p:cNvSpPr/>
            <p:nvPr/>
          </p:nvSpPr>
          <p:spPr>
            <a:xfrm>
              <a:off x="10638800" y="2101357"/>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3" name="矩形 12">
              <a:extLst>
                <a:ext uri="{FF2B5EF4-FFF2-40B4-BE49-F238E27FC236}">
                  <a16:creationId xmlns:a16="http://schemas.microsoft.com/office/drawing/2014/main" id="{25580DAC-4A30-8245-BBD6-6471B4069D15}"/>
                </a:ext>
              </a:extLst>
            </p:cNvPr>
            <p:cNvSpPr/>
            <p:nvPr/>
          </p:nvSpPr>
          <p:spPr>
            <a:xfrm>
              <a:off x="10657703" y="28975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sp>
          <p:nvSpPr>
            <p:cNvPr id="14" name="矩形 13">
              <a:extLst>
                <a:ext uri="{FF2B5EF4-FFF2-40B4-BE49-F238E27FC236}">
                  <a16:creationId xmlns:a16="http://schemas.microsoft.com/office/drawing/2014/main" id="{60479E33-2389-AD46-A6ED-BAE7A5538787}"/>
                </a:ext>
              </a:extLst>
            </p:cNvPr>
            <p:cNvSpPr/>
            <p:nvPr/>
          </p:nvSpPr>
          <p:spPr>
            <a:xfrm>
              <a:off x="9576254" y="2898759"/>
              <a:ext cx="777240" cy="41148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dirty="0"/>
                <a:t>Node</a:t>
              </a:r>
            </a:p>
          </p:txBody>
        </p:sp>
        <p:cxnSp>
          <p:nvCxnSpPr>
            <p:cNvPr id="15" name="直线箭头连接符 14">
              <a:extLst>
                <a:ext uri="{FF2B5EF4-FFF2-40B4-BE49-F238E27FC236}">
                  <a16:creationId xmlns:a16="http://schemas.microsoft.com/office/drawing/2014/main" id="{91DC0A18-5389-3947-B050-87E3C4EB738E}"/>
                </a:ext>
              </a:extLst>
            </p:cNvPr>
            <p:cNvCxnSpPr>
              <a:stCxn id="8" idx="3"/>
              <a:endCxn id="10" idx="1"/>
            </p:cNvCxnSpPr>
            <p:nvPr/>
          </p:nvCxnSpPr>
          <p:spPr>
            <a:xfrm>
              <a:off x="8138160" y="2308858"/>
              <a:ext cx="318058" cy="75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D4F35344-6D21-A749-8CEF-9028F9D861BF}"/>
                </a:ext>
              </a:extLst>
            </p:cNvPr>
            <p:cNvCxnSpPr>
              <a:stCxn id="10" idx="3"/>
              <a:endCxn id="11" idx="1"/>
            </p:cNvCxnSpPr>
            <p:nvPr/>
          </p:nvCxnSpPr>
          <p:spPr>
            <a:xfrm flipV="1">
              <a:off x="9233458" y="2308857"/>
              <a:ext cx="310044" cy="7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5E134989-FFCF-2549-B7CA-9D1D835057EA}"/>
                </a:ext>
              </a:extLst>
            </p:cNvPr>
            <p:cNvCxnSpPr>
              <a:stCxn id="11" idx="3"/>
              <a:endCxn id="12" idx="1"/>
            </p:cNvCxnSpPr>
            <p:nvPr/>
          </p:nvCxnSpPr>
          <p:spPr>
            <a:xfrm flipV="1">
              <a:off x="10320742" y="2307100"/>
              <a:ext cx="318058" cy="1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14DE7022-FD33-F94D-81B9-1557F1B84A92}"/>
                </a:ext>
              </a:extLst>
            </p:cNvPr>
            <p:cNvCxnSpPr>
              <a:stCxn id="12" idx="2"/>
              <a:endCxn id="13" idx="0"/>
            </p:cNvCxnSpPr>
            <p:nvPr/>
          </p:nvCxnSpPr>
          <p:spPr>
            <a:xfrm>
              <a:off x="11027420" y="2512842"/>
              <a:ext cx="18903" cy="3847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D950593-8454-1342-9962-99555EB76A8D}"/>
                </a:ext>
              </a:extLst>
            </p:cNvPr>
            <p:cNvCxnSpPr>
              <a:stCxn id="13" idx="1"/>
              <a:endCxn id="14" idx="3"/>
            </p:cNvCxnSpPr>
            <p:nvPr/>
          </p:nvCxnSpPr>
          <p:spPr>
            <a:xfrm flipH="1">
              <a:off x="10353494" y="3103302"/>
              <a:ext cx="304209" cy="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751CB651-69E9-B940-A2F8-C40850BF14A4}"/>
                </a:ext>
              </a:extLst>
            </p:cNvPr>
            <p:cNvCxnSpPr>
              <a:stCxn id="14" idx="0"/>
              <a:endCxn id="11" idx="2"/>
            </p:cNvCxnSpPr>
            <p:nvPr/>
          </p:nvCxnSpPr>
          <p:spPr>
            <a:xfrm flipH="1" flipV="1">
              <a:off x="9932122" y="2514599"/>
              <a:ext cx="32752" cy="3841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0" name="文本框 19">
            <a:extLst>
              <a:ext uri="{FF2B5EF4-FFF2-40B4-BE49-F238E27FC236}">
                <a16:creationId xmlns:a16="http://schemas.microsoft.com/office/drawing/2014/main" id="{63754E63-4B9F-454D-A296-E7B2EC0B8B01}"/>
              </a:ext>
            </a:extLst>
          </p:cNvPr>
          <p:cNvSpPr txBox="1"/>
          <p:nvPr/>
        </p:nvSpPr>
        <p:spPr>
          <a:xfrm>
            <a:off x="703656" y="1089746"/>
            <a:ext cx="10300849" cy="50912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求环的长度：</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相遇之后继续走，下一次相遇时快指针刚好比慢指针多走一圈</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求环的入口：</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相遇之后，一个从</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head</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走，一个从相遇点走，下一次相遇在入口</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求链表的中点：</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快指针每次走</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步，慢指针每次走</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步，快指针走到末尾时慢指针走到中点</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求链表中倒数第</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k</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个元素：</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快指针先走</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k</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步，然后快慢指针均以</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的步长走，快指针走到末尾时慢指针走到倒数第</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k</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个元素</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268416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文本框 19">
            <a:extLst>
              <a:ext uri="{FF2B5EF4-FFF2-40B4-BE49-F238E27FC236}">
                <a16:creationId xmlns:a16="http://schemas.microsoft.com/office/drawing/2014/main" id="{63754E63-4B9F-454D-A296-E7B2EC0B8B01}"/>
              </a:ext>
            </a:extLst>
          </p:cNvPr>
          <p:cNvSpPr txBox="1"/>
          <p:nvPr/>
        </p:nvSpPr>
        <p:spPr>
          <a:xfrm>
            <a:off x="840816" y="986876"/>
            <a:ext cx="10300849" cy="50912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栈与队列：两种典型的操作受限的线性结构</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栈：后进先出，入栈、出栈、取栈顶元素、为空</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满的判断</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栈的物理实现：顺序栈、链式栈</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栈的应用：递归、表达式求值</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队列：先进先出，入队列、出队列、取队首元素、为空</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满的判断</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队列的物理实现：顺序队列、链式队列</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应用：调度或缓冲、宽度优先搜索</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一些讨论</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顺序栈 </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vs</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 链式栈</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800100" lvl="1"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顺序队列 </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vs</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 链式队列</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2886117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a:extLst>
              <a:ext uri="{FF2B5EF4-FFF2-40B4-BE49-F238E27FC236}">
                <a16:creationId xmlns:a16="http://schemas.microsoft.com/office/drawing/2014/main" id="{BDB2006B-2352-7F41-8655-2B88E6B7EA9F}"/>
              </a:ext>
            </a:extLst>
          </p:cNvPr>
          <p:cNvPicPr>
            <a:picLocks noChangeAspect="1"/>
          </p:cNvPicPr>
          <p:nvPr/>
        </p:nvPicPr>
        <p:blipFill>
          <a:blip r:embed="rId3"/>
          <a:stretch>
            <a:fillRect/>
          </a:stretch>
        </p:blipFill>
        <p:spPr>
          <a:xfrm>
            <a:off x="806526" y="1134126"/>
            <a:ext cx="10020300" cy="2971800"/>
          </a:xfrm>
          <a:prstGeom prst="rect">
            <a:avLst/>
          </a:prstGeom>
        </p:spPr>
      </p:pic>
    </p:spTree>
    <p:extLst>
      <p:ext uri="{BB962C8B-B14F-4D97-AF65-F5344CB8AC3E}">
        <p14:creationId xmlns:p14="http://schemas.microsoft.com/office/powerpoint/2010/main" val="302183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7" name="图片 6">
            <a:extLst>
              <a:ext uri="{FF2B5EF4-FFF2-40B4-BE49-F238E27FC236}">
                <a16:creationId xmlns:a16="http://schemas.microsoft.com/office/drawing/2014/main" id="{A26F0435-A0FF-8649-9BFF-1C865B673716}"/>
              </a:ext>
            </a:extLst>
          </p:cNvPr>
          <p:cNvPicPr>
            <a:picLocks noChangeAspect="1"/>
          </p:cNvPicPr>
          <p:nvPr/>
        </p:nvPicPr>
        <p:blipFill rotWithShape="1">
          <a:blip r:embed="rId3"/>
          <a:srcRect t="1" r="11004" b="792"/>
          <a:stretch/>
        </p:blipFill>
        <p:spPr>
          <a:xfrm>
            <a:off x="6351933" y="0"/>
            <a:ext cx="5840067" cy="6428643"/>
          </a:xfrm>
          <a:prstGeom prst="rect">
            <a:avLst/>
          </a:prstGeom>
          <a:ln>
            <a:solidFill>
              <a:schemeClr val="accent1"/>
            </a:solidFill>
          </a:ln>
        </p:spPr>
      </p:pic>
      <p:sp>
        <p:nvSpPr>
          <p:cNvPr id="9" name="文本框 8">
            <a:extLst>
              <a:ext uri="{FF2B5EF4-FFF2-40B4-BE49-F238E27FC236}">
                <a16:creationId xmlns:a16="http://schemas.microsoft.com/office/drawing/2014/main" id="{B64DF53F-94BE-444D-AC53-A4DA3E2A715E}"/>
              </a:ext>
            </a:extLst>
          </p:cNvPr>
          <p:cNvSpPr txBox="1"/>
          <p:nvPr/>
        </p:nvSpPr>
        <p:spPr>
          <a:xfrm>
            <a:off x="840817" y="986876"/>
            <a:ext cx="5354244" cy="5091266"/>
          </a:xfrm>
          <a:prstGeom prst="rect">
            <a:avLst/>
          </a:prstGeom>
          <a:noFill/>
          <a:ln>
            <a:solidFill>
              <a:schemeClr val="accent1"/>
            </a:solidFill>
          </a:ln>
        </p:spPr>
        <p:txBody>
          <a:bodyPr wrap="square" rtlCol="0">
            <a:spAutoFit/>
          </a:bodyPr>
          <a:lstStyle/>
          <a:p>
            <a:pPr marL="342900" indent="-342900">
              <a:lnSpc>
                <a:spcPct val="150000"/>
              </a:lnSpc>
              <a:buFont typeface="Arial" panose="020B0604020202020204" pitchFamily="34" charset="0"/>
              <a:buChar char="•"/>
            </a:pP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用作入队，</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用作出队。</a:t>
            </a: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入队：若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未满，将新元素直接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push</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已满，则将</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中所有元素依次</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pop</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出来并</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push</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入栈</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然后将元素</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push</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出队：若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不为空，直接删除</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栈顶元素；若</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为空，则将栈</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中所有元素依次</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pop</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出来并</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push</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入栈</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然后删除</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栈顶元素。</a:t>
            </a: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队空：</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和</a:t>
            </a:r>
            <a:r>
              <a:rPr kumimoji="1" lang="en" altLang="zh-CN" sz="2200" dirty="0">
                <a:latin typeface="SimSun" panose="02010600030101010101" pitchFamily="2" charset="-122"/>
                <a:ea typeface="SimSun" panose="02010600030101010101" pitchFamily="2" charset="-122"/>
                <a:cs typeface="+mn-ea"/>
                <a:sym typeface="Arial" panose="020B0604020202020204" pitchFamily="34" charset="0"/>
              </a:rPr>
              <a:t>S2</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均为空，则队列为空。</a:t>
            </a:r>
          </a:p>
        </p:txBody>
      </p:sp>
    </p:spTree>
    <p:extLst>
      <p:ext uri="{BB962C8B-B14F-4D97-AF65-F5344CB8AC3E}">
        <p14:creationId xmlns:p14="http://schemas.microsoft.com/office/powerpoint/2010/main" val="4223937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BE681712-B3DA-D245-969D-175E79F335E1}"/>
              </a:ext>
            </a:extLst>
          </p:cNvPr>
          <p:cNvPicPr>
            <a:picLocks noChangeAspect="1"/>
          </p:cNvPicPr>
          <p:nvPr/>
        </p:nvPicPr>
        <p:blipFill>
          <a:blip r:embed="rId3"/>
          <a:stretch>
            <a:fillRect/>
          </a:stretch>
        </p:blipFill>
        <p:spPr>
          <a:xfrm>
            <a:off x="521602" y="1029945"/>
            <a:ext cx="11348852" cy="1080000"/>
          </a:xfrm>
          <a:prstGeom prst="rect">
            <a:avLst/>
          </a:prstGeom>
        </p:spPr>
      </p:pic>
      <p:pic>
        <p:nvPicPr>
          <p:cNvPr id="7" name="图片 6">
            <a:extLst>
              <a:ext uri="{FF2B5EF4-FFF2-40B4-BE49-F238E27FC236}">
                <a16:creationId xmlns:a16="http://schemas.microsoft.com/office/drawing/2014/main" id="{E5BFE36F-1047-2B43-9935-003EFC563FB3}"/>
              </a:ext>
            </a:extLst>
          </p:cNvPr>
          <p:cNvPicPr>
            <a:picLocks noChangeAspect="1"/>
          </p:cNvPicPr>
          <p:nvPr/>
        </p:nvPicPr>
        <p:blipFill>
          <a:blip r:embed="rId4"/>
          <a:stretch>
            <a:fillRect/>
          </a:stretch>
        </p:blipFill>
        <p:spPr>
          <a:xfrm>
            <a:off x="1053783" y="2335953"/>
            <a:ext cx="10084434" cy="3060000"/>
          </a:xfrm>
          <a:prstGeom prst="rect">
            <a:avLst/>
          </a:prstGeom>
          <a:ln>
            <a:solidFill>
              <a:schemeClr val="accent1"/>
            </a:solidFill>
          </a:ln>
        </p:spPr>
      </p:pic>
    </p:spTree>
    <p:extLst>
      <p:ext uri="{BB962C8B-B14F-4D97-AF65-F5344CB8AC3E}">
        <p14:creationId xmlns:p14="http://schemas.microsoft.com/office/powerpoint/2010/main" val="1759911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BE681712-B3DA-D245-969D-175E79F335E1}"/>
              </a:ext>
            </a:extLst>
          </p:cNvPr>
          <p:cNvPicPr>
            <a:picLocks noChangeAspect="1"/>
          </p:cNvPicPr>
          <p:nvPr/>
        </p:nvPicPr>
        <p:blipFill>
          <a:blip r:embed="rId3"/>
          <a:stretch>
            <a:fillRect/>
          </a:stretch>
        </p:blipFill>
        <p:spPr>
          <a:xfrm>
            <a:off x="521602" y="1029945"/>
            <a:ext cx="11348852" cy="1080000"/>
          </a:xfrm>
          <a:prstGeom prst="rect">
            <a:avLst/>
          </a:prstGeom>
        </p:spPr>
      </p:pic>
      <p:pic>
        <p:nvPicPr>
          <p:cNvPr id="8" name="图片 7">
            <a:extLst>
              <a:ext uri="{FF2B5EF4-FFF2-40B4-BE49-F238E27FC236}">
                <a16:creationId xmlns:a16="http://schemas.microsoft.com/office/drawing/2014/main" id="{76D6378E-C67F-144E-B922-5E23876065D9}"/>
              </a:ext>
            </a:extLst>
          </p:cNvPr>
          <p:cNvPicPr>
            <a:picLocks noChangeAspect="1"/>
          </p:cNvPicPr>
          <p:nvPr/>
        </p:nvPicPr>
        <p:blipFill>
          <a:blip r:embed="rId4"/>
          <a:stretch>
            <a:fillRect/>
          </a:stretch>
        </p:blipFill>
        <p:spPr>
          <a:xfrm>
            <a:off x="1186207" y="2278803"/>
            <a:ext cx="9082846" cy="3240000"/>
          </a:xfrm>
          <a:prstGeom prst="rect">
            <a:avLst/>
          </a:prstGeom>
          <a:ln>
            <a:solidFill>
              <a:schemeClr val="accent1"/>
            </a:solidFill>
          </a:ln>
        </p:spPr>
      </p:pic>
    </p:spTree>
    <p:extLst>
      <p:ext uri="{BB962C8B-B14F-4D97-AF65-F5344CB8AC3E}">
        <p14:creationId xmlns:p14="http://schemas.microsoft.com/office/powerpoint/2010/main" val="3698000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5" name="图片 4">
            <a:extLst>
              <a:ext uri="{FF2B5EF4-FFF2-40B4-BE49-F238E27FC236}">
                <a16:creationId xmlns:a16="http://schemas.microsoft.com/office/drawing/2014/main" id="{D5E3142C-EB45-7E4A-B30C-6658463B068C}"/>
              </a:ext>
            </a:extLst>
          </p:cNvPr>
          <p:cNvPicPr>
            <a:picLocks noChangeAspect="1"/>
          </p:cNvPicPr>
          <p:nvPr/>
        </p:nvPicPr>
        <p:blipFill>
          <a:blip r:embed="rId3"/>
          <a:stretch>
            <a:fillRect/>
          </a:stretch>
        </p:blipFill>
        <p:spPr>
          <a:xfrm>
            <a:off x="847990" y="951824"/>
            <a:ext cx="10336000" cy="1440000"/>
          </a:xfrm>
          <a:prstGeom prst="rect">
            <a:avLst/>
          </a:prstGeom>
        </p:spPr>
      </p:pic>
      <p:pic>
        <p:nvPicPr>
          <p:cNvPr id="7" name="图片 6">
            <a:extLst>
              <a:ext uri="{FF2B5EF4-FFF2-40B4-BE49-F238E27FC236}">
                <a16:creationId xmlns:a16="http://schemas.microsoft.com/office/drawing/2014/main" id="{13F0A2C8-EEB7-CD42-80E9-A97F0371464C}"/>
              </a:ext>
            </a:extLst>
          </p:cNvPr>
          <p:cNvPicPr>
            <a:picLocks noChangeAspect="1"/>
          </p:cNvPicPr>
          <p:nvPr/>
        </p:nvPicPr>
        <p:blipFill>
          <a:blip r:embed="rId4"/>
          <a:stretch>
            <a:fillRect/>
          </a:stretch>
        </p:blipFill>
        <p:spPr>
          <a:xfrm>
            <a:off x="965052" y="2482561"/>
            <a:ext cx="10261895" cy="2880000"/>
          </a:xfrm>
          <a:prstGeom prst="rect">
            <a:avLst/>
          </a:prstGeom>
          <a:ln>
            <a:solidFill>
              <a:schemeClr val="accent1"/>
            </a:solidFill>
          </a:ln>
        </p:spPr>
      </p:pic>
    </p:spTree>
    <p:extLst>
      <p:ext uri="{BB962C8B-B14F-4D97-AF65-F5344CB8AC3E}">
        <p14:creationId xmlns:p14="http://schemas.microsoft.com/office/powerpoint/2010/main" val="1724408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第三章</a:t>
            </a:r>
            <a:r>
              <a:rPr lang="en-US" altLang="zh-CN" dirty="0">
                <a:latin typeface="微软雅黑"/>
                <a:ea typeface="微软雅黑"/>
                <a:sym typeface="微软雅黑"/>
              </a:rPr>
              <a:t>-</a:t>
            </a:r>
            <a:r>
              <a:rPr lang="zh-CN" altLang="en-US" dirty="0">
                <a:latin typeface="微软雅黑"/>
                <a:ea typeface="微软雅黑"/>
                <a:sym typeface="微软雅黑"/>
              </a:rPr>
              <a:t>栈与队列</a:t>
            </a:r>
            <a:r>
              <a:rPr lang="en-US" altLang="zh-CN" dirty="0">
                <a:latin typeface="微软雅黑"/>
                <a:ea typeface="微软雅黑"/>
                <a:sym typeface="微软雅黑"/>
              </a:rPr>
              <a:t>_</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6" name="图片 5">
            <a:extLst>
              <a:ext uri="{FF2B5EF4-FFF2-40B4-BE49-F238E27FC236}">
                <a16:creationId xmlns:a16="http://schemas.microsoft.com/office/drawing/2014/main" id="{D5DEB20F-016F-C249-8A24-771F5ED6FEF5}"/>
              </a:ext>
            </a:extLst>
          </p:cNvPr>
          <p:cNvPicPr>
            <a:picLocks noChangeAspect="1"/>
          </p:cNvPicPr>
          <p:nvPr/>
        </p:nvPicPr>
        <p:blipFill>
          <a:blip r:embed="rId3"/>
          <a:stretch>
            <a:fillRect/>
          </a:stretch>
        </p:blipFill>
        <p:spPr>
          <a:xfrm>
            <a:off x="1430020" y="935318"/>
            <a:ext cx="8727139" cy="5400000"/>
          </a:xfrm>
          <a:prstGeom prst="rect">
            <a:avLst/>
          </a:prstGeom>
          <a:ln>
            <a:solidFill>
              <a:schemeClr val="accent1"/>
            </a:solidFill>
          </a:ln>
        </p:spPr>
      </p:pic>
    </p:spTree>
    <p:extLst>
      <p:ext uri="{BB962C8B-B14F-4D97-AF65-F5344CB8AC3E}">
        <p14:creationId xmlns:p14="http://schemas.microsoft.com/office/powerpoint/2010/main" val="1003681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一些建议</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2" y="6409550"/>
            <a:ext cx="1329210" cy="276999"/>
          </a:xfrm>
          <a:prstGeom prst="rect">
            <a:avLst/>
          </a:prstGeom>
          <a:solidFill>
            <a:schemeClr val="bg1"/>
          </a:solidFill>
        </p:spPr>
        <p:txBody>
          <a:bodyPr wrap="none" rtlCol="0">
            <a:spAutoFit/>
          </a:bodyPr>
          <a:lstStyle/>
          <a:p>
            <a:pPr algn="ctr"/>
            <a:r>
              <a:rPr lang="zh-CN" altLang="en-US" sz="120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a:latin typeface="Arial" panose="020B0604020202020204" pitchFamily="34" charset="0"/>
                <a:ea typeface="微软雅黑" panose="020B0503020204020204" pitchFamily="34" charset="-122"/>
                <a:cs typeface="+mn-ea"/>
                <a:sym typeface="Arial" panose="020B0604020202020204" pitchFamily="34" charset="0"/>
              </a:rPr>
              <a:t>1-3</a:t>
            </a:r>
            <a:r>
              <a:rPr lang="zh-CN" altLang="en-US" sz="1200">
                <a:latin typeface="Arial" panose="020B0604020202020204" pitchFamily="34" charset="0"/>
                <a:ea typeface="微软雅黑" panose="020B0503020204020204" pitchFamily="34" charset="-122"/>
                <a:cs typeface="+mn-ea"/>
                <a:sym typeface="Arial" panose="020B0604020202020204" pitchFamily="34" charset="0"/>
              </a:rPr>
              <a:t>章习题课</a:t>
            </a:r>
            <a:endParaRPr lang="zh-CN" altLang="en-US" sz="1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文本框 19">
            <a:extLst>
              <a:ext uri="{FF2B5EF4-FFF2-40B4-BE49-F238E27FC236}">
                <a16:creationId xmlns:a16="http://schemas.microsoft.com/office/drawing/2014/main" id="{63754E63-4B9F-454D-A296-E7B2EC0B8B01}"/>
              </a:ext>
            </a:extLst>
          </p:cNvPr>
          <p:cNvSpPr txBox="1"/>
          <p:nvPr/>
        </p:nvSpPr>
        <p:spPr>
          <a:xfrm>
            <a:off x="852246" y="1068012"/>
            <a:ext cx="10300849" cy="40756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平时作业 </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vs</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 考试</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注意审题，看清题目要求：数学归纳法证明、计算过程等</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复杂度的要求：</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O(1)</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、尽可能低、分析复杂度等</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说清楚算法思路，必要的注释，说明变量含义</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重要的过程分，如数学归纳法、充要性的证明等</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a:lnSpc>
                <a:spcPct val="150000"/>
              </a:lnSpc>
            </a:pP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a:p>
            <a:pPr marL="342900" indent="-342900">
              <a:lnSpc>
                <a:spcPct val="150000"/>
              </a:lnSpc>
              <a:buFont typeface="Arial" panose="020B0604020202020204" pitchFamily="34" charset="0"/>
              <a:buChar char="•"/>
            </a:pP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及时交作业，不要敷衍</a:t>
            </a:r>
            <a:r>
              <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rPr>
              <a:t>/</a:t>
            </a:r>
            <a:r>
              <a:rPr kumimoji="1" lang="zh-CN" altLang="en-US" sz="2200" dirty="0">
                <a:latin typeface="SimSun" panose="02010600030101010101" pitchFamily="2" charset="-122"/>
                <a:ea typeface="SimSun" panose="02010600030101010101" pitchFamily="2" charset="-122"/>
                <a:cs typeface="+mn-ea"/>
                <a:sym typeface="Arial" panose="020B0604020202020204" pitchFamily="34" charset="0"/>
              </a:rPr>
              <a:t>试图蒙混过关</a:t>
            </a:r>
            <a:endParaRPr kumimoji="1" lang="en-US" altLang="zh-CN" sz="22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287462711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1861</TotalTime>
  <Words>2405</Words>
  <Application>Microsoft Macintosh PowerPoint</Application>
  <PresentationFormat>宽屏</PresentationFormat>
  <Paragraphs>313</Paragraphs>
  <Slides>32</Slides>
  <Notes>32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等线</vt:lpstr>
      <vt:lpstr>等线 Light</vt:lpstr>
      <vt:lpstr>宋体</vt:lpstr>
      <vt:lpstr>宋体</vt:lpstr>
      <vt:lpstr>Microsoft YaHei</vt:lpstr>
      <vt:lpstr>Microsoft YaHei</vt:lpstr>
      <vt:lpstr>Arial</vt:lpstr>
      <vt:lpstr>Office 主题​​</vt:lpstr>
      <vt:lpstr>自定义设计方案</vt:lpstr>
      <vt:lpstr>PowerPoint 演示文稿</vt:lpstr>
      <vt:lpstr>第一章-概论</vt:lpstr>
      <vt:lpstr>第一章-概论_作业1</vt:lpstr>
      <vt:lpstr>第一章-概论_作业1</vt:lpstr>
      <vt:lpstr>第一章-概论_作业1</vt:lpstr>
      <vt:lpstr>第一章-概论_作业2</vt:lpstr>
      <vt:lpstr>第一章-概论_作业2</vt:lpstr>
      <vt:lpstr>第一章-概论_作业3</vt:lpstr>
      <vt:lpstr>第一章-概论_作业3</vt:lpstr>
      <vt:lpstr>第二章-线性表</vt:lpstr>
      <vt:lpstr>第二章-线性表_作业1</vt:lpstr>
      <vt:lpstr>第二章-线性表_作业1</vt:lpstr>
      <vt:lpstr>第二章-线性表_作业1</vt:lpstr>
      <vt:lpstr>第二章-线性表_作业1</vt:lpstr>
      <vt:lpstr>第二章-线性表_作业1</vt:lpstr>
      <vt:lpstr>第二章-线性表_作业2</vt:lpstr>
      <vt:lpstr>第二章-线性表_作业2</vt:lpstr>
      <vt:lpstr>第二章-线性表_作业2</vt:lpstr>
      <vt:lpstr>第二章-线性表_作业2_一些错误</vt:lpstr>
      <vt:lpstr>第二章-线性表_作业3</vt:lpstr>
      <vt:lpstr>第二章-线性表_作业3</vt:lpstr>
      <vt:lpstr>第二章-线性表_作业3</vt:lpstr>
      <vt:lpstr>第二章-线性表_快慢指针</vt:lpstr>
      <vt:lpstr>第二章-线性表_快慢指针(续)</vt:lpstr>
      <vt:lpstr>第三章-栈与队列</vt:lpstr>
      <vt:lpstr>第三章-栈与队列_作业1</vt:lpstr>
      <vt:lpstr>第三章-栈与队列_作业1</vt:lpstr>
      <vt:lpstr>第三章-栈与队列_作业2</vt:lpstr>
      <vt:lpstr>第三章-栈与队列_作业2</vt:lpstr>
      <vt:lpstr>第三章-栈与队列_作业3</vt:lpstr>
      <vt:lpstr>第三章-栈与队列_作业3</vt:lpstr>
      <vt:lpstr>一些建议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 T</dc:creator>
  <cp:lastModifiedBy>薛 冰聪</cp:lastModifiedBy>
  <cp:revision>150</cp:revision>
  <dcterms:created xsi:type="dcterms:W3CDTF">2020-05-26T03:03:48Z</dcterms:created>
  <dcterms:modified xsi:type="dcterms:W3CDTF">2021-10-20T03:35:21Z</dcterms:modified>
</cp:coreProperties>
</file>