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7" r:id="rId2"/>
    <p:sldId id="259" r:id="rId3"/>
    <p:sldId id="260" r:id="rId4"/>
    <p:sldId id="262" r:id="rId5"/>
    <p:sldId id="263" r:id="rId6"/>
    <p:sldId id="267" r:id="rId7"/>
    <p:sldId id="269" r:id="rId8"/>
    <p:sldId id="270" r:id="rId9"/>
    <p:sldId id="268" r:id="rId10"/>
    <p:sldId id="272" r:id="rId11"/>
    <p:sldId id="271" r:id="rId12"/>
    <p:sldId id="273" r:id="rId13"/>
    <p:sldId id="275" r:id="rId14"/>
    <p:sldId id="276" r:id="rId15"/>
    <p:sldId id="277" r:id="rId16"/>
    <p:sldId id="278" r:id="rId17"/>
    <p:sldId id="279" r:id="rId18"/>
    <p:sldId id="281" r:id="rId19"/>
    <p:sldId id="282" r:id="rId20"/>
    <p:sldId id="284" r:id="rId21"/>
    <p:sldId id="283" r:id="rId22"/>
    <p:sldId id="285" r:id="rId23"/>
    <p:sldId id="286" r:id="rId24"/>
    <p:sldId id="287" r:id="rId25"/>
    <p:sldId id="289" r:id="rId26"/>
    <p:sldId id="288" r:id="rId27"/>
    <p:sldId id="290" r:id="rId28"/>
    <p:sldId id="293" r:id="rId29"/>
    <p:sldId id="295" r:id="rId30"/>
    <p:sldId id="298" r:id="rId31"/>
    <p:sldId id="297" r:id="rId32"/>
    <p:sldId id="296" r:id="rId3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8" d="100"/>
          <a:sy n="88" d="100"/>
        </p:scale>
        <p:origin x="45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BF036F-B4EA-4E73-A85C-FF79E395788C}" type="datetimeFigureOut">
              <a:rPr lang="zh-CN" altLang="en-US" smtClean="0"/>
              <a:t>2020/12/23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BDA539-F622-4155-94A6-360A80D706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9540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提纲：定义，两类算法，摘要，三角形计数，个人工作及未来计划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46CDA-CCAD-B44B-85E2-827E41692BC9}" type="slidenum">
              <a:rPr kumimoji="1" lang="zh-CN" altLang="en-US" smtClean="0"/>
              <a:pPr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205576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哈希表</a:t>
            </a:r>
            <a:endParaRPr kumimoji="1" lang="en-US" altLang="zh-CN" dirty="0" smtClean="0"/>
          </a:p>
          <a:p>
            <a:r>
              <a:rPr kumimoji="1" lang="zh-CN" altLang="en-US" dirty="0" smtClean="0"/>
              <a:t>哈希表会发生哈希冲突，意思为。。。。。</a:t>
            </a:r>
            <a:endParaRPr kumimoji="1" lang="en-US" altLang="zh-CN" dirty="0" smtClean="0"/>
          </a:p>
          <a:p>
            <a:r>
              <a:rPr kumimoji="1" lang="zh-CN" altLang="en-US" dirty="0" smtClean="0"/>
              <a:t>处理哈希冲突的方式。。。</a:t>
            </a:r>
            <a:endParaRPr kumimoji="1" lang="en-US" altLang="zh-CN" dirty="0" smtClean="0"/>
          </a:p>
          <a:p>
            <a:r>
              <a:rPr kumimoji="1" lang="zh-CN" altLang="en-US" dirty="0" smtClean="0"/>
              <a:t>闭散列法的问题，聚集，具有相同哈希值的数据之后可能会探测中一直冲突，装载率高时要进行非常久的探测，删除时也会出现问题</a:t>
            </a:r>
            <a:endParaRPr kumimoji="1" lang="en-US" altLang="zh-CN" dirty="0" smtClean="0"/>
          </a:p>
          <a:p>
            <a:r>
              <a:rPr kumimoji="1" lang="zh-CN" altLang="en-US" dirty="0" smtClean="0"/>
              <a:t>开散列问题，链表空间占用，长链表访存问题。</a:t>
            </a:r>
            <a:endParaRPr kumimoji="1" lang="en-US" altLang="zh-CN" dirty="0" smtClean="0"/>
          </a:p>
          <a:p>
            <a:r>
              <a:rPr kumimoji="1" lang="zh-CN" altLang="en-US" dirty="0" smtClean="0"/>
              <a:t>是否有提升装载率的方法，即更多数据存入表，而非链表。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46CDA-CCAD-B44B-85E2-827E41692BC9}" type="slidenum">
              <a:rPr kumimoji="1" lang="zh-CN" altLang="en-US" smtClean="0"/>
              <a:pPr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757016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 smtClean="0"/>
              <a:t>Cuckoo Hash </a:t>
            </a:r>
            <a:r>
              <a:rPr kumimoji="1" lang="zh-CN" altLang="en-US" dirty="0" smtClean="0"/>
              <a:t>的名字来源于布谷鸟， 鸠占鹊巢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46CDA-CCAD-B44B-85E2-827E41692BC9}" type="slidenum">
              <a:rPr kumimoji="1" lang="zh-CN" altLang="en-US" smtClean="0"/>
              <a:pPr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040692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哈希表分为两个子表</a:t>
            </a:r>
            <a:endParaRPr kumimoji="1" lang="en-US" altLang="zh-CN" dirty="0" smtClean="0"/>
          </a:p>
          <a:p>
            <a:r>
              <a:rPr kumimoji="1" lang="zh-CN" altLang="en-US" dirty="0" smtClean="0"/>
              <a:t>每个数据项使用两个不同的哈希函数映射到两个位置，一个子表一个</a:t>
            </a:r>
            <a:endParaRPr kumimoji="1" lang="en-US" altLang="zh-CN" dirty="0" smtClean="0"/>
          </a:p>
          <a:p>
            <a:r>
              <a:rPr kumimoji="1" lang="zh-CN" altLang="en-US" dirty="0" smtClean="0"/>
              <a:t>如果有至少一个位置为空，则存储。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46CDA-CCAD-B44B-85E2-827E41692BC9}" type="slidenum">
              <a:rPr kumimoji="1" lang="zh-CN" altLang="en-US" smtClean="0"/>
              <a:pPr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378526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如果两个位置都满，随机选一个位置踢出， 提出数据项去找另一个位置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46CDA-CCAD-B44B-85E2-827E41692BC9}" type="slidenum">
              <a:rPr kumimoji="1" lang="zh-CN" altLang="en-US" smtClean="0"/>
              <a:pPr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834965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如果被提出数据项另一个位置也被占据，则踢出，被踢出数据项再去另一个位置。。。。重复到一定阈值，则按一定倍数扩展哈希表，把已有数据全部插入新表。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46CDA-CCAD-B44B-85E2-827E41692BC9}" type="slidenum">
              <a:rPr kumimoji="1" lang="zh-CN" altLang="en-US" smtClean="0"/>
              <a:pPr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304388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46CDA-CCAD-B44B-85E2-827E41692BC9}" type="slidenum">
              <a:rPr kumimoji="1" lang="zh-CN" altLang="en-US" smtClean="0"/>
              <a:pPr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892361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 smtClean="0"/>
              <a:t>d</a:t>
            </a:r>
            <a:r>
              <a:rPr kumimoji="1" lang="zh-CN" altLang="en-US" dirty="0" smtClean="0"/>
              <a:t>个等长子表，每个数据项</a:t>
            </a:r>
            <a:r>
              <a:rPr kumimoji="1" lang="en-US" altLang="zh-CN" dirty="0" smtClean="0"/>
              <a:t>d</a:t>
            </a:r>
            <a:r>
              <a:rPr kumimoji="1" lang="zh-CN" altLang="en-US" dirty="0" smtClean="0"/>
              <a:t>个映射位置，有一个为空则插入。没有空，则选择链表最短的插入</a:t>
            </a:r>
            <a:endParaRPr kumimoji="1" lang="en-US" altLang="zh-CN" dirty="0" smtClean="0"/>
          </a:p>
          <a:p>
            <a:r>
              <a:rPr kumimoji="1" lang="zh-CN" altLang="en-US" dirty="0" smtClean="0"/>
              <a:t>多个空位置，或者多个链表最短的位置，选择最左侧插入。</a:t>
            </a:r>
            <a:endParaRPr kumimoji="1" lang="en-US" altLang="zh-CN" dirty="0" smtClean="0"/>
          </a:p>
          <a:p>
            <a:r>
              <a:rPr kumimoji="1" lang="zh-CN" altLang="en-US" dirty="0" smtClean="0"/>
              <a:t>提高装载率，提升空间效率，极大减少最大负荷（单个格子最长链表），避免长链表。</a:t>
            </a:r>
            <a:endParaRPr kumimoji="1" lang="en-US" altLang="zh-CN" dirty="0" smtClean="0"/>
          </a:p>
          <a:p>
            <a:r>
              <a:rPr kumimoji="1" lang="zh-CN" altLang="en-US" dirty="0" smtClean="0"/>
              <a:t>并行查询下性能会有很大提升，无法并行时需要访问多个子表，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46CDA-CCAD-B44B-85E2-827E41692BC9}" type="slidenum">
              <a:rPr kumimoji="1" lang="zh-CN" altLang="en-US" smtClean="0"/>
              <a:pPr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796797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哈希表中可以保存很多信息，在</a:t>
            </a:r>
            <a:r>
              <a:rPr kumimoji="1" lang="en-US" altLang="zh-CN" dirty="0" smtClean="0"/>
              <a:t>key value </a:t>
            </a:r>
            <a:r>
              <a:rPr kumimoji="1" lang="zh-CN" altLang="en-US" dirty="0" smtClean="0"/>
              <a:t>的 </a:t>
            </a:r>
            <a:r>
              <a:rPr kumimoji="1" lang="en-US" altLang="zh-CN" dirty="0" smtClean="0"/>
              <a:t>value </a:t>
            </a:r>
            <a:r>
              <a:rPr kumimoji="1" lang="zh-CN" altLang="en-US" dirty="0" smtClean="0"/>
              <a:t>中可以保存大量相关数据，也可以用来判断</a:t>
            </a:r>
            <a:r>
              <a:rPr kumimoji="1" lang="en-US" altLang="zh-CN" dirty="0" smtClean="0"/>
              <a:t>key</a:t>
            </a:r>
            <a:r>
              <a:rPr kumimoji="1" lang="en-US" altLang="zh-CN" baseline="0" dirty="0" smtClean="0"/>
              <a:t> </a:t>
            </a:r>
            <a:r>
              <a:rPr kumimoji="1" lang="zh-CN" altLang="en-US" baseline="0" dirty="0" smtClean="0"/>
              <a:t>的存在性</a:t>
            </a:r>
            <a:endParaRPr kumimoji="1" lang="en-US" altLang="zh-CN" baseline="0" dirty="0" smtClean="0"/>
          </a:p>
          <a:p>
            <a:r>
              <a:rPr kumimoji="1" lang="zh-CN" altLang="en-US" baseline="0" dirty="0" smtClean="0"/>
              <a:t>如果我们降低要求，只需要特定查询，例如</a:t>
            </a:r>
            <a:endParaRPr kumimoji="1" lang="en-US" altLang="zh-CN" baseline="0" dirty="0" smtClean="0"/>
          </a:p>
          <a:p>
            <a:r>
              <a:rPr kumimoji="1" lang="zh-CN" altLang="en-US" baseline="0" dirty="0" smtClean="0"/>
              <a:t>且可以接受误差，比如说</a:t>
            </a:r>
            <a:endParaRPr kumimoji="1" lang="en-US" altLang="zh-CN" baseline="0" dirty="0" smtClean="0"/>
          </a:p>
          <a:p>
            <a:r>
              <a:rPr kumimoji="1" lang="zh-CN" altLang="en-US" baseline="0" dirty="0" smtClean="0"/>
              <a:t>这种情况下是否有更高效的算法。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46CDA-CCAD-B44B-85E2-827E41692BC9}" type="slidenum">
              <a:rPr kumimoji="1" lang="zh-CN" altLang="en-US" smtClean="0"/>
              <a:pPr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669638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46CDA-CCAD-B44B-85E2-827E41692BC9}" type="slidenum">
              <a:rPr kumimoji="1" lang="zh-CN" altLang="en-US" smtClean="0"/>
              <a:pPr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532240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46CDA-CCAD-B44B-85E2-827E41692BC9}" type="slidenum">
              <a:rPr kumimoji="1" lang="zh-CN" altLang="en-US" smtClean="0"/>
              <a:pPr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22183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 smtClean="0"/>
              <a:t>d</a:t>
            </a:r>
            <a:r>
              <a:rPr kumimoji="1" lang="zh-CN" altLang="en-US" dirty="0" smtClean="0"/>
              <a:t>个等长子表，每个数据项</a:t>
            </a:r>
            <a:r>
              <a:rPr kumimoji="1" lang="en-US" altLang="zh-CN" dirty="0" smtClean="0"/>
              <a:t>d</a:t>
            </a:r>
            <a:r>
              <a:rPr kumimoji="1" lang="zh-CN" altLang="en-US" dirty="0" smtClean="0"/>
              <a:t>个映射位置，有一个为空则插入。没有空，则选择链表最短的插入</a:t>
            </a:r>
            <a:endParaRPr kumimoji="1" lang="en-US" altLang="zh-CN" dirty="0" smtClean="0"/>
          </a:p>
          <a:p>
            <a:r>
              <a:rPr kumimoji="1" lang="zh-CN" altLang="en-US" dirty="0" smtClean="0"/>
              <a:t>多个空位置，或者多个链表最短的位置，选择最左侧插入。</a:t>
            </a:r>
            <a:endParaRPr kumimoji="1" lang="en-US" altLang="zh-CN" dirty="0" smtClean="0"/>
          </a:p>
          <a:p>
            <a:r>
              <a:rPr kumimoji="1" lang="zh-CN" altLang="en-US" dirty="0" smtClean="0"/>
              <a:t>提高装载率，提升空间效率，极大减少最大负荷（单个格子最长链表），避免长链表。</a:t>
            </a:r>
            <a:endParaRPr kumimoji="1" lang="en-US" altLang="zh-CN" dirty="0" smtClean="0"/>
          </a:p>
          <a:p>
            <a:r>
              <a:rPr kumimoji="1" lang="zh-CN" altLang="en-US" dirty="0" smtClean="0"/>
              <a:t>并行查询下性能会有很大提升，无法并行时需要访问多个子表，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46CDA-CCAD-B44B-85E2-827E41692BC9}" type="slidenum">
              <a:rPr kumimoji="1" lang="zh-CN" altLang="en-US" smtClean="0"/>
              <a:pPr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815113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 smtClean="0"/>
              <a:t>d</a:t>
            </a:r>
            <a:r>
              <a:rPr kumimoji="1" lang="zh-CN" altLang="en-US" dirty="0" smtClean="0"/>
              <a:t>个等长子表，每个数据项</a:t>
            </a:r>
            <a:r>
              <a:rPr kumimoji="1" lang="en-US" altLang="zh-CN" dirty="0" smtClean="0"/>
              <a:t>d</a:t>
            </a:r>
            <a:r>
              <a:rPr kumimoji="1" lang="zh-CN" altLang="en-US" dirty="0" smtClean="0"/>
              <a:t>个映射位置，有一个为空则插入。没有空，则选择链表最短的插入</a:t>
            </a:r>
            <a:endParaRPr kumimoji="1" lang="en-US" altLang="zh-CN" dirty="0" smtClean="0"/>
          </a:p>
          <a:p>
            <a:r>
              <a:rPr kumimoji="1" lang="zh-CN" altLang="en-US" dirty="0" smtClean="0"/>
              <a:t>多个空位置，或者多个链表最短的位置，选择最左侧插入。</a:t>
            </a:r>
            <a:endParaRPr kumimoji="1" lang="en-US" altLang="zh-CN" dirty="0" smtClean="0"/>
          </a:p>
          <a:p>
            <a:r>
              <a:rPr kumimoji="1" lang="zh-CN" altLang="en-US" dirty="0" smtClean="0"/>
              <a:t>提高装载率，提升空间效率，极大减少最大负荷（单个格子最长链表），避免长链表。</a:t>
            </a:r>
            <a:endParaRPr kumimoji="1" lang="en-US" altLang="zh-CN" dirty="0" smtClean="0"/>
          </a:p>
          <a:p>
            <a:r>
              <a:rPr kumimoji="1" lang="zh-CN" altLang="en-US" dirty="0" smtClean="0"/>
              <a:t>并行查询下性能会有很大提升，无法并行时需要访问多个子表，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46CDA-CCAD-B44B-85E2-827E41692BC9}" type="slidenum">
              <a:rPr kumimoji="1" lang="zh-CN" altLang="en-US" smtClean="0"/>
              <a:pPr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329361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 smtClean="0"/>
              <a:t>d</a:t>
            </a:r>
            <a:r>
              <a:rPr kumimoji="1" lang="zh-CN" altLang="en-US" dirty="0" smtClean="0"/>
              <a:t>个等长子表，每个数据项</a:t>
            </a:r>
            <a:r>
              <a:rPr kumimoji="1" lang="en-US" altLang="zh-CN" dirty="0" smtClean="0"/>
              <a:t>d</a:t>
            </a:r>
            <a:r>
              <a:rPr kumimoji="1" lang="zh-CN" altLang="en-US" dirty="0" smtClean="0"/>
              <a:t>个映射位置，有一个为空则插入。没有空，则选择链表最短的插入</a:t>
            </a:r>
            <a:endParaRPr kumimoji="1" lang="en-US" altLang="zh-CN" dirty="0" smtClean="0"/>
          </a:p>
          <a:p>
            <a:r>
              <a:rPr kumimoji="1" lang="zh-CN" altLang="en-US" dirty="0" smtClean="0"/>
              <a:t>多个空位置，或者多个链表最短的位置，选择最左侧插入。</a:t>
            </a:r>
            <a:endParaRPr kumimoji="1" lang="en-US" altLang="zh-CN" dirty="0" smtClean="0"/>
          </a:p>
          <a:p>
            <a:r>
              <a:rPr kumimoji="1" lang="zh-CN" altLang="en-US" dirty="0" smtClean="0"/>
              <a:t>提高装载率，提升空间效率，极大减少最大负荷（单个格子最长链表），避免长链表。</a:t>
            </a:r>
            <a:endParaRPr kumimoji="1" lang="en-US" altLang="zh-CN" dirty="0" smtClean="0"/>
          </a:p>
          <a:p>
            <a:r>
              <a:rPr kumimoji="1" lang="zh-CN" altLang="en-US" dirty="0" smtClean="0"/>
              <a:t>并行查询下性能会有很大提升，无法并行时需要访问多个子表，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46CDA-CCAD-B44B-85E2-827E41692BC9}" type="slidenum">
              <a:rPr kumimoji="1" lang="zh-CN" altLang="en-US" smtClean="0"/>
              <a:pPr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675826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46CDA-CCAD-B44B-85E2-827E41692BC9}" type="slidenum">
              <a:rPr kumimoji="1" lang="zh-CN" altLang="en-US" smtClean="0"/>
              <a:pPr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901401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46CDA-CCAD-B44B-85E2-827E41692BC9}" type="slidenum">
              <a:rPr kumimoji="1" lang="zh-CN" altLang="en-US" smtClean="0"/>
              <a:pPr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217513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46CDA-CCAD-B44B-85E2-827E41692BC9}" type="slidenum">
              <a:rPr kumimoji="1" lang="zh-CN" altLang="en-US" smtClean="0"/>
              <a:pPr/>
              <a:t>18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673409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46CDA-CCAD-B44B-85E2-827E41692BC9}" type="slidenum">
              <a:rPr kumimoji="1" lang="zh-CN" altLang="en-US" smtClean="0"/>
              <a:pPr/>
              <a:t>19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399331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46CDA-CCAD-B44B-85E2-827E41692BC9}" type="slidenum">
              <a:rPr kumimoji="1" lang="zh-CN" altLang="en-US" smtClean="0"/>
              <a:pPr/>
              <a:t>20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020790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46CDA-CCAD-B44B-85E2-827E41692BC9}" type="slidenum">
              <a:rPr kumimoji="1" lang="zh-CN" altLang="en-US" smtClean="0"/>
              <a:pPr/>
              <a:t>21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823852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46CDA-CCAD-B44B-85E2-827E41692BC9}" type="slidenum">
              <a:rPr kumimoji="1" lang="zh-CN" altLang="en-US" smtClean="0"/>
              <a:pPr/>
              <a:t>22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133450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46CDA-CCAD-B44B-85E2-827E41692BC9}" type="slidenum">
              <a:rPr kumimoji="1" lang="zh-CN" altLang="en-US" smtClean="0"/>
              <a:pPr/>
              <a:t>23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12179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46CDA-CCAD-B44B-85E2-827E41692BC9}" type="slidenum">
              <a:rPr kumimoji="1" lang="zh-CN" altLang="en-US" smtClean="0"/>
              <a:pPr/>
              <a:t>24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4789441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46CDA-CCAD-B44B-85E2-827E41692BC9}" type="slidenum">
              <a:rPr kumimoji="1" lang="zh-CN" altLang="en-US" smtClean="0"/>
              <a:pPr/>
              <a:t>25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6893004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46CDA-CCAD-B44B-85E2-827E41692BC9}" type="slidenum">
              <a:rPr kumimoji="1" lang="zh-CN" altLang="en-US" smtClean="0"/>
              <a:pPr/>
              <a:t>26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4810464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46CDA-CCAD-B44B-85E2-827E41692BC9}" type="slidenum">
              <a:rPr kumimoji="1" lang="zh-CN" altLang="en-US" smtClean="0"/>
              <a:pPr/>
              <a:t>27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357672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kumimoji="1" lang="zh-CN" altLang="en-US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kumimoji="1" lang="zh-CN" altLang="en-US" dirty="0" smtClean="0"/>
                  <a:t>为了介绍</a:t>
                </a:r>
                <a:r>
                  <a:rPr kumimoji="1" lang="en-US" altLang="zh-CN" dirty="0" err="1" smtClean="0"/>
                  <a:t>PartitionCT</a:t>
                </a:r>
                <a:r>
                  <a:rPr kumimoji="1" lang="en-US" altLang="zh-CN" dirty="0" smtClean="0"/>
                  <a:t> </a:t>
                </a:r>
                <a:r>
                  <a:rPr kumimoji="1" lang="zh-CN" altLang="en-US" dirty="0" smtClean="0"/>
                  <a:t>估算互异边数目的方法，我们首先需要介绍两个相关工作，</a:t>
                </a:r>
                <a:r>
                  <a:rPr kumimoji="1" lang="en-US" altLang="zh-CN" dirty="0" err="1" smtClean="0"/>
                  <a:t>Hyperloglog</a:t>
                </a:r>
                <a:r>
                  <a:rPr kumimoji="1" lang="en-US" altLang="zh-CN" dirty="0" smtClean="0"/>
                  <a:t> </a:t>
                </a:r>
                <a:r>
                  <a:rPr kumimoji="1" lang="zh-CN" altLang="en-US" dirty="0" smtClean="0"/>
                  <a:t>和 </a:t>
                </a:r>
                <a:r>
                  <a:rPr kumimoji="1" lang="en-US" altLang="zh-CN" dirty="0" smtClean="0"/>
                  <a:t>Streaming </a:t>
                </a:r>
                <a:r>
                  <a:rPr kumimoji="1" lang="en-US" altLang="zh-CN" dirty="0" err="1" smtClean="0"/>
                  <a:t>Hyperlog</a:t>
                </a:r>
                <a:r>
                  <a:rPr kumimoji="1" lang="en-US" altLang="zh-CN" dirty="0" smtClean="0"/>
                  <a:t> log</a:t>
                </a:r>
                <a:r>
                  <a:rPr kumimoji="1" lang="zh-CN" altLang="en-US" dirty="0" smtClean="0"/>
                  <a:t>。</a:t>
                </a:r>
                <a:endParaRPr kumimoji="1" lang="en-US" altLang="zh-CN" dirty="0" smtClean="0"/>
              </a:p>
              <a:p>
                <a:r>
                  <a:rPr lang="zh-CN" altLang="en-US" sz="1200" kern="1200" dirty="0" smtClean="0">
                    <a:solidFill>
                      <a:schemeClr val="tx1"/>
                    </a:solidFill>
                    <a:latin typeface="+mj-ea"/>
                    <a:ea typeface="+mn-ea"/>
                    <a:cs typeface="+mn-cs"/>
                  </a:rPr>
                  <a:t>估算数据流内互异元素个数（基数）</a:t>
                </a:r>
                <a:endParaRPr lang="en-US" altLang="zh-CN" sz="1200" kern="1200" dirty="0" smtClean="0">
                  <a:solidFill>
                    <a:schemeClr val="tx1"/>
                  </a:solidFill>
                  <a:latin typeface="+mj-ea"/>
                  <a:ea typeface="+mn-ea"/>
                  <a:cs typeface="+mn-cs"/>
                </a:endParaRPr>
              </a:p>
              <a:p>
                <a:pPr marL="687600" lvl="2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sz="1400" kern="1200" dirty="0" smtClean="0">
                    <a:solidFill>
                      <a:schemeClr val="tx1"/>
                    </a:solidFill>
                    <a:latin typeface="+mj-ea"/>
                    <a:ea typeface="+mn-ea"/>
                    <a:cs typeface="+mn-cs"/>
                  </a:rPr>
                  <a:t>为每一个元素 </a:t>
                </a:r>
                <a:r>
                  <a:rPr lang="en-US" altLang="zh-CN" sz="1400" b="0" i="0" kern="1200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𝑒</a:t>
                </a:r>
                <a:r>
                  <a:rPr lang="en-US" altLang="zh-CN" sz="1400" kern="1200" dirty="0" smtClean="0">
                    <a:solidFill>
                      <a:schemeClr val="tx1"/>
                    </a:solidFill>
                    <a:latin typeface="+mj-ea"/>
                    <a:ea typeface="+mn-ea"/>
                    <a:cs typeface="+mn-cs"/>
                  </a:rPr>
                  <a:t> </a:t>
                </a:r>
                <a:r>
                  <a:rPr lang="zh-CN" altLang="en-US" sz="1400" kern="1200" dirty="0" smtClean="0">
                    <a:solidFill>
                      <a:schemeClr val="tx1"/>
                    </a:solidFill>
                    <a:latin typeface="+mj-ea"/>
                    <a:ea typeface="+mn-ea"/>
                    <a:cs typeface="+mn-cs"/>
                  </a:rPr>
                  <a:t>计算一个哈希函数</a:t>
                </a:r>
                <a:r>
                  <a:rPr lang="en-US" altLang="zh-CN" sz="1400" b="0" i="0" smtClean="0">
                    <a:latin typeface="Cambria Math" panose="02040503050406030204" pitchFamily="18" charset="0"/>
                  </a:rPr>
                  <a:t> </a:t>
                </a:r>
                <a:r>
                  <a:rPr lang="en-US" altLang="zh-CN" sz="1400" i="0">
                    <a:latin typeface="Cambria Math" panose="02040503050406030204" pitchFamily="18" charset="0"/>
                  </a:rPr>
                  <a:t>y(e)</a:t>
                </a:r>
                <a:r>
                  <a:rPr lang="zh-CN" altLang="zh-CN" sz="1400" dirty="0"/>
                  <a:t>， </a:t>
                </a:r>
                <a:r>
                  <a:rPr lang="en-US" altLang="zh-CN" sz="1400" i="0">
                    <a:latin typeface="Cambria Math" panose="02040503050406030204" pitchFamily="18" charset="0"/>
                  </a:rPr>
                  <a:t>y(e)</a:t>
                </a:r>
                <a:r>
                  <a:rPr lang="en-US" altLang="zh-CN" sz="1400" dirty="0"/>
                  <a:t> </a:t>
                </a:r>
                <a:r>
                  <a:rPr lang="zh-CN" altLang="zh-CN" sz="1400" dirty="0"/>
                  <a:t>服从 </a:t>
                </a:r>
                <a:r>
                  <a:rPr lang="en-US" altLang="zh-CN" sz="1400" i="0">
                    <a:latin typeface="Cambria Math" panose="02040503050406030204" pitchFamily="18" charset="0"/>
                  </a:rPr>
                  <a:t>p=1</a:t>
                </a:r>
                <a:r>
                  <a:rPr lang="zh-CN" altLang="zh-CN" sz="1400" i="0">
                    <a:latin typeface="Cambria Math" panose="02040503050406030204" pitchFamily="18" charset="0"/>
                  </a:rPr>
                  <a:t>/</a:t>
                </a:r>
                <a:r>
                  <a:rPr lang="en-US" altLang="zh-CN" sz="1400" i="0">
                    <a:latin typeface="Cambria Math" panose="02040503050406030204" pitchFamily="18" charset="0"/>
                  </a:rPr>
                  <a:t>2</a:t>
                </a:r>
                <a:r>
                  <a:rPr lang="en-US" altLang="zh-CN" sz="1400" dirty="0"/>
                  <a:t> </a:t>
                </a:r>
                <a:r>
                  <a:rPr lang="zh-CN" altLang="zh-CN" sz="1400" dirty="0"/>
                  <a:t>的几何分布，即为</a:t>
                </a:r>
                <a:r>
                  <a:rPr lang="en-US" altLang="zh-CN" sz="1400" i="0">
                    <a:latin typeface="Cambria Math" panose="02040503050406030204" pitchFamily="18" charset="0"/>
                  </a:rPr>
                  <a:t>y</a:t>
                </a:r>
                <a:r>
                  <a:rPr lang="zh-CN" altLang="zh-CN" sz="1400" i="0">
                    <a:latin typeface="Cambria Math" panose="02040503050406030204" pitchFamily="18" charset="0"/>
                  </a:rPr>
                  <a:t>(</a:t>
                </a:r>
                <a:r>
                  <a:rPr lang="en-US" altLang="zh-CN" sz="1400" i="0">
                    <a:latin typeface="Cambria Math" panose="02040503050406030204" pitchFamily="18" charset="0"/>
                  </a:rPr>
                  <a:t>e)=𝑥</a:t>
                </a:r>
                <a:r>
                  <a:rPr lang="en-US" altLang="zh-CN" sz="1400" dirty="0"/>
                  <a:t> </a:t>
                </a:r>
                <a:r>
                  <a:rPr lang="zh-CN" altLang="zh-CN" sz="1400" dirty="0"/>
                  <a:t>的概率为 </a:t>
                </a:r>
                <a:r>
                  <a:rPr lang="en-US" altLang="zh-CN" sz="1400" i="0">
                    <a:latin typeface="Cambria Math" panose="02040503050406030204" pitchFamily="18" charset="0"/>
                  </a:rPr>
                  <a:t>1</a:t>
                </a:r>
                <a:r>
                  <a:rPr lang="zh-CN" altLang="zh-CN" sz="1400" i="0">
                    <a:latin typeface="Cambria Math" panose="02040503050406030204" pitchFamily="18" charset="0"/>
                  </a:rPr>
                  <a:t>/</a:t>
                </a:r>
                <a:r>
                  <a:rPr lang="en-US" altLang="zh-CN" sz="1400" i="0">
                    <a:latin typeface="Cambria Math" panose="02040503050406030204" pitchFamily="18" charset="0"/>
                  </a:rPr>
                  <a:t>2</a:t>
                </a:r>
                <a:r>
                  <a:rPr lang="zh-CN" altLang="zh-CN" sz="1400" i="0">
                    <a:latin typeface="Cambria Math" panose="02040503050406030204" pitchFamily="18" charset="0"/>
                  </a:rPr>
                  <a:t>^</a:t>
                </a:r>
                <a:r>
                  <a:rPr lang="en-US" altLang="zh-CN" sz="1400" i="0">
                    <a:latin typeface="Cambria Math" panose="02040503050406030204" pitchFamily="18" charset="0"/>
                  </a:rPr>
                  <a:t>𝑥 </a:t>
                </a:r>
                <a:r>
                  <a:rPr lang="zh-CN" altLang="en-US" sz="1400" kern="1200" dirty="0" smtClean="0">
                    <a:solidFill>
                      <a:schemeClr val="tx1"/>
                    </a:solidFill>
                    <a:latin typeface="+mj-ea"/>
                    <a:ea typeface="+mn-ea"/>
                    <a:cs typeface="+mn-cs"/>
                  </a:rPr>
                  <a:t>。</a:t>
                </a:r>
                <a:endParaRPr lang="en-US" altLang="zh-CN" sz="1400" kern="1200" dirty="0" smtClean="0">
                  <a:solidFill>
                    <a:schemeClr val="tx1"/>
                  </a:solidFill>
                  <a:latin typeface="+mj-ea"/>
                  <a:ea typeface="+mn-ea"/>
                  <a:cs typeface="+mn-cs"/>
                </a:endParaRPr>
              </a:p>
              <a:p>
                <a:pPr marL="687600" lvl="2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sz="1400" kern="1200" dirty="0" smtClean="0">
                    <a:solidFill>
                      <a:schemeClr val="tx1"/>
                    </a:solidFill>
                    <a:latin typeface="+mj-ea"/>
                    <a:ea typeface="+mn-ea"/>
                    <a:cs typeface="+mn-cs"/>
                  </a:rPr>
                  <a:t>用另一个哈希函数</a:t>
                </a:r>
                <a:r>
                  <a:rPr lang="en-US" altLang="zh-CN" sz="1400" b="0" i="0" kern="1200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 ℎ(𝑒)</a:t>
                </a:r>
                <a:r>
                  <a:rPr lang="en-US" altLang="zh-CN" sz="1400" kern="1200" dirty="0" smtClean="0">
                    <a:solidFill>
                      <a:schemeClr val="tx1"/>
                    </a:solidFill>
                    <a:latin typeface="+mj-ea"/>
                    <a:ea typeface="+mn-ea"/>
                    <a:cs typeface="+mn-cs"/>
                  </a:rPr>
                  <a:t> </a:t>
                </a:r>
                <a:r>
                  <a:rPr lang="zh-CN" altLang="en-US" sz="1400" kern="1200" dirty="0" smtClean="0">
                    <a:solidFill>
                      <a:schemeClr val="tx1"/>
                    </a:solidFill>
                    <a:latin typeface="+mj-ea"/>
                    <a:ea typeface="+mn-ea"/>
                    <a:cs typeface="+mn-cs"/>
                  </a:rPr>
                  <a:t>将</a:t>
                </a:r>
                <a:r>
                  <a:rPr lang="en-US" altLang="zh-CN" sz="1400" kern="1200" dirty="0">
                    <a:solidFill>
                      <a:schemeClr val="tx1"/>
                    </a:solidFill>
                    <a:latin typeface="+mj-ea"/>
                    <a:ea typeface="+mn-ea"/>
                    <a:cs typeface="+mn-cs"/>
                  </a:rPr>
                  <a:t> </a:t>
                </a:r>
                <a:r>
                  <a:rPr lang="en-US" altLang="zh-CN" sz="1400" i="0">
                    <a:latin typeface="Cambria Math" panose="02040503050406030204" pitchFamily="18" charset="0"/>
                  </a:rPr>
                  <a:t>𝑒</a:t>
                </a:r>
                <a:r>
                  <a:rPr lang="en-US" altLang="zh-CN" sz="1400" kern="1200" dirty="0" smtClean="0">
                    <a:solidFill>
                      <a:schemeClr val="tx1"/>
                    </a:solidFill>
                    <a:latin typeface="+mj-ea"/>
                    <a:ea typeface="+mn-ea"/>
                    <a:cs typeface="+mn-cs"/>
                  </a:rPr>
                  <a:t> </a:t>
                </a:r>
                <a:r>
                  <a:rPr lang="zh-CN" altLang="en-US" sz="1400" kern="1200" dirty="0" smtClean="0">
                    <a:solidFill>
                      <a:schemeClr val="tx1"/>
                    </a:solidFill>
                    <a:latin typeface="+mj-ea"/>
                    <a:ea typeface="+mn-ea"/>
                    <a:cs typeface="+mn-cs"/>
                  </a:rPr>
                  <a:t>映射到</a:t>
                </a:r>
                <a:r>
                  <a:rPr lang="zh-CN" altLang="zh-CN" sz="1400" dirty="0"/>
                  <a:t>长度为</a:t>
                </a:r>
                <a:r>
                  <a:rPr lang="en-US" altLang="zh-CN" sz="1400" dirty="0"/>
                  <a:t>k</a:t>
                </a:r>
                <a:r>
                  <a:rPr lang="zh-CN" altLang="zh-CN" sz="1400" dirty="0"/>
                  <a:t>的计数器数组 </a:t>
                </a:r>
                <a:r>
                  <a:rPr lang="en-US" altLang="zh-CN" sz="1400" i="0">
                    <a:latin typeface="Cambria Math" panose="02040503050406030204" pitchFamily="18" charset="0"/>
                  </a:rPr>
                  <a:t>{𝑔</a:t>
                </a:r>
                <a:r>
                  <a:rPr lang="zh-CN" altLang="zh-CN" sz="1400" i="0">
                    <a:latin typeface="Cambria Math" panose="02040503050406030204" pitchFamily="18" charset="0"/>
                  </a:rPr>
                  <a:t>_</a:t>
                </a:r>
                <a:r>
                  <a:rPr lang="en-US" altLang="zh-CN" sz="1400" i="0">
                    <a:latin typeface="Cambria Math" panose="02040503050406030204" pitchFamily="18" charset="0"/>
                  </a:rPr>
                  <a:t>1,  𝑔</a:t>
                </a:r>
                <a:r>
                  <a:rPr lang="zh-CN" altLang="zh-CN" sz="1400" i="0">
                    <a:latin typeface="Cambria Math" panose="02040503050406030204" pitchFamily="18" charset="0"/>
                  </a:rPr>
                  <a:t>_</a:t>
                </a:r>
                <a:r>
                  <a:rPr lang="en-US" altLang="zh-CN" sz="1400" i="0">
                    <a:latin typeface="Cambria Math" panose="02040503050406030204" pitchFamily="18" charset="0"/>
                  </a:rPr>
                  <a:t>2,  𝑔</a:t>
                </a:r>
                <a:r>
                  <a:rPr lang="zh-CN" altLang="zh-CN" sz="1400" i="0">
                    <a:latin typeface="Cambria Math" panose="02040503050406030204" pitchFamily="18" charset="0"/>
                  </a:rPr>
                  <a:t>_</a:t>
                </a:r>
                <a:r>
                  <a:rPr lang="en-US" altLang="zh-CN" sz="1400" i="0">
                    <a:latin typeface="Cambria Math" panose="02040503050406030204" pitchFamily="18" charset="0"/>
                  </a:rPr>
                  <a:t>3…..𝑔</a:t>
                </a:r>
                <a:r>
                  <a:rPr lang="zh-CN" altLang="zh-CN" sz="1400" i="0">
                    <a:latin typeface="Cambria Math" panose="02040503050406030204" pitchFamily="18" charset="0"/>
                  </a:rPr>
                  <a:t>_</a:t>
                </a:r>
                <a:r>
                  <a:rPr lang="en-US" altLang="zh-CN" sz="1400" i="0">
                    <a:latin typeface="Cambria Math" panose="02040503050406030204" pitchFamily="18" charset="0"/>
                  </a:rPr>
                  <a:t>𝑘}</a:t>
                </a:r>
                <a:r>
                  <a:rPr lang="en-US" altLang="zh-CN" sz="1400" kern="1200" dirty="0" smtClean="0">
                    <a:solidFill>
                      <a:schemeClr val="tx1"/>
                    </a:solidFill>
                    <a:latin typeface="+mj-ea"/>
                    <a:ea typeface="+mn-ea"/>
                    <a:cs typeface="+mn-cs"/>
                  </a:rPr>
                  <a:t> </a:t>
                </a:r>
                <a:r>
                  <a:rPr lang="zh-CN" altLang="en-US" sz="1400" kern="1200" dirty="0" smtClean="0">
                    <a:solidFill>
                      <a:schemeClr val="tx1"/>
                    </a:solidFill>
                    <a:latin typeface="+mj-ea"/>
                    <a:ea typeface="+mn-ea"/>
                    <a:cs typeface="+mn-cs"/>
                  </a:rPr>
                  <a:t>中的一个位置，若</a:t>
                </a:r>
                <a:r>
                  <a:rPr lang="en-US" altLang="zh-CN" sz="1400" i="0">
                    <a:latin typeface="Cambria Math" panose="02040503050406030204" pitchFamily="18" charset="0"/>
                  </a:rPr>
                  <a:t>y</a:t>
                </a:r>
                <a:r>
                  <a:rPr lang="zh-CN" altLang="zh-CN" sz="1400" i="0">
                    <a:latin typeface="Cambria Math" panose="02040503050406030204" pitchFamily="18" charset="0"/>
                  </a:rPr>
                  <a:t>(</a:t>
                </a:r>
                <a:r>
                  <a:rPr lang="en-US" altLang="zh-CN" sz="1400" i="0">
                    <a:latin typeface="Cambria Math" panose="02040503050406030204" pitchFamily="18" charset="0"/>
                  </a:rPr>
                  <a:t>e)&gt;𝑔</a:t>
                </a:r>
                <a:r>
                  <a:rPr lang="zh-CN" altLang="zh-CN" sz="1400" i="0">
                    <a:latin typeface="Cambria Math" panose="02040503050406030204" pitchFamily="18" charset="0"/>
                  </a:rPr>
                  <a:t>_(</a:t>
                </a:r>
                <a:r>
                  <a:rPr lang="en-US" altLang="zh-CN" sz="1400" i="0">
                    <a:latin typeface="Cambria Math" panose="02040503050406030204" pitchFamily="18" charset="0"/>
                  </a:rPr>
                  <a:t>ℎ(𝑒)</a:t>
                </a:r>
                <a:r>
                  <a:rPr lang="zh-CN" altLang="zh-CN" sz="1400" i="0">
                    <a:latin typeface="Cambria Math" panose="02040503050406030204" pitchFamily="18" charset="0"/>
                  </a:rPr>
                  <a:t>)</a:t>
                </a:r>
                <a:r>
                  <a:rPr lang="zh-CN" altLang="zh-CN" sz="1400" dirty="0"/>
                  <a:t>，则令</a:t>
                </a:r>
                <a:r>
                  <a:rPr lang="en-US" altLang="zh-CN" sz="1400" i="0">
                    <a:latin typeface="Cambria Math" panose="02040503050406030204" pitchFamily="18" charset="0"/>
                  </a:rPr>
                  <a:t>𝑔</a:t>
                </a:r>
                <a:r>
                  <a:rPr lang="zh-CN" altLang="zh-CN" sz="1400" i="0">
                    <a:latin typeface="Cambria Math" panose="02040503050406030204" pitchFamily="18" charset="0"/>
                  </a:rPr>
                  <a:t>_(</a:t>
                </a:r>
                <a:r>
                  <a:rPr lang="en-US" altLang="zh-CN" sz="1400" i="0">
                    <a:latin typeface="Cambria Math" panose="02040503050406030204" pitchFamily="18" charset="0"/>
                  </a:rPr>
                  <a:t>ℎ(𝑒)</a:t>
                </a:r>
                <a:r>
                  <a:rPr lang="zh-CN" altLang="zh-CN" sz="1400" i="0">
                    <a:latin typeface="Cambria Math" panose="02040503050406030204" pitchFamily="18" charset="0"/>
                  </a:rPr>
                  <a:t>)</a:t>
                </a:r>
                <a:r>
                  <a:rPr lang="en-US" altLang="zh-CN" sz="1400" i="0">
                    <a:latin typeface="Cambria Math" panose="02040503050406030204" pitchFamily="18" charset="0"/>
                  </a:rPr>
                  <a:t>←𝑦(𝑒)</a:t>
                </a:r>
                <a:endParaRPr kumimoji="1" lang="zh-CN" altLang="en-US" dirty="0"/>
              </a:p>
            </p:txBody>
          </p:sp>
        </mc:Fallback>
      </mc:AlternateContent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46CDA-CCAD-B44B-85E2-827E41692BC9}" type="slidenum">
              <a:rPr kumimoji="1" lang="zh-CN" altLang="en-US" smtClean="0"/>
              <a:pPr/>
              <a:t>28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7072651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kumimoji="1" lang="zh-CN" altLang="en-US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kumimoji="1" lang="zh-CN" altLang="en-US" dirty="0" smtClean="0"/>
                  <a:t>为了介绍</a:t>
                </a:r>
                <a:r>
                  <a:rPr kumimoji="1" lang="en-US" altLang="zh-CN" dirty="0" err="1" smtClean="0"/>
                  <a:t>PartitionCT</a:t>
                </a:r>
                <a:r>
                  <a:rPr kumimoji="1" lang="en-US" altLang="zh-CN" dirty="0" smtClean="0"/>
                  <a:t> </a:t>
                </a:r>
                <a:r>
                  <a:rPr kumimoji="1" lang="zh-CN" altLang="en-US" dirty="0" smtClean="0"/>
                  <a:t>估算互异边数目的方法，我们首先需要介绍两个相关工作，</a:t>
                </a:r>
                <a:r>
                  <a:rPr kumimoji="1" lang="en-US" altLang="zh-CN" dirty="0" err="1" smtClean="0"/>
                  <a:t>Hyperloglog</a:t>
                </a:r>
                <a:r>
                  <a:rPr kumimoji="1" lang="en-US" altLang="zh-CN" dirty="0" smtClean="0"/>
                  <a:t> </a:t>
                </a:r>
                <a:r>
                  <a:rPr kumimoji="1" lang="zh-CN" altLang="en-US" dirty="0" smtClean="0"/>
                  <a:t>和 </a:t>
                </a:r>
                <a:r>
                  <a:rPr kumimoji="1" lang="en-US" altLang="zh-CN" dirty="0" smtClean="0"/>
                  <a:t>Streaming </a:t>
                </a:r>
                <a:r>
                  <a:rPr kumimoji="1" lang="en-US" altLang="zh-CN" dirty="0" err="1" smtClean="0"/>
                  <a:t>Hyperlog</a:t>
                </a:r>
                <a:r>
                  <a:rPr kumimoji="1" lang="en-US" altLang="zh-CN" dirty="0" smtClean="0"/>
                  <a:t> log</a:t>
                </a:r>
                <a:r>
                  <a:rPr kumimoji="1" lang="zh-CN" altLang="en-US" dirty="0" smtClean="0"/>
                  <a:t>。</a:t>
                </a:r>
                <a:endParaRPr kumimoji="1" lang="en-US" altLang="zh-CN" dirty="0" smtClean="0"/>
              </a:p>
              <a:p>
                <a:r>
                  <a:rPr lang="zh-CN" altLang="en-US" sz="1200" kern="1200" dirty="0" smtClean="0">
                    <a:solidFill>
                      <a:schemeClr val="tx1"/>
                    </a:solidFill>
                    <a:latin typeface="+mj-ea"/>
                    <a:ea typeface="+mn-ea"/>
                    <a:cs typeface="+mn-cs"/>
                  </a:rPr>
                  <a:t>估算数据流内互异元素个数（基数）</a:t>
                </a:r>
                <a:endParaRPr lang="en-US" altLang="zh-CN" sz="1200" kern="1200" dirty="0" smtClean="0">
                  <a:solidFill>
                    <a:schemeClr val="tx1"/>
                  </a:solidFill>
                  <a:latin typeface="+mj-ea"/>
                  <a:ea typeface="+mn-ea"/>
                  <a:cs typeface="+mn-cs"/>
                </a:endParaRPr>
              </a:p>
              <a:p>
                <a:pPr marL="687600" lvl="2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sz="1400" kern="1200" dirty="0" smtClean="0">
                    <a:solidFill>
                      <a:schemeClr val="tx1"/>
                    </a:solidFill>
                    <a:latin typeface="+mj-ea"/>
                    <a:ea typeface="+mn-ea"/>
                    <a:cs typeface="+mn-cs"/>
                  </a:rPr>
                  <a:t>为每一个元素 </a:t>
                </a:r>
                <a:r>
                  <a:rPr lang="en-US" altLang="zh-CN" sz="1400" b="0" i="0" kern="1200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𝑒</a:t>
                </a:r>
                <a:r>
                  <a:rPr lang="en-US" altLang="zh-CN" sz="1400" kern="1200" dirty="0" smtClean="0">
                    <a:solidFill>
                      <a:schemeClr val="tx1"/>
                    </a:solidFill>
                    <a:latin typeface="+mj-ea"/>
                    <a:ea typeface="+mn-ea"/>
                    <a:cs typeface="+mn-cs"/>
                  </a:rPr>
                  <a:t> </a:t>
                </a:r>
                <a:r>
                  <a:rPr lang="zh-CN" altLang="en-US" sz="1400" kern="1200" dirty="0" smtClean="0">
                    <a:solidFill>
                      <a:schemeClr val="tx1"/>
                    </a:solidFill>
                    <a:latin typeface="+mj-ea"/>
                    <a:ea typeface="+mn-ea"/>
                    <a:cs typeface="+mn-cs"/>
                  </a:rPr>
                  <a:t>计算一个哈希函数</a:t>
                </a:r>
                <a:r>
                  <a:rPr lang="en-US" altLang="zh-CN" sz="1400" b="0" i="0" smtClean="0">
                    <a:latin typeface="Cambria Math" panose="02040503050406030204" pitchFamily="18" charset="0"/>
                  </a:rPr>
                  <a:t> </a:t>
                </a:r>
                <a:r>
                  <a:rPr lang="en-US" altLang="zh-CN" sz="1400" i="0">
                    <a:latin typeface="Cambria Math" panose="02040503050406030204" pitchFamily="18" charset="0"/>
                  </a:rPr>
                  <a:t>y(e)</a:t>
                </a:r>
                <a:r>
                  <a:rPr lang="zh-CN" altLang="zh-CN" sz="1400" dirty="0"/>
                  <a:t>， </a:t>
                </a:r>
                <a:r>
                  <a:rPr lang="en-US" altLang="zh-CN" sz="1400" i="0">
                    <a:latin typeface="Cambria Math" panose="02040503050406030204" pitchFamily="18" charset="0"/>
                  </a:rPr>
                  <a:t>y(e)</a:t>
                </a:r>
                <a:r>
                  <a:rPr lang="en-US" altLang="zh-CN" sz="1400" dirty="0"/>
                  <a:t> </a:t>
                </a:r>
                <a:r>
                  <a:rPr lang="zh-CN" altLang="zh-CN" sz="1400" dirty="0"/>
                  <a:t>服从 </a:t>
                </a:r>
                <a:r>
                  <a:rPr lang="en-US" altLang="zh-CN" sz="1400" i="0">
                    <a:latin typeface="Cambria Math" panose="02040503050406030204" pitchFamily="18" charset="0"/>
                  </a:rPr>
                  <a:t>p=1</a:t>
                </a:r>
                <a:r>
                  <a:rPr lang="zh-CN" altLang="zh-CN" sz="1400" i="0">
                    <a:latin typeface="Cambria Math" panose="02040503050406030204" pitchFamily="18" charset="0"/>
                  </a:rPr>
                  <a:t>/</a:t>
                </a:r>
                <a:r>
                  <a:rPr lang="en-US" altLang="zh-CN" sz="1400" i="0">
                    <a:latin typeface="Cambria Math" panose="02040503050406030204" pitchFamily="18" charset="0"/>
                  </a:rPr>
                  <a:t>2</a:t>
                </a:r>
                <a:r>
                  <a:rPr lang="en-US" altLang="zh-CN" sz="1400" dirty="0"/>
                  <a:t> </a:t>
                </a:r>
                <a:r>
                  <a:rPr lang="zh-CN" altLang="zh-CN" sz="1400" dirty="0"/>
                  <a:t>的几何分布，即为</a:t>
                </a:r>
                <a:r>
                  <a:rPr lang="en-US" altLang="zh-CN" sz="1400" i="0">
                    <a:latin typeface="Cambria Math" panose="02040503050406030204" pitchFamily="18" charset="0"/>
                  </a:rPr>
                  <a:t>y</a:t>
                </a:r>
                <a:r>
                  <a:rPr lang="zh-CN" altLang="zh-CN" sz="1400" i="0">
                    <a:latin typeface="Cambria Math" panose="02040503050406030204" pitchFamily="18" charset="0"/>
                  </a:rPr>
                  <a:t>(</a:t>
                </a:r>
                <a:r>
                  <a:rPr lang="en-US" altLang="zh-CN" sz="1400" i="0">
                    <a:latin typeface="Cambria Math" panose="02040503050406030204" pitchFamily="18" charset="0"/>
                  </a:rPr>
                  <a:t>e)=𝑥</a:t>
                </a:r>
                <a:r>
                  <a:rPr lang="en-US" altLang="zh-CN" sz="1400" dirty="0"/>
                  <a:t> </a:t>
                </a:r>
                <a:r>
                  <a:rPr lang="zh-CN" altLang="zh-CN" sz="1400" dirty="0"/>
                  <a:t>的概率为 </a:t>
                </a:r>
                <a:r>
                  <a:rPr lang="en-US" altLang="zh-CN" sz="1400" i="0">
                    <a:latin typeface="Cambria Math" panose="02040503050406030204" pitchFamily="18" charset="0"/>
                  </a:rPr>
                  <a:t>1</a:t>
                </a:r>
                <a:r>
                  <a:rPr lang="zh-CN" altLang="zh-CN" sz="1400" i="0">
                    <a:latin typeface="Cambria Math" panose="02040503050406030204" pitchFamily="18" charset="0"/>
                  </a:rPr>
                  <a:t>/</a:t>
                </a:r>
                <a:r>
                  <a:rPr lang="en-US" altLang="zh-CN" sz="1400" i="0">
                    <a:latin typeface="Cambria Math" panose="02040503050406030204" pitchFamily="18" charset="0"/>
                  </a:rPr>
                  <a:t>2</a:t>
                </a:r>
                <a:r>
                  <a:rPr lang="zh-CN" altLang="zh-CN" sz="1400" i="0">
                    <a:latin typeface="Cambria Math" panose="02040503050406030204" pitchFamily="18" charset="0"/>
                  </a:rPr>
                  <a:t>^</a:t>
                </a:r>
                <a:r>
                  <a:rPr lang="en-US" altLang="zh-CN" sz="1400" i="0">
                    <a:latin typeface="Cambria Math" panose="02040503050406030204" pitchFamily="18" charset="0"/>
                  </a:rPr>
                  <a:t>𝑥 </a:t>
                </a:r>
                <a:r>
                  <a:rPr lang="zh-CN" altLang="en-US" sz="1400" kern="1200" dirty="0" smtClean="0">
                    <a:solidFill>
                      <a:schemeClr val="tx1"/>
                    </a:solidFill>
                    <a:latin typeface="+mj-ea"/>
                    <a:ea typeface="+mn-ea"/>
                    <a:cs typeface="+mn-cs"/>
                  </a:rPr>
                  <a:t>。</a:t>
                </a:r>
                <a:endParaRPr lang="en-US" altLang="zh-CN" sz="1400" kern="1200" dirty="0" smtClean="0">
                  <a:solidFill>
                    <a:schemeClr val="tx1"/>
                  </a:solidFill>
                  <a:latin typeface="+mj-ea"/>
                  <a:ea typeface="+mn-ea"/>
                  <a:cs typeface="+mn-cs"/>
                </a:endParaRPr>
              </a:p>
              <a:p>
                <a:pPr marL="687600" lvl="2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sz="1400" kern="1200" dirty="0" smtClean="0">
                    <a:solidFill>
                      <a:schemeClr val="tx1"/>
                    </a:solidFill>
                    <a:latin typeface="+mj-ea"/>
                    <a:ea typeface="+mn-ea"/>
                    <a:cs typeface="+mn-cs"/>
                  </a:rPr>
                  <a:t>用另一个哈希函数</a:t>
                </a:r>
                <a:r>
                  <a:rPr lang="en-US" altLang="zh-CN" sz="1400" b="0" i="0" kern="1200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 ℎ(𝑒)</a:t>
                </a:r>
                <a:r>
                  <a:rPr lang="en-US" altLang="zh-CN" sz="1400" kern="1200" dirty="0" smtClean="0">
                    <a:solidFill>
                      <a:schemeClr val="tx1"/>
                    </a:solidFill>
                    <a:latin typeface="+mj-ea"/>
                    <a:ea typeface="+mn-ea"/>
                    <a:cs typeface="+mn-cs"/>
                  </a:rPr>
                  <a:t> </a:t>
                </a:r>
                <a:r>
                  <a:rPr lang="zh-CN" altLang="en-US" sz="1400" kern="1200" dirty="0" smtClean="0">
                    <a:solidFill>
                      <a:schemeClr val="tx1"/>
                    </a:solidFill>
                    <a:latin typeface="+mj-ea"/>
                    <a:ea typeface="+mn-ea"/>
                    <a:cs typeface="+mn-cs"/>
                  </a:rPr>
                  <a:t>将</a:t>
                </a:r>
                <a:r>
                  <a:rPr lang="en-US" altLang="zh-CN" sz="1400" kern="1200" dirty="0">
                    <a:solidFill>
                      <a:schemeClr val="tx1"/>
                    </a:solidFill>
                    <a:latin typeface="+mj-ea"/>
                    <a:ea typeface="+mn-ea"/>
                    <a:cs typeface="+mn-cs"/>
                  </a:rPr>
                  <a:t> </a:t>
                </a:r>
                <a:r>
                  <a:rPr lang="en-US" altLang="zh-CN" sz="1400" i="0">
                    <a:latin typeface="Cambria Math" panose="02040503050406030204" pitchFamily="18" charset="0"/>
                  </a:rPr>
                  <a:t>𝑒</a:t>
                </a:r>
                <a:r>
                  <a:rPr lang="en-US" altLang="zh-CN" sz="1400" kern="1200" dirty="0" smtClean="0">
                    <a:solidFill>
                      <a:schemeClr val="tx1"/>
                    </a:solidFill>
                    <a:latin typeface="+mj-ea"/>
                    <a:ea typeface="+mn-ea"/>
                    <a:cs typeface="+mn-cs"/>
                  </a:rPr>
                  <a:t> </a:t>
                </a:r>
                <a:r>
                  <a:rPr lang="zh-CN" altLang="en-US" sz="1400" kern="1200" dirty="0" smtClean="0">
                    <a:solidFill>
                      <a:schemeClr val="tx1"/>
                    </a:solidFill>
                    <a:latin typeface="+mj-ea"/>
                    <a:ea typeface="+mn-ea"/>
                    <a:cs typeface="+mn-cs"/>
                  </a:rPr>
                  <a:t>映射到</a:t>
                </a:r>
                <a:r>
                  <a:rPr lang="zh-CN" altLang="zh-CN" sz="1400" dirty="0"/>
                  <a:t>长度为</a:t>
                </a:r>
                <a:r>
                  <a:rPr lang="en-US" altLang="zh-CN" sz="1400" dirty="0"/>
                  <a:t>k</a:t>
                </a:r>
                <a:r>
                  <a:rPr lang="zh-CN" altLang="zh-CN" sz="1400" dirty="0"/>
                  <a:t>的计数器数组 </a:t>
                </a:r>
                <a:r>
                  <a:rPr lang="en-US" altLang="zh-CN" sz="1400" i="0">
                    <a:latin typeface="Cambria Math" panose="02040503050406030204" pitchFamily="18" charset="0"/>
                  </a:rPr>
                  <a:t>{𝑔</a:t>
                </a:r>
                <a:r>
                  <a:rPr lang="zh-CN" altLang="zh-CN" sz="1400" i="0">
                    <a:latin typeface="Cambria Math" panose="02040503050406030204" pitchFamily="18" charset="0"/>
                  </a:rPr>
                  <a:t>_</a:t>
                </a:r>
                <a:r>
                  <a:rPr lang="en-US" altLang="zh-CN" sz="1400" i="0">
                    <a:latin typeface="Cambria Math" panose="02040503050406030204" pitchFamily="18" charset="0"/>
                  </a:rPr>
                  <a:t>1,  𝑔</a:t>
                </a:r>
                <a:r>
                  <a:rPr lang="zh-CN" altLang="zh-CN" sz="1400" i="0">
                    <a:latin typeface="Cambria Math" panose="02040503050406030204" pitchFamily="18" charset="0"/>
                  </a:rPr>
                  <a:t>_</a:t>
                </a:r>
                <a:r>
                  <a:rPr lang="en-US" altLang="zh-CN" sz="1400" i="0">
                    <a:latin typeface="Cambria Math" panose="02040503050406030204" pitchFamily="18" charset="0"/>
                  </a:rPr>
                  <a:t>2,  𝑔</a:t>
                </a:r>
                <a:r>
                  <a:rPr lang="zh-CN" altLang="zh-CN" sz="1400" i="0">
                    <a:latin typeface="Cambria Math" panose="02040503050406030204" pitchFamily="18" charset="0"/>
                  </a:rPr>
                  <a:t>_</a:t>
                </a:r>
                <a:r>
                  <a:rPr lang="en-US" altLang="zh-CN" sz="1400" i="0">
                    <a:latin typeface="Cambria Math" panose="02040503050406030204" pitchFamily="18" charset="0"/>
                  </a:rPr>
                  <a:t>3…..𝑔</a:t>
                </a:r>
                <a:r>
                  <a:rPr lang="zh-CN" altLang="zh-CN" sz="1400" i="0">
                    <a:latin typeface="Cambria Math" panose="02040503050406030204" pitchFamily="18" charset="0"/>
                  </a:rPr>
                  <a:t>_</a:t>
                </a:r>
                <a:r>
                  <a:rPr lang="en-US" altLang="zh-CN" sz="1400" i="0">
                    <a:latin typeface="Cambria Math" panose="02040503050406030204" pitchFamily="18" charset="0"/>
                  </a:rPr>
                  <a:t>𝑘}</a:t>
                </a:r>
                <a:r>
                  <a:rPr lang="en-US" altLang="zh-CN" sz="1400" kern="1200" dirty="0" smtClean="0">
                    <a:solidFill>
                      <a:schemeClr val="tx1"/>
                    </a:solidFill>
                    <a:latin typeface="+mj-ea"/>
                    <a:ea typeface="+mn-ea"/>
                    <a:cs typeface="+mn-cs"/>
                  </a:rPr>
                  <a:t> </a:t>
                </a:r>
                <a:r>
                  <a:rPr lang="zh-CN" altLang="en-US" sz="1400" kern="1200" dirty="0" smtClean="0">
                    <a:solidFill>
                      <a:schemeClr val="tx1"/>
                    </a:solidFill>
                    <a:latin typeface="+mj-ea"/>
                    <a:ea typeface="+mn-ea"/>
                    <a:cs typeface="+mn-cs"/>
                  </a:rPr>
                  <a:t>中的一个位置，若</a:t>
                </a:r>
                <a:r>
                  <a:rPr lang="en-US" altLang="zh-CN" sz="1400" i="0">
                    <a:latin typeface="Cambria Math" panose="02040503050406030204" pitchFamily="18" charset="0"/>
                  </a:rPr>
                  <a:t>y</a:t>
                </a:r>
                <a:r>
                  <a:rPr lang="zh-CN" altLang="zh-CN" sz="1400" i="0">
                    <a:latin typeface="Cambria Math" panose="02040503050406030204" pitchFamily="18" charset="0"/>
                  </a:rPr>
                  <a:t>(</a:t>
                </a:r>
                <a:r>
                  <a:rPr lang="en-US" altLang="zh-CN" sz="1400" i="0">
                    <a:latin typeface="Cambria Math" panose="02040503050406030204" pitchFamily="18" charset="0"/>
                  </a:rPr>
                  <a:t>e)&gt;𝑔</a:t>
                </a:r>
                <a:r>
                  <a:rPr lang="zh-CN" altLang="zh-CN" sz="1400" i="0">
                    <a:latin typeface="Cambria Math" panose="02040503050406030204" pitchFamily="18" charset="0"/>
                  </a:rPr>
                  <a:t>_(</a:t>
                </a:r>
                <a:r>
                  <a:rPr lang="en-US" altLang="zh-CN" sz="1400" i="0">
                    <a:latin typeface="Cambria Math" panose="02040503050406030204" pitchFamily="18" charset="0"/>
                  </a:rPr>
                  <a:t>ℎ(𝑒)</a:t>
                </a:r>
                <a:r>
                  <a:rPr lang="zh-CN" altLang="zh-CN" sz="1400" i="0">
                    <a:latin typeface="Cambria Math" panose="02040503050406030204" pitchFamily="18" charset="0"/>
                  </a:rPr>
                  <a:t>)</a:t>
                </a:r>
                <a:r>
                  <a:rPr lang="zh-CN" altLang="zh-CN" sz="1400" dirty="0"/>
                  <a:t>，则令</a:t>
                </a:r>
                <a:r>
                  <a:rPr lang="en-US" altLang="zh-CN" sz="1400" i="0">
                    <a:latin typeface="Cambria Math" panose="02040503050406030204" pitchFamily="18" charset="0"/>
                  </a:rPr>
                  <a:t>𝑔</a:t>
                </a:r>
                <a:r>
                  <a:rPr lang="zh-CN" altLang="zh-CN" sz="1400" i="0">
                    <a:latin typeface="Cambria Math" panose="02040503050406030204" pitchFamily="18" charset="0"/>
                  </a:rPr>
                  <a:t>_(</a:t>
                </a:r>
                <a:r>
                  <a:rPr lang="en-US" altLang="zh-CN" sz="1400" i="0">
                    <a:latin typeface="Cambria Math" panose="02040503050406030204" pitchFamily="18" charset="0"/>
                  </a:rPr>
                  <a:t>ℎ(𝑒)</a:t>
                </a:r>
                <a:r>
                  <a:rPr lang="zh-CN" altLang="zh-CN" sz="1400" i="0">
                    <a:latin typeface="Cambria Math" panose="02040503050406030204" pitchFamily="18" charset="0"/>
                  </a:rPr>
                  <a:t>)</a:t>
                </a:r>
                <a:r>
                  <a:rPr lang="en-US" altLang="zh-CN" sz="1400" i="0">
                    <a:latin typeface="Cambria Math" panose="02040503050406030204" pitchFamily="18" charset="0"/>
                  </a:rPr>
                  <a:t>←𝑦(𝑒)</a:t>
                </a:r>
                <a:endParaRPr kumimoji="1" lang="zh-CN" altLang="en-US" dirty="0"/>
              </a:p>
            </p:txBody>
          </p:sp>
        </mc:Fallback>
      </mc:AlternateContent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46CDA-CCAD-B44B-85E2-827E41692BC9}" type="slidenum">
              <a:rPr kumimoji="1" lang="zh-CN" altLang="en-US" smtClean="0"/>
              <a:pPr/>
              <a:t>29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7071860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kumimoji="1" lang="zh-CN" altLang="en-US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kumimoji="1" lang="zh-CN" altLang="en-US" dirty="0" smtClean="0"/>
                  <a:t>为了介绍</a:t>
                </a:r>
                <a:r>
                  <a:rPr kumimoji="1" lang="en-US" altLang="zh-CN" dirty="0" err="1" smtClean="0"/>
                  <a:t>PartitionCT</a:t>
                </a:r>
                <a:r>
                  <a:rPr kumimoji="1" lang="en-US" altLang="zh-CN" dirty="0" smtClean="0"/>
                  <a:t> </a:t>
                </a:r>
                <a:r>
                  <a:rPr kumimoji="1" lang="zh-CN" altLang="en-US" dirty="0" smtClean="0"/>
                  <a:t>估算互异边数目的方法，我们首先需要介绍两个相关工作，</a:t>
                </a:r>
                <a:r>
                  <a:rPr kumimoji="1" lang="en-US" altLang="zh-CN" dirty="0" err="1" smtClean="0"/>
                  <a:t>Hyperloglog</a:t>
                </a:r>
                <a:r>
                  <a:rPr kumimoji="1" lang="en-US" altLang="zh-CN" dirty="0" smtClean="0"/>
                  <a:t> </a:t>
                </a:r>
                <a:r>
                  <a:rPr kumimoji="1" lang="zh-CN" altLang="en-US" dirty="0" smtClean="0"/>
                  <a:t>和 </a:t>
                </a:r>
                <a:r>
                  <a:rPr kumimoji="1" lang="en-US" altLang="zh-CN" dirty="0" smtClean="0"/>
                  <a:t>Streaming </a:t>
                </a:r>
                <a:r>
                  <a:rPr kumimoji="1" lang="en-US" altLang="zh-CN" dirty="0" err="1" smtClean="0"/>
                  <a:t>Hyperlog</a:t>
                </a:r>
                <a:r>
                  <a:rPr kumimoji="1" lang="en-US" altLang="zh-CN" dirty="0" smtClean="0"/>
                  <a:t> log</a:t>
                </a:r>
                <a:r>
                  <a:rPr kumimoji="1" lang="zh-CN" altLang="en-US" dirty="0" smtClean="0"/>
                  <a:t>。</a:t>
                </a:r>
                <a:endParaRPr kumimoji="1" lang="en-US" altLang="zh-CN" dirty="0" smtClean="0"/>
              </a:p>
              <a:p>
                <a:r>
                  <a:rPr lang="zh-CN" altLang="en-US" sz="1200" kern="1200" dirty="0" smtClean="0">
                    <a:solidFill>
                      <a:schemeClr val="tx1"/>
                    </a:solidFill>
                    <a:latin typeface="+mj-ea"/>
                    <a:ea typeface="+mn-ea"/>
                    <a:cs typeface="+mn-cs"/>
                  </a:rPr>
                  <a:t>估算数据流内互异元素个数（基数）</a:t>
                </a:r>
                <a:endParaRPr lang="en-US" altLang="zh-CN" sz="1200" kern="1200" dirty="0" smtClean="0">
                  <a:solidFill>
                    <a:schemeClr val="tx1"/>
                  </a:solidFill>
                  <a:latin typeface="+mj-ea"/>
                  <a:ea typeface="+mn-ea"/>
                  <a:cs typeface="+mn-cs"/>
                </a:endParaRPr>
              </a:p>
              <a:p>
                <a:pPr marL="687600" lvl="2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sz="1400" kern="1200" dirty="0" smtClean="0">
                    <a:solidFill>
                      <a:schemeClr val="tx1"/>
                    </a:solidFill>
                    <a:latin typeface="+mj-ea"/>
                    <a:ea typeface="+mn-ea"/>
                    <a:cs typeface="+mn-cs"/>
                  </a:rPr>
                  <a:t>为每一个元素 </a:t>
                </a:r>
                <a:r>
                  <a:rPr lang="en-US" altLang="zh-CN" sz="1400" b="0" i="0" kern="1200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𝑒</a:t>
                </a:r>
                <a:r>
                  <a:rPr lang="en-US" altLang="zh-CN" sz="1400" kern="1200" dirty="0" smtClean="0">
                    <a:solidFill>
                      <a:schemeClr val="tx1"/>
                    </a:solidFill>
                    <a:latin typeface="+mj-ea"/>
                    <a:ea typeface="+mn-ea"/>
                    <a:cs typeface="+mn-cs"/>
                  </a:rPr>
                  <a:t> </a:t>
                </a:r>
                <a:r>
                  <a:rPr lang="zh-CN" altLang="en-US" sz="1400" kern="1200" dirty="0" smtClean="0">
                    <a:solidFill>
                      <a:schemeClr val="tx1"/>
                    </a:solidFill>
                    <a:latin typeface="+mj-ea"/>
                    <a:ea typeface="+mn-ea"/>
                    <a:cs typeface="+mn-cs"/>
                  </a:rPr>
                  <a:t>计算一个哈希函数</a:t>
                </a:r>
                <a:r>
                  <a:rPr lang="en-US" altLang="zh-CN" sz="1400" b="0" i="0" smtClean="0">
                    <a:latin typeface="Cambria Math" panose="02040503050406030204" pitchFamily="18" charset="0"/>
                  </a:rPr>
                  <a:t> </a:t>
                </a:r>
                <a:r>
                  <a:rPr lang="en-US" altLang="zh-CN" sz="1400" i="0">
                    <a:latin typeface="Cambria Math" panose="02040503050406030204" pitchFamily="18" charset="0"/>
                  </a:rPr>
                  <a:t>y(e)</a:t>
                </a:r>
                <a:r>
                  <a:rPr lang="zh-CN" altLang="zh-CN" sz="1400" dirty="0"/>
                  <a:t>， </a:t>
                </a:r>
                <a:r>
                  <a:rPr lang="en-US" altLang="zh-CN" sz="1400" i="0">
                    <a:latin typeface="Cambria Math" panose="02040503050406030204" pitchFamily="18" charset="0"/>
                  </a:rPr>
                  <a:t>y(e)</a:t>
                </a:r>
                <a:r>
                  <a:rPr lang="en-US" altLang="zh-CN" sz="1400" dirty="0"/>
                  <a:t> </a:t>
                </a:r>
                <a:r>
                  <a:rPr lang="zh-CN" altLang="zh-CN" sz="1400" dirty="0"/>
                  <a:t>服从 </a:t>
                </a:r>
                <a:r>
                  <a:rPr lang="en-US" altLang="zh-CN" sz="1400" i="0">
                    <a:latin typeface="Cambria Math" panose="02040503050406030204" pitchFamily="18" charset="0"/>
                  </a:rPr>
                  <a:t>p=1</a:t>
                </a:r>
                <a:r>
                  <a:rPr lang="zh-CN" altLang="zh-CN" sz="1400" i="0">
                    <a:latin typeface="Cambria Math" panose="02040503050406030204" pitchFamily="18" charset="0"/>
                  </a:rPr>
                  <a:t>/</a:t>
                </a:r>
                <a:r>
                  <a:rPr lang="en-US" altLang="zh-CN" sz="1400" i="0">
                    <a:latin typeface="Cambria Math" panose="02040503050406030204" pitchFamily="18" charset="0"/>
                  </a:rPr>
                  <a:t>2</a:t>
                </a:r>
                <a:r>
                  <a:rPr lang="en-US" altLang="zh-CN" sz="1400" dirty="0"/>
                  <a:t> </a:t>
                </a:r>
                <a:r>
                  <a:rPr lang="zh-CN" altLang="zh-CN" sz="1400" dirty="0"/>
                  <a:t>的几何分布，即为</a:t>
                </a:r>
                <a:r>
                  <a:rPr lang="en-US" altLang="zh-CN" sz="1400" i="0">
                    <a:latin typeface="Cambria Math" panose="02040503050406030204" pitchFamily="18" charset="0"/>
                  </a:rPr>
                  <a:t>y</a:t>
                </a:r>
                <a:r>
                  <a:rPr lang="zh-CN" altLang="zh-CN" sz="1400" i="0">
                    <a:latin typeface="Cambria Math" panose="02040503050406030204" pitchFamily="18" charset="0"/>
                  </a:rPr>
                  <a:t>(</a:t>
                </a:r>
                <a:r>
                  <a:rPr lang="en-US" altLang="zh-CN" sz="1400" i="0">
                    <a:latin typeface="Cambria Math" panose="02040503050406030204" pitchFamily="18" charset="0"/>
                  </a:rPr>
                  <a:t>e)=𝑥</a:t>
                </a:r>
                <a:r>
                  <a:rPr lang="en-US" altLang="zh-CN" sz="1400" dirty="0"/>
                  <a:t> </a:t>
                </a:r>
                <a:r>
                  <a:rPr lang="zh-CN" altLang="zh-CN" sz="1400" dirty="0"/>
                  <a:t>的概率为 </a:t>
                </a:r>
                <a:r>
                  <a:rPr lang="en-US" altLang="zh-CN" sz="1400" i="0">
                    <a:latin typeface="Cambria Math" panose="02040503050406030204" pitchFamily="18" charset="0"/>
                  </a:rPr>
                  <a:t>1</a:t>
                </a:r>
                <a:r>
                  <a:rPr lang="zh-CN" altLang="zh-CN" sz="1400" i="0">
                    <a:latin typeface="Cambria Math" panose="02040503050406030204" pitchFamily="18" charset="0"/>
                  </a:rPr>
                  <a:t>/</a:t>
                </a:r>
                <a:r>
                  <a:rPr lang="en-US" altLang="zh-CN" sz="1400" i="0">
                    <a:latin typeface="Cambria Math" panose="02040503050406030204" pitchFamily="18" charset="0"/>
                  </a:rPr>
                  <a:t>2</a:t>
                </a:r>
                <a:r>
                  <a:rPr lang="zh-CN" altLang="zh-CN" sz="1400" i="0">
                    <a:latin typeface="Cambria Math" panose="02040503050406030204" pitchFamily="18" charset="0"/>
                  </a:rPr>
                  <a:t>^</a:t>
                </a:r>
                <a:r>
                  <a:rPr lang="en-US" altLang="zh-CN" sz="1400" i="0">
                    <a:latin typeface="Cambria Math" panose="02040503050406030204" pitchFamily="18" charset="0"/>
                  </a:rPr>
                  <a:t>𝑥 </a:t>
                </a:r>
                <a:r>
                  <a:rPr lang="zh-CN" altLang="en-US" sz="1400" kern="1200" dirty="0" smtClean="0">
                    <a:solidFill>
                      <a:schemeClr val="tx1"/>
                    </a:solidFill>
                    <a:latin typeface="+mj-ea"/>
                    <a:ea typeface="+mn-ea"/>
                    <a:cs typeface="+mn-cs"/>
                  </a:rPr>
                  <a:t>。</a:t>
                </a:r>
                <a:endParaRPr lang="en-US" altLang="zh-CN" sz="1400" kern="1200" dirty="0" smtClean="0">
                  <a:solidFill>
                    <a:schemeClr val="tx1"/>
                  </a:solidFill>
                  <a:latin typeface="+mj-ea"/>
                  <a:ea typeface="+mn-ea"/>
                  <a:cs typeface="+mn-cs"/>
                </a:endParaRPr>
              </a:p>
              <a:p>
                <a:pPr marL="687600" lvl="2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sz="1400" kern="1200" dirty="0" smtClean="0">
                    <a:solidFill>
                      <a:schemeClr val="tx1"/>
                    </a:solidFill>
                    <a:latin typeface="+mj-ea"/>
                    <a:ea typeface="+mn-ea"/>
                    <a:cs typeface="+mn-cs"/>
                  </a:rPr>
                  <a:t>用另一个哈希函数</a:t>
                </a:r>
                <a:r>
                  <a:rPr lang="en-US" altLang="zh-CN" sz="1400" b="0" i="0" kern="1200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 ℎ(𝑒)</a:t>
                </a:r>
                <a:r>
                  <a:rPr lang="en-US" altLang="zh-CN" sz="1400" kern="1200" dirty="0" smtClean="0">
                    <a:solidFill>
                      <a:schemeClr val="tx1"/>
                    </a:solidFill>
                    <a:latin typeface="+mj-ea"/>
                    <a:ea typeface="+mn-ea"/>
                    <a:cs typeface="+mn-cs"/>
                  </a:rPr>
                  <a:t> </a:t>
                </a:r>
                <a:r>
                  <a:rPr lang="zh-CN" altLang="en-US" sz="1400" kern="1200" dirty="0" smtClean="0">
                    <a:solidFill>
                      <a:schemeClr val="tx1"/>
                    </a:solidFill>
                    <a:latin typeface="+mj-ea"/>
                    <a:ea typeface="+mn-ea"/>
                    <a:cs typeface="+mn-cs"/>
                  </a:rPr>
                  <a:t>将</a:t>
                </a:r>
                <a:r>
                  <a:rPr lang="en-US" altLang="zh-CN" sz="1400" kern="1200" dirty="0">
                    <a:solidFill>
                      <a:schemeClr val="tx1"/>
                    </a:solidFill>
                    <a:latin typeface="+mj-ea"/>
                    <a:ea typeface="+mn-ea"/>
                    <a:cs typeface="+mn-cs"/>
                  </a:rPr>
                  <a:t> </a:t>
                </a:r>
                <a:r>
                  <a:rPr lang="en-US" altLang="zh-CN" sz="1400" i="0">
                    <a:latin typeface="Cambria Math" panose="02040503050406030204" pitchFamily="18" charset="0"/>
                  </a:rPr>
                  <a:t>𝑒</a:t>
                </a:r>
                <a:r>
                  <a:rPr lang="en-US" altLang="zh-CN" sz="1400" kern="1200" dirty="0" smtClean="0">
                    <a:solidFill>
                      <a:schemeClr val="tx1"/>
                    </a:solidFill>
                    <a:latin typeface="+mj-ea"/>
                    <a:ea typeface="+mn-ea"/>
                    <a:cs typeface="+mn-cs"/>
                  </a:rPr>
                  <a:t> </a:t>
                </a:r>
                <a:r>
                  <a:rPr lang="zh-CN" altLang="en-US" sz="1400" kern="1200" dirty="0" smtClean="0">
                    <a:solidFill>
                      <a:schemeClr val="tx1"/>
                    </a:solidFill>
                    <a:latin typeface="+mj-ea"/>
                    <a:ea typeface="+mn-ea"/>
                    <a:cs typeface="+mn-cs"/>
                  </a:rPr>
                  <a:t>映射到</a:t>
                </a:r>
                <a:r>
                  <a:rPr lang="zh-CN" altLang="zh-CN" sz="1400" dirty="0"/>
                  <a:t>长度为</a:t>
                </a:r>
                <a:r>
                  <a:rPr lang="en-US" altLang="zh-CN" sz="1400" dirty="0"/>
                  <a:t>k</a:t>
                </a:r>
                <a:r>
                  <a:rPr lang="zh-CN" altLang="zh-CN" sz="1400" dirty="0"/>
                  <a:t>的计数器数组 </a:t>
                </a:r>
                <a:r>
                  <a:rPr lang="en-US" altLang="zh-CN" sz="1400" i="0">
                    <a:latin typeface="Cambria Math" panose="02040503050406030204" pitchFamily="18" charset="0"/>
                  </a:rPr>
                  <a:t>{𝑔</a:t>
                </a:r>
                <a:r>
                  <a:rPr lang="zh-CN" altLang="zh-CN" sz="1400" i="0">
                    <a:latin typeface="Cambria Math" panose="02040503050406030204" pitchFamily="18" charset="0"/>
                  </a:rPr>
                  <a:t>_</a:t>
                </a:r>
                <a:r>
                  <a:rPr lang="en-US" altLang="zh-CN" sz="1400" i="0">
                    <a:latin typeface="Cambria Math" panose="02040503050406030204" pitchFamily="18" charset="0"/>
                  </a:rPr>
                  <a:t>1,  𝑔</a:t>
                </a:r>
                <a:r>
                  <a:rPr lang="zh-CN" altLang="zh-CN" sz="1400" i="0">
                    <a:latin typeface="Cambria Math" panose="02040503050406030204" pitchFamily="18" charset="0"/>
                  </a:rPr>
                  <a:t>_</a:t>
                </a:r>
                <a:r>
                  <a:rPr lang="en-US" altLang="zh-CN" sz="1400" i="0">
                    <a:latin typeface="Cambria Math" panose="02040503050406030204" pitchFamily="18" charset="0"/>
                  </a:rPr>
                  <a:t>2,  𝑔</a:t>
                </a:r>
                <a:r>
                  <a:rPr lang="zh-CN" altLang="zh-CN" sz="1400" i="0">
                    <a:latin typeface="Cambria Math" panose="02040503050406030204" pitchFamily="18" charset="0"/>
                  </a:rPr>
                  <a:t>_</a:t>
                </a:r>
                <a:r>
                  <a:rPr lang="en-US" altLang="zh-CN" sz="1400" i="0">
                    <a:latin typeface="Cambria Math" panose="02040503050406030204" pitchFamily="18" charset="0"/>
                  </a:rPr>
                  <a:t>3…..𝑔</a:t>
                </a:r>
                <a:r>
                  <a:rPr lang="zh-CN" altLang="zh-CN" sz="1400" i="0">
                    <a:latin typeface="Cambria Math" panose="02040503050406030204" pitchFamily="18" charset="0"/>
                  </a:rPr>
                  <a:t>_</a:t>
                </a:r>
                <a:r>
                  <a:rPr lang="en-US" altLang="zh-CN" sz="1400" i="0">
                    <a:latin typeface="Cambria Math" panose="02040503050406030204" pitchFamily="18" charset="0"/>
                  </a:rPr>
                  <a:t>𝑘}</a:t>
                </a:r>
                <a:r>
                  <a:rPr lang="en-US" altLang="zh-CN" sz="1400" kern="1200" dirty="0" smtClean="0">
                    <a:solidFill>
                      <a:schemeClr val="tx1"/>
                    </a:solidFill>
                    <a:latin typeface="+mj-ea"/>
                    <a:ea typeface="+mn-ea"/>
                    <a:cs typeface="+mn-cs"/>
                  </a:rPr>
                  <a:t> </a:t>
                </a:r>
                <a:r>
                  <a:rPr lang="zh-CN" altLang="en-US" sz="1400" kern="1200" dirty="0" smtClean="0">
                    <a:solidFill>
                      <a:schemeClr val="tx1"/>
                    </a:solidFill>
                    <a:latin typeface="+mj-ea"/>
                    <a:ea typeface="+mn-ea"/>
                    <a:cs typeface="+mn-cs"/>
                  </a:rPr>
                  <a:t>中的一个位置，若</a:t>
                </a:r>
                <a:r>
                  <a:rPr lang="en-US" altLang="zh-CN" sz="1400" i="0">
                    <a:latin typeface="Cambria Math" panose="02040503050406030204" pitchFamily="18" charset="0"/>
                  </a:rPr>
                  <a:t>y</a:t>
                </a:r>
                <a:r>
                  <a:rPr lang="zh-CN" altLang="zh-CN" sz="1400" i="0">
                    <a:latin typeface="Cambria Math" panose="02040503050406030204" pitchFamily="18" charset="0"/>
                  </a:rPr>
                  <a:t>(</a:t>
                </a:r>
                <a:r>
                  <a:rPr lang="en-US" altLang="zh-CN" sz="1400" i="0">
                    <a:latin typeface="Cambria Math" panose="02040503050406030204" pitchFamily="18" charset="0"/>
                  </a:rPr>
                  <a:t>e)&gt;𝑔</a:t>
                </a:r>
                <a:r>
                  <a:rPr lang="zh-CN" altLang="zh-CN" sz="1400" i="0">
                    <a:latin typeface="Cambria Math" panose="02040503050406030204" pitchFamily="18" charset="0"/>
                  </a:rPr>
                  <a:t>_(</a:t>
                </a:r>
                <a:r>
                  <a:rPr lang="en-US" altLang="zh-CN" sz="1400" i="0">
                    <a:latin typeface="Cambria Math" panose="02040503050406030204" pitchFamily="18" charset="0"/>
                  </a:rPr>
                  <a:t>ℎ(𝑒)</a:t>
                </a:r>
                <a:r>
                  <a:rPr lang="zh-CN" altLang="zh-CN" sz="1400" i="0">
                    <a:latin typeface="Cambria Math" panose="02040503050406030204" pitchFamily="18" charset="0"/>
                  </a:rPr>
                  <a:t>)</a:t>
                </a:r>
                <a:r>
                  <a:rPr lang="zh-CN" altLang="zh-CN" sz="1400" dirty="0"/>
                  <a:t>，则令</a:t>
                </a:r>
                <a:r>
                  <a:rPr lang="en-US" altLang="zh-CN" sz="1400" i="0">
                    <a:latin typeface="Cambria Math" panose="02040503050406030204" pitchFamily="18" charset="0"/>
                  </a:rPr>
                  <a:t>𝑔</a:t>
                </a:r>
                <a:r>
                  <a:rPr lang="zh-CN" altLang="zh-CN" sz="1400" i="0">
                    <a:latin typeface="Cambria Math" panose="02040503050406030204" pitchFamily="18" charset="0"/>
                  </a:rPr>
                  <a:t>_(</a:t>
                </a:r>
                <a:r>
                  <a:rPr lang="en-US" altLang="zh-CN" sz="1400" i="0">
                    <a:latin typeface="Cambria Math" panose="02040503050406030204" pitchFamily="18" charset="0"/>
                  </a:rPr>
                  <a:t>ℎ(𝑒)</a:t>
                </a:r>
                <a:r>
                  <a:rPr lang="zh-CN" altLang="zh-CN" sz="1400" i="0">
                    <a:latin typeface="Cambria Math" panose="02040503050406030204" pitchFamily="18" charset="0"/>
                  </a:rPr>
                  <a:t>)</a:t>
                </a:r>
                <a:r>
                  <a:rPr lang="en-US" altLang="zh-CN" sz="1400" i="0">
                    <a:latin typeface="Cambria Math" panose="02040503050406030204" pitchFamily="18" charset="0"/>
                  </a:rPr>
                  <a:t>←𝑦(𝑒)</a:t>
                </a:r>
                <a:endParaRPr kumimoji="1" lang="zh-CN" altLang="en-US" dirty="0"/>
              </a:p>
            </p:txBody>
          </p:sp>
        </mc:Fallback>
      </mc:AlternateContent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46CDA-CCAD-B44B-85E2-827E41692BC9}" type="slidenum">
              <a:rPr kumimoji="1" lang="zh-CN" altLang="en-US" smtClean="0"/>
              <a:pPr/>
              <a:t>30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0225872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46CDA-CCAD-B44B-85E2-827E41692BC9}" type="slidenum">
              <a:rPr kumimoji="1" lang="zh-CN" altLang="en-US" smtClean="0"/>
              <a:pPr/>
              <a:t>31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075647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1A285-3E1C-4A5A-B3D0-6946F5AA901C}" type="datetimeFigureOut">
              <a:rPr lang="zh-CN" altLang="en-US" smtClean="0"/>
              <a:t>2020/12/23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60DB3-1520-4DFD-A70C-A8C402B834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9011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1A285-3E1C-4A5A-B3D0-6946F5AA901C}" type="datetimeFigureOut">
              <a:rPr lang="zh-CN" altLang="en-US" smtClean="0"/>
              <a:t>2020/12/23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60DB3-1520-4DFD-A70C-A8C402B834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6778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1A285-3E1C-4A5A-B3D0-6946F5AA901C}" type="datetimeFigureOut">
              <a:rPr lang="zh-CN" altLang="en-US" smtClean="0"/>
              <a:t>2020/12/23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60DB3-1520-4DFD-A70C-A8C402B834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0617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1A285-3E1C-4A5A-B3D0-6946F5AA901C}" type="datetimeFigureOut">
              <a:rPr lang="zh-CN" altLang="en-US" smtClean="0"/>
              <a:t>2020/12/23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60DB3-1520-4DFD-A70C-A8C402B834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1653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1A285-3E1C-4A5A-B3D0-6946F5AA901C}" type="datetimeFigureOut">
              <a:rPr lang="zh-CN" altLang="en-US" smtClean="0"/>
              <a:t>2020/12/23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60DB3-1520-4DFD-A70C-A8C402B834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2052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1A285-3E1C-4A5A-B3D0-6946F5AA901C}" type="datetimeFigureOut">
              <a:rPr lang="zh-CN" altLang="en-US" smtClean="0"/>
              <a:t>2020/12/23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60DB3-1520-4DFD-A70C-A8C402B834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489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1A285-3E1C-4A5A-B3D0-6946F5AA901C}" type="datetimeFigureOut">
              <a:rPr lang="zh-CN" altLang="en-US" smtClean="0"/>
              <a:t>2020/12/23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60DB3-1520-4DFD-A70C-A8C402B834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7596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1A285-3E1C-4A5A-B3D0-6946F5AA901C}" type="datetimeFigureOut">
              <a:rPr lang="zh-CN" altLang="en-US" smtClean="0"/>
              <a:t>2020/12/23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60DB3-1520-4DFD-A70C-A8C402B834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9417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1A285-3E1C-4A5A-B3D0-6946F5AA901C}" type="datetimeFigureOut">
              <a:rPr lang="zh-CN" altLang="en-US" smtClean="0"/>
              <a:t>2020/12/23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60DB3-1520-4DFD-A70C-A8C402B834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8110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1A285-3E1C-4A5A-B3D0-6946F5AA901C}" type="datetimeFigureOut">
              <a:rPr lang="zh-CN" altLang="en-US" smtClean="0"/>
              <a:t>2020/12/23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60DB3-1520-4DFD-A70C-A8C402B834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348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1A285-3E1C-4A5A-B3D0-6946F5AA901C}" type="datetimeFigureOut">
              <a:rPr lang="zh-CN" altLang="en-US" smtClean="0"/>
              <a:t>2020/12/23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60DB3-1520-4DFD-A70C-A8C402B834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6398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B1A285-3E1C-4A5A-B3D0-6946F5AA901C}" type="datetimeFigureOut">
              <a:rPr lang="zh-CN" altLang="en-US" smtClean="0"/>
              <a:t>2020/12/23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60DB3-1520-4DFD-A70C-A8C402B834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1332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22.png"/><Relationship Id="rId5" Type="http://schemas.openxmlformats.org/officeDocument/2006/relationships/image" Target="../media/image9.png"/><Relationship Id="rId15" Type="http://schemas.openxmlformats.org/officeDocument/2006/relationships/image" Target="../media/image25.png"/><Relationship Id="rId10" Type="http://schemas.openxmlformats.org/officeDocument/2006/relationships/image" Target="../media/image21.png"/><Relationship Id="rId4" Type="http://schemas.openxmlformats.org/officeDocument/2006/relationships/image" Target="../media/image8.png"/><Relationship Id="rId9" Type="http://schemas.openxmlformats.org/officeDocument/2006/relationships/image" Target="../media/image20.png"/><Relationship Id="rId1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8.png"/><Relationship Id="rId12" Type="http://schemas.openxmlformats.org/officeDocument/2006/relationships/image" Target="../media/image30.png"/><Relationship Id="rId17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29.png"/><Relationship Id="rId5" Type="http://schemas.openxmlformats.org/officeDocument/2006/relationships/image" Target="../media/image9.png"/><Relationship Id="rId15" Type="http://schemas.openxmlformats.org/officeDocument/2006/relationships/image" Target="../media/image31.png"/><Relationship Id="rId10" Type="http://schemas.openxmlformats.org/officeDocument/2006/relationships/image" Target="../media/image28.png"/><Relationship Id="rId4" Type="http://schemas.openxmlformats.org/officeDocument/2006/relationships/image" Target="../media/image8.png"/><Relationship Id="rId9" Type="http://schemas.openxmlformats.org/officeDocument/2006/relationships/image" Target="../media/image27.png"/><Relationship Id="rId1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 txBox="1">
            <a:spLocks/>
          </p:cNvSpPr>
          <p:nvPr/>
        </p:nvSpPr>
        <p:spPr bwMode="auto">
          <a:xfrm>
            <a:off x="1219200" y="1304769"/>
            <a:ext cx="9936480" cy="205835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algn="ctr">
              <a:spcBef>
                <a:spcPts val="2880"/>
              </a:spcBef>
            </a:pPr>
            <a:r>
              <a:rPr kumimoji="0" lang="zh-CN" altLang="en-US" sz="4800" b="1" dirty="0" smtClean="0">
                <a:latin typeface="+mj-ea"/>
                <a:ea typeface="+mj-ea"/>
                <a:cs typeface="黑体" charset="0"/>
              </a:rPr>
              <a:t>数据摘要算法</a:t>
            </a:r>
            <a:endParaRPr kumimoji="0" lang="en-US" altLang="zh-CN" sz="4800" b="1" dirty="0" smtClean="0">
              <a:latin typeface="+mj-ea"/>
              <a:ea typeface="+mj-ea"/>
              <a:cs typeface="黑体" charset="0"/>
            </a:endParaRPr>
          </a:p>
          <a:p>
            <a:pPr algn="ctr">
              <a:spcBef>
                <a:spcPts val="2880"/>
              </a:spcBef>
            </a:pPr>
            <a:r>
              <a:rPr kumimoji="0" lang="en-US" altLang="zh-CN" sz="3360" b="1" dirty="0" smtClean="0">
                <a:latin typeface="+mj-ea"/>
                <a:ea typeface="+mj-ea"/>
                <a:cs typeface="黑体" charset="0"/>
              </a:rPr>
              <a:t>—— </a:t>
            </a:r>
            <a:r>
              <a:rPr kumimoji="0" lang="zh-CN" altLang="en-US" sz="3360" b="1" dirty="0" smtClean="0">
                <a:latin typeface="+mj-ea"/>
                <a:ea typeface="+mj-ea"/>
                <a:cs typeface="黑体" charset="0"/>
              </a:rPr>
              <a:t>数据结构与算法补充课</a:t>
            </a:r>
            <a:endParaRPr kumimoji="0" lang="zh-CN" altLang="en-US" sz="3360" b="1" dirty="0">
              <a:latin typeface="+mj-ea"/>
              <a:ea typeface="+mj-ea"/>
              <a:cs typeface="黑体" charset="0"/>
            </a:endParaRPr>
          </a:p>
        </p:txBody>
      </p:sp>
      <p:pic>
        <p:nvPicPr>
          <p:cNvPr id="4" name="图片 3" descr="标志_红色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8468" y="4846319"/>
            <a:ext cx="1075658" cy="896382"/>
          </a:xfrm>
          <a:prstGeom prst="rect">
            <a:avLst/>
          </a:prstGeom>
        </p:spPr>
      </p:pic>
      <p:pic>
        <p:nvPicPr>
          <p:cNvPr id="6" name="图片 5" descr="Screen Shot 2016-05-24 at 5.24.18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2" y="5871635"/>
            <a:ext cx="10993120" cy="1003300"/>
          </a:xfrm>
          <a:prstGeom prst="rect">
            <a:avLst/>
          </a:prstGeom>
        </p:spPr>
      </p:pic>
      <p:grpSp>
        <p:nvGrpSpPr>
          <p:cNvPr id="13" name="组合 5"/>
          <p:cNvGrpSpPr/>
          <p:nvPr/>
        </p:nvGrpSpPr>
        <p:grpSpPr>
          <a:xfrm>
            <a:off x="609600" y="1"/>
            <a:ext cx="10972800" cy="676598"/>
            <a:chOff x="0" y="0"/>
            <a:chExt cx="12200792" cy="676598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602"/>
            <a:stretch/>
          </p:blipFill>
          <p:spPr>
            <a:xfrm>
              <a:off x="4818184" y="0"/>
              <a:ext cx="7382608" cy="676598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107" r="31323"/>
            <a:stretch/>
          </p:blipFill>
          <p:spPr>
            <a:xfrm>
              <a:off x="1983221" y="0"/>
              <a:ext cx="4281855" cy="676598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107" r="31323"/>
            <a:stretch/>
          </p:blipFill>
          <p:spPr>
            <a:xfrm>
              <a:off x="0" y="0"/>
              <a:ext cx="4281855" cy="676598"/>
            </a:xfrm>
            <a:prstGeom prst="rect">
              <a:avLst/>
            </a:prstGeom>
          </p:spPr>
        </p:pic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87CC-44FF-4D7B-9CEB-D984B5418D0E}" type="slidenum">
              <a:rPr lang="zh-CN" altLang="en-US" smtClean="0">
                <a:latin typeface="+mj-ea"/>
                <a:ea typeface="+mj-ea"/>
              </a:rPr>
              <a:t>1</a:t>
            </a:fld>
            <a:endParaRPr lang="zh-CN" altLang="en-US">
              <a:latin typeface="+mj-ea"/>
              <a:ea typeface="+mj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9194940" y="3485455"/>
            <a:ext cx="285312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 dirty="0" smtClean="0">
                <a:solidFill>
                  <a:srgbClr val="000000"/>
                </a:solidFill>
                <a:latin typeface="+mj-ea"/>
                <a:ea typeface="+mj-ea"/>
              </a:rPr>
              <a:t>苟向阳</a:t>
            </a:r>
            <a:endParaRPr lang="en-US" altLang="zh-CN" sz="2800" b="1" dirty="0" smtClean="0">
              <a:solidFill>
                <a:srgbClr val="000000"/>
              </a:solidFill>
              <a:latin typeface="+mj-ea"/>
              <a:ea typeface="+mj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800" b="1" dirty="0" smtClean="0">
                <a:solidFill>
                  <a:srgbClr val="000000"/>
                </a:solidFill>
                <a:latin typeface="+mj-ea"/>
                <a:ea typeface="+mj-ea"/>
              </a:rPr>
              <a:t>2020.12.23</a:t>
            </a:r>
            <a:endParaRPr lang="zh-CN" altLang="en-US" sz="2800" b="1" dirty="0">
              <a:solidFill>
                <a:srgbClr val="0000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871165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417"/>
    </mc:Choice>
    <mc:Fallback xmlns="">
      <p:transition spd="slow" advTm="38417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0369" y="254381"/>
            <a:ext cx="9068981" cy="760288"/>
          </a:xfrm>
        </p:spPr>
        <p:txBody>
          <a:bodyPr>
            <a:normAutofit/>
          </a:bodyPr>
          <a:lstStyle/>
          <a:p>
            <a:r>
              <a:rPr lang="zh-CN" altLang="en-US" sz="4000" b="1" dirty="0" smtClean="0">
                <a:latin typeface="+mj-ea"/>
              </a:rPr>
              <a:t>课程内容</a:t>
            </a:r>
            <a:endParaRPr lang="zh-CN" altLang="en-US" sz="4000" b="1" dirty="0">
              <a:latin typeface="+mj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6595" y="1329100"/>
            <a:ext cx="9543071" cy="4886027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zh-CN" altLang="en-US" sz="3200" b="1" dirty="0" smtClean="0">
                <a:solidFill>
                  <a:srgbClr val="FF0000"/>
                </a:solidFill>
                <a:latin typeface="+mn-ea"/>
              </a:rPr>
              <a:t>哈希表扩展</a:t>
            </a:r>
            <a:endParaRPr lang="en-US" altLang="zh-CN" sz="3200" b="1" dirty="0" smtClean="0">
              <a:solidFill>
                <a:srgbClr val="FF0000"/>
              </a:solidFill>
              <a:latin typeface="+mn-ea"/>
            </a:endParaRPr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en-US" altLang="zh-CN" sz="3200" b="1" dirty="0" smtClean="0">
                <a:ea typeface="+mj-ea"/>
              </a:rPr>
              <a:t>Bloom Filter</a:t>
            </a:r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en-US" altLang="zh-CN" sz="3200" b="1" dirty="0" smtClean="0">
                <a:ea typeface="+mj-ea"/>
              </a:rPr>
              <a:t>Count Min Sketch</a:t>
            </a:r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zh-CN" altLang="en-US" sz="3200" b="1" dirty="0" smtClean="0">
                <a:latin typeface="+mn-ea"/>
              </a:rPr>
              <a:t>其他摘要算法</a:t>
            </a:r>
            <a:endParaRPr lang="en-US" altLang="zh-CN" sz="3200" b="1" dirty="0" smtClean="0">
              <a:latin typeface="+mn-ea"/>
            </a:endParaRPr>
          </a:p>
        </p:txBody>
      </p:sp>
      <p:cxnSp>
        <p:nvCxnSpPr>
          <p:cNvPr id="5" name="直线连接符 4"/>
          <p:cNvCxnSpPr/>
          <p:nvPr/>
        </p:nvCxnSpPr>
        <p:spPr>
          <a:xfrm flipV="1">
            <a:off x="1050058" y="1014668"/>
            <a:ext cx="9647041" cy="5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直线连接符 5"/>
          <p:cNvCxnSpPr/>
          <p:nvPr/>
        </p:nvCxnSpPr>
        <p:spPr>
          <a:xfrm>
            <a:off x="1096595" y="6371261"/>
            <a:ext cx="9600504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1645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0369" y="254381"/>
            <a:ext cx="9068981" cy="760288"/>
          </a:xfrm>
        </p:spPr>
        <p:txBody>
          <a:bodyPr>
            <a:normAutofit/>
          </a:bodyPr>
          <a:lstStyle/>
          <a:p>
            <a:r>
              <a:rPr lang="zh-CN" altLang="en-US" sz="4000" b="1" dirty="0" smtClean="0">
                <a:latin typeface="+mj-ea"/>
              </a:rPr>
              <a:t>哈希表扩展</a:t>
            </a:r>
            <a:endParaRPr lang="zh-CN" altLang="en-US" sz="4000" b="1" dirty="0">
              <a:latin typeface="+mj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6595" y="1329100"/>
            <a:ext cx="9543071" cy="4886027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zh-CN" altLang="en-US" sz="2400" b="1" dirty="0"/>
              <a:t>哈希冲突</a:t>
            </a:r>
            <a:endParaRPr lang="en-US" altLang="zh-CN" sz="2400" b="1" dirty="0"/>
          </a:p>
          <a:p>
            <a:pPr>
              <a:lnSpc>
                <a:spcPct val="170000"/>
              </a:lnSpc>
              <a:spcBef>
                <a:spcPts val="0"/>
              </a:spcBef>
            </a:pPr>
            <a:endParaRPr lang="en-US" altLang="zh-CN" sz="3200" dirty="0">
              <a:latin typeface="+mj-ea"/>
              <a:ea typeface="+mj-ea"/>
            </a:endParaRP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endParaRPr lang="en-US" altLang="zh-CN" sz="3200" dirty="0">
              <a:latin typeface="+mj-ea"/>
              <a:ea typeface="+mj-ea"/>
            </a:endParaRPr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zh-CN" altLang="en-US" sz="2400" b="1" dirty="0"/>
              <a:t>处理哈希冲突的方式</a:t>
            </a:r>
            <a:endParaRPr lang="en-US" altLang="zh-CN" sz="2400" b="1" dirty="0"/>
          </a:p>
          <a:p>
            <a:pPr marL="228600" lvl="1">
              <a:lnSpc>
                <a:spcPct val="170000"/>
              </a:lnSpc>
              <a:spcBef>
                <a:spcPts val="0"/>
              </a:spcBef>
            </a:pPr>
            <a:r>
              <a:rPr lang="zh-CN" altLang="en-US" b="1" dirty="0"/>
              <a:t>闭散列：线性探测，二次探测</a:t>
            </a:r>
            <a:endParaRPr lang="en-US" altLang="zh-CN" b="1" dirty="0"/>
          </a:p>
          <a:p>
            <a:pPr marL="228600" lvl="1">
              <a:lnSpc>
                <a:spcPct val="170000"/>
              </a:lnSpc>
              <a:spcBef>
                <a:spcPts val="0"/>
              </a:spcBef>
            </a:pPr>
            <a:r>
              <a:rPr lang="zh-CN" altLang="en-US" b="1" dirty="0"/>
              <a:t>开散列：链表法</a:t>
            </a:r>
            <a:endParaRPr lang="en-US" altLang="zh-CN" b="1" dirty="0"/>
          </a:p>
        </p:txBody>
      </p:sp>
      <p:cxnSp>
        <p:nvCxnSpPr>
          <p:cNvPr id="5" name="直线连接符 4"/>
          <p:cNvCxnSpPr/>
          <p:nvPr/>
        </p:nvCxnSpPr>
        <p:spPr>
          <a:xfrm flipV="1">
            <a:off x="1050058" y="1014668"/>
            <a:ext cx="9647041" cy="5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直线连接符 5"/>
          <p:cNvCxnSpPr/>
          <p:nvPr/>
        </p:nvCxnSpPr>
        <p:spPr>
          <a:xfrm>
            <a:off x="1096595" y="6371261"/>
            <a:ext cx="9600504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1985319" y="3121324"/>
            <a:ext cx="7035113" cy="461319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2767914" y="3121324"/>
            <a:ext cx="0" cy="46874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3529913" y="3113903"/>
            <a:ext cx="0" cy="46874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4250725" y="3121324"/>
            <a:ext cx="0" cy="46874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5865340" y="3113903"/>
            <a:ext cx="0" cy="46874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6685005" y="3113903"/>
            <a:ext cx="0" cy="46874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7479958" y="3113903"/>
            <a:ext cx="0" cy="46874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5029201" y="3113903"/>
            <a:ext cx="0" cy="46874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8283147" y="3121324"/>
            <a:ext cx="0" cy="46874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/>
              <p:cNvSpPr txBox="1"/>
              <p:nvPr/>
            </p:nvSpPr>
            <p:spPr>
              <a:xfrm>
                <a:off x="3887826" y="2031877"/>
                <a:ext cx="62856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7826" y="2031877"/>
                <a:ext cx="628569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/>
              <p:cNvSpPr txBox="1"/>
              <p:nvPr/>
            </p:nvSpPr>
            <p:spPr>
              <a:xfrm>
                <a:off x="6209298" y="1978139"/>
                <a:ext cx="63684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9298" y="1978139"/>
                <a:ext cx="636841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直接箭头连接符 19"/>
          <p:cNvCxnSpPr>
            <a:stCxn id="17" idx="2"/>
            <a:endCxn id="4" idx="0"/>
          </p:cNvCxnSpPr>
          <p:nvPr/>
        </p:nvCxnSpPr>
        <p:spPr>
          <a:xfrm>
            <a:off x="4202111" y="2555097"/>
            <a:ext cx="1300765" cy="566227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stCxn id="18" idx="2"/>
            <a:endCxn id="4" idx="0"/>
          </p:cNvCxnSpPr>
          <p:nvPr/>
        </p:nvCxnSpPr>
        <p:spPr>
          <a:xfrm flipH="1">
            <a:off x="5502876" y="2501359"/>
            <a:ext cx="1024843" cy="619965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2907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0369" y="254381"/>
            <a:ext cx="9068981" cy="760288"/>
          </a:xfrm>
        </p:spPr>
        <p:txBody>
          <a:bodyPr>
            <a:normAutofit/>
          </a:bodyPr>
          <a:lstStyle/>
          <a:p>
            <a:r>
              <a:rPr lang="zh-CN" altLang="en-US" sz="4000" b="1" dirty="0" smtClean="0">
                <a:latin typeface="+mj-ea"/>
              </a:rPr>
              <a:t>哈希表扩展</a:t>
            </a:r>
            <a:endParaRPr lang="zh-CN" altLang="en-US" sz="4000" b="1" dirty="0">
              <a:latin typeface="+mj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6595" y="1329100"/>
            <a:ext cx="10409605" cy="4886027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en-US" altLang="zh-CN" b="1" dirty="0">
                <a:ea typeface="+mj-ea"/>
              </a:rPr>
              <a:t>Cuckoo </a:t>
            </a:r>
            <a:r>
              <a:rPr lang="en-US" altLang="zh-CN" b="1" dirty="0" smtClean="0">
                <a:ea typeface="+mj-ea"/>
              </a:rPr>
              <a:t>Hash</a:t>
            </a:r>
          </a:p>
          <a:p>
            <a:pPr>
              <a:lnSpc>
                <a:spcPct val="170000"/>
              </a:lnSpc>
              <a:spcBef>
                <a:spcPts val="0"/>
              </a:spcBef>
            </a:pPr>
            <a:endParaRPr lang="en-US" altLang="zh-CN" b="1" dirty="0">
              <a:ea typeface="+mj-ea"/>
            </a:endParaRPr>
          </a:p>
          <a:p>
            <a:pPr marL="3657600" lvl="8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altLang="zh-CN" b="1" dirty="0" smtClean="0">
                <a:ea typeface="+mj-ea"/>
              </a:rPr>
              <a:t>		</a:t>
            </a:r>
            <a:r>
              <a:rPr lang="zh-CN" altLang="en-US" sz="2400" b="1" dirty="0"/>
              <a:t>布谷鸟：把自己的卵产在其他鸟</a:t>
            </a:r>
            <a:r>
              <a:rPr lang="en-US" altLang="zh-CN" sz="2400" b="1" dirty="0"/>
              <a:t>			</a:t>
            </a:r>
            <a:r>
              <a:rPr lang="zh-CN" altLang="en-US" sz="2400" b="1" dirty="0"/>
              <a:t>的巢中</a:t>
            </a:r>
            <a:endParaRPr lang="en-US" altLang="zh-CN" sz="2400" b="1" dirty="0"/>
          </a:p>
        </p:txBody>
      </p:sp>
      <p:cxnSp>
        <p:nvCxnSpPr>
          <p:cNvPr id="5" name="直线连接符 4"/>
          <p:cNvCxnSpPr/>
          <p:nvPr/>
        </p:nvCxnSpPr>
        <p:spPr>
          <a:xfrm flipV="1">
            <a:off x="1050058" y="1014668"/>
            <a:ext cx="9647041" cy="5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直线连接符 5"/>
          <p:cNvCxnSpPr/>
          <p:nvPr/>
        </p:nvCxnSpPr>
        <p:spPr>
          <a:xfrm>
            <a:off x="1096595" y="6371261"/>
            <a:ext cx="9600504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613" y="2486025"/>
            <a:ext cx="4750667" cy="2969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496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0369" y="254381"/>
            <a:ext cx="9068981" cy="760288"/>
          </a:xfrm>
        </p:spPr>
        <p:txBody>
          <a:bodyPr>
            <a:normAutofit/>
          </a:bodyPr>
          <a:lstStyle/>
          <a:p>
            <a:r>
              <a:rPr lang="zh-CN" altLang="en-US" sz="4000" b="1" dirty="0" smtClean="0">
                <a:latin typeface="+mj-ea"/>
              </a:rPr>
              <a:t>哈希表扩展</a:t>
            </a:r>
            <a:endParaRPr lang="zh-CN" altLang="en-US" sz="4000" b="1" dirty="0">
              <a:latin typeface="+mj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6595" y="1329100"/>
            <a:ext cx="9543071" cy="4886027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en-US" altLang="zh-CN" b="1" dirty="0"/>
              <a:t>Cuckoo </a:t>
            </a:r>
            <a:r>
              <a:rPr lang="en-US" altLang="zh-CN" b="1" dirty="0" smtClean="0"/>
              <a:t>Hash</a:t>
            </a:r>
          </a:p>
          <a:p>
            <a:pPr>
              <a:lnSpc>
                <a:spcPct val="170000"/>
              </a:lnSpc>
              <a:spcBef>
                <a:spcPts val="0"/>
              </a:spcBef>
            </a:pPr>
            <a:endParaRPr lang="en-US" altLang="zh-CN" b="1" dirty="0"/>
          </a:p>
          <a:p>
            <a:pPr>
              <a:lnSpc>
                <a:spcPct val="170000"/>
              </a:lnSpc>
              <a:spcBef>
                <a:spcPts val="0"/>
              </a:spcBef>
            </a:pPr>
            <a:endParaRPr lang="en-US" altLang="zh-CN" b="1" dirty="0" smtClean="0"/>
          </a:p>
          <a:p>
            <a:pPr>
              <a:lnSpc>
                <a:spcPct val="170000"/>
              </a:lnSpc>
              <a:spcBef>
                <a:spcPts val="0"/>
              </a:spcBef>
            </a:pPr>
            <a:endParaRPr lang="en-US" altLang="zh-CN" b="1" dirty="0"/>
          </a:p>
          <a:p>
            <a:pPr>
              <a:lnSpc>
                <a:spcPct val="170000"/>
              </a:lnSpc>
              <a:spcBef>
                <a:spcPts val="0"/>
              </a:spcBef>
            </a:pPr>
            <a:endParaRPr lang="en-US" altLang="zh-CN" b="1" dirty="0" smtClean="0"/>
          </a:p>
          <a:p>
            <a:pPr>
              <a:lnSpc>
                <a:spcPct val="170000"/>
              </a:lnSpc>
              <a:spcBef>
                <a:spcPts val="0"/>
              </a:spcBef>
            </a:pPr>
            <a:endParaRPr lang="en-US" altLang="zh-CN" b="1" dirty="0"/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zh-CN" altLang="en-US" sz="2400" b="1" dirty="0" smtClean="0"/>
              <a:t>有至少一个位置为空则保存在空位置</a:t>
            </a:r>
            <a:endParaRPr lang="en-US" altLang="zh-CN" sz="2400" b="1" dirty="0"/>
          </a:p>
          <a:p>
            <a:pPr>
              <a:lnSpc>
                <a:spcPct val="170000"/>
              </a:lnSpc>
              <a:spcBef>
                <a:spcPts val="0"/>
              </a:spcBef>
            </a:pPr>
            <a:endParaRPr lang="en-US" altLang="zh-CN" dirty="0" smtClean="0">
              <a:latin typeface="+mj-ea"/>
              <a:ea typeface="+mj-ea"/>
            </a:endParaRPr>
          </a:p>
        </p:txBody>
      </p:sp>
      <p:cxnSp>
        <p:nvCxnSpPr>
          <p:cNvPr id="5" name="直线连接符 4"/>
          <p:cNvCxnSpPr/>
          <p:nvPr/>
        </p:nvCxnSpPr>
        <p:spPr>
          <a:xfrm flipV="1">
            <a:off x="1050058" y="1014668"/>
            <a:ext cx="9647041" cy="5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直线连接符 5"/>
          <p:cNvCxnSpPr/>
          <p:nvPr/>
        </p:nvCxnSpPr>
        <p:spPr>
          <a:xfrm>
            <a:off x="1096595" y="6371261"/>
            <a:ext cx="9600504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1772285" y="2905301"/>
            <a:ext cx="3107055" cy="3429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2395220" y="2905301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H="1">
            <a:off x="3021965" y="2905301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H="1">
            <a:off x="3648710" y="2905301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H="1">
            <a:off x="4271645" y="2905301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1772285" y="4300351"/>
            <a:ext cx="3107055" cy="3429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/>
        </p:nvCxnSpPr>
        <p:spPr>
          <a:xfrm flipH="1">
            <a:off x="2395220" y="4300351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H="1">
            <a:off x="3021965" y="4300351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flipH="1">
            <a:off x="3648710" y="4300351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flipH="1">
            <a:off x="4271645" y="4300351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/>
              <p:cNvSpPr txBox="1"/>
              <p:nvPr/>
            </p:nvSpPr>
            <p:spPr>
              <a:xfrm>
                <a:off x="767139" y="3416852"/>
                <a:ext cx="431741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i="1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139" y="3416852"/>
                <a:ext cx="431741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直接连接符 21"/>
          <p:cNvCxnSpPr>
            <a:stCxn id="20" idx="3"/>
            <a:endCxn id="4" idx="2"/>
          </p:cNvCxnSpPr>
          <p:nvPr/>
        </p:nvCxnSpPr>
        <p:spPr>
          <a:xfrm flipV="1">
            <a:off x="1198880" y="3248201"/>
            <a:ext cx="2126933" cy="384095"/>
          </a:xfrm>
          <a:prstGeom prst="line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stCxn id="20" idx="3"/>
            <a:endCxn id="28" idx="0"/>
          </p:cNvCxnSpPr>
          <p:nvPr/>
        </p:nvCxnSpPr>
        <p:spPr>
          <a:xfrm>
            <a:off x="1198880" y="3632296"/>
            <a:ext cx="1537804" cy="593018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/>
              <p:cNvSpPr txBox="1"/>
              <p:nvPr/>
            </p:nvSpPr>
            <p:spPr>
              <a:xfrm>
                <a:off x="3068836" y="2166638"/>
                <a:ext cx="59670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i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en-US" altLang="zh-CN" sz="28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5" name="文本框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8836" y="2166638"/>
                <a:ext cx="59670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/>
              <p:cNvSpPr txBox="1"/>
              <p:nvPr/>
            </p:nvSpPr>
            <p:spPr>
              <a:xfrm>
                <a:off x="3068836" y="4696068"/>
                <a:ext cx="60991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i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6" name="文本框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8836" y="4696068"/>
                <a:ext cx="609911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/>
              <p:cNvSpPr txBox="1"/>
              <p:nvPr/>
            </p:nvSpPr>
            <p:spPr>
              <a:xfrm>
                <a:off x="3109916" y="2771148"/>
                <a:ext cx="61048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文本框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9916" y="2771148"/>
                <a:ext cx="610488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/>
              <p:cNvSpPr txBox="1"/>
              <p:nvPr/>
            </p:nvSpPr>
            <p:spPr>
              <a:xfrm>
                <a:off x="2331701" y="4225314"/>
                <a:ext cx="80996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𝑛𝑢𝑙𝑙</m:t>
                      </m:r>
                    </m:oMath>
                  </m:oMathPara>
                </a14:m>
                <a:endParaRPr lang="zh-CN" altLang="en-US" sz="24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8" name="文本框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1701" y="4225314"/>
                <a:ext cx="809965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右箭头 34"/>
          <p:cNvSpPr/>
          <p:nvPr/>
        </p:nvSpPr>
        <p:spPr>
          <a:xfrm>
            <a:off x="5296255" y="3572428"/>
            <a:ext cx="1391920" cy="399370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7795522" y="3076751"/>
            <a:ext cx="3107055" cy="3429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7" name="直接连接符 36"/>
          <p:cNvCxnSpPr/>
          <p:nvPr/>
        </p:nvCxnSpPr>
        <p:spPr>
          <a:xfrm flipH="1">
            <a:off x="8418457" y="3076751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 flipH="1">
            <a:off x="9045202" y="3076751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 flipH="1">
            <a:off x="9671947" y="3076751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 flipH="1">
            <a:off x="10294882" y="3076751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/>
          <p:cNvSpPr/>
          <p:nvPr/>
        </p:nvSpPr>
        <p:spPr>
          <a:xfrm>
            <a:off x="7795522" y="4471801"/>
            <a:ext cx="3107055" cy="3429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2" name="直接连接符 41"/>
          <p:cNvCxnSpPr/>
          <p:nvPr/>
        </p:nvCxnSpPr>
        <p:spPr>
          <a:xfrm flipH="1">
            <a:off x="8418457" y="4471801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 flipH="1">
            <a:off x="9045202" y="4471801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 flipH="1">
            <a:off x="9671947" y="4471801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 flipH="1">
            <a:off x="10294882" y="4471801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本框 48"/>
              <p:cNvSpPr txBox="1"/>
              <p:nvPr/>
            </p:nvSpPr>
            <p:spPr>
              <a:xfrm>
                <a:off x="9092073" y="2338088"/>
                <a:ext cx="59670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i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en-US" altLang="zh-CN" sz="28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9" name="文本框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2073" y="2338088"/>
                <a:ext cx="596702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本框 49"/>
              <p:cNvSpPr txBox="1"/>
              <p:nvPr/>
            </p:nvSpPr>
            <p:spPr>
              <a:xfrm>
                <a:off x="9092073" y="4867518"/>
                <a:ext cx="60991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i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0" name="文本框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2073" y="4867518"/>
                <a:ext cx="609911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/>
              <p:cNvSpPr txBox="1"/>
              <p:nvPr/>
            </p:nvSpPr>
            <p:spPr>
              <a:xfrm>
                <a:off x="9133153" y="2942598"/>
                <a:ext cx="61048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1" name="文本框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3153" y="2942598"/>
                <a:ext cx="610488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本框 51"/>
              <p:cNvSpPr txBox="1"/>
              <p:nvPr/>
            </p:nvSpPr>
            <p:spPr>
              <a:xfrm>
                <a:off x="8498808" y="4353036"/>
                <a:ext cx="60221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2" name="文本框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8808" y="4353036"/>
                <a:ext cx="602216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本框 52"/>
              <p:cNvSpPr txBox="1"/>
              <p:nvPr/>
            </p:nvSpPr>
            <p:spPr>
              <a:xfrm>
                <a:off x="2115867" y="3462728"/>
                <a:ext cx="78226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𝒉𝒂𝒔𝒉</m:t>
                    </m:r>
                  </m:oMath>
                </a14:m>
                <a:r>
                  <a:rPr lang="en-US" altLang="zh-CN" sz="2000" b="1" dirty="0" smtClean="0"/>
                  <a:t>A</a:t>
                </a:r>
                <a:endParaRPr lang="zh-CN" altLang="en-US" sz="2000" b="1" dirty="0"/>
              </a:p>
            </p:txBody>
          </p:sp>
        </mc:Choice>
        <mc:Fallback xmlns="">
          <p:sp>
            <p:nvSpPr>
              <p:cNvPr id="53" name="文本框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5867" y="3462728"/>
                <a:ext cx="782265" cy="307777"/>
              </a:xfrm>
              <a:prstGeom prst="rect">
                <a:avLst/>
              </a:prstGeom>
              <a:blipFill>
                <a:blip r:embed="rId12"/>
                <a:stretch>
                  <a:fillRect l="-11719" t="-25490" r="-19531" b="-490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本框 53"/>
              <p:cNvSpPr txBox="1"/>
              <p:nvPr/>
            </p:nvSpPr>
            <p:spPr>
              <a:xfrm>
                <a:off x="1198880" y="3932592"/>
                <a:ext cx="78226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𝒉𝒂𝒔𝒉</m:t>
                    </m:r>
                  </m:oMath>
                </a14:m>
                <a:r>
                  <a:rPr lang="en-US" altLang="zh-CN" sz="2000" b="1" dirty="0" smtClean="0"/>
                  <a:t>B</a:t>
                </a:r>
                <a:endParaRPr lang="zh-CN" altLang="en-US" sz="2000" b="1" dirty="0"/>
              </a:p>
            </p:txBody>
          </p:sp>
        </mc:Choice>
        <mc:Fallback xmlns="">
          <p:sp>
            <p:nvSpPr>
              <p:cNvPr id="54" name="文本框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880" y="3932592"/>
                <a:ext cx="782265" cy="307777"/>
              </a:xfrm>
              <a:prstGeom prst="rect">
                <a:avLst/>
              </a:prstGeom>
              <a:blipFill>
                <a:blip r:embed="rId13"/>
                <a:stretch>
                  <a:fillRect l="-12500" t="-25490" r="-16406" b="-490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4107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0369" y="254381"/>
            <a:ext cx="9068981" cy="760288"/>
          </a:xfrm>
        </p:spPr>
        <p:txBody>
          <a:bodyPr>
            <a:normAutofit/>
          </a:bodyPr>
          <a:lstStyle/>
          <a:p>
            <a:r>
              <a:rPr lang="zh-CN" altLang="en-US" sz="4000" b="1" dirty="0" smtClean="0">
                <a:latin typeface="+mj-ea"/>
              </a:rPr>
              <a:t>哈希表扩展</a:t>
            </a:r>
            <a:endParaRPr lang="zh-CN" altLang="en-US" sz="4000" b="1" dirty="0">
              <a:latin typeface="+mj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6595" y="1329100"/>
            <a:ext cx="9543071" cy="4886027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en-US" altLang="zh-CN" b="1" dirty="0"/>
              <a:t>Cuckoo Hash</a:t>
            </a:r>
          </a:p>
          <a:p>
            <a:pPr>
              <a:lnSpc>
                <a:spcPct val="170000"/>
              </a:lnSpc>
              <a:spcBef>
                <a:spcPts val="0"/>
              </a:spcBef>
            </a:pPr>
            <a:endParaRPr lang="en-US" altLang="zh-CN" dirty="0" smtClean="0">
              <a:latin typeface="+mj-ea"/>
              <a:ea typeface="+mj-ea"/>
            </a:endParaRPr>
          </a:p>
        </p:txBody>
      </p:sp>
      <p:cxnSp>
        <p:nvCxnSpPr>
          <p:cNvPr id="5" name="直线连接符 4"/>
          <p:cNvCxnSpPr/>
          <p:nvPr/>
        </p:nvCxnSpPr>
        <p:spPr>
          <a:xfrm flipV="1">
            <a:off x="1050058" y="1014668"/>
            <a:ext cx="9647041" cy="5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直线连接符 5"/>
          <p:cNvCxnSpPr/>
          <p:nvPr/>
        </p:nvCxnSpPr>
        <p:spPr>
          <a:xfrm>
            <a:off x="1096595" y="6371261"/>
            <a:ext cx="9600504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1772285" y="2905301"/>
            <a:ext cx="3107055" cy="3429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连接符 20"/>
          <p:cNvCxnSpPr/>
          <p:nvPr/>
        </p:nvCxnSpPr>
        <p:spPr>
          <a:xfrm flipH="1">
            <a:off x="2395220" y="2905301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H="1">
            <a:off x="3021965" y="2905301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H="1">
            <a:off x="3648710" y="2905301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 flipH="1">
            <a:off x="4271645" y="2905301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1772285" y="4300351"/>
            <a:ext cx="3107055" cy="3429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直接连接符 25"/>
          <p:cNvCxnSpPr/>
          <p:nvPr/>
        </p:nvCxnSpPr>
        <p:spPr>
          <a:xfrm flipH="1">
            <a:off x="2395220" y="4300351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 flipH="1">
            <a:off x="3021965" y="4300351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H="1">
            <a:off x="3648710" y="4300351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H="1">
            <a:off x="4271645" y="4300351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/>
              <p:cNvSpPr txBox="1"/>
              <p:nvPr/>
            </p:nvSpPr>
            <p:spPr>
              <a:xfrm>
                <a:off x="767139" y="3416852"/>
                <a:ext cx="431741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i="1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0" name="文本框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139" y="3416852"/>
                <a:ext cx="431741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直接连接符 30"/>
          <p:cNvCxnSpPr>
            <a:stCxn id="30" idx="3"/>
            <a:endCxn id="20" idx="2"/>
          </p:cNvCxnSpPr>
          <p:nvPr/>
        </p:nvCxnSpPr>
        <p:spPr>
          <a:xfrm flipV="1">
            <a:off x="1198880" y="3248201"/>
            <a:ext cx="2126933" cy="384095"/>
          </a:xfrm>
          <a:prstGeom prst="line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30" idx="3"/>
          </p:cNvCxnSpPr>
          <p:nvPr/>
        </p:nvCxnSpPr>
        <p:spPr>
          <a:xfrm>
            <a:off x="1198880" y="3632296"/>
            <a:ext cx="1559426" cy="668055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/>
              <p:cNvSpPr txBox="1"/>
              <p:nvPr/>
            </p:nvSpPr>
            <p:spPr>
              <a:xfrm>
                <a:off x="3068836" y="2166638"/>
                <a:ext cx="59670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i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en-US" altLang="zh-CN" sz="28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3" name="文本框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8836" y="2166638"/>
                <a:ext cx="59670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/>
              <p:cNvSpPr txBox="1"/>
              <p:nvPr/>
            </p:nvSpPr>
            <p:spPr>
              <a:xfrm>
                <a:off x="3068836" y="4696068"/>
                <a:ext cx="60991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i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4" name="文本框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8836" y="4696068"/>
                <a:ext cx="609911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/>
              <p:cNvSpPr txBox="1"/>
              <p:nvPr/>
            </p:nvSpPr>
            <p:spPr>
              <a:xfrm>
                <a:off x="3109916" y="2771148"/>
                <a:ext cx="61048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5" name="文本框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9916" y="2771148"/>
                <a:ext cx="610488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/>
              <p:cNvSpPr txBox="1"/>
              <p:nvPr/>
            </p:nvSpPr>
            <p:spPr>
              <a:xfrm>
                <a:off x="2423242" y="4172848"/>
                <a:ext cx="61048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6" name="文本框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3242" y="4172848"/>
                <a:ext cx="610487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右箭头 36"/>
          <p:cNvSpPr/>
          <p:nvPr/>
        </p:nvSpPr>
        <p:spPr>
          <a:xfrm>
            <a:off x="5504859" y="3572428"/>
            <a:ext cx="1391920" cy="399370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7634896" y="2958118"/>
            <a:ext cx="3107055" cy="3429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9" name="直接连接符 38"/>
          <p:cNvCxnSpPr/>
          <p:nvPr/>
        </p:nvCxnSpPr>
        <p:spPr>
          <a:xfrm flipH="1">
            <a:off x="8257831" y="2958118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 flipH="1">
            <a:off x="8884576" y="2958118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 flipH="1">
            <a:off x="9511321" y="2958118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 flipH="1">
            <a:off x="10134256" y="2958118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/>
          <p:cNvSpPr/>
          <p:nvPr/>
        </p:nvSpPr>
        <p:spPr>
          <a:xfrm>
            <a:off x="7634896" y="4353168"/>
            <a:ext cx="3107055" cy="3429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4" name="直接连接符 43"/>
          <p:cNvCxnSpPr/>
          <p:nvPr/>
        </p:nvCxnSpPr>
        <p:spPr>
          <a:xfrm flipH="1">
            <a:off x="8257831" y="4353168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 flipH="1">
            <a:off x="8884576" y="4353168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 flipH="1">
            <a:off x="9511321" y="4353168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 flipH="1">
            <a:off x="10134256" y="4353168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/>
              <p:cNvSpPr txBox="1"/>
              <p:nvPr/>
            </p:nvSpPr>
            <p:spPr>
              <a:xfrm>
                <a:off x="8824730" y="2196075"/>
                <a:ext cx="59670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i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en-US" altLang="zh-CN" sz="28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1" name="文本框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4730" y="2196075"/>
                <a:ext cx="596702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本框 51"/>
              <p:cNvSpPr txBox="1"/>
              <p:nvPr/>
            </p:nvSpPr>
            <p:spPr>
              <a:xfrm>
                <a:off x="8931447" y="4748885"/>
                <a:ext cx="60991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i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2" name="文本框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1447" y="4748885"/>
                <a:ext cx="609911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本框 52"/>
              <p:cNvSpPr txBox="1"/>
              <p:nvPr/>
            </p:nvSpPr>
            <p:spPr>
              <a:xfrm>
                <a:off x="8972527" y="2823965"/>
                <a:ext cx="60221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3" name="文本框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2527" y="2823965"/>
                <a:ext cx="602216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本框 53"/>
              <p:cNvSpPr txBox="1"/>
              <p:nvPr/>
            </p:nvSpPr>
            <p:spPr>
              <a:xfrm>
                <a:off x="8285853" y="4225665"/>
                <a:ext cx="61048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4" name="文本框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5853" y="4225665"/>
                <a:ext cx="610487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本框 54"/>
              <p:cNvSpPr txBox="1"/>
              <p:nvPr/>
            </p:nvSpPr>
            <p:spPr>
              <a:xfrm>
                <a:off x="11226062" y="2682097"/>
                <a:ext cx="61048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5" name="文本框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26062" y="2682097"/>
                <a:ext cx="610488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曲线连接符 57"/>
          <p:cNvCxnSpPr>
            <a:stCxn id="55" idx="2"/>
            <a:endCxn id="43" idx="0"/>
          </p:cNvCxnSpPr>
          <p:nvPr/>
        </p:nvCxnSpPr>
        <p:spPr>
          <a:xfrm rot="5400000">
            <a:off x="9785940" y="2607801"/>
            <a:ext cx="1147851" cy="2342882"/>
          </a:xfrm>
          <a:prstGeom prst="curvedConnector3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本框 58"/>
              <p:cNvSpPr txBox="1"/>
              <p:nvPr/>
            </p:nvSpPr>
            <p:spPr>
              <a:xfrm>
                <a:off x="2115867" y="3462728"/>
                <a:ext cx="78226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𝒉𝒂𝒔𝒉</m:t>
                    </m:r>
                  </m:oMath>
                </a14:m>
                <a:r>
                  <a:rPr lang="en-US" altLang="zh-CN" sz="2000" b="1" dirty="0" smtClean="0"/>
                  <a:t>A</a:t>
                </a:r>
                <a:endParaRPr lang="zh-CN" altLang="en-US" sz="2000" b="1" dirty="0"/>
              </a:p>
            </p:txBody>
          </p:sp>
        </mc:Choice>
        <mc:Fallback xmlns="">
          <p:sp>
            <p:nvSpPr>
              <p:cNvPr id="59" name="文本框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5867" y="3462728"/>
                <a:ext cx="782265" cy="307777"/>
              </a:xfrm>
              <a:prstGeom prst="rect">
                <a:avLst/>
              </a:prstGeom>
              <a:blipFill>
                <a:blip r:embed="rId13"/>
                <a:stretch>
                  <a:fillRect l="-11719" t="-25490" r="-19531" b="-490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本框 59"/>
              <p:cNvSpPr txBox="1"/>
              <p:nvPr/>
            </p:nvSpPr>
            <p:spPr>
              <a:xfrm>
                <a:off x="996842" y="3939757"/>
                <a:ext cx="78226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𝒉𝒂𝒔𝒉</m:t>
                    </m:r>
                  </m:oMath>
                </a14:m>
                <a:r>
                  <a:rPr lang="en-US" altLang="zh-CN" sz="2000" b="1" dirty="0" smtClean="0"/>
                  <a:t>B</a:t>
                </a:r>
                <a:endParaRPr lang="zh-CN" altLang="en-US" sz="2000" b="1" dirty="0"/>
              </a:p>
            </p:txBody>
          </p:sp>
        </mc:Choice>
        <mc:Fallback xmlns="">
          <p:sp>
            <p:nvSpPr>
              <p:cNvPr id="60" name="文本框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842" y="3939757"/>
                <a:ext cx="782265" cy="307777"/>
              </a:xfrm>
              <a:prstGeom prst="rect">
                <a:avLst/>
              </a:prstGeom>
              <a:blipFill>
                <a:blip r:embed="rId14"/>
                <a:stretch>
                  <a:fillRect l="-12500" t="-25490" r="-16406" b="-490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本框 60"/>
              <p:cNvSpPr txBox="1"/>
              <p:nvPr/>
            </p:nvSpPr>
            <p:spPr>
              <a:xfrm>
                <a:off x="10974121" y="3765599"/>
                <a:ext cx="78226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𝒉𝒂𝒔𝒉</m:t>
                    </m:r>
                  </m:oMath>
                </a14:m>
                <a:r>
                  <a:rPr lang="en-US" altLang="zh-CN" sz="2000" b="1" dirty="0" smtClean="0"/>
                  <a:t>B</a:t>
                </a:r>
                <a:endParaRPr lang="zh-CN" altLang="en-US" sz="2000" b="1" dirty="0"/>
              </a:p>
            </p:txBody>
          </p:sp>
        </mc:Choice>
        <mc:Fallback xmlns="">
          <p:sp>
            <p:nvSpPr>
              <p:cNvPr id="61" name="文本框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4121" y="3765599"/>
                <a:ext cx="782265" cy="307777"/>
              </a:xfrm>
              <a:prstGeom prst="rect">
                <a:avLst/>
              </a:prstGeom>
              <a:blipFill>
                <a:blip r:embed="rId15"/>
                <a:stretch>
                  <a:fillRect l="-11628" t="-26000" r="-16279" b="-5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曲线连接符 62"/>
          <p:cNvCxnSpPr>
            <a:stCxn id="53" idx="0"/>
            <a:endCxn id="55" idx="0"/>
          </p:cNvCxnSpPr>
          <p:nvPr/>
        </p:nvCxnSpPr>
        <p:spPr>
          <a:xfrm rot="5400000" flipH="1" flipV="1">
            <a:off x="10331536" y="1624196"/>
            <a:ext cx="141868" cy="2257671"/>
          </a:xfrm>
          <a:prstGeom prst="curvedConnector3">
            <a:avLst>
              <a:gd name="adj1" fmla="val 261136"/>
            </a:avLst>
          </a:prstGeom>
          <a:ln w="28575">
            <a:solidFill>
              <a:srgbClr val="FF0000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2129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0369" y="254381"/>
            <a:ext cx="9068981" cy="760288"/>
          </a:xfrm>
        </p:spPr>
        <p:txBody>
          <a:bodyPr>
            <a:normAutofit/>
          </a:bodyPr>
          <a:lstStyle/>
          <a:p>
            <a:r>
              <a:rPr lang="zh-CN" altLang="en-US" sz="4000" b="1" dirty="0" smtClean="0">
                <a:latin typeface="+mj-ea"/>
              </a:rPr>
              <a:t>哈希表扩展</a:t>
            </a:r>
            <a:endParaRPr lang="zh-CN" altLang="en-US" sz="4000" b="1" dirty="0">
              <a:latin typeface="+mj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6595" y="1329100"/>
            <a:ext cx="9543071" cy="4886027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en-US" altLang="zh-CN" b="1" dirty="0" smtClean="0"/>
              <a:t>Cuckoo Hash</a:t>
            </a:r>
          </a:p>
          <a:p>
            <a:pPr>
              <a:lnSpc>
                <a:spcPct val="170000"/>
              </a:lnSpc>
              <a:spcBef>
                <a:spcPts val="0"/>
              </a:spcBef>
            </a:pPr>
            <a:endParaRPr lang="en-US" altLang="zh-CN" b="1" dirty="0"/>
          </a:p>
          <a:p>
            <a:pPr>
              <a:lnSpc>
                <a:spcPct val="170000"/>
              </a:lnSpc>
              <a:spcBef>
                <a:spcPts val="0"/>
              </a:spcBef>
            </a:pPr>
            <a:endParaRPr lang="en-US" altLang="zh-CN" b="1" dirty="0" smtClean="0"/>
          </a:p>
          <a:p>
            <a:pPr>
              <a:lnSpc>
                <a:spcPct val="170000"/>
              </a:lnSpc>
              <a:spcBef>
                <a:spcPts val="0"/>
              </a:spcBef>
            </a:pPr>
            <a:endParaRPr lang="en-US" altLang="zh-CN" b="1" dirty="0"/>
          </a:p>
          <a:p>
            <a:pPr>
              <a:lnSpc>
                <a:spcPct val="170000"/>
              </a:lnSpc>
              <a:spcBef>
                <a:spcPts val="0"/>
              </a:spcBef>
            </a:pPr>
            <a:endParaRPr lang="en-US" altLang="zh-CN" b="1" dirty="0" smtClean="0"/>
          </a:p>
          <a:p>
            <a:pPr>
              <a:lnSpc>
                <a:spcPct val="170000"/>
              </a:lnSpc>
              <a:spcBef>
                <a:spcPts val="0"/>
              </a:spcBef>
            </a:pPr>
            <a:endParaRPr lang="en-US" altLang="zh-CN" b="1" dirty="0" smtClean="0"/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zh-CN" altLang="en-US" sz="2400" b="1" dirty="0" smtClean="0"/>
              <a:t>踢的次数达到指定阈值，则扩大哈希表并重建。</a:t>
            </a:r>
            <a:endParaRPr lang="en-US" altLang="zh-CN" sz="2400" b="1" dirty="0"/>
          </a:p>
          <a:p>
            <a:pPr>
              <a:lnSpc>
                <a:spcPct val="170000"/>
              </a:lnSpc>
              <a:spcBef>
                <a:spcPts val="0"/>
              </a:spcBef>
            </a:pPr>
            <a:endParaRPr lang="en-US" altLang="zh-CN" dirty="0" smtClean="0">
              <a:latin typeface="+mj-ea"/>
              <a:ea typeface="+mj-ea"/>
            </a:endParaRPr>
          </a:p>
        </p:txBody>
      </p:sp>
      <p:cxnSp>
        <p:nvCxnSpPr>
          <p:cNvPr id="5" name="直线连接符 4"/>
          <p:cNvCxnSpPr/>
          <p:nvPr/>
        </p:nvCxnSpPr>
        <p:spPr>
          <a:xfrm flipV="1">
            <a:off x="1050058" y="1014668"/>
            <a:ext cx="9647041" cy="5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直线连接符 5"/>
          <p:cNvCxnSpPr/>
          <p:nvPr/>
        </p:nvCxnSpPr>
        <p:spPr>
          <a:xfrm>
            <a:off x="1096595" y="6371261"/>
            <a:ext cx="9600504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1772285" y="2905301"/>
            <a:ext cx="3107055" cy="3429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连接符 20"/>
          <p:cNvCxnSpPr/>
          <p:nvPr/>
        </p:nvCxnSpPr>
        <p:spPr>
          <a:xfrm flipH="1">
            <a:off x="2395220" y="2905301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H="1">
            <a:off x="3021965" y="2905301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H="1">
            <a:off x="3648710" y="2905301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 flipH="1">
            <a:off x="4271645" y="2905301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1772285" y="4300351"/>
            <a:ext cx="3107055" cy="3429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直接连接符 25"/>
          <p:cNvCxnSpPr/>
          <p:nvPr/>
        </p:nvCxnSpPr>
        <p:spPr>
          <a:xfrm flipH="1">
            <a:off x="2395220" y="4300351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 flipH="1">
            <a:off x="3021965" y="4300351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H="1">
            <a:off x="3648710" y="4300351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H="1">
            <a:off x="4271645" y="4300351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/>
              <p:cNvSpPr txBox="1"/>
              <p:nvPr/>
            </p:nvSpPr>
            <p:spPr>
              <a:xfrm>
                <a:off x="767139" y="3416852"/>
                <a:ext cx="431741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i="1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0" name="文本框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139" y="3416852"/>
                <a:ext cx="431741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直接连接符 30"/>
          <p:cNvCxnSpPr>
            <a:stCxn id="30" idx="3"/>
            <a:endCxn id="20" idx="2"/>
          </p:cNvCxnSpPr>
          <p:nvPr/>
        </p:nvCxnSpPr>
        <p:spPr>
          <a:xfrm flipV="1">
            <a:off x="1198880" y="3248201"/>
            <a:ext cx="2126933" cy="384095"/>
          </a:xfrm>
          <a:prstGeom prst="line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30" idx="3"/>
          </p:cNvCxnSpPr>
          <p:nvPr/>
        </p:nvCxnSpPr>
        <p:spPr>
          <a:xfrm>
            <a:off x="1198880" y="3632296"/>
            <a:ext cx="1559426" cy="668055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/>
              <p:cNvSpPr txBox="1"/>
              <p:nvPr/>
            </p:nvSpPr>
            <p:spPr>
              <a:xfrm>
                <a:off x="3068836" y="2166638"/>
                <a:ext cx="59670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i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en-US" altLang="zh-CN" sz="28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3" name="文本框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8836" y="2166638"/>
                <a:ext cx="59670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/>
              <p:cNvSpPr txBox="1"/>
              <p:nvPr/>
            </p:nvSpPr>
            <p:spPr>
              <a:xfrm>
                <a:off x="3068836" y="4696068"/>
                <a:ext cx="60991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i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4" name="文本框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8836" y="4696068"/>
                <a:ext cx="609911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/>
              <p:cNvSpPr txBox="1"/>
              <p:nvPr/>
            </p:nvSpPr>
            <p:spPr>
              <a:xfrm>
                <a:off x="3109916" y="2771148"/>
                <a:ext cx="61048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5" name="文本框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9916" y="2771148"/>
                <a:ext cx="610488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/>
              <p:cNvSpPr txBox="1"/>
              <p:nvPr/>
            </p:nvSpPr>
            <p:spPr>
              <a:xfrm>
                <a:off x="2423242" y="4172848"/>
                <a:ext cx="61048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6" name="文本框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3242" y="4172848"/>
                <a:ext cx="610487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右箭头 36"/>
          <p:cNvSpPr/>
          <p:nvPr/>
        </p:nvSpPr>
        <p:spPr>
          <a:xfrm>
            <a:off x="5002304" y="3580683"/>
            <a:ext cx="748256" cy="399370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5933659" y="2905301"/>
            <a:ext cx="3107055" cy="3429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9" name="直接连接符 38"/>
          <p:cNvCxnSpPr/>
          <p:nvPr/>
        </p:nvCxnSpPr>
        <p:spPr>
          <a:xfrm flipH="1">
            <a:off x="6556594" y="2905301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 flipH="1">
            <a:off x="7183339" y="2905301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 flipH="1">
            <a:off x="7810084" y="2905301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 flipH="1">
            <a:off x="8433019" y="2905301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/>
          <p:cNvSpPr/>
          <p:nvPr/>
        </p:nvSpPr>
        <p:spPr>
          <a:xfrm>
            <a:off x="5933659" y="4300351"/>
            <a:ext cx="3107055" cy="3429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4" name="直接连接符 43"/>
          <p:cNvCxnSpPr/>
          <p:nvPr/>
        </p:nvCxnSpPr>
        <p:spPr>
          <a:xfrm flipH="1">
            <a:off x="6556594" y="4300351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 flipH="1">
            <a:off x="7183339" y="4300351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 flipH="1">
            <a:off x="7810084" y="4300351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 flipH="1">
            <a:off x="8433019" y="4300351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/>
              <p:cNvSpPr txBox="1"/>
              <p:nvPr/>
            </p:nvSpPr>
            <p:spPr>
              <a:xfrm>
                <a:off x="7230210" y="2166638"/>
                <a:ext cx="59670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i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en-US" altLang="zh-CN" sz="28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1" name="文本框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0210" y="2166638"/>
                <a:ext cx="596702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本框 51"/>
              <p:cNvSpPr txBox="1"/>
              <p:nvPr/>
            </p:nvSpPr>
            <p:spPr>
              <a:xfrm>
                <a:off x="7230210" y="4696068"/>
                <a:ext cx="60991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i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2" name="文本框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0210" y="4696068"/>
                <a:ext cx="609911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本框 52"/>
              <p:cNvSpPr txBox="1"/>
              <p:nvPr/>
            </p:nvSpPr>
            <p:spPr>
              <a:xfrm>
                <a:off x="7257725" y="2771148"/>
                <a:ext cx="60221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3" name="文本框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7725" y="2771148"/>
                <a:ext cx="602216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本框 53"/>
              <p:cNvSpPr txBox="1"/>
              <p:nvPr/>
            </p:nvSpPr>
            <p:spPr>
              <a:xfrm>
                <a:off x="6584616" y="4172848"/>
                <a:ext cx="61048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4" name="文本框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4616" y="4172848"/>
                <a:ext cx="610487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本框 54"/>
              <p:cNvSpPr txBox="1"/>
              <p:nvPr/>
            </p:nvSpPr>
            <p:spPr>
              <a:xfrm>
                <a:off x="7238090" y="4158129"/>
                <a:ext cx="61048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5" name="文本框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8090" y="4158129"/>
                <a:ext cx="610488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本框 58"/>
              <p:cNvSpPr txBox="1"/>
              <p:nvPr/>
            </p:nvSpPr>
            <p:spPr>
              <a:xfrm>
                <a:off x="2115867" y="3462728"/>
                <a:ext cx="78226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𝒉𝒂𝒔𝒉</m:t>
                    </m:r>
                  </m:oMath>
                </a14:m>
                <a:r>
                  <a:rPr lang="en-US" altLang="zh-CN" sz="2000" b="1" dirty="0" smtClean="0"/>
                  <a:t>A</a:t>
                </a:r>
                <a:endParaRPr lang="zh-CN" altLang="en-US" sz="2000" b="1" dirty="0"/>
              </a:p>
            </p:txBody>
          </p:sp>
        </mc:Choice>
        <mc:Fallback xmlns="">
          <p:sp>
            <p:nvSpPr>
              <p:cNvPr id="59" name="文本框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5867" y="3462728"/>
                <a:ext cx="782265" cy="307777"/>
              </a:xfrm>
              <a:prstGeom prst="rect">
                <a:avLst/>
              </a:prstGeom>
              <a:blipFill>
                <a:blip r:embed="rId13"/>
                <a:stretch>
                  <a:fillRect l="-11719" t="-25490" r="-19531" b="-490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本框 59"/>
              <p:cNvSpPr txBox="1"/>
              <p:nvPr/>
            </p:nvSpPr>
            <p:spPr>
              <a:xfrm>
                <a:off x="996842" y="3939757"/>
                <a:ext cx="78226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𝒉𝒂𝒔𝒉</m:t>
                    </m:r>
                  </m:oMath>
                </a14:m>
                <a:r>
                  <a:rPr lang="en-US" altLang="zh-CN" sz="2000" b="1" dirty="0" smtClean="0"/>
                  <a:t>B</a:t>
                </a:r>
                <a:endParaRPr lang="zh-CN" altLang="en-US" sz="2000" b="1" dirty="0"/>
              </a:p>
            </p:txBody>
          </p:sp>
        </mc:Choice>
        <mc:Fallback xmlns="">
          <p:sp>
            <p:nvSpPr>
              <p:cNvPr id="60" name="文本框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842" y="3939757"/>
                <a:ext cx="782265" cy="307777"/>
              </a:xfrm>
              <a:prstGeom prst="rect">
                <a:avLst/>
              </a:prstGeom>
              <a:blipFill>
                <a:blip r:embed="rId14"/>
                <a:stretch>
                  <a:fillRect l="-12500" t="-25490" r="-16406" b="-490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本框 47"/>
              <p:cNvSpPr txBox="1"/>
              <p:nvPr/>
            </p:nvSpPr>
            <p:spPr>
              <a:xfrm>
                <a:off x="3083255" y="4172848"/>
                <a:ext cx="61048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8" name="文本框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3255" y="4172848"/>
                <a:ext cx="610488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接箭头连接符 6"/>
          <p:cNvCxnSpPr>
            <a:stCxn id="53" idx="2"/>
            <a:endCxn id="55" idx="0"/>
          </p:cNvCxnSpPr>
          <p:nvPr/>
        </p:nvCxnSpPr>
        <p:spPr>
          <a:xfrm flipH="1">
            <a:off x="7543334" y="3294368"/>
            <a:ext cx="15499" cy="863761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本框 48"/>
              <p:cNvSpPr txBox="1"/>
              <p:nvPr/>
            </p:nvSpPr>
            <p:spPr>
              <a:xfrm>
                <a:off x="9771153" y="3770505"/>
                <a:ext cx="5919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CN" altLang="en-US" sz="2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9" name="文本框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1153" y="3770505"/>
                <a:ext cx="59191" cy="523220"/>
              </a:xfrm>
              <a:prstGeom prst="rect">
                <a:avLst/>
              </a:prstGeom>
              <a:blipFill>
                <a:blip r:embed="rId16"/>
                <a:stretch>
                  <a:fillRect r="-47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曲线连接符 11"/>
          <p:cNvCxnSpPr>
            <a:stCxn id="52" idx="0"/>
            <a:endCxn id="49" idx="2"/>
          </p:cNvCxnSpPr>
          <p:nvPr/>
        </p:nvCxnSpPr>
        <p:spPr>
          <a:xfrm rot="5400000" flipH="1" flipV="1">
            <a:off x="8466786" y="3362106"/>
            <a:ext cx="402343" cy="2265583"/>
          </a:xfrm>
          <a:prstGeom prst="curvedConnector3">
            <a:avLst>
              <a:gd name="adj1" fmla="val -101512"/>
            </a:avLst>
          </a:prstGeom>
          <a:ln w="28575">
            <a:solidFill>
              <a:srgbClr val="FF0000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曲线连接符 14"/>
          <p:cNvCxnSpPr>
            <a:stCxn id="49" idx="0"/>
          </p:cNvCxnSpPr>
          <p:nvPr/>
        </p:nvCxnSpPr>
        <p:spPr>
          <a:xfrm rot="16200000" flipV="1">
            <a:off x="9019439" y="2989195"/>
            <a:ext cx="522304" cy="1040316"/>
          </a:xfrm>
          <a:prstGeom prst="curvedConnector2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/>
              <p:cNvSpPr txBox="1"/>
              <p:nvPr/>
            </p:nvSpPr>
            <p:spPr>
              <a:xfrm>
                <a:off x="8658317" y="3440248"/>
                <a:ext cx="78226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𝒉𝒂𝒔𝒉</m:t>
                    </m:r>
                  </m:oMath>
                </a14:m>
                <a:r>
                  <a:rPr lang="en-US" altLang="zh-CN" sz="2000" b="1" dirty="0" smtClean="0"/>
                  <a:t>A</a:t>
                </a:r>
                <a:endParaRPr lang="zh-CN" altLang="en-US" sz="2000" b="1" dirty="0"/>
              </a:p>
            </p:txBody>
          </p:sp>
        </mc:Choice>
        <mc:Fallback xmlns="">
          <p:sp>
            <p:nvSpPr>
              <p:cNvPr id="56" name="文本框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8317" y="3440248"/>
                <a:ext cx="782265" cy="307777"/>
              </a:xfrm>
              <a:prstGeom prst="rect">
                <a:avLst/>
              </a:prstGeom>
              <a:blipFill>
                <a:blip r:embed="rId17"/>
                <a:stretch>
                  <a:fillRect l="-11628" t="-25490" r="-18605" b="-490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右箭头 61"/>
          <p:cNvSpPr/>
          <p:nvPr/>
        </p:nvSpPr>
        <p:spPr>
          <a:xfrm>
            <a:off x="10442355" y="3566953"/>
            <a:ext cx="774285" cy="399370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/>
          <p:cNvSpPr txBox="1"/>
          <p:nvPr/>
        </p:nvSpPr>
        <p:spPr>
          <a:xfrm>
            <a:off x="11274505" y="3505028"/>
            <a:ext cx="7681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/>
              <a:t>……</a:t>
            </a: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206281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0369" y="254381"/>
            <a:ext cx="9068981" cy="760288"/>
          </a:xfrm>
        </p:spPr>
        <p:txBody>
          <a:bodyPr>
            <a:normAutofit/>
          </a:bodyPr>
          <a:lstStyle/>
          <a:p>
            <a:r>
              <a:rPr lang="zh-CN" altLang="en-US" sz="4000" b="1" dirty="0" smtClean="0">
                <a:latin typeface="+mj-ea"/>
              </a:rPr>
              <a:t>哈希表扩展</a:t>
            </a:r>
            <a:endParaRPr lang="zh-CN" altLang="en-US" sz="4000" b="1" dirty="0">
              <a:latin typeface="+mj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6595" y="1329100"/>
            <a:ext cx="9543071" cy="4886027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en-US" altLang="zh-CN" b="1" dirty="0" smtClean="0"/>
              <a:t>Cuckoo Hash</a:t>
            </a:r>
          </a:p>
          <a:p>
            <a:pPr lvl="1">
              <a:lnSpc>
                <a:spcPct val="170000"/>
              </a:lnSpc>
              <a:spcBef>
                <a:spcPts val="0"/>
              </a:spcBef>
            </a:pPr>
            <a:r>
              <a:rPr lang="zh-CN" altLang="en-US" b="1" dirty="0" smtClean="0"/>
              <a:t>优势：高装载率，高查询速度（</a:t>
            </a:r>
            <a:r>
              <a:rPr lang="en-US" altLang="zh-CN" b="1" dirty="0" smtClean="0"/>
              <a:t>2</a:t>
            </a:r>
            <a:r>
              <a:rPr lang="zh-CN" altLang="en-US" b="1" dirty="0" smtClean="0"/>
              <a:t>次访存）</a:t>
            </a:r>
            <a:endParaRPr lang="en-US" altLang="zh-CN" b="1" dirty="0" smtClean="0"/>
          </a:p>
          <a:p>
            <a:pPr lvl="1">
              <a:lnSpc>
                <a:spcPct val="170000"/>
              </a:lnSpc>
              <a:spcBef>
                <a:spcPts val="0"/>
              </a:spcBef>
            </a:pPr>
            <a:r>
              <a:rPr lang="zh-CN" altLang="en-US" b="1" dirty="0" smtClean="0"/>
              <a:t>缺点：多次</a:t>
            </a:r>
            <a:r>
              <a:rPr lang="en-US" altLang="zh-CN" b="1" dirty="0" smtClean="0"/>
              <a:t>kick </a:t>
            </a:r>
            <a:r>
              <a:rPr lang="zh-CN" altLang="en-US" b="1" dirty="0" smtClean="0"/>
              <a:t>带来高更新代价，一旦重建就会极大影响性能</a:t>
            </a:r>
            <a:endParaRPr lang="en-US" altLang="zh-CN" b="1" dirty="0"/>
          </a:p>
          <a:p>
            <a:pPr lvl="1">
              <a:lnSpc>
                <a:spcPct val="170000"/>
              </a:lnSpc>
              <a:spcBef>
                <a:spcPts val="0"/>
              </a:spcBef>
            </a:pPr>
            <a:r>
              <a:rPr lang="zh-CN" altLang="en-US" b="1" dirty="0" smtClean="0"/>
              <a:t>使用场景：可用空间小，大量读操作，少量写操作</a:t>
            </a:r>
            <a:endParaRPr lang="en-US" altLang="zh-CN" b="1" dirty="0" smtClean="0"/>
          </a:p>
          <a:p>
            <a:pPr lvl="1">
              <a:lnSpc>
                <a:spcPct val="170000"/>
              </a:lnSpc>
              <a:spcBef>
                <a:spcPts val="0"/>
              </a:spcBef>
            </a:pPr>
            <a:r>
              <a:rPr lang="zh-CN" altLang="en-US" b="1" dirty="0" smtClean="0"/>
              <a:t>可以使用更多哈希函数，牺牲查询速度换来更高装载率</a:t>
            </a:r>
            <a:endParaRPr lang="en-US" altLang="zh-CN" b="1" dirty="0" smtClean="0"/>
          </a:p>
          <a:p>
            <a:pPr>
              <a:lnSpc>
                <a:spcPct val="170000"/>
              </a:lnSpc>
              <a:spcBef>
                <a:spcPts val="0"/>
              </a:spcBef>
            </a:pPr>
            <a:endParaRPr lang="en-US" altLang="zh-CN" b="1" dirty="0"/>
          </a:p>
        </p:txBody>
      </p:sp>
      <p:cxnSp>
        <p:nvCxnSpPr>
          <p:cNvPr id="5" name="直线连接符 4"/>
          <p:cNvCxnSpPr/>
          <p:nvPr/>
        </p:nvCxnSpPr>
        <p:spPr>
          <a:xfrm flipV="1">
            <a:off x="1050058" y="1014668"/>
            <a:ext cx="9647041" cy="5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直线连接符 5"/>
          <p:cNvCxnSpPr/>
          <p:nvPr/>
        </p:nvCxnSpPr>
        <p:spPr>
          <a:xfrm>
            <a:off x="1096595" y="6371261"/>
            <a:ext cx="9600504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5464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0369" y="254381"/>
            <a:ext cx="9068981" cy="760288"/>
          </a:xfrm>
        </p:spPr>
        <p:txBody>
          <a:bodyPr>
            <a:normAutofit/>
          </a:bodyPr>
          <a:lstStyle/>
          <a:p>
            <a:r>
              <a:rPr lang="zh-CN" altLang="en-US" sz="4000" b="1" dirty="0" smtClean="0">
                <a:latin typeface="+mj-ea"/>
              </a:rPr>
              <a:t>哈希表扩展</a:t>
            </a:r>
            <a:endParaRPr lang="zh-CN" altLang="en-US" sz="4000" b="1" dirty="0">
              <a:latin typeface="+mj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6595" y="1329100"/>
            <a:ext cx="9543071" cy="4886027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en-US" altLang="zh-CN" b="1" dirty="0" smtClean="0"/>
              <a:t>D-left </a:t>
            </a:r>
            <a:r>
              <a:rPr lang="en-US" altLang="zh-CN" b="1" dirty="0"/>
              <a:t>Hash</a:t>
            </a:r>
          </a:p>
          <a:p>
            <a:pPr>
              <a:lnSpc>
                <a:spcPct val="170000"/>
              </a:lnSpc>
              <a:spcBef>
                <a:spcPts val="0"/>
              </a:spcBef>
            </a:pPr>
            <a:endParaRPr lang="en-US" altLang="zh-CN" dirty="0" smtClean="0">
              <a:latin typeface="+mj-ea"/>
              <a:ea typeface="+mj-ea"/>
            </a:endParaRPr>
          </a:p>
        </p:txBody>
      </p:sp>
      <p:cxnSp>
        <p:nvCxnSpPr>
          <p:cNvPr id="5" name="直线连接符 4"/>
          <p:cNvCxnSpPr/>
          <p:nvPr/>
        </p:nvCxnSpPr>
        <p:spPr>
          <a:xfrm flipV="1">
            <a:off x="1050058" y="1014668"/>
            <a:ext cx="9647041" cy="5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直线连接符 5"/>
          <p:cNvCxnSpPr/>
          <p:nvPr/>
        </p:nvCxnSpPr>
        <p:spPr>
          <a:xfrm>
            <a:off x="1096595" y="6371261"/>
            <a:ext cx="9600504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3303910" y="2671588"/>
            <a:ext cx="3107055" cy="3429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3926845" y="2671588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H="1">
            <a:off x="4553590" y="2671588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H="1">
            <a:off x="5180335" y="2671588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H="1">
            <a:off x="5803270" y="2671588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3303909" y="3899050"/>
            <a:ext cx="3107055" cy="3429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连接符 20"/>
          <p:cNvCxnSpPr/>
          <p:nvPr/>
        </p:nvCxnSpPr>
        <p:spPr>
          <a:xfrm flipH="1">
            <a:off x="3926844" y="3899050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H="1">
            <a:off x="4542794" y="3888496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H="1">
            <a:off x="5180334" y="3888496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 flipH="1">
            <a:off x="5803269" y="3888890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3303909" y="5105404"/>
            <a:ext cx="3107055" cy="3429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直接连接符 25"/>
          <p:cNvCxnSpPr/>
          <p:nvPr/>
        </p:nvCxnSpPr>
        <p:spPr>
          <a:xfrm flipH="1">
            <a:off x="3926844" y="5105404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 flipH="1">
            <a:off x="4553589" y="5105404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H="1">
            <a:off x="5180334" y="5105404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H="1">
            <a:off x="5803269" y="5105404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/>
              <p:cNvSpPr txBox="1"/>
              <p:nvPr/>
            </p:nvSpPr>
            <p:spPr>
              <a:xfrm>
                <a:off x="1151918" y="3815686"/>
                <a:ext cx="431741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0">
                          <a:latin typeface="Cambria Math" panose="02040503050406030204" pitchFamily="18" charset="0"/>
                        </a:rPr>
                        <m:t>𝐱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30" name="文本框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1918" y="3815686"/>
                <a:ext cx="431741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4696782" y="3268353"/>
            <a:ext cx="325120" cy="264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>
            <a:endCxn id="7" idx="0"/>
          </p:cNvCxnSpPr>
          <p:nvPr/>
        </p:nvCxnSpPr>
        <p:spPr>
          <a:xfrm flipH="1">
            <a:off x="4859342" y="3007497"/>
            <a:ext cx="2" cy="26085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>
            <a:off x="4715831" y="2708428"/>
            <a:ext cx="325120" cy="264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5325588" y="3938420"/>
            <a:ext cx="325120" cy="264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5323526" y="5144774"/>
            <a:ext cx="325120" cy="264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8" name="直接箭头连接符 37"/>
          <p:cNvCxnSpPr>
            <a:stCxn id="30" idx="3"/>
            <a:endCxn id="4" idx="2"/>
          </p:cNvCxnSpPr>
          <p:nvPr/>
        </p:nvCxnSpPr>
        <p:spPr>
          <a:xfrm flipV="1">
            <a:off x="1583659" y="3014488"/>
            <a:ext cx="3273779" cy="1016642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>
            <a:stCxn id="30" idx="3"/>
            <a:endCxn id="35" idx="1"/>
          </p:cNvCxnSpPr>
          <p:nvPr/>
        </p:nvCxnSpPr>
        <p:spPr>
          <a:xfrm>
            <a:off x="1583659" y="4031130"/>
            <a:ext cx="3741929" cy="3937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>
            <a:stCxn id="30" idx="3"/>
          </p:cNvCxnSpPr>
          <p:nvPr/>
        </p:nvCxnSpPr>
        <p:spPr>
          <a:xfrm>
            <a:off x="1583659" y="4031130"/>
            <a:ext cx="3921200" cy="1034904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/>
          <p:cNvSpPr/>
          <p:nvPr/>
        </p:nvSpPr>
        <p:spPr>
          <a:xfrm>
            <a:off x="8438712" y="2671588"/>
            <a:ext cx="3107055" cy="3429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8" name="直接连接符 47"/>
          <p:cNvCxnSpPr/>
          <p:nvPr/>
        </p:nvCxnSpPr>
        <p:spPr>
          <a:xfrm flipH="1">
            <a:off x="9061647" y="2671588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 flipH="1">
            <a:off x="9688392" y="2671588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 flipH="1">
            <a:off x="10315137" y="2671588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 flipH="1">
            <a:off x="10938072" y="2671588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 51"/>
          <p:cNvSpPr/>
          <p:nvPr/>
        </p:nvSpPr>
        <p:spPr>
          <a:xfrm>
            <a:off x="8438711" y="3899050"/>
            <a:ext cx="3107055" cy="3429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3" name="直接连接符 52"/>
          <p:cNvCxnSpPr/>
          <p:nvPr/>
        </p:nvCxnSpPr>
        <p:spPr>
          <a:xfrm flipH="1">
            <a:off x="9061646" y="3899050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 flipH="1">
            <a:off x="9677596" y="3888496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 flipH="1">
            <a:off x="10315136" y="3888496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 flipH="1">
            <a:off x="10938071" y="3888890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56"/>
          <p:cNvSpPr/>
          <p:nvPr/>
        </p:nvSpPr>
        <p:spPr>
          <a:xfrm>
            <a:off x="8438711" y="5105404"/>
            <a:ext cx="3107055" cy="3429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8" name="直接连接符 57"/>
          <p:cNvCxnSpPr/>
          <p:nvPr/>
        </p:nvCxnSpPr>
        <p:spPr>
          <a:xfrm flipH="1">
            <a:off x="9061646" y="5105404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flipH="1">
            <a:off x="9688391" y="5105404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 flipH="1">
            <a:off x="10315136" y="5105404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 flipH="1">
            <a:off x="10938071" y="5105404"/>
            <a:ext cx="3810" cy="342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/>
          <p:cNvSpPr/>
          <p:nvPr/>
        </p:nvSpPr>
        <p:spPr>
          <a:xfrm>
            <a:off x="9831584" y="3268353"/>
            <a:ext cx="325120" cy="264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3" name="直接连接符 62"/>
          <p:cNvCxnSpPr>
            <a:endCxn id="62" idx="0"/>
          </p:cNvCxnSpPr>
          <p:nvPr/>
        </p:nvCxnSpPr>
        <p:spPr>
          <a:xfrm flipH="1">
            <a:off x="9994144" y="3007497"/>
            <a:ext cx="2" cy="26085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/>
          <p:cNvSpPr/>
          <p:nvPr/>
        </p:nvSpPr>
        <p:spPr>
          <a:xfrm>
            <a:off x="9850633" y="2708428"/>
            <a:ext cx="325120" cy="264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/>
          <p:cNvSpPr/>
          <p:nvPr/>
        </p:nvSpPr>
        <p:spPr>
          <a:xfrm>
            <a:off x="10460390" y="3938420"/>
            <a:ext cx="325120" cy="264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 65"/>
          <p:cNvSpPr/>
          <p:nvPr/>
        </p:nvSpPr>
        <p:spPr>
          <a:xfrm>
            <a:off x="10458328" y="5144774"/>
            <a:ext cx="325120" cy="264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10464517" y="4448810"/>
            <a:ext cx="328372" cy="33528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本框 67"/>
              <p:cNvSpPr txBox="1"/>
              <p:nvPr/>
            </p:nvSpPr>
            <p:spPr>
              <a:xfrm>
                <a:off x="10405017" y="4372508"/>
                <a:ext cx="431741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0">
                          <a:latin typeface="Cambria Math" panose="02040503050406030204" pitchFamily="18" charset="0"/>
                        </a:rPr>
                        <m:t>𝐱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68" name="文本框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5017" y="4372508"/>
                <a:ext cx="431741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直接连接符 68"/>
          <p:cNvCxnSpPr/>
          <p:nvPr/>
        </p:nvCxnSpPr>
        <p:spPr>
          <a:xfrm flipH="1">
            <a:off x="10628492" y="4187178"/>
            <a:ext cx="2" cy="26085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右箭头 69"/>
          <p:cNvSpPr/>
          <p:nvPr/>
        </p:nvSpPr>
        <p:spPr>
          <a:xfrm>
            <a:off x="6885185" y="3772113"/>
            <a:ext cx="949641" cy="399370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/>
              <p:cNvSpPr txBox="1"/>
              <p:nvPr/>
            </p:nvSpPr>
            <p:spPr>
              <a:xfrm>
                <a:off x="2346657" y="3083687"/>
                <a:ext cx="83830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lang="en-US" altLang="zh-CN" sz="2400" b="1" i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400" b="1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altLang="zh-CN" sz="2400" b="1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 xmlns="">
          <p:sp>
            <p:nvSpPr>
              <p:cNvPr id="73" name="文本框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6657" y="3083687"/>
                <a:ext cx="838306" cy="369332"/>
              </a:xfrm>
              <a:prstGeom prst="rect">
                <a:avLst/>
              </a:prstGeom>
              <a:blipFill>
                <a:blip r:embed="rId5"/>
                <a:stretch>
                  <a:fillRect l="-8029" r="-12409" b="-3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本框 73"/>
              <p:cNvSpPr txBox="1"/>
              <p:nvPr/>
            </p:nvSpPr>
            <p:spPr>
              <a:xfrm>
                <a:off x="3544259" y="3510970"/>
                <a:ext cx="83830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lang="en-US" altLang="zh-CN" sz="2400" b="1" i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2400" b="1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altLang="zh-CN" sz="2400" b="1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 xmlns="">
          <p:sp>
            <p:nvSpPr>
              <p:cNvPr id="74" name="文本框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4259" y="3510970"/>
                <a:ext cx="838306" cy="369332"/>
              </a:xfrm>
              <a:prstGeom prst="rect">
                <a:avLst/>
              </a:prstGeom>
              <a:blipFill>
                <a:blip r:embed="rId6"/>
                <a:stretch>
                  <a:fillRect l="-7246" r="-12319" b="-327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本框 74"/>
              <p:cNvSpPr txBox="1"/>
              <p:nvPr/>
            </p:nvSpPr>
            <p:spPr>
              <a:xfrm>
                <a:off x="2705953" y="4527612"/>
                <a:ext cx="83830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lang="en-US" altLang="zh-CN" sz="2400" b="1" i="0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altLang="zh-CN" sz="2400" b="1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altLang="zh-CN" sz="2400" b="1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 xmlns="">
          <p:sp>
            <p:nvSpPr>
              <p:cNvPr id="75" name="文本框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5953" y="4527612"/>
                <a:ext cx="838306" cy="369332"/>
              </a:xfrm>
              <a:prstGeom prst="rect">
                <a:avLst/>
              </a:prstGeom>
              <a:blipFill>
                <a:blip r:embed="rId7"/>
                <a:stretch>
                  <a:fillRect l="-8029" r="-12409" b="-3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7210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0369" y="254381"/>
            <a:ext cx="9068981" cy="760288"/>
          </a:xfrm>
        </p:spPr>
        <p:txBody>
          <a:bodyPr>
            <a:normAutofit/>
          </a:bodyPr>
          <a:lstStyle/>
          <a:p>
            <a:r>
              <a:rPr lang="zh-CN" altLang="en-US" sz="4000" b="1" dirty="0" smtClean="0">
                <a:latin typeface="+mj-ea"/>
              </a:rPr>
              <a:t>思考</a:t>
            </a:r>
            <a:endParaRPr lang="zh-CN" altLang="en-US" sz="4000" b="1" dirty="0">
              <a:latin typeface="+mj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02042" y="1166540"/>
            <a:ext cx="9543071" cy="5386660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zh-CN" altLang="en-US" b="1" dirty="0" smtClean="0"/>
              <a:t>如果只需要特定查询</a:t>
            </a:r>
            <a:r>
              <a:rPr lang="en-US" altLang="zh-CN" b="1" dirty="0" smtClean="0"/>
              <a:t>?</a:t>
            </a:r>
          </a:p>
          <a:p>
            <a:pPr lvl="1">
              <a:lnSpc>
                <a:spcPct val="170000"/>
              </a:lnSpc>
              <a:spcBef>
                <a:spcPts val="0"/>
              </a:spcBef>
            </a:pPr>
            <a:r>
              <a:rPr lang="zh-CN" altLang="en-US" b="1" dirty="0" smtClean="0"/>
              <a:t>数据库中搜索特定键值，判断每个文件中是否具有该键值</a:t>
            </a:r>
            <a:endParaRPr lang="en-US" altLang="zh-CN" b="1" dirty="0" smtClean="0"/>
          </a:p>
          <a:p>
            <a:pPr lvl="1">
              <a:lnSpc>
                <a:spcPct val="170000"/>
              </a:lnSpc>
              <a:spcBef>
                <a:spcPts val="0"/>
              </a:spcBef>
            </a:pPr>
            <a:r>
              <a:rPr lang="zh-CN" altLang="en-US" b="1" dirty="0" smtClean="0"/>
              <a:t>查询一个</a:t>
            </a:r>
            <a:r>
              <a:rPr lang="en-US" altLang="zh-CN" b="1" dirty="0" smtClean="0"/>
              <a:t>IP</a:t>
            </a:r>
            <a:r>
              <a:rPr lang="zh-CN" altLang="en-US" b="1" dirty="0" smtClean="0"/>
              <a:t>访问服务器的次数</a:t>
            </a:r>
            <a:endParaRPr lang="en-US" altLang="zh-CN" b="1" dirty="0"/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zh-CN" altLang="en-US" b="1" dirty="0" smtClean="0"/>
              <a:t>如果误差也可以被接受？</a:t>
            </a:r>
            <a:endParaRPr lang="en-US" altLang="zh-CN" b="1" dirty="0" smtClean="0"/>
          </a:p>
          <a:p>
            <a:pPr lvl="1">
              <a:lnSpc>
                <a:spcPct val="170000"/>
              </a:lnSpc>
              <a:spcBef>
                <a:spcPts val="0"/>
              </a:spcBef>
            </a:pPr>
            <a:r>
              <a:rPr lang="zh-CN" altLang="en-US" b="1" dirty="0" smtClean="0"/>
              <a:t>某个文件被误判为包含查询键值，只会带来一次无果的检索</a:t>
            </a:r>
            <a:endParaRPr lang="en-US" altLang="zh-CN" b="1" dirty="0" smtClean="0"/>
          </a:p>
          <a:p>
            <a:pPr lvl="1">
              <a:lnSpc>
                <a:spcPct val="170000"/>
              </a:lnSpc>
              <a:spcBef>
                <a:spcPts val="0"/>
              </a:spcBef>
            </a:pPr>
            <a:r>
              <a:rPr lang="zh-CN" altLang="en-US" b="1" dirty="0" smtClean="0"/>
              <a:t>寻找潜在的恶意</a:t>
            </a:r>
            <a:r>
              <a:rPr lang="en-US" altLang="zh-CN" b="1" dirty="0" smtClean="0"/>
              <a:t>IP</a:t>
            </a:r>
            <a:r>
              <a:rPr lang="zh-CN" altLang="en-US" b="1" dirty="0" smtClean="0"/>
              <a:t>，需要找到所有访问次数大于阈值的</a:t>
            </a:r>
            <a:r>
              <a:rPr lang="en-US" altLang="zh-CN" b="1" dirty="0" smtClean="0"/>
              <a:t>IP</a:t>
            </a:r>
            <a:r>
              <a:rPr lang="zh-CN" altLang="en-US" b="1" dirty="0" smtClean="0"/>
              <a:t>，比阈值小的被误判了，可以在后续检查中筛去</a:t>
            </a:r>
            <a:endParaRPr lang="en-US" altLang="zh-CN" b="1" dirty="0"/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zh-CN" altLang="en-US" b="1" dirty="0" smtClean="0"/>
              <a:t>这种情况下是否有时间空间都更高效的算法？</a:t>
            </a:r>
            <a:endParaRPr lang="en-US" altLang="zh-CN" b="1" dirty="0" smtClean="0"/>
          </a:p>
          <a:p>
            <a:pPr lvl="1">
              <a:lnSpc>
                <a:spcPct val="170000"/>
              </a:lnSpc>
              <a:spcBef>
                <a:spcPts val="0"/>
              </a:spcBef>
            </a:pPr>
            <a:endParaRPr lang="en-US" altLang="zh-CN" b="1" dirty="0" smtClean="0"/>
          </a:p>
        </p:txBody>
      </p:sp>
      <p:cxnSp>
        <p:nvCxnSpPr>
          <p:cNvPr id="5" name="直线连接符 4"/>
          <p:cNvCxnSpPr/>
          <p:nvPr/>
        </p:nvCxnSpPr>
        <p:spPr>
          <a:xfrm flipV="1">
            <a:off x="1050058" y="1014668"/>
            <a:ext cx="9647041" cy="5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5016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0369" y="254381"/>
            <a:ext cx="9068981" cy="760288"/>
          </a:xfrm>
        </p:spPr>
        <p:txBody>
          <a:bodyPr>
            <a:normAutofit/>
          </a:bodyPr>
          <a:lstStyle/>
          <a:p>
            <a:r>
              <a:rPr lang="zh-CN" altLang="en-US" sz="4000" b="1" dirty="0" smtClean="0">
                <a:latin typeface="+mj-ea"/>
              </a:rPr>
              <a:t>课程内容</a:t>
            </a:r>
            <a:endParaRPr lang="zh-CN" altLang="en-US" sz="4000" b="1" dirty="0">
              <a:latin typeface="+mj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6595" y="1329100"/>
            <a:ext cx="9543071" cy="4886027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zh-CN" altLang="en-US" sz="3200" b="1" dirty="0" smtClean="0">
                <a:latin typeface="+mn-ea"/>
              </a:rPr>
              <a:t>哈希表扩展</a:t>
            </a:r>
            <a:endParaRPr lang="en-US" altLang="zh-CN" sz="3200" b="1" dirty="0" smtClean="0">
              <a:latin typeface="+mn-ea"/>
            </a:endParaRPr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en-US" altLang="zh-CN" sz="3200" b="1" dirty="0" smtClean="0">
                <a:solidFill>
                  <a:srgbClr val="FF0000"/>
                </a:solidFill>
                <a:ea typeface="+mj-ea"/>
              </a:rPr>
              <a:t>Bloom Filter</a:t>
            </a:r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en-US" altLang="zh-CN" sz="3200" b="1" dirty="0" smtClean="0">
                <a:ea typeface="+mj-ea"/>
              </a:rPr>
              <a:t>Count Min Sketch</a:t>
            </a:r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zh-CN" altLang="en-US" sz="3200" b="1" dirty="0" smtClean="0">
                <a:latin typeface="+mn-ea"/>
              </a:rPr>
              <a:t>其他摘要算法</a:t>
            </a:r>
            <a:endParaRPr lang="en-US" altLang="zh-CN" sz="3200" b="1" dirty="0" smtClean="0">
              <a:latin typeface="+mn-ea"/>
            </a:endParaRPr>
          </a:p>
        </p:txBody>
      </p:sp>
      <p:cxnSp>
        <p:nvCxnSpPr>
          <p:cNvPr id="5" name="直线连接符 4"/>
          <p:cNvCxnSpPr/>
          <p:nvPr/>
        </p:nvCxnSpPr>
        <p:spPr>
          <a:xfrm flipV="1">
            <a:off x="1050058" y="1014668"/>
            <a:ext cx="9647041" cy="5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直线连接符 5"/>
          <p:cNvCxnSpPr/>
          <p:nvPr/>
        </p:nvCxnSpPr>
        <p:spPr>
          <a:xfrm>
            <a:off x="1096595" y="6371261"/>
            <a:ext cx="9600504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9333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0369" y="254381"/>
            <a:ext cx="9068981" cy="760288"/>
          </a:xfrm>
        </p:spPr>
        <p:txBody>
          <a:bodyPr>
            <a:normAutofit/>
          </a:bodyPr>
          <a:lstStyle/>
          <a:p>
            <a:r>
              <a:rPr lang="en-US" altLang="zh-CN" sz="4000" b="1" dirty="0" smtClean="0">
                <a:latin typeface="+mj-ea"/>
              </a:rPr>
              <a:t>Bloom Filter</a:t>
            </a:r>
            <a:endParaRPr lang="zh-CN" altLang="en-US" sz="4000" b="1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096595" y="1329100"/>
                <a:ext cx="9543071" cy="4886027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70000"/>
                  </a:lnSpc>
                  <a:spcBef>
                    <a:spcPts val="0"/>
                  </a:spcBef>
                </a:pPr>
                <a:r>
                  <a:rPr lang="zh-CN" altLang="en-US" b="1" dirty="0" smtClean="0"/>
                  <a:t>问题抽象：</a:t>
                </a:r>
                <a:endParaRPr lang="en-US" altLang="zh-CN" b="1" dirty="0" smtClean="0"/>
              </a:p>
              <a:p>
                <a:pPr lvl="1">
                  <a:lnSpc>
                    <a:spcPct val="170000"/>
                  </a:lnSpc>
                  <a:spcBef>
                    <a:spcPts val="0"/>
                  </a:spcBef>
                </a:pPr>
                <a:r>
                  <a:rPr lang="zh-CN" altLang="en-US" b="1" dirty="0" smtClean="0"/>
                  <a:t>给定一个集合 </a:t>
                </a:r>
                <a:r>
                  <a:rPr lang="en-US" altLang="zh-CN" b="1" dirty="0"/>
                  <a:t>S={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b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b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r>
                      <a:rPr lang="en-US" altLang="zh-CN" b="1">
                        <a:latin typeface="Cambria Math" panose="02040503050406030204" pitchFamily="18" charset="0"/>
                      </a:rPr>
                      <m:t>……</m:t>
                    </m:r>
                  </m:oMath>
                </a14:m>
                <a:r>
                  <a:rPr lang="en-US" altLang="zh-CN" b="1" dirty="0"/>
                  <a:t>}, </a:t>
                </a:r>
                <a:r>
                  <a:rPr lang="zh-CN" altLang="en-US" b="1" dirty="0"/>
                  <a:t>查询一个元素 </a:t>
                </a:r>
                <a14:m>
                  <m:oMath xmlns:m="http://schemas.openxmlformats.org/officeDocument/2006/math">
                    <m:r>
                      <a:rPr lang="en-US" altLang="zh-CN" b="1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altLang="zh-CN" b="1" dirty="0"/>
                  <a:t> </a:t>
                </a:r>
                <a:r>
                  <a:rPr lang="zh-CN" altLang="en-US" b="1" dirty="0"/>
                  <a:t>是否在集合</a:t>
                </a:r>
                <a:r>
                  <a:rPr lang="zh-CN" altLang="en-US" b="1" dirty="0" smtClean="0"/>
                  <a:t>中。</a:t>
                </a:r>
                <a:endParaRPr lang="en-US" altLang="zh-CN" b="1" dirty="0" smtClean="0"/>
              </a:p>
              <a:p>
                <a:pPr>
                  <a:lnSpc>
                    <a:spcPct val="170000"/>
                  </a:lnSpc>
                  <a:spcBef>
                    <a:spcPts val="0"/>
                  </a:spcBef>
                </a:pPr>
                <a:r>
                  <a:rPr lang="zh-CN" altLang="en-US" b="1" dirty="0" smtClean="0"/>
                  <a:t>思考：</a:t>
                </a:r>
                <a:endParaRPr lang="en-US" altLang="zh-CN" b="1" dirty="0" smtClean="0"/>
              </a:p>
              <a:p>
                <a:pPr lvl="1">
                  <a:lnSpc>
                    <a:spcPct val="170000"/>
                  </a:lnSpc>
                  <a:spcBef>
                    <a:spcPts val="0"/>
                  </a:spcBef>
                </a:pPr>
                <a:r>
                  <a:rPr lang="zh-CN" altLang="en-US" b="1" dirty="0" smtClean="0"/>
                  <a:t>每次查询输入指定元素，输出只需要是</a:t>
                </a:r>
                <a:r>
                  <a:rPr lang="en-US" altLang="zh-CN" b="1" dirty="0"/>
                  <a:t> </a:t>
                </a:r>
                <a:r>
                  <a:rPr lang="en-US" altLang="zh-CN" b="1" dirty="0" smtClean="0"/>
                  <a:t>0 </a:t>
                </a:r>
                <a:r>
                  <a:rPr lang="zh-CN" altLang="en-US" b="1" dirty="0" smtClean="0"/>
                  <a:t>或 </a:t>
                </a:r>
                <a:r>
                  <a:rPr lang="en-US" altLang="zh-CN" b="1" dirty="0" smtClean="0"/>
                  <a:t>1</a:t>
                </a:r>
              </a:p>
              <a:p>
                <a:pPr lvl="1">
                  <a:lnSpc>
                    <a:spcPct val="170000"/>
                  </a:lnSpc>
                  <a:spcBef>
                    <a:spcPts val="0"/>
                  </a:spcBef>
                </a:pPr>
                <a:r>
                  <a:rPr lang="zh-CN" altLang="en-US" b="1" dirty="0" smtClean="0"/>
                  <a:t>为每一个查询元素找到一个 </a:t>
                </a:r>
                <a:r>
                  <a:rPr lang="en-US" altLang="zh-CN" b="1" dirty="0" smtClean="0"/>
                  <a:t>0-1 bit </a:t>
                </a:r>
                <a:r>
                  <a:rPr lang="zh-CN" altLang="en-US" b="1" dirty="0" smtClean="0"/>
                  <a:t>即可</a:t>
                </a:r>
                <a:endParaRPr lang="en-US" altLang="zh-CN" b="1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6595" y="1329100"/>
                <a:ext cx="9543071" cy="4886027"/>
              </a:xfrm>
              <a:blipFill>
                <a:blip r:embed="rId3"/>
                <a:stretch>
                  <a:fillRect l="-11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线连接符 4"/>
          <p:cNvCxnSpPr/>
          <p:nvPr/>
        </p:nvCxnSpPr>
        <p:spPr>
          <a:xfrm flipV="1">
            <a:off x="1050058" y="1014668"/>
            <a:ext cx="9647041" cy="5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直线连接符 5"/>
          <p:cNvCxnSpPr/>
          <p:nvPr/>
        </p:nvCxnSpPr>
        <p:spPr>
          <a:xfrm>
            <a:off x="1096595" y="6371261"/>
            <a:ext cx="9600504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2091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0369" y="254381"/>
            <a:ext cx="9068981" cy="760288"/>
          </a:xfrm>
        </p:spPr>
        <p:txBody>
          <a:bodyPr>
            <a:normAutofit/>
          </a:bodyPr>
          <a:lstStyle/>
          <a:p>
            <a:r>
              <a:rPr lang="en-US" altLang="zh-CN" sz="4000" b="1" dirty="0" smtClean="0">
                <a:latin typeface="+mj-ea"/>
              </a:rPr>
              <a:t>Bloom Filter</a:t>
            </a:r>
            <a:endParaRPr lang="zh-CN" altLang="en-US" sz="4000" b="1" dirty="0">
              <a:latin typeface="+mj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6595" y="1329101"/>
            <a:ext cx="9543071" cy="2996448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zh-CN" altLang="en-US" b="1" dirty="0" smtClean="0"/>
              <a:t>雏形 </a:t>
            </a:r>
            <a:r>
              <a:rPr lang="en-US" altLang="zh-CN" b="1" dirty="0" smtClean="0"/>
              <a:t>1</a:t>
            </a:r>
            <a:r>
              <a:rPr lang="zh-CN" altLang="en-US" b="1" dirty="0" smtClean="0"/>
              <a:t>：如果集合元素是给定的范围为</a:t>
            </a:r>
            <a:r>
              <a:rPr lang="en-US" altLang="zh-CN" b="1" dirty="0" smtClean="0"/>
              <a:t>[0</a:t>
            </a:r>
            <a:r>
              <a:rPr lang="zh-CN" altLang="en-US" b="1" dirty="0" smtClean="0"/>
              <a:t>，</a:t>
            </a:r>
            <a:r>
              <a:rPr lang="en-US" altLang="zh-CN" b="1" dirty="0" smtClean="0"/>
              <a:t>M] </a:t>
            </a:r>
            <a:r>
              <a:rPr lang="zh-CN" altLang="en-US" b="1" dirty="0" smtClean="0"/>
              <a:t>的数字</a:t>
            </a:r>
            <a:endParaRPr lang="en-US" altLang="zh-CN" b="1" dirty="0" smtClean="0"/>
          </a:p>
          <a:p>
            <a:pPr>
              <a:lnSpc>
                <a:spcPct val="170000"/>
              </a:lnSpc>
              <a:spcBef>
                <a:spcPts val="0"/>
              </a:spcBef>
            </a:pPr>
            <a:endParaRPr lang="en-US" altLang="zh-CN" b="1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endParaRPr lang="en-US" altLang="zh-CN" b="1" dirty="0"/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zh-CN" altLang="en-US" b="1" dirty="0" smtClean="0"/>
              <a:t>雏形 </a:t>
            </a:r>
            <a:r>
              <a:rPr lang="en-US" altLang="zh-CN" b="1" dirty="0"/>
              <a:t>2</a:t>
            </a:r>
            <a:r>
              <a:rPr lang="zh-CN" altLang="en-US" b="1" dirty="0" smtClean="0"/>
              <a:t>：如果集合元素是任意字符串：</a:t>
            </a:r>
            <a:endParaRPr lang="en-US" altLang="zh-CN" b="1" dirty="0" smtClean="0"/>
          </a:p>
          <a:p>
            <a:pPr>
              <a:lnSpc>
                <a:spcPct val="170000"/>
              </a:lnSpc>
              <a:spcBef>
                <a:spcPts val="0"/>
              </a:spcBef>
            </a:pPr>
            <a:endParaRPr lang="en-US" altLang="zh-CN" b="1" dirty="0" smtClean="0"/>
          </a:p>
          <a:p>
            <a:pPr>
              <a:lnSpc>
                <a:spcPct val="170000"/>
              </a:lnSpc>
              <a:spcBef>
                <a:spcPts val="0"/>
              </a:spcBef>
            </a:pPr>
            <a:endParaRPr lang="en-US" altLang="zh-CN" b="1" dirty="0" smtClean="0"/>
          </a:p>
        </p:txBody>
      </p:sp>
      <p:cxnSp>
        <p:nvCxnSpPr>
          <p:cNvPr id="5" name="直线连接符 4"/>
          <p:cNvCxnSpPr/>
          <p:nvPr/>
        </p:nvCxnSpPr>
        <p:spPr>
          <a:xfrm flipV="1">
            <a:off x="1050058" y="1014668"/>
            <a:ext cx="9647041" cy="5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直线连接符 5"/>
          <p:cNvCxnSpPr/>
          <p:nvPr/>
        </p:nvCxnSpPr>
        <p:spPr>
          <a:xfrm>
            <a:off x="1096595" y="6371261"/>
            <a:ext cx="9600504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794000" y="2824480"/>
            <a:ext cx="518160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0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3312160" y="2824480"/>
            <a:ext cx="518160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3830320" y="2824480"/>
            <a:ext cx="518160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4348480" y="2824480"/>
            <a:ext cx="518160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0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866640" y="2824480"/>
            <a:ext cx="518160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384800" y="2824480"/>
            <a:ext cx="518160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902960" y="2824480"/>
            <a:ext cx="518160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421120" y="2824480"/>
            <a:ext cx="518160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0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939280" y="2824480"/>
            <a:ext cx="518160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…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896627" y="332363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solidFill>
                  <a:srgbClr val="00B0F0"/>
                </a:solidFill>
              </a:rPr>
              <a:t>1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414787" y="332363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solidFill>
                  <a:srgbClr val="00B0F0"/>
                </a:solidFill>
              </a:rPr>
              <a:t>2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932947" y="331962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solidFill>
                  <a:srgbClr val="00B0F0"/>
                </a:solidFill>
              </a:rPr>
              <a:t>3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450080" y="331962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solidFill>
                  <a:srgbClr val="00B0F0"/>
                </a:solidFill>
              </a:rPr>
              <a:t>4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965159" y="331962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solidFill>
                  <a:srgbClr val="00B0F0"/>
                </a:solidFill>
              </a:rPr>
              <a:t>4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480238" y="331962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solidFill>
                  <a:srgbClr val="00B0F0"/>
                </a:solidFill>
              </a:rPr>
              <a:t>5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030061" y="331962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solidFill>
                  <a:srgbClr val="00B0F0"/>
                </a:solidFill>
              </a:rPr>
              <a:t>6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542673" y="331408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solidFill>
                  <a:srgbClr val="00B0F0"/>
                </a:solidFill>
              </a:rPr>
              <a:t>7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sp>
        <p:nvSpPr>
          <p:cNvPr id="23" name="左大括号 22"/>
          <p:cNvSpPr/>
          <p:nvPr/>
        </p:nvSpPr>
        <p:spPr>
          <a:xfrm rot="5400000">
            <a:off x="4992693" y="308276"/>
            <a:ext cx="262974" cy="4666523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4922679" y="2041810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/>
              <a:t>M</a:t>
            </a:r>
            <a:endParaRPr lang="zh-CN" altLang="en-US" b="1" dirty="0"/>
          </a:p>
        </p:txBody>
      </p:sp>
      <p:sp>
        <p:nvSpPr>
          <p:cNvPr id="25" name="矩形 24"/>
          <p:cNvSpPr/>
          <p:nvPr/>
        </p:nvSpPr>
        <p:spPr>
          <a:xfrm>
            <a:off x="1050058" y="5403990"/>
            <a:ext cx="518160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0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568218" y="5403990"/>
            <a:ext cx="518160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2086378" y="5403990"/>
            <a:ext cx="518160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0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604538" y="5403990"/>
            <a:ext cx="518160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0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3122698" y="5403990"/>
            <a:ext cx="518160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3640858" y="5403990"/>
            <a:ext cx="518160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159018" y="5403990"/>
            <a:ext cx="518160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4677178" y="5403990"/>
            <a:ext cx="518160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0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5195338" y="5403990"/>
            <a:ext cx="518160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…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3082787" y="4325549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/>
              <a:t>x</a:t>
            </a:r>
            <a:endParaRPr lang="zh-CN" altLang="en-US" sz="2400" b="1" dirty="0"/>
          </a:p>
        </p:txBody>
      </p:sp>
      <p:cxnSp>
        <p:nvCxnSpPr>
          <p:cNvPr id="46" name="直接箭头连接符 45"/>
          <p:cNvCxnSpPr>
            <a:stCxn id="44" idx="2"/>
            <a:endCxn id="27" idx="0"/>
          </p:cNvCxnSpPr>
          <p:nvPr/>
        </p:nvCxnSpPr>
        <p:spPr>
          <a:xfrm flipH="1">
            <a:off x="2345458" y="4787214"/>
            <a:ext cx="906606" cy="616776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本框 47"/>
              <p:cNvSpPr txBox="1"/>
              <p:nvPr/>
            </p:nvSpPr>
            <p:spPr>
              <a:xfrm>
                <a:off x="2086378" y="4749022"/>
                <a:ext cx="7021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0" dirty="0" smtClean="0">
                          <a:latin typeface="Cambria Math" panose="02040503050406030204" pitchFamily="18" charset="0"/>
                        </a:rPr>
                        <m:t>𝐡</m:t>
                      </m:r>
                      <m:r>
                        <a:rPr lang="en-US" altLang="zh-CN" b="1" i="0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1" i="0" dirty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altLang="zh-CN" b="1" i="0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48" name="文本框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6378" y="4749022"/>
                <a:ext cx="702180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矩形 48"/>
          <p:cNvSpPr/>
          <p:nvPr/>
        </p:nvSpPr>
        <p:spPr>
          <a:xfrm>
            <a:off x="7256162" y="5403990"/>
            <a:ext cx="518160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0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7774322" y="5403990"/>
            <a:ext cx="518160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8292482" y="5403990"/>
            <a:ext cx="518160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8810642" y="5403990"/>
            <a:ext cx="518160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0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9328802" y="5403990"/>
            <a:ext cx="518160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9846962" y="5403990"/>
            <a:ext cx="518160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10365122" y="5403990"/>
            <a:ext cx="518160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10883282" y="5403990"/>
            <a:ext cx="518160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0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11401442" y="5403990"/>
            <a:ext cx="518160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…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9288891" y="4325549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/>
              <a:t>x</a:t>
            </a:r>
            <a:endParaRPr lang="zh-CN" altLang="en-US" sz="2400" b="1" dirty="0"/>
          </a:p>
        </p:txBody>
      </p:sp>
      <p:cxnSp>
        <p:nvCxnSpPr>
          <p:cNvPr id="59" name="直接箭头连接符 58"/>
          <p:cNvCxnSpPr>
            <a:stCxn id="58" idx="2"/>
            <a:endCxn id="51" idx="0"/>
          </p:cNvCxnSpPr>
          <p:nvPr/>
        </p:nvCxnSpPr>
        <p:spPr>
          <a:xfrm flipH="1">
            <a:off x="8551562" y="4787214"/>
            <a:ext cx="906606" cy="616776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本框 59"/>
              <p:cNvSpPr txBox="1"/>
              <p:nvPr/>
            </p:nvSpPr>
            <p:spPr>
              <a:xfrm>
                <a:off x="8292482" y="4749022"/>
                <a:ext cx="7021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0" dirty="0" smtClean="0">
                          <a:latin typeface="Cambria Math" panose="02040503050406030204" pitchFamily="18" charset="0"/>
                        </a:rPr>
                        <m:t>𝐡</m:t>
                      </m:r>
                      <m:r>
                        <a:rPr lang="en-US" altLang="zh-CN" b="1" i="0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1" i="0" dirty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altLang="zh-CN" b="1" i="0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60" name="文本框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2482" y="4749022"/>
                <a:ext cx="702180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右箭头 60"/>
          <p:cNvSpPr/>
          <p:nvPr/>
        </p:nvSpPr>
        <p:spPr>
          <a:xfrm>
            <a:off x="6190358" y="5313565"/>
            <a:ext cx="512612" cy="385865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9303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0369" y="254381"/>
            <a:ext cx="9068981" cy="760288"/>
          </a:xfrm>
        </p:spPr>
        <p:txBody>
          <a:bodyPr>
            <a:normAutofit/>
          </a:bodyPr>
          <a:lstStyle/>
          <a:p>
            <a:r>
              <a:rPr lang="en-US" altLang="zh-CN" sz="4000" b="1" dirty="0" smtClean="0">
                <a:latin typeface="+mj-ea"/>
              </a:rPr>
              <a:t>Bloom Filter</a:t>
            </a:r>
            <a:endParaRPr lang="zh-CN" altLang="en-US" sz="4000" b="1" dirty="0">
              <a:latin typeface="+mj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6595" y="1329101"/>
            <a:ext cx="9543071" cy="893086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zh-CN" altLang="en-US" b="1" dirty="0"/>
              <a:t>哈希</a:t>
            </a:r>
            <a:r>
              <a:rPr lang="zh-CN" altLang="en-US" b="1" dirty="0" smtClean="0"/>
              <a:t>冲突</a:t>
            </a:r>
            <a:endParaRPr lang="en-US" altLang="zh-CN" b="1" dirty="0" smtClean="0"/>
          </a:p>
        </p:txBody>
      </p:sp>
      <p:cxnSp>
        <p:nvCxnSpPr>
          <p:cNvPr id="5" name="直线连接符 4"/>
          <p:cNvCxnSpPr/>
          <p:nvPr/>
        </p:nvCxnSpPr>
        <p:spPr>
          <a:xfrm flipV="1">
            <a:off x="1050058" y="1014668"/>
            <a:ext cx="9647041" cy="5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直线连接符 5"/>
          <p:cNvCxnSpPr/>
          <p:nvPr/>
        </p:nvCxnSpPr>
        <p:spPr>
          <a:xfrm>
            <a:off x="1096595" y="6371261"/>
            <a:ext cx="9600504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2838178" y="3615056"/>
            <a:ext cx="518160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0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3356338" y="3615056"/>
            <a:ext cx="518160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874498" y="3615056"/>
            <a:ext cx="518160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392658" y="3615056"/>
            <a:ext cx="518160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0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910818" y="3615056"/>
            <a:ext cx="518160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5428978" y="3615056"/>
            <a:ext cx="518160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5947138" y="3615056"/>
            <a:ext cx="518160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6465298" y="3615056"/>
            <a:ext cx="518160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0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983458" y="3615056"/>
            <a:ext cx="518160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…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3149966" y="2536385"/>
            <a:ext cx="3417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/>
              <a:t>y</a:t>
            </a:r>
            <a:endParaRPr lang="zh-CN" altLang="en-US" sz="2400" b="1" dirty="0"/>
          </a:p>
        </p:txBody>
      </p:sp>
      <p:cxnSp>
        <p:nvCxnSpPr>
          <p:cNvPr id="46" name="直接箭头连接符 45"/>
          <p:cNvCxnSpPr>
            <a:stCxn id="44" idx="2"/>
            <a:endCxn id="27" idx="0"/>
          </p:cNvCxnSpPr>
          <p:nvPr/>
        </p:nvCxnSpPr>
        <p:spPr>
          <a:xfrm flipH="1">
            <a:off x="4133578" y="2905947"/>
            <a:ext cx="887370" cy="70910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本框 47"/>
              <p:cNvSpPr txBox="1"/>
              <p:nvPr/>
            </p:nvSpPr>
            <p:spPr>
              <a:xfrm>
                <a:off x="4655227" y="3056748"/>
                <a:ext cx="7021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0" dirty="0" smtClean="0">
                          <a:latin typeface="Cambria Math" panose="02040503050406030204" pitchFamily="18" charset="0"/>
                        </a:rPr>
                        <m:t>𝐡</m:t>
                      </m:r>
                      <m:r>
                        <a:rPr lang="en-US" altLang="zh-CN" b="1" i="0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1" i="0" dirty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altLang="zh-CN" b="1" i="0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48" name="文本框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5227" y="3056748"/>
                <a:ext cx="702180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文本框 36"/>
          <p:cNvSpPr txBox="1"/>
          <p:nvPr/>
        </p:nvSpPr>
        <p:spPr>
          <a:xfrm>
            <a:off x="4948819" y="2549288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/>
              <a:t>x</a:t>
            </a:r>
            <a:endParaRPr lang="zh-CN" altLang="en-US" sz="2400" b="1" dirty="0"/>
          </a:p>
        </p:txBody>
      </p:sp>
      <p:cxnSp>
        <p:nvCxnSpPr>
          <p:cNvPr id="35" name="直接箭头连接符 34"/>
          <p:cNvCxnSpPr>
            <a:stCxn id="44" idx="2"/>
            <a:endCxn id="27" idx="0"/>
          </p:cNvCxnSpPr>
          <p:nvPr/>
        </p:nvCxnSpPr>
        <p:spPr>
          <a:xfrm>
            <a:off x="3320846" y="2998050"/>
            <a:ext cx="812732" cy="617006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/>
              <p:cNvSpPr txBox="1"/>
              <p:nvPr/>
            </p:nvSpPr>
            <p:spPr>
              <a:xfrm>
                <a:off x="2875748" y="3024210"/>
                <a:ext cx="7021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0" dirty="0" smtClean="0">
                          <a:latin typeface="Cambria Math" panose="02040503050406030204" pitchFamily="18" charset="0"/>
                        </a:rPr>
                        <m:t>𝐡</m:t>
                      </m:r>
                      <m:r>
                        <a:rPr lang="en-US" altLang="zh-CN" b="1" i="0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1" i="0" dirty="0" smtClean="0"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n-US" altLang="zh-CN" b="1" i="0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40" name="文本框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5748" y="3024210"/>
                <a:ext cx="702180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内容占位符 2"/>
          <p:cNvSpPr txBox="1">
            <a:spLocks/>
          </p:cNvSpPr>
          <p:nvPr/>
        </p:nvSpPr>
        <p:spPr>
          <a:xfrm>
            <a:off x="1050058" y="4394136"/>
            <a:ext cx="9543071" cy="153921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zh-CN" altLang="en-US" sz="2400" b="1" dirty="0" smtClean="0"/>
              <a:t>若查询元素的哈希位置和一个已有元素冲突，</a:t>
            </a:r>
            <a:r>
              <a:rPr lang="en-US" altLang="zh-CN" sz="2400" b="1" dirty="0" smtClean="0"/>
              <a:t>y </a:t>
            </a:r>
            <a:r>
              <a:rPr lang="zh-CN" altLang="en-US" sz="2400" b="1" dirty="0" smtClean="0"/>
              <a:t>即使不在集合中，也会被报告为存在（假阳性）。反之，若</a:t>
            </a:r>
            <a:r>
              <a:rPr lang="en-US" altLang="zh-CN" sz="2400" b="1" dirty="0"/>
              <a:t> </a:t>
            </a:r>
            <a:r>
              <a:rPr lang="en-US" altLang="zh-CN" sz="2400" b="1" dirty="0" smtClean="0"/>
              <a:t>y </a:t>
            </a:r>
            <a:r>
              <a:rPr lang="zh-CN" altLang="en-US" sz="2400" b="1" dirty="0" smtClean="0"/>
              <a:t>映射位置为</a:t>
            </a:r>
            <a:r>
              <a:rPr lang="en-US" altLang="zh-CN" sz="2400" b="1" dirty="0" smtClean="0"/>
              <a:t>0</a:t>
            </a:r>
            <a:r>
              <a:rPr lang="zh-CN" altLang="en-US" sz="2400" b="1" dirty="0" smtClean="0"/>
              <a:t>，则一定不存在。</a:t>
            </a:r>
            <a:endParaRPr lang="en-US" altLang="zh-CN" sz="2400" b="1" dirty="0"/>
          </a:p>
        </p:txBody>
      </p:sp>
    </p:spTree>
    <p:extLst>
      <p:ext uri="{BB962C8B-B14F-4D97-AF65-F5344CB8AC3E}">
        <p14:creationId xmlns:p14="http://schemas.microsoft.com/office/powerpoint/2010/main" val="3013699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0369" y="254381"/>
            <a:ext cx="9068981" cy="760288"/>
          </a:xfrm>
        </p:spPr>
        <p:txBody>
          <a:bodyPr>
            <a:normAutofit/>
          </a:bodyPr>
          <a:lstStyle/>
          <a:p>
            <a:r>
              <a:rPr lang="en-US" altLang="zh-CN" sz="4000" b="1" dirty="0" smtClean="0">
                <a:latin typeface="+mj-ea"/>
              </a:rPr>
              <a:t>Bloom Filter</a:t>
            </a:r>
            <a:endParaRPr lang="zh-CN" altLang="en-US" sz="4000" b="1" dirty="0">
              <a:latin typeface="+mj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6595" y="1329101"/>
            <a:ext cx="9543071" cy="893086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zh-CN" altLang="en-US" b="1" dirty="0" smtClean="0"/>
              <a:t>如何降低假阳性？</a:t>
            </a:r>
            <a:endParaRPr lang="en-US" altLang="zh-CN" b="1" dirty="0" smtClean="0"/>
          </a:p>
          <a:p>
            <a:pPr lvl="1">
              <a:lnSpc>
                <a:spcPct val="170000"/>
              </a:lnSpc>
              <a:spcBef>
                <a:spcPts val="0"/>
              </a:spcBef>
            </a:pPr>
            <a:r>
              <a:rPr lang="zh-CN" altLang="en-US" b="1" dirty="0"/>
              <a:t>多</a:t>
            </a:r>
            <a:r>
              <a:rPr lang="zh-CN" altLang="en-US" b="1" dirty="0" smtClean="0"/>
              <a:t>个哈希 </a:t>
            </a:r>
            <a:r>
              <a:rPr lang="en-US" altLang="zh-CN" b="1" dirty="0" smtClean="0"/>
              <a:t>(Bloom filter)</a:t>
            </a:r>
          </a:p>
        </p:txBody>
      </p:sp>
      <p:cxnSp>
        <p:nvCxnSpPr>
          <p:cNvPr id="5" name="直线连接符 4"/>
          <p:cNvCxnSpPr/>
          <p:nvPr/>
        </p:nvCxnSpPr>
        <p:spPr>
          <a:xfrm flipV="1">
            <a:off x="1050058" y="1014668"/>
            <a:ext cx="9647041" cy="5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直线连接符 5"/>
          <p:cNvCxnSpPr/>
          <p:nvPr/>
        </p:nvCxnSpPr>
        <p:spPr>
          <a:xfrm>
            <a:off x="1096595" y="6371261"/>
            <a:ext cx="9600504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6551819" y="3799850"/>
            <a:ext cx="518160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0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7069979" y="3799850"/>
            <a:ext cx="518160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7588139" y="3799850"/>
            <a:ext cx="518160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8106299" y="3799850"/>
            <a:ext cx="518160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0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8624459" y="3799850"/>
            <a:ext cx="518160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9142619" y="3799850"/>
            <a:ext cx="518160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9660779" y="3799850"/>
            <a:ext cx="518160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0178939" y="3799850"/>
            <a:ext cx="518160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0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10697099" y="3799850"/>
            <a:ext cx="518160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…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cxnSp>
        <p:nvCxnSpPr>
          <p:cNvPr id="46" name="直接箭头连接符 45"/>
          <p:cNvCxnSpPr>
            <a:stCxn id="37" idx="2"/>
            <a:endCxn id="26" idx="0"/>
          </p:cNvCxnSpPr>
          <p:nvPr/>
        </p:nvCxnSpPr>
        <p:spPr>
          <a:xfrm flipH="1">
            <a:off x="7329059" y="3214463"/>
            <a:ext cx="1519217" cy="585387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/>
              <p:cNvSpPr txBox="1"/>
              <p:nvPr/>
            </p:nvSpPr>
            <p:spPr>
              <a:xfrm>
                <a:off x="8553932" y="2752798"/>
                <a:ext cx="58868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0" dirty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altLang="zh-CN" sz="2400" b="1" i="0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37" name="文本框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3932" y="2752798"/>
                <a:ext cx="588687" cy="461665"/>
              </a:xfrm>
              <a:prstGeom prst="rect">
                <a:avLst/>
              </a:prstGeom>
              <a:blipFill>
                <a:blip r:embed="rId3"/>
                <a:stretch>
                  <a:fillRect b="-2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接箭头连接符 7"/>
          <p:cNvCxnSpPr>
            <a:stCxn id="37" idx="2"/>
            <a:endCxn id="29" idx="0"/>
          </p:cNvCxnSpPr>
          <p:nvPr/>
        </p:nvCxnSpPr>
        <p:spPr>
          <a:xfrm>
            <a:off x="8848276" y="3214463"/>
            <a:ext cx="35263" cy="585387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stCxn id="37" idx="2"/>
            <a:endCxn id="30" idx="0"/>
          </p:cNvCxnSpPr>
          <p:nvPr/>
        </p:nvCxnSpPr>
        <p:spPr>
          <a:xfrm>
            <a:off x="8848276" y="3214463"/>
            <a:ext cx="553423" cy="585387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/>
              <p:cNvSpPr txBox="1"/>
              <p:nvPr/>
            </p:nvSpPr>
            <p:spPr>
              <a:xfrm>
                <a:off x="9884595" y="2772589"/>
                <a:ext cx="58387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0" dirty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34" name="文本框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4595" y="2772589"/>
                <a:ext cx="583878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接箭头连接符 12"/>
          <p:cNvCxnSpPr>
            <a:stCxn id="34" idx="2"/>
            <a:endCxn id="27" idx="0"/>
          </p:cNvCxnSpPr>
          <p:nvPr/>
        </p:nvCxnSpPr>
        <p:spPr>
          <a:xfrm flipH="1">
            <a:off x="7847219" y="3234254"/>
            <a:ext cx="2329315" cy="565596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34" idx="2"/>
            <a:endCxn id="30" idx="0"/>
          </p:cNvCxnSpPr>
          <p:nvPr/>
        </p:nvCxnSpPr>
        <p:spPr>
          <a:xfrm flipH="1">
            <a:off x="9401699" y="3234254"/>
            <a:ext cx="774835" cy="565596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stCxn id="34" idx="2"/>
            <a:endCxn id="31" idx="0"/>
          </p:cNvCxnSpPr>
          <p:nvPr/>
        </p:nvCxnSpPr>
        <p:spPr>
          <a:xfrm flipH="1">
            <a:off x="9919859" y="3234254"/>
            <a:ext cx="256675" cy="565596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 35"/>
          <p:cNvSpPr/>
          <p:nvPr/>
        </p:nvSpPr>
        <p:spPr>
          <a:xfrm>
            <a:off x="6555357" y="5474877"/>
            <a:ext cx="518160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0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7073517" y="5474877"/>
            <a:ext cx="518160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7591677" y="5474877"/>
            <a:ext cx="518160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8109837" y="5474877"/>
            <a:ext cx="518160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0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8627997" y="5474877"/>
            <a:ext cx="518160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9146157" y="5474877"/>
            <a:ext cx="518160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9664317" y="5474877"/>
            <a:ext cx="518160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10182477" y="5474877"/>
            <a:ext cx="518160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0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10700637" y="5474877"/>
            <a:ext cx="518160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…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cxnSp>
        <p:nvCxnSpPr>
          <p:cNvPr id="51" name="直接箭头连接符 50"/>
          <p:cNvCxnSpPr>
            <a:stCxn id="52" idx="2"/>
            <a:endCxn id="38" idx="0"/>
          </p:cNvCxnSpPr>
          <p:nvPr/>
        </p:nvCxnSpPr>
        <p:spPr>
          <a:xfrm flipH="1">
            <a:off x="7332597" y="4957082"/>
            <a:ext cx="773702" cy="517795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本框 51"/>
              <p:cNvSpPr txBox="1"/>
              <p:nvPr/>
            </p:nvSpPr>
            <p:spPr>
              <a:xfrm>
                <a:off x="7811955" y="4495417"/>
                <a:ext cx="58868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altLang="zh-CN" sz="2400" b="1" i="0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52" name="文本框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1955" y="4495417"/>
                <a:ext cx="588687" cy="461665"/>
              </a:xfrm>
              <a:prstGeom prst="rect">
                <a:avLst/>
              </a:prstGeom>
              <a:blipFill>
                <a:blip r:embed="rId5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直接箭头连接符 53"/>
          <p:cNvCxnSpPr>
            <a:stCxn id="52" idx="2"/>
            <a:endCxn id="45" idx="0"/>
          </p:cNvCxnSpPr>
          <p:nvPr/>
        </p:nvCxnSpPr>
        <p:spPr>
          <a:xfrm>
            <a:off x="8106299" y="4957082"/>
            <a:ext cx="1298938" cy="517795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本框 54"/>
              <p:cNvSpPr txBox="1"/>
              <p:nvPr/>
            </p:nvSpPr>
            <p:spPr>
              <a:xfrm>
                <a:off x="9888133" y="4447616"/>
                <a:ext cx="58387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0" dirty="0" smtClean="0"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  <m:sub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55" name="文本框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8133" y="4447616"/>
                <a:ext cx="583878" cy="461665"/>
              </a:xfrm>
              <a:prstGeom prst="rect">
                <a:avLst/>
              </a:prstGeom>
              <a:blipFill>
                <a:blip r:embed="rId6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直接箭头连接符 56"/>
          <p:cNvCxnSpPr>
            <a:stCxn id="55" idx="2"/>
            <a:endCxn id="43" idx="0"/>
          </p:cNvCxnSpPr>
          <p:nvPr/>
        </p:nvCxnSpPr>
        <p:spPr>
          <a:xfrm flipH="1">
            <a:off x="8887077" y="4909281"/>
            <a:ext cx="1292995" cy="565596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>
            <a:stCxn id="55" idx="2"/>
            <a:endCxn id="47" idx="0"/>
          </p:cNvCxnSpPr>
          <p:nvPr/>
        </p:nvCxnSpPr>
        <p:spPr>
          <a:xfrm flipH="1">
            <a:off x="9923397" y="4909281"/>
            <a:ext cx="256675" cy="565596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stCxn id="55" idx="2"/>
            <a:endCxn id="49" idx="0"/>
          </p:cNvCxnSpPr>
          <p:nvPr/>
        </p:nvCxnSpPr>
        <p:spPr>
          <a:xfrm>
            <a:off x="10180072" y="4909281"/>
            <a:ext cx="261485" cy="565596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>
            <a:stCxn id="52" idx="2"/>
            <a:endCxn id="39" idx="0"/>
          </p:cNvCxnSpPr>
          <p:nvPr/>
        </p:nvCxnSpPr>
        <p:spPr>
          <a:xfrm flipH="1">
            <a:off x="7850757" y="4957082"/>
            <a:ext cx="255542" cy="517795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本框 59"/>
          <p:cNvSpPr txBox="1"/>
          <p:nvPr/>
        </p:nvSpPr>
        <p:spPr>
          <a:xfrm>
            <a:off x="1174259" y="3576526"/>
            <a:ext cx="3757760" cy="7201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685800" lvl="1" indent="-2286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 smtClean="0"/>
              <a:t>更新：</a:t>
            </a:r>
            <a:r>
              <a:rPr lang="en-US" altLang="zh-CN" sz="2400" b="1" dirty="0" smtClean="0"/>
              <a:t>k </a:t>
            </a:r>
            <a:r>
              <a:rPr lang="zh-CN" altLang="en-US" sz="2400" b="1" dirty="0" smtClean="0"/>
              <a:t>个位置均置</a:t>
            </a:r>
            <a:r>
              <a:rPr lang="en-US" altLang="zh-CN" sz="2400" b="1" dirty="0" smtClean="0"/>
              <a:t>1</a:t>
            </a:r>
            <a:endParaRPr lang="zh-CN" altLang="en-US" sz="2400" b="1" dirty="0"/>
          </a:p>
        </p:txBody>
      </p:sp>
      <p:sp>
        <p:nvSpPr>
          <p:cNvPr id="61" name="文本框 60"/>
          <p:cNvSpPr txBox="1"/>
          <p:nvPr/>
        </p:nvSpPr>
        <p:spPr>
          <a:xfrm>
            <a:off x="1174259" y="5163743"/>
            <a:ext cx="4988866" cy="7201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685800" lvl="1" indent="-2286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 smtClean="0"/>
              <a:t>查询：</a:t>
            </a:r>
            <a:r>
              <a:rPr lang="en-US" altLang="zh-CN" sz="2400" b="1" dirty="0"/>
              <a:t>k</a:t>
            </a:r>
            <a:r>
              <a:rPr lang="zh-CN" altLang="en-US" sz="2400" b="1" dirty="0" smtClean="0"/>
              <a:t>个 位置均为</a:t>
            </a:r>
            <a:r>
              <a:rPr lang="en-US" altLang="zh-CN" sz="2400" b="1" dirty="0" smtClean="0"/>
              <a:t>1</a:t>
            </a:r>
            <a:r>
              <a:rPr lang="zh-CN" altLang="en-US" sz="2400" b="1" dirty="0" smtClean="0"/>
              <a:t>才是存在</a:t>
            </a:r>
            <a:endParaRPr lang="zh-CN" altLang="en-US" sz="2400" b="1" dirty="0"/>
          </a:p>
        </p:txBody>
      </p:sp>
      <p:sp>
        <p:nvSpPr>
          <p:cNvPr id="62" name="文本框 61"/>
          <p:cNvSpPr txBox="1"/>
          <p:nvPr/>
        </p:nvSpPr>
        <p:spPr>
          <a:xfrm>
            <a:off x="7510543" y="4554937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solidFill>
                  <a:srgbClr val="00B050"/>
                </a:solidFill>
              </a:rPr>
              <a:t>Y</a:t>
            </a:r>
            <a:endParaRPr lang="zh-CN" altLang="en-US" b="1" dirty="0">
              <a:solidFill>
                <a:srgbClr val="00B050"/>
              </a:solidFill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10379383" y="4515327"/>
            <a:ext cx="360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N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6210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0369" y="254381"/>
            <a:ext cx="9068981" cy="760288"/>
          </a:xfrm>
        </p:spPr>
        <p:txBody>
          <a:bodyPr>
            <a:normAutofit/>
          </a:bodyPr>
          <a:lstStyle/>
          <a:p>
            <a:r>
              <a:rPr lang="en-US" altLang="zh-CN" sz="4000" b="1" dirty="0" smtClean="0">
                <a:latin typeface="+mj-ea"/>
              </a:rPr>
              <a:t>Bloom Filter</a:t>
            </a:r>
            <a:endParaRPr lang="zh-CN" altLang="en-US" sz="4000" b="1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096595" y="1329100"/>
                <a:ext cx="9543071" cy="4898979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70000"/>
                  </a:lnSpc>
                  <a:spcBef>
                    <a:spcPts val="0"/>
                  </a:spcBef>
                </a:pPr>
                <a:r>
                  <a:rPr lang="zh-CN" altLang="en-US" b="1" dirty="0" smtClean="0"/>
                  <a:t>分析：</a:t>
                </a:r>
                <a:endParaRPr lang="en-US" altLang="zh-CN" b="1" dirty="0" smtClean="0"/>
              </a:p>
              <a:p>
                <a:pPr lvl="1">
                  <a:lnSpc>
                    <a:spcPct val="170000"/>
                  </a:lnSpc>
                  <a:spcBef>
                    <a:spcPts val="0"/>
                  </a:spcBef>
                </a:pPr>
                <a:r>
                  <a:rPr lang="zh-CN" altLang="en-US" b="1" dirty="0" smtClean="0"/>
                  <a:t>假阳性概率：</a:t>
                </a:r>
                <a:endParaRPr lang="en-US" altLang="zh-CN" b="1" dirty="0" smtClean="0"/>
              </a:p>
              <a:p>
                <a:pPr lvl="2">
                  <a:lnSpc>
                    <a:spcPct val="170000"/>
                  </a:lnSpc>
                  <a:spcBef>
                    <a:spcPts val="0"/>
                  </a:spcBef>
                </a:pPr>
                <a:r>
                  <a:rPr lang="zh-CN" altLang="en-US" b="1" dirty="0" smtClean="0"/>
                  <a:t>比特串长 </a:t>
                </a:r>
                <a:r>
                  <a:rPr lang="en-US" altLang="zh-CN" b="1" dirty="0" smtClean="0"/>
                  <a:t>m, </a:t>
                </a:r>
                <a:r>
                  <a:rPr lang="zh-CN" altLang="en-US" b="1" dirty="0" smtClean="0"/>
                  <a:t>集合中有 </a:t>
                </a:r>
                <a:r>
                  <a:rPr lang="en-US" altLang="zh-CN" b="1" dirty="0" smtClean="0"/>
                  <a:t>n </a:t>
                </a:r>
                <a:r>
                  <a:rPr lang="zh-CN" altLang="en-US" b="1" dirty="0" smtClean="0"/>
                  <a:t>个 元素，使用 </a:t>
                </a:r>
                <a:r>
                  <a:rPr lang="en-US" altLang="zh-CN" b="1" dirty="0" smtClean="0"/>
                  <a:t>k </a:t>
                </a:r>
                <a:r>
                  <a:rPr lang="zh-CN" altLang="en-US" b="1" dirty="0" smtClean="0"/>
                  <a:t>个不同的哈希映射，假设每个元素的</a:t>
                </a:r>
                <a:r>
                  <a:rPr lang="en-US" altLang="zh-CN" b="1" dirty="0"/>
                  <a:t> </a:t>
                </a:r>
                <a:r>
                  <a:rPr lang="en-US" altLang="zh-CN" b="1" dirty="0" smtClean="0"/>
                  <a:t>k </a:t>
                </a:r>
                <a:r>
                  <a:rPr lang="zh-CN" altLang="en-US" b="1" dirty="0" smtClean="0"/>
                  <a:t>个映射位置不冲突。</a:t>
                </a:r>
                <a:endParaRPr lang="en-US" altLang="zh-CN" b="1" dirty="0" smtClean="0"/>
              </a:p>
              <a:p>
                <a:pPr lvl="2">
                  <a:lnSpc>
                    <a:spcPct val="170000"/>
                  </a:lnSpc>
                  <a:spcBef>
                    <a:spcPts val="0"/>
                  </a:spcBef>
                </a:pPr>
                <a:r>
                  <a:rPr lang="zh-CN" altLang="en-US" b="1" dirty="0" smtClean="0"/>
                  <a:t>对于一个不存在的元素 </a:t>
                </a:r>
                <a:r>
                  <a:rPr lang="en-US" altLang="zh-CN" b="1" dirty="0" smtClean="0"/>
                  <a:t>y</a:t>
                </a:r>
                <a:r>
                  <a:rPr lang="zh-CN" altLang="en-US" b="1" dirty="0" smtClean="0"/>
                  <a:t>， 它的一个映射位置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b="1" dirty="0" smtClean="0"/>
                  <a:t> </a:t>
                </a:r>
                <a:r>
                  <a:rPr lang="zh-CN" altLang="en-US" b="1" dirty="0" smtClean="0"/>
                  <a:t>仍</a:t>
                </a:r>
                <a:r>
                  <a:rPr lang="zh-CN" altLang="en-US" b="1" dirty="0"/>
                  <a:t>为</a:t>
                </a:r>
                <a:r>
                  <a:rPr lang="zh-CN" altLang="en-US" b="1" dirty="0" smtClean="0"/>
                  <a:t> </a:t>
                </a:r>
                <a:r>
                  <a:rPr lang="en-US" altLang="zh-CN" b="1" dirty="0" smtClean="0"/>
                  <a:t>0 </a:t>
                </a:r>
                <a:r>
                  <a:rPr lang="zh-CN" altLang="en-US" b="1" dirty="0" smtClean="0"/>
                  <a:t>的概率：</a:t>
                </a:r>
                <a:endParaRPr lang="en-US" altLang="zh-CN" b="1" dirty="0" smtClean="0"/>
              </a:p>
              <a:p>
                <a:pPr marL="914400" lvl="2" indent="0">
                  <a:lnSpc>
                    <a:spcPct val="17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CN" b="1" i="1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=(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den>
                          </m:f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altLang="zh-CN" b="1" dirty="0" smtClean="0"/>
                            <m:t> </m:t>
                          </m:r>
                        </m:e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𝒏𝒌</m:t>
                          </m:r>
                        </m:sup>
                      </m:sSup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𝒏𝒌</m:t>
                              </m:r>
                            </m:num>
                            <m:den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𝒎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altLang="zh-CN" b="1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6595" y="1329100"/>
                <a:ext cx="9543071" cy="4898979"/>
              </a:xfrm>
              <a:blipFill>
                <a:blip r:embed="rId3"/>
                <a:stretch>
                  <a:fillRect l="-1150" r="-3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线连接符 4"/>
          <p:cNvCxnSpPr/>
          <p:nvPr/>
        </p:nvCxnSpPr>
        <p:spPr>
          <a:xfrm flipV="1">
            <a:off x="1050058" y="1014668"/>
            <a:ext cx="9647041" cy="5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直线连接符 5"/>
          <p:cNvCxnSpPr/>
          <p:nvPr/>
        </p:nvCxnSpPr>
        <p:spPr>
          <a:xfrm>
            <a:off x="1096595" y="6371261"/>
            <a:ext cx="9600504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347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0369" y="254381"/>
            <a:ext cx="9068981" cy="760288"/>
          </a:xfrm>
        </p:spPr>
        <p:txBody>
          <a:bodyPr>
            <a:normAutofit/>
          </a:bodyPr>
          <a:lstStyle/>
          <a:p>
            <a:r>
              <a:rPr lang="en-US" altLang="zh-CN" sz="4000" b="1" dirty="0" smtClean="0">
                <a:latin typeface="+mj-ea"/>
              </a:rPr>
              <a:t>Bloom Filter</a:t>
            </a:r>
            <a:endParaRPr lang="zh-CN" altLang="en-US" sz="4000" b="1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096595" y="1329100"/>
                <a:ext cx="9543071" cy="4898979"/>
              </a:xfrm>
            </p:spPr>
            <p:txBody>
              <a:bodyPr>
                <a:noAutofit/>
              </a:bodyPr>
              <a:lstStyle/>
              <a:p>
                <a:pPr lvl="2">
                  <a:lnSpc>
                    <a:spcPct val="170000"/>
                  </a:lnSpc>
                  <a:spcBef>
                    <a:spcPts val="0"/>
                  </a:spcBef>
                </a:pPr>
                <a:r>
                  <a:rPr lang="zh-CN" altLang="en-US" b="1" dirty="0" smtClean="0"/>
                  <a:t>它的</a:t>
                </a:r>
                <a:r>
                  <a:rPr lang="en-US" altLang="zh-CN" b="1" dirty="0"/>
                  <a:t> </a:t>
                </a:r>
                <a:r>
                  <a:rPr lang="en-US" altLang="zh-CN" b="1" dirty="0" smtClean="0"/>
                  <a:t>k </a:t>
                </a:r>
                <a:r>
                  <a:rPr lang="zh-CN" altLang="en-US" b="1" dirty="0" smtClean="0"/>
                  <a:t>个映射位置都为 </a:t>
                </a:r>
                <a:r>
                  <a:rPr lang="en-US" altLang="zh-CN" b="1" dirty="0" smtClean="0"/>
                  <a:t>1 </a:t>
                </a:r>
                <a:r>
                  <a:rPr lang="zh-CN" altLang="en-US" b="1" dirty="0" smtClean="0"/>
                  <a:t>的概率，即为假阳性概率：</a:t>
                </a:r>
                <a:endParaRPr lang="en-US" altLang="zh-CN" b="1" dirty="0" smtClean="0"/>
              </a:p>
              <a:p>
                <a:pPr marL="914400" lvl="2" indent="0">
                  <a:lnSpc>
                    <a:spcPct val="17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m:rPr>
                              <m:sty m:val="p"/>
                            </m:rPr>
                            <a:rPr lang="en-US" altLang="zh-CN" b="1" i="1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=(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sup>
                      </m:sSup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𝒌𝒏</m:t>
                                  </m:r>
                                </m:num>
                                <m:den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</m:den>
                              </m:f>
                            </m:sup>
                          </m:sSup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sup>
                      </m:sSup>
                    </m:oMath>
                  </m:oMathPara>
                </a14:m>
                <a:endParaRPr lang="en-US" altLang="zh-CN" b="1" dirty="0" smtClean="0"/>
              </a:p>
              <a:p>
                <a:pPr marL="698400" lvl="2">
                  <a:lnSpc>
                    <a:spcPct val="170000"/>
                  </a:lnSpc>
                  <a:spcBef>
                    <a:spcPts val="0"/>
                  </a:spcBef>
                </a:pPr>
                <a:r>
                  <a:rPr lang="zh-CN" altLang="en-US" sz="2400" b="1" dirty="0" smtClean="0"/>
                  <a:t>最佳哈希函数数量：</a:t>
                </a:r>
                <a:endParaRPr lang="en-US" altLang="zh-CN" sz="2400" b="1" dirty="0" smtClean="0"/>
              </a:p>
              <a:p>
                <a:pPr marL="469800" lvl="2" indent="0">
                  <a:lnSpc>
                    <a:spcPct val="17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𝒍𝒏</m:t>
                    </m:r>
                    <m:d>
                      <m:d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  <m:r>
                          <m:rPr>
                            <m:sty m:val="p"/>
                          </m:rPr>
                          <a:rPr lang="en-US" altLang="zh-CN" sz="2400" b="1" i="1"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d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𝒍𝒏</m:t>
                    </m:r>
                    <m:d>
                      <m:d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𝒌𝒏</m:t>
                                </m:r>
                              </m:num>
                              <m:den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</m:den>
                            </m:f>
                          </m:sup>
                        </m:sSup>
                      </m:e>
                    </m:d>
                  </m:oMath>
                </a14:m>
                <a:r>
                  <a:rPr lang="en-US" altLang="zh-CN" sz="2400" b="1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num>
                      <m:den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den>
                    </m:f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𝒌𝒏</m:t>
                            </m:r>
                          </m:num>
                          <m:den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𝒎</m:t>
                            </m:r>
                          </m:den>
                        </m:f>
                      </m:e>
                    </m:d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𝒍𝒏</m:t>
                    </m:r>
                    <m:d>
                      <m:d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𝒌𝒏</m:t>
                                </m:r>
                              </m:num>
                              <m:den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</m:den>
                            </m:f>
                          </m:sup>
                        </m:sSup>
                      </m:e>
                    </m:d>
                  </m:oMath>
                </a14:m>
                <a:endParaRPr lang="en-US" altLang="zh-CN" sz="2400" b="1" dirty="0" smtClean="0"/>
              </a:p>
              <a:p>
                <a:pPr marL="469800" lvl="2" indent="0">
                  <a:lnSpc>
                    <a:spcPct val="170000"/>
                  </a:lnSpc>
                  <a:spcBef>
                    <a:spcPts val="0"/>
                  </a:spcBef>
                  <a:buNone/>
                </a:pPr>
                <a:r>
                  <a:rPr lang="en-US" altLang="zh-CN" sz="2400" b="1" dirty="0" smtClean="0"/>
                  <a:t>				 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num>
                      <m:den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den>
                    </m:f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𝒍𝒏</m:t>
                    </m:r>
                    <m:d>
                      <m:d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</m:d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𝒍𝒏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400" b="1" dirty="0" smtClean="0"/>
              </a:p>
              <a:p>
                <a:pPr marL="469800" lvl="2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zh-CN" altLang="en-US" sz="2400" b="1" dirty="0" smtClean="0"/>
                  <a:t>根据对称性可知，</a:t>
                </a:r>
                <a14:m>
                  <m:oMath xmlns:m="http://schemas.openxmlformats.org/officeDocument/2006/math">
                    <m:r>
                      <a:rPr lang="en-US" altLang="zh-CN" sz="2400" b="1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altLang="zh-CN" sz="2400" b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altLang="zh-CN" sz="2400" b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b="1" dirty="0" smtClean="0"/>
                  <a:t> 时假阳性最低，即为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num>
                      <m:den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den>
                    </m:f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𝒍𝒏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zh-CN" altLang="en-US" sz="2400" b="1" dirty="0" smtClean="0"/>
                  <a:t>，假阳性为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sup>
                    </m:sSup>
                  </m:oMath>
                </a14:m>
                <a:endParaRPr lang="en-US" altLang="zh-CN" sz="2400" b="1" dirty="0" smtClean="0"/>
              </a:p>
              <a:p>
                <a:pPr marL="698400" lvl="2">
                  <a:lnSpc>
                    <a:spcPct val="170000"/>
                  </a:lnSpc>
                  <a:spcBef>
                    <a:spcPts val="0"/>
                  </a:spcBef>
                </a:pPr>
                <a:endParaRPr lang="en-US" altLang="zh-CN" b="1" dirty="0" smtClean="0"/>
              </a:p>
              <a:p>
                <a:pPr marL="1371600" lvl="3" indent="0">
                  <a:lnSpc>
                    <a:spcPct val="170000"/>
                  </a:lnSpc>
                  <a:spcBef>
                    <a:spcPts val="0"/>
                  </a:spcBef>
                  <a:buNone/>
                </a:pPr>
                <a:r>
                  <a:rPr lang="en-US" altLang="zh-CN" b="1" dirty="0" smtClean="0"/>
                  <a:t> 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6595" y="1329100"/>
                <a:ext cx="9543071" cy="4898979"/>
              </a:xfrm>
              <a:blipFill>
                <a:blip r:embed="rId3"/>
                <a:stretch>
                  <a:fillRect b="-115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线连接符 4"/>
          <p:cNvCxnSpPr/>
          <p:nvPr/>
        </p:nvCxnSpPr>
        <p:spPr>
          <a:xfrm flipV="1">
            <a:off x="1050058" y="1014668"/>
            <a:ext cx="9647041" cy="5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6279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0369" y="254381"/>
            <a:ext cx="9068981" cy="760288"/>
          </a:xfrm>
        </p:spPr>
        <p:txBody>
          <a:bodyPr>
            <a:normAutofit/>
          </a:bodyPr>
          <a:lstStyle/>
          <a:p>
            <a:r>
              <a:rPr lang="en-US" altLang="zh-CN" sz="4000" b="1" dirty="0" smtClean="0">
                <a:latin typeface="+mj-ea"/>
              </a:rPr>
              <a:t>Bloom Filter</a:t>
            </a:r>
            <a:endParaRPr lang="zh-CN" altLang="en-US" sz="4000" b="1" dirty="0">
              <a:latin typeface="+mj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6595" y="1329100"/>
            <a:ext cx="9543071" cy="4898979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zh-CN" altLang="en-US" b="1" dirty="0"/>
              <a:t>特性</a:t>
            </a:r>
            <a:r>
              <a:rPr lang="zh-CN" altLang="en-US" b="1" dirty="0" smtClean="0"/>
              <a:t>：</a:t>
            </a:r>
            <a:endParaRPr lang="en-US" altLang="zh-CN" b="1" dirty="0" smtClean="0"/>
          </a:p>
          <a:p>
            <a:pPr lvl="1">
              <a:lnSpc>
                <a:spcPct val="170000"/>
              </a:lnSpc>
              <a:spcBef>
                <a:spcPts val="0"/>
              </a:spcBef>
            </a:pPr>
            <a:r>
              <a:rPr lang="zh-CN" altLang="en-US" b="1" dirty="0" smtClean="0"/>
              <a:t>只具有假阳性：如果报告不存在，一定不存在。反之，如果存在，一定会报告存在。</a:t>
            </a:r>
            <a:endParaRPr lang="en-US" altLang="zh-CN" b="1" dirty="0" smtClean="0"/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zh-CN" altLang="en-US" b="1" dirty="0" smtClean="0"/>
              <a:t>时间与空间代价分析：</a:t>
            </a:r>
            <a:endParaRPr lang="en-US" altLang="zh-CN" b="1" dirty="0" smtClean="0"/>
          </a:p>
          <a:p>
            <a:pPr lvl="1">
              <a:lnSpc>
                <a:spcPct val="170000"/>
              </a:lnSpc>
              <a:spcBef>
                <a:spcPts val="0"/>
              </a:spcBef>
            </a:pPr>
            <a:r>
              <a:rPr lang="zh-CN" altLang="en-US" b="1" dirty="0" smtClean="0"/>
              <a:t>为了低假阳性，应用中空间代价还是 </a:t>
            </a:r>
            <a:r>
              <a:rPr lang="en-US" altLang="zh-CN" b="1" dirty="0" smtClean="0"/>
              <a:t>O(n) </a:t>
            </a:r>
            <a:r>
              <a:rPr lang="zh-CN" altLang="en-US" b="1" dirty="0" smtClean="0"/>
              <a:t>的，但是实际占用远小于哈希表或搜索树。</a:t>
            </a:r>
            <a:endParaRPr lang="en-US" altLang="zh-CN" b="1" dirty="0" smtClean="0"/>
          </a:p>
        </p:txBody>
      </p:sp>
      <p:cxnSp>
        <p:nvCxnSpPr>
          <p:cNvPr id="5" name="直线连接符 4"/>
          <p:cNvCxnSpPr/>
          <p:nvPr/>
        </p:nvCxnSpPr>
        <p:spPr>
          <a:xfrm flipV="1">
            <a:off x="1050058" y="1014668"/>
            <a:ext cx="9647041" cy="5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直线连接符 5"/>
          <p:cNvCxnSpPr/>
          <p:nvPr/>
        </p:nvCxnSpPr>
        <p:spPr>
          <a:xfrm>
            <a:off x="1096595" y="6371261"/>
            <a:ext cx="9600504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3736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0369" y="254381"/>
            <a:ext cx="9068981" cy="760288"/>
          </a:xfrm>
        </p:spPr>
        <p:txBody>
          <a:bodyPr>
            <a:normAutofit/>
          </a:bodyPr>
          <a:lstStyle/>
          <a:p>
            <a:r>
              <a:rPr lang="en-US" altLang="zh-CN" sz="4000" b="1" dirty="0" smtClean="0">
                <a:latin typeface="+mj-ea"/>
              </a:rPr>
              <a:t>Bloom Filter</a:t>
            </a:r>
            <a:endParaRPr lang="zh-CN" altLang="en-US" sz="4000" b="1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050058" y="1014667"/>
                <a:ext cx="9543071" cy="5985573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70000"/>
                  </a:lnSpc>
                  <a:spcBef>
                    <a:spcPts val="0"/>
                  </a:spcBef>
                </a:pPr>
                <a:r>
                  <a:rPr lang="zh-CN" altLang="en-US" b="1" dirty="0" smtClean="0"/>
                  <a:t>内存占用举例：</a:t>
                </a:r>
                <a:endParaRPr lang="en-US" altLang="zh-CN" b="1" dirty="0" smtClean="0"/>
              </a:p>
              <a:p>
                <a:pPr lvl="1">
                  <a:lnSpc>
                    <a:spcPct val="170000"/>
                  </a:lnSpc>
                  <a:spcBef>
                    <a:spcPts val="0"/>
                  </a:spcBef>
                </a:pPr>
                <a:r>
                  <a:rPr lang="en-US" altLang="zh-CN" b="1" dirty="0" smtClean="0"/>
                  <a:t>n=1M, </a:t>
                </a:r>
                <a:r>
                  <a:rPr lang="zh-CN" altLang="en-US" b="1" dirty="0" smtClean="0"/>
                  <a:t>假阳性要求为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altLang="zh-CN" b="1" dirty="0" smtClean="0"/>
                  <a:t> </a:t>
                </a:r>
                <a:r>
                  <a:rPr lang="zh-CN" altLang="en-US" b="1" dirty="0" smtClean="0"/>
                  <a:t>以下。取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𝟔</m:t>
                    </m:r>
                  </m:oMath>
                </a14:m>
                <a:r>
                  <a:rPr lang="zh-CN" altLang="en-US" b="1" dirty="0" smtClean="0"/>
                  <a:t>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0" dirty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sSup>
                          <m:sSupPr>
                            <m:ctrlP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0" dirty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sup>
                            <m:r>
                              <a:rPr lang="en-US" altLang="zh-CN" b="1" i="0" dirty="0"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p>
                        </m:sSup>
                      </m:den>
                    </m:f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𝟎𝟐</m:t>
                    </m:r>
                    <m:r>
                      <a:rPr lang="zh-CN" altLang="en-US" b="1" i="1" dirty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b="1" dirty="0" smtClean="0"/>
                  <a:t>则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1" i="1" dirty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𝒌</m:t>
                        </m:r>
                      </m:num>
                      <m:den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𝒍𝒏</m:t>
                        </m:r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𝟔</m:t>
                    </m:r>
                  </m:oMath>
                </a14:m>
                <a:r>
                  <a:rPr lang="en-US" altLang="zh-CN" b="1" dirty="0" smtClean="0"/>
                  <a:t> M</a:t>
                </a:r>
                <a:r>
                  <a:rPr lang="zh-CN" altLang="en-US" b="1" dirty="0" smtClean="0"/>
                  <a:t>，比特串约 </a:t>
                </a:r>
                <a:r>
                  <a:rPr lang="en-US" altLang="zh-CN" b="1" dirty="0" smtClean="0"/>
                  <a:t>1.08 MB</a:t>
                </a:r>
                <a:r>
                  <a:rPr lang="zh-CN" altLang="en-US" b="1" dirty="0" smtClean="0"/>
                  <a:t>。而用哈希表，假设</a:t>
                </a:r>
                <a:r>
                  <a:rPr lang="en-US" altLang="zh-CN" b="1" dirty="0" smtClean="0"/>
                  <a:t>key </a:t>
                </a:r>
                <a:r>
                  <a:rPr lang="zh-CN" altLang="en-US" b="1" dirty="0" smtClean="0"/>
                  <a:t>值长</a:t>
                </a:r>
                <a:r>
                  <a:rPr lang="en-US" altLang="zh-CN" b="1" dirty="0"/>
                  <a:t> </a:t>
                </a:r>
                <a:r>
                  <a:rPr lang="en-US" altLang="zh-CN" b="1" dirty="0" smtClean="0"/>
                  <a:t>4 bytes</a:t>
                </a:r>
                <a:r>
                  <a:rPr lang="zh-CN" altLang="en-US" b="1" dirty="0" smtClean="0"/>
                  <a:t>，即使 </a:t>
                </a:r>
                <a:r>
                  <a:rPr lang="en-US" altLang="zh-CN" b="1" dirty="0" smtClean="0"/>
                  <a:t>80% </a:t>
                </a:r>
                <a:r>
                  <a:rPr lang="zh-CN" altLang="en-US" b="1" dirty="0" smtClean="0"/>
                  <a:t>装载率的</a:t>
                </a:r>
                <a:r>
                  <a:rPr lang="en-US" altLang="zh-CN" b="1" dirty="0" smtClean="0"/>
                  <a:t>cuckoo </a:t>
                </a:r>
                <a:r>
                  <a:rPr lang="zh-CN" altLang="en-US" b="1" dirty="0" smtClean="0"/>
                  <a:t>哈希，也需要 </a:t>
                </a:r>
                <a:r>
                  <a:rPr lang="en-US" altLang="zh-CN" b="1" dirty="0" smtClean="0"/>
                  <a:t>5MB</a:t>
                </a:r>
                <a:r>
                  <a:rPr lang="zh-CN" altLang="en-US" b="1" dirty="0" smtClean="0"/>
                  <a:t>。而且</a:t>
                </a:r>
                <a:r>
                  <a:rPr lang="en-US" altLang="zh-CN" b="1" dirty="0"/>
                  <a:t> </a:t>
                </a:r>
                <a:r>
                  <a:rPr lang="en-US" altLang="zh-CN" b="1" dirty="0" smtClean="0"/>
                  <a:t>Bloom filter </a:t>
                </a:r>
                <a:r>
                  <a:rPr lang="zh-CN" altLang="en-US" b="1" dirty="0" smtClean="0"/>
                  <a:t>的更新和查询时间都是稳定的 </a:t>
                </a:r>
                <a:r>
                  <a:rPr lang="en-US" altLang="zh-CN" b="1" dirty="0" smtClean="0"/>
                  <a:t>O(1) </a:t>
                </a:r>
              </a:p>
              <a:p>
                <a:pPr>
                  <a:lnSpc>
                    <a:spcPct val="170000"/>
                  </a:lnSpc>
                  <a:spcBef>
                    <a:spcPts val="0"/>
                  </a:spcBef>
                </a:pPr>
                <a:r>
                  <a:rPr lang="zh-CN" altLang="en-US" b="1" dirty="0" smtClean="0"/>
                  <a:t>应用举例：</a:t>
                </a:r>
                <a:endParaRPr lang="en-US" altLang="zh-CN" b="1" dirty="0" smtClean="0"/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altLang="zh-CN" b="1" dirty="0" err="1" smtClean="0"/>
                  <a:t>Hbase</a:t>
                </a:r>
                <a:r>
                  <a:rPr lang="en-US" altLang="zh-CN" b="1" dirty="0" smtClean="0"/>
                  <a:t> </a:t>
                </a:r>
                <a:r>
                  <a:rPr lang="zh-CN" altLang="en-US" b="1" dirty="0" smtClean="0"/>
                  <a:t>在用</a:t>
                </a:r>
                <a:r>
                  <a:rPr lang="en-US" altLang="zh-CN" b="1" dirty="0" smtClean="0"/>
                  <a:t>Get </a:t>
                </a:r>
                <a:r>
                  <a:rPr lang="zh-CN" altLang="en-US" b="1" dirty="0" smtClean="0"/>
                  <a:t>方法获取键值指定的数据时，会用</a:t>
                </a:r>
                <a:r>
                  <a:rPr lang="en-US" altLang="zh-CN" b="1" dirty="0" smtClean="0"/>
                  <a:t>Bloom filter </a:t>
                </a:r>
                <a:r>
                  <a:rPr lang="zh-CN" altLang="en-US" b="1" dirty="0" smtClean="0"/>
                  <a:t>初步筛选文件</a:t>
                </a:r>
                <a:endParaRPr lang="en-US" altLang="zh-CN" b="1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0058" y="1014667"/>
                <a:ext cx="9543071" cy="5985573"/>
              </a:xfrm>
              <a:blipFill>
                <a:blip r:embed="rId3"/>
                <a:stretch>
                  <a:fillRect l="-11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线连接符 4"/>
          <p:cNvCxnSpPr/>
          <p:nvPr/>
        </p:nvCxnSpPr>
        <p:spPr>
          <a:xfrm flipV="1">
            <a:off x="1050058" y="1014668"/>
            <a:ext cx="9647041" cy="5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6344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0369" y="254381"/>
            <a:ext cx="9068981" cy="760288"/>
          </a:xfrm>
        </p:spPr>
        <p:txBody>
          <a:bodyPr>
            <a:normAutofit/>
          </a:bodyPr>
          <a:lstStyle/>
          <a:p>
            <a:r>
              <a:rPr lang="zh-CN" altLang="en-US" sz="4000" b="1" dirty="0" smtClean="0">
                <a:latin typeface="+mj-ea"/>
              </a:rPr>
              <a:t>思考</a:t>
            </a:r>
            <a:endParaRPr lang="zh-CN" altLang="en-US" sz="4000" b="1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102042" y="1166540"/>
                <a:ext cx="9543071" cy="5386660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70000"/>
                  </a:lnSpc>
                  <a:spcBef>
                    <a:spcPts val="0"/>
                  </a:spcBef>
                </a:pPr>
                <a:r>
                  <a:rPr lang="zh-CN" altLang="en-US" b="1" dirty="0" smtClean="0"/>
                  <a:t>如果不仅要查询存在性，还要查询频率</a:t>
                </a:r>
                <a:r>
                  <a:rPr lang="en-US" altLang="zh-CN" b="1" dirty="0" smtClean="0"/>
                  <a:t>?</a:t>
                </a:r>
              </a:p>
              <a:p>
                <a:pPr lvl="1">
                  <a:lnSpc>
                    <a:spcPct val="170000"/>
                  </a:lnSpc>
                  <a:spcBef>
                    <a:spcPts val="0"/>
                  </a:spcBef>
                </a:pPr>
                <a:r>
                  <a:rPr lang="zh-CN" altLang="en-US" b="1" dirty="0" smtClean="0"/>
                  <a:t>给定一个含重复项的集合 </a:t>
                </a:r>
                <a:r>
                  <a:rPr lang="en-US" altLang="zh-CN" b="1" dirty="0"/>
                  <a:t>S={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b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b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r>
                      <a:rPr lang="en-US" altLang="zh-CN" b="1">
                        <a:latin typeface="Cambria Math" panose="02040503050406030204" pitchFamily="18" charset="0"/>
                      </a:rPr>
                      <m:t>……</m:t>
                    </m:r>
                  </m:oMath>
                </a14:m>
                <a:r>
                  <a:rPr lang="en-US" altLang="zh-CN" b="1" dirty="0"/>
                  <a:t>}, </a:t>
                </a:r>
                <a:r>
                  <a:rPr lang="zh-CN" altLang="en-US" b="1" dirty="0"/>
                  <a:t>查询一个元素 </a:t>
                </a:r>
                <a14:m>
                  <m:oMath xmlns:m="http://schemas.openxmlformats.org/officeDocument/2006/math">
                    <m:r>
                      <a:rPr lang="en-US" altLang="zh-CN" b="1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altLang="zh-CN" b="1" dirty="0"/>
                  <a:t> </a:t>
                </a:r>
                <a:r>
                  <a:rPr lang="zh-CN" altLang="en-US" b="1" dirty="0" smtClean="0"/>
                  <a:t>在集合中出现的次数。</a:t>
                </a:r>
                <a:endParaRPr lang="en-US" altLang="zh-CN" b="1" dirty="0" smtClean="0"/>
              </a:p>
              <a:p>
                <a:pPr lvl="1">
                  <a:lnSpc>
                    <a:spcPct val="170000"/>
                  </a:lnSpc>
                  <a:spcBef>
                    <a:spcPts val="0"/>
                  </a:spcBef>
                </a:pPr>
                <a:r>
                  <a:rPr lang="zh-CN" altLang="en-US" b="1" dirty="0" smtClean="0"/>
                  <a:t>把</a:t>
                </a:r>
                <a:r>
                  <a:rPr lang="en-US" altLang="zh-CN" b="1" dirty="0" smtClean="0"/>
                  <a:t>Bloom filter </a:t>
                </a:r>
                <a:r>
                  <a:rPr lang="zh-CN" altLang="en-US" b="1" dirty="0" smtClean="0"/>
                  <a:t>的</a:t>
                </a:r>
                <a:r>
                  <a:rPr lang="en-US" altLang="zh-CN" b="1" dirty="0" smtClean="0"/>
                  <a:t>bit </a:t>
                </a:r>
                <a:r>
                  <a:rPr lang="zh-CN" altLang="en-US" b="1" dirty="0" smtClean="0"/>
                  <a:t>改为 计数器即可：</a:t>
                </a:r>
                <a:r>
                  <a:rPr lang="en-US" altLang="zh-CN" b="1" dirty="0" smtClean="0"/>
                  <a:t>Count Min Sketch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02042" y="1166540"/>
                <a:ext cx="9543071" cy="5386660"/>
              </a:xfrm>
              <a:blipFill>
                <a:blip r:embed="rId3"/>
                <a:stretch>
                  <a:fillRect l="-11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线连接符 4"/>
          <p:cNvCxnSpPr/>
          <p:nvPr/>
        </p:nvCxnSpPr>
        <p:spPr>
          <a:xfrm flipV="1">
            <a:off x="1050058" y="1014668"/>
            <a:ext cx="9647041" cy="5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4729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0369" y="254381"/>
            <a:ext cx="9068981" cy="760288"/>
          </a:xfrm>
        </p:spPr>
        <p:txBody>
          <a:bodyPr>
            <a:normAutofit/>
          </a:bodyPr>
          <a:lstStyle/>
          <a:p>
            <a:r>
              <a:rPr lang="zh-CN" altLang="en-US" sz="4000" b="1" dirty="0" smtClean="0">
                <a:latin typeface="+mj-ea"/>
              </a:rPr>
              <a:t>课程内容</a:t>
            </a:r>
            <a:endParaRPr lang="zh-CN" altLang="en-US" sz="4000" b="1" dirty="0">
              <a:latin typeface="+mj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6595" y="1329100"/>
            <a:ext cx="9543071" cy="4886027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zh-CN" altLang="en-US" sz="3200" b="1" dirty="0" smtClean="0">
                <a:latin typeface="+mn-ea"/>
              </a:rPr>
              <a:t>哈希表扩展</a:t>
            </a:r>
            <a:endParaRPr lang="en-US" altLang="zh-CN" sz="3200" b="1" dirty="0" smtClean="0">
              <a:latin typeface="+mn-ea"/>
            </a:endParaRPr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en-US" altLang="zh-CN" sz="3200" b="1" dirty="0" smtClean="0">
                <a:ea typeface="+mj-ea"/>
              </a:rPr>
              <a:t>Bloom Filter</a:t>
            </a:r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en-US" altLang="zh-CN" sz="3200" b="1" dirty="0" smtClean="0">
                <a:solidFill>
                  <a:srgbClr val="FF0000"/>
                </a:solidFill>
                <a:ea typeface="+mj-ea"/>
              </a:rPr>
              <a:t>Count Min Sketch</a:t>
            </a:r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zh-CN" altLang="en-US" sz="3200" b="1" dirty="0" smtClean="0">
                <a:latin typeface="+mn-ea"/>
              </a:rPr>
              <a:t>其他摘要算法</a:t>
            </a:r>
            <a:endParaRPr lang="en-US" altLang="zh-CN" sz="3200" b="1" dirty="0" smtClean="0">
              <a:latin typeface="+mn-ea"/>
            </a:endParaRPr>
          </a:p>
        </p:txBody>
      </p:sp>
      <p:cxnSp>
        <p:nvCxnSpPr>
          <p:cNvPr id="5" name="直线连接符 4"/>
          <p:cNvCxnSpPr/>
          <p:nvPr/>
        </p:nvCxnSpPr>
        <p:spPr>
          <a:xfrm flipV="1">
            <a:off x="1050058" y="1014668"/>
            <a:ext cx="9647041" cy="5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直线连接符 5"/>
          <p:cNvCxnSpPr/>
          <p:nvPr/>
        </p:nvCxnSpPr>
        <p:spPr>
          <a:xfrm>
            <a:off x="1096595" y="6371261"/>
            <a:ext cx="9600504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9426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0369" y="254381"/>
            <a:ext cx="9068981" cy="760288"/>
          </a:xfrm>
        </p:spPr>
        <p:txBody>
          <a:bodyPr>
            <a:normAutofit/>
          </a:bodyPr>
          <a:lstStyle/>
          <a:p>
            <a:r>
              <a:rPr lang="en-US" altLang="zh-CN" sz="4000" b="1" dirty="0" smtClean="0">
                <a:latin typeface="+mj-ea"/>
              </a:rPr>
              <a:t>Count Min</a:t>
            </a:r>
            <a:r>
              <a:rPr lang="zh-CN" altLang="en-US" sz="4000" b="1" dirty="0">
                <a:latin typeface="+mj-ea"/>
              </a:rPr>
              <a:t> </a:t>
            </a:r>
            <a:r>
              <a:rPr lang="en-US" altLang="zh-CN" sz="4000" b="1" dirty="0" smtClean="0">
                <a:latin typeface="+mj-ea"/>
              </a:rPr>
              <a:t>(CM) Sketch</a:t>
            </a:r>
            <a:endParaRPr lang="zh-CN" altLang="en-US" sz="4000" b="1" dirty="0">
              <a:latin typeface="+mj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25311" y="1319902"/>
            <a:ext cx="9543071" cy="893086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zh-CN" altLang="en-US" b="1" dirty="0" smtClean="0"/>
              <a:t>数据结构</a:t>
            </a:r>
            <a:endParaRPr lang="en-US" altLang="zh-CN" b="1" dirty="0" smtClean="0"/>
          </a:p>
        </p:txBody>
      </p:sp>
      <p:cxnSp>
        <p:nvCxnSpPr>
          <p:cNvPr id="5" name="直线连接符 4"/>
          <p:cNvCxnSpPr/>
          <p:nvPr/>
        </p:nvCxnSpPr>
        <p:spPr>
          <a:xfrm flipV="1">
            <a:off x="1050058" y="1014668"/>
            <a:ext cx="9647041" cy="5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4" name="矩形 43"/>
          <p:cNvSpPr/>
          <p:nvPr/>
        </p:nvSpPr>
        <p:spPr>
          <a:xfrm>
            <a:off x="4114193" y="3024222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0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675140" y="4501055"/>
            <a:ext cx="461665" cy="58080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••••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1635760" y="4313909"/>
                <a:ext cx="47320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0">
                          <a:latin typeface="Cambria Math" panose="02040503050406030204" pitchFamily="18" charset="0"/>
                        </a:rPr>
                        <m:t>𝐱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5760" y="4313909"/>
                <a:ext cx="473206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直接箭头连接符 22"/>
          <p:cNvCxnSpPr>
            <a:stCxn id="9" idx="3"/>
            <a:endCxn id="128" idx="0"/>
          </p:cNvCxnSpPr>
          <p:nvPr/>
        </p:nvCxnSpPr>
        <p:spPr>
          <a:xfrm>
            <a:off x="2108966" y="4575519"/>
            <a:ext cx="5415872" cy="84064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矩形 95"/>
          <p:cNvSpPr/>
          <p:nvPr/>
        </p:nvSpPr>
        <p:spPr>
          <a:xfrm>
            <a:off x="4733058" y="3024222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3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5354607" y="3024222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0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5973472" y="3024222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2</a:t>
            </a:r>
            <a:r>
              <a:rPr lang="en-US" altLang="zh-CN" b="1" dirty="0" smtClean="0">
                <a:solidFill>
                  <a:srgbClr val="FF0000"/>
                </a:solidFill>
              </a:rPr>
              <a:t>+1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01" name="矩形 100"/>
          <p:cNvSpPr/>
          <p:nvPr/>
        </p:nvSpPr>
        <p:spPr>
          <a:xfrm>
            <a:off x="6598777" y="3024222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0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02" name="矩形 101"/>
          <p:cNvSpPr/>
          <p:nvPr/>
        </p:nvSpPr>
        <p:spPr>
          <a:xfrm>
            <a:off x="7217642" y="3024222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4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03" name="矩形 102"/>
          <p:cNvSpPr/>
          <p:nvPr/>
        </p:nvSpPr>
        <p:spPr>
          <a:xfrm>
            <a:off x="7839191" y="3024222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04" name="矩形 103"/>
          <p:cNvSpPr/>
          <p:nvPr/>
        </p:nvSpPr>
        <p:spPr>
          <a:xfrm>
            <a:off x="8460453" y="3024222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3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9082002" y="3024222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…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10" name="矩形 109"/>
          <p:cNvSpPr/>
          <p:nvPr/>
        </p:nvSpPr>
        <p:spPr>
          <a:xfrm>
            <a:off x="4109720" y="3970110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11" name="矩形 110"/>
          <p:cNvSpPr/>
          <p:nvPr/>
        </p:nvSpPr>
        <p:spPr>
          <a:xfrm>
            <a:off x="4728585" y="3970110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2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12" name="矩形 111"/>
          <p:cNvSpPr/>
          <p:nvPr/>
        </p:nvSpPr>
        <p:spPr>
          <a:xfrm>
            <a:off x="5350134" y="3970110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2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13" name="矩形 112"/>
          <p:cNvSpPr/>
          <p:nvPr/>
        </p:nvSpPr>
        <p:spPr>
          <a:xfrm>
            <a:off x="5968999" y="3970110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6594304" y="3970110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0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15" name="矩形 114"/>
          <p:cNvSpPr/>
          <p:nvPr/>
        </p:nvSpPr>
        <p:spPr>
          <a:xfrm>
            <a:off x="7213169" y="3970110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3</a:t>
            </a:r>
            <a:r>
              <a:rPr lang="en-US" altLang="zh-CN" b="1" dirty="0" smtClean="0">
                <a:solidFill>
                  <a:srgbClr val="FF0000"/>
                </a:solidFill>
              </a:rPr>
              <a:t>+1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16" name="矩形 115"/>
          <p:cNvSpPr/>
          <p:nvPr/>
        </p:nvSpPr>
        <p:spPr>
          <a:xfrm>
            <a:off x="7834718" y="3970110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8455980" y="3970110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0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18" name="矩形 117"/>
          <p:cNvSpPr/>
          <p:nvPr/>
        </p:nvSpPr>
        <p:spPr>
          <a:xfrm>
            <a:off x="9077529" y="3970110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…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cxnSp>
        <p:nvCxnSpPr>
          <p:cNvPr id="16" name="直接箭头连接符 15"/>
          <p:cNvCxnSpPr>
            <a:stCxn id="9" idx="3"/>
          </p:cNvCxnSpPr>
          <p:nvPr/>
        </p:nvCxnSpPr>
        <p:spPr>
          <a:xfrm flipV="1">
            <a:off x="2108966" y="4391135"/>
            <a:ext cx="5501045" cy="184384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>
            <a:stCxn id="9" idx="3"/>
            <a:endCxn id="98" idx="2"/>
          </p:cNvCxnSpPr>
          <p:nvPr/>
        </p:nvCxnSpPr>
        <p:spPr>
          <a:xfrm flipV="1">
            <a:off x="2108966" y="3420462"/>
            <a:ext cx="4176175" cy="1155057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矩形 122"/>
          <p:cNvSpPr/>
          <p:nvPr/>
        </p:nvSpPr>
        <p:spPr>
          <a:xfrm>
            <a:off x="4109720" y="5416168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0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24" name="矩形 123"/>
          <p:cNvSpPr/>
          <p:nvPr/>
        </p:nvSpPr>
        <p:spPr>
          <a:xfrm>
            <a:off x="4728585" y="5416168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25" name="矩形 124"/>
          <p:cNvSpPr/>
          <p:nvPr/>
        </p:nvSpPr>
        <p:spPr>
          <a:xfrm>
            <a:off x="5350134" y="5416168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3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26" name="矩形 125"/>
          <p:cNvSpPr/>
          <p:nvPr/>
        </p:nvSpPr>
        <p:spPr>
          <a:xfrm>
            <a:off x="5968999" y="5416168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2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27" name="矩形 126"/>
          <p:cNvSpPr/>
          <p:nvPr/>
        </p:nvSpPr>
        <p:spPr>
          <a:xfrm>
            <a:off x="6594304" y="5416168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28" name="矩形 127"/>
          <p:cNvSpPr/>
          <p:nvPr/>
        </p:nvSpPr>
        <p:spPr>
          <a:xfrm>
            <a:off x="7213169" y="5416168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2</a:t>
            </a:r>
            <a:r>
              <a:rPr lang="en-US" altLang="zh-CN" b="1" dirty="0" smtClean="0">
                <a:solidFill>
                  <a:srgbClr val="FF0000"/>
                </a:solidFill>
              </a:rPr>
              <a:t>+1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29" name="矩形 128"/>
          <p:cNvSpPr/>
          <p:nvPr/>
        </p:nvSpPr>
        <p:spPr>
          <a:xfrm>
            <a:off x="7834718" y="5416168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30" name="矩形 129"/>
          <p:cNvSpPr/>
          <p:nvPr/>
        </p:nvSpPr>
        <p:spPr>
          <a:xfrm>
            <a:off x="8455980" y="5416168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0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31" name="矩形 130"/>
          <p:cNvSpPr/>
          <p:nvPr/>
        </p:nvSpPr>
        <p:spPr>
          <a:xfrm>
            <a:off x="9077529" y="5416168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…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文本框 132"/>
              <p:cNvSpPr txBox="1"/>
              <p:nvPr/>
            </p:nvSpPr>
            <p:spPr>
              <a:xfrm>
                <a:off x="2996424" y="3647186"/>
                <a:ext cx="8145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lang="en-US" altLang="zh-CN" b="1" i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133" name="文本框 1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6424" y="3647186"/>
                <a:ext cx="814582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文本框 133"/>
              <p:cNvSpPr txBox="1"/>
              <p:nvPr/>
            </p:nvSpPr>
            <p:spPr>
              <a:xfrm>
                <a:off x="4330240" y="4496909"/>
                <a:ext cx="8145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lang="en-US" altLang="zh-CN" b="1" i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b="1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134" name="文本框 1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0240" y="4496909"/>
                <a:ext cx="814582" cy="369332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文本框 134"/>
              <p:cNvSpPr txBox="1"/>
              <p:nvPr/>
            </p:nvSpPr>
            <p:spPr>
              <a:xfrm>
                <a:off x="3286160" y="4918205"/>
                <a:ext cx="8161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lang="en-US" altLang="zh-CN" b="1" i="0" smtClean="0">
                              <a:latin typeface="Cambria Math" panose="02040503050406030204" pitchFamily="18" charset="0"/>
                            </a:rPr>
                            <m:t>𝐝</m:t>
                          </m:r>
                        </m:sub>
                      </m:sSub>
                      <m:r>
                        <a:rPr lang="en-US" altLang="zh-CN" b="1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135" name="文本框 1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6160" y="4918205"/>
                <a:ext cx="816184" cy="369332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6" name="左大括号 135"/>
          <p:cNvSpPr/>
          <p:nvPr/>
        </p:nvSpPr>
        <p:spPr>
          <a:xfrm rot="10800000">
            <a:off x="9831283" y="3018486"/>
            <a:ext cx="389999" cy="2793922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文本框 136"/>
              <p:cNvSpPr txBox="1"/>
              <p:nvPr/>
            </p:nvSpPr>
            <p:spPr>
              <a:xfrm>
                <a:off x="10286105" y="4104740"/>
                <a:ext cx="50366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0" smtClean="0">
                          <a:latin typeface="Cambria Math" panose="02040503050406030204" pitchFamily="18" charset="0"/>
                        </a:rPr>
                        <m:t>𝐝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137" name="文本框 1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6105" y="4104740"/>
                <a:ext cx="503664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文本框 137"/>
              <p:cNvSpPr txBox="1"/>
              <p:nvPr/>
            </p:nvSpPr>
            <p:spPr>
              <a:xfrm>
                <a:off x="6638973" y="2212988"/>
                <a:ext cx="57419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0" smtClean="0">
                          <a:latin typeface="Cambria Math" panose="02040503050406030204" pitchFamily="18" charset="0"/>
                        </a:rPr>
                        <m:t>𝐰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138" name="文本框 1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8973" y="2212988"/>
                <a:ext cx="574196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9" name="左大括号 138"/>
          <p:cNvSpPr/>
          <p:nvPr/>
        </p:nvSpPr>
        <p:spPr>
          <a:xfrm rot="5400000">
            <a:off x="6746534" y="109388"/>
            <a:ext cx="317522" cy="5591147"/>
          </a:xfrm>
          <a:prstGeom prst="leftBrace">
            <a:avLst>
              <a:gd name="adj1" fmla="val 0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9236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4581321" y="2298870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0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7143825" y="4313567"/>
            <a:ext cx="461665" cy="58080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••••</a:t>
            </a:r>
            <a:endParaRPr lang="zh-CN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5200186" y="2298870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3</a:t>
            </a:r>
            <a:r>
              <a:rPr lang="en-US" altLang="zh-CN" b="1" dirty="0" smtClean="0">
                <a:solidFill>
                  <a:srgbClr val="FF0000"/>
                </a:solidFill>
              </a:rPr>
              <a:t>+1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5821735" y="2298870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0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6440600" y="2298870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2</a:t>
            </a:r>
            <a:r>
              <a:rPr lang="en-US" altLang="zh-CN" b="1" dirty="0" smtClean="0">
                <a:solidFill>
                  <a:srgbClr val="FF0000"/>
                </a:solidFill>
              </a:rPr>
              <a:t>+1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7065905" y="2298870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0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7684770" y="2298870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4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8306319" y="2298870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8927581" y="2298870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3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9549130" y="2298870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…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4599240" y="3568532"/>
            <a:ext cx="618865" cy="44485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5218105" y="3568532"/>
            <a:ext cx="618865" cy="44485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2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5839654" y="3568532"/>
            <a:ext cx="618865" cy="44485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2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6458519" y="3568532"/>
            <a:ext cx="618865" cy="44485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7083824" y="3568532"/>
            <a:ext cx="618865" cy="44485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0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7702689" y="3568532"/>
            <a:ext cx="618865" cy="44485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3</a:t>
            </a:r>
            <a:r>
              <a:rPr lang="en-US" altLang="zh-CN" b="1" dirty="0" smtClean="0">
                <a:solidFill>
                  <a:srgbClr val="FF0000"/>
                </a:solidFill>
              </a:rPr>
              <a:t>+2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8324238" y="3568532"/>
            <a:ext cx="618865" cy="44485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8945500" y="3568532"/>
            <a:ext cx="618865" cy="44485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0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9567049" y="3568532"/>
            <a:ext cx="618865" cy="44485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…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4608598" y="5052945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0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5227463" y="5052945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5849012" y="5052945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3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6467877" y="5052945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2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7093182" y="5052945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7712047" y="5052945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2</a:t>
            </a:r>
            <a:r>
              <a:rPr lang="en-US" altLang="zh-CN" b="1" dirty="0" smtClean="0">
                <a:solidFill>
                  <a:srgbClr val="FF0000"/>
                </a:solidFill>
              </a:rPr>
              <a:t>+2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00" name="矩形 99"/>
          <p:cNvSpPr/>
          <p:nvPr/>
        </p:nvSpPr>
        <p:spPr>
          <a:xfrm>
            <a:off x="8333596" y="5052945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01" name="矩形 100"/>
          <p:cNvSpPr/>
          <p:nvPr/>
        </p:nvSpPr>
        <p:spPr>
          <a:xfrm>
            <a:off x="8954858" y="5052945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0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02" name="矩形 101"/>
          <p:cNvSpPr/>
          <p:nvPr/>
        </p:nvSpPr>
        <p:spPr>
          <a:xfrm>
            <a:off x="9576407" y="5052945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…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0369" y="254381"/>
            <a:ext cx="9068981" cy="760288"/>
          </a:xfrm>
        </p:spPr>
        <p:txBody>
          <a:bodyPr>
            <a:normAutofit/>
          </a:bodyPr>
          <a:lstStyle/>
          <a:p>
            <a:r>
              <a:rPr lang="en-US" altLang="zh-CN" sz="4000" b="1" dirty="0" smtClean="0">
                <a:latin typeface="+mj-ea"/>
              </a:rPr>
              <a:t>Count Min</a:t>
            </a:r>
            <a:r>
              <a:rPr lang="zh-CN" altLang="en-US" sz="4000" b="1" dirty="0" smtClean="0">
                <a:latin typeface="+mj-ea"/>
              </a:rPr>
              <a:t> </a:t>
            </a:r>
            <a:r>
              <a:rPr lang="en-US" altLang="zh-CN" sz="4000" b="1" dirty="0" smtClean="0">
                <a:latin typeface="+mj-ea"/>
              </a:rPr>
              <a:t>(CM) Sketch</a:t>
            </a:r>
            <a:endParaRPr lang="zh-CN" altLang="en-US" sz="4000" b="1" dirty="0">
              <a:latin typeface="+mj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6595" y="1329101"/>
            <a:ext cx="9543071" cy="893086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zh-CN" altLang="en-US" b="1" dirty="0" smtClean="0"/>
              <a:t>哈希冲突</a:t>
            </a:r>
            <a:endParaRPr lang="en-US" altLang="zh-CN" b="1" dirty="0" smtClean="0"/>
          </a:p>
        </p:txBody>
      </p:sp>
      <p:cxnSp>
        <p:nvCxnSpPr>
          <p:cNvPr id="5" name="直线连接符 4"/>
          <p:cNvCxnSpPr/>
          <p:nvPr/>
        </p:nvCxnSpPr>
        <p:spPr>
          <a:xfrm flipV="1">
            <a:off x="1050058" y="1014668"/>
            <a:ext cx="9647041" cy="5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直线连接符 5"/>
          <p:cNvCxnSpPr/>
          <p:nvPr/>
        </p:nvCxnSpPr>
        <p:spPr>
          <a:xfrm>
            <a:off x="1096595" y="6371261"/>
            <a:ext cx="9600504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/>
              <p:cNvSpPr txBox="1"/>
              <p:nvPr/>
            </p:nvSpPr>
            <p:spPr>
              <a:xfrm>
                <a:off x="1330960" y="2831011"/>
                <a:ext cx="63613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34" name="文本框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0960" y="2831011"/>
                <a:ext cx="636135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接连接符 7"/>
          <p:cNvCxnSpPr>
            <a:stCxn id="34" idx="3"/>
            <a:endCxn id="55" idx="2"/>
          </p:cNvCxnSpPr>
          <p:nvPr/>
        </p:nvCxnSpPr>
        <p:spPr>
          <a:xfrm flipV="1">
            <a:off x="1967095" y="2695110"/>
            <a:ext cx="4785174" cy="397511"/>
          </a:xfrm>
          <a:prstGeom prst="line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>
            <a:stCxn id="34" idx="3"/>
            <a:endCxn id="90" idx="0"/>
          </p:cNvCxnSpPr>
          <p:nvPr/>
        </p:nvCxnSpPr>
        <p:spPr>
          <a:xfrm>
            <a:off x="1967095" y="3092621"/>
            <a:ext cx="6045027" cy="475911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stCxn id="34" idx="3"/>
            <a:endCxn id="99" idx="0"/>
          </p:cNvCxnSpPr>
          <p:nvPr/>
        </p:nvCxnSpPr>
        <p:spPr>
          <a:xfrm>
            <a:off x="1967095" y="3092621"/>
            <a:ext cx="6056621" cy="1960324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/>
              <p:cNvSpPr txBox="1"/>
              <p:nvPr/>
            </p:nvSpPr>
            <p:spPr>
              <a:xfrm>
                <a:off x="1330960" y="4327751"/>
                <a:ext cx="63613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43" name="文本框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0960" y="4327751"/>
                <a:ext cx="636135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直接箭头连接符 15"/>
          <p:cNvCxnSpPr>
            <a:stCxn id="43" idx="3"/>
            <a:endCxn id="52" idx="2"/>
          </p:cNvCxnSpPr>
          <p:nvPr/>
        </p:nvCxnSpPr>
        <p:spPr>
          <a:xfrm flipV="1">
            <a:off x="1967095" y="2695110"/>
            <a:ext cx="3544760" cy="1894251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stCxn id="43" idx="3"/>
            <a:endCxn id="90" idx="2"/>
          </p:cNvCxnSpPr>
          <p:nvPr/>
        </p:nvCxnSpPr>
        <p:spPr>
          <a:xfrm flipV="1">
            <a:off x="1967095" y="4013389"/>
            <a:ext cx="6045027" cy="575972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>
            <a:stCxn id="43" idx="3"/>
            <a:endCxn id="99" idx="0"/>
          </p:cNvCxnSpPr>
          <p:nvPr/>
        </p:nvCxnSpPr>
        <p:spPr>
          <a:xfrm>
            <a:off x="1967095" y="4589361"/>
            <a:ext cx="6056621" cy="463584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950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0369" y="254381"/>
            <a:ext cx="9068981" cy="760288"/>
          </a:xfrm>
        </p:spPr>
        <p:txBody>
          <a:bodyPr>
            <a:normAutofit/>
          </a:bodyPr>
          <a:lstStyle/>
          <a:p>
            <a:r>
              <a:rPr lang="en-US" altLang="zh-CN" sz="4000" b="1" dirty="0" smtClean="0">
                <a:latin typeface="+mj-ea"/>
              </a:rPr>
              <a:t>Count Min</a:t>
            </a:r>
            <a:r>
              <a:rPr lang="zh-CN" altLang="en-US" sz="4000" b="1" dirty="0" smtClean="0">
                <a:latin typeface="+mj-ea"/>
              </a:rPr>
              <a:t> </a:t>
            </a:r>
            <a:r>
              <a:rPr lang="en-US" altLang="zh-CN" sz="4000" b="1" dirty="0" smtClean="0">
                <a:latin typeface="+mj-ea"/>
              </a:rPr>
              <a:t>(CM) Sketch</a:t>
            </a:r>
            <a:endParaRPr lang="zh-CN" altLang="en-US" sz="4000" b="1" dirty="0">
              <a:latin typeface="+mj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6595" y="1329101"/>
            <a:ext cx="9543071" cy="893086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zh-CN" altLang="en-US" b="1" dirty="0" smtClean="0"/>
              <a:t>查询</a:t>
            </a:r>
            <a:endParaRPr lang="en-US" altLang="zh-CN" b="1" dirty="0" smtClean="0"/>
          </a:p>
        </p:txBody>
      </p:sp>
      <p:cxnSp>
        <p:nvCxnSpPr>
          <p:cNvPr id="5" name="直线连接符 4"/>
          <p:cNvCxnSpPr/>
          <p:nvPr/>
        </p:nvCxnSpPr>
        <p:spPr>
          <a:xfrm flipV="1">
            <a:off x="1050058" y="1014668"/>
            <a:ext cx="9647041" cy="5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直线连接符 5"/>
          <p:cNvCxnSpPr/>
          <p:nvPr/>
        </p:nvCxnSpPr>
        <p:spPr>
          <a:xfrm>
            <a:off x="1096595" y="6371261"/>
            <a:ext cx="9600504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>
            <a:off x="3073317" y="2623990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0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5637297" y="4517290"/>
            <a:ext cx="461665" cy="58080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••••</a:t>
            </a:r>
            <a:endParaRPr lang="zh-CN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3692182" y="2623990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rgbClr val="FF0000"/>
                </a:solidFill>
              </a:rPr>
              <a:t>3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4313731" y="2623990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0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4932596" y="2623990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2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5557901" y="2623990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0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6176766" y="2623990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4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6798315" y="2623990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419577" y="2623990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3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8041126" y="2623990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…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3100594" y="3754290"/>
            <a:ext cx="618865" cy="44485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3719459" y="3754290"/>
            <a:ext cx="618865" cy="44485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2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4341008" y="3754290"/>
            <a:ext cx="618865" cy="44485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2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4959873" y="3754290"/>
            <a:ext cx="618865" cy="44485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5585178" y="3754290"/>
            <a:ext cx="618865" cy="44485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0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6204043" y="3754290"/>
            <a:ext cx="618865" cy="44485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rgbClr val="FF0000"/>
                </a:solidFill>
              </a:rPr>
              <a:t>3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6825592" y="3754290"/>
            <a:ext cx="618865" cy="44485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7446854" y="3754290"/>
            <a:ext cx="618865" cy="44485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0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8068403" y="3754290"/>
            <a:ext cx="618865" cy="44485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…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3100594" y="5378065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0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3719459" y="5378065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4341008" y="5378065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3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4959873" y="5378065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2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5585178" y="5378065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6204043" y="5378065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rgbClr val="FF0000"/>
                </a:solidFill>
              </a:rPr>
              <a:t>2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6825592" y="5378065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7446854" y="5378065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0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8068403" y="5378065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…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文本框 88"/>
              <p:cNvSpPr txBox="1"/>
              <p:nvPr/>
            </p:nvSpPr>
            <p:spPr>
              <a:xfrm>
                <a:off x="1432560" y="4497468"/>
                <a:ext cx="49885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89" name="文本框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2560" y="4497468"/>
                <a:ext cx="498855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接箭头连接符 7"/>
          <p:cNvCxnSpPr>
            <a:stCxn id="89" idx="3"/>
            <a:endCxn id="36" idx="2"/>
          </p:cNvCxnSpPr>
          <p:nvPr/>
        </p:nvCxnSpPr>
        <p:spPr>
          <a:xfrm flipV="1">
            <a:off x="1931415" y="3020230"/>
            <a:ext cx="2072436" cy="1738848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>
            <a:stCxn id="89" idx="3"/>
            <a:endCxn id="51" idx="2"/>
          </p:cNvCxnSpPr>
          <p:nvPr/>
        </p:nvCxnSpPr>
        <p:spPr>
          <a:xfrm flipV="1">
            <a:off x="1931415" y="4199147"/>
            <a:ext cx="4582061" cy="559931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89" idx="3"/>
            <a:endCxn id="62" idx="0"/>
          </p:cNvCxnSpPr>
          <p:nvPr/>
        </p:nvCxnSpPr>
        <p:spPr>
          <a:xfrm>
            <a:off x="1931415" y="4759078"/>
            <a:ext cx="4584297" cy="618987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文本框 89"/>
              <p:cNvSpPr txBox="1"/>
              <p:nvPr/>
            </p:nvSpPr>
            <p:spPr>
              <a:xfrm>
                <a:off x="10039350" y="3754290"/>
                <a:ext cx="187262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𝒈𝒆𝒕𝒎𝒊𝒏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()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90" name="文本框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9350" y="3754290"/>
                <a:ext cx="187262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直接箭头连接符 16"/>
          <p:cNvCxnSpPr>
            <a:stCxn id="36" idx="2"/>
            <a:endCxn id="90" idx="1"/>
          </p:cNvCxnSpPr>
          <p:nvPr/>
        </p:nvCxnSpPr>
        <p:spPr>
          <a:xfrm>
            <a:off x="4003851" y="3020230"/>
            <a:ext cx="6035499" cy="99567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>
            <a:stCxn id="51" idx="2"/>
            <a:endCxn id="90" idx="1"/>
          </p:cNvCxnSpPr>
          <p:nvPr/>
        </p:nvCxnSpPr>
        <p:spPr>
          <a:xfrm flipV="1">
            <a:off x="6513476" y="4015900"/>
            <a:ext cx="3525874" cy="183247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62" idx="0"/>
            <a:endCxn id="90" idx="1"/>
          </p:cNvCxnSpPr>
          <p:nvPr/>
        </p:nvCxnSpPr>
        <p:spPr>
          <a:xfrm flipV="1">
            <a:off x="6515712" y="4015900"/>
            <a:ext cx="3523638" cy="1362165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2573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0369" y="254381"/>
            <a:ext cx="9068981" cy="760288"/>
          </a:xfrm>
        </p:spPr>
        <p:txBody>
          <a:bodyPr>
            <a:normAutofit/>
          </a:bodyPr>
          <a:lstStyle/>
          <a:p>
            <a:r>
              <a:rPr lang="en-US" altLang="zh-CN" sz="4000" b="1" dirty="0" smtClean="0">
                <a:latin typeface="+mj-ea"/>
              </a:rPr>
              <a:t>Count Min</a:t>
            </a:r>
            <a:r>
              <a:rPr lang="zh-CN" altLang="en-US" sz="4000" b="1" dirty="0" smtClean="0">
                <a:latin typeface="+mj-ea"/>
              </a:rPr>
              <a:t> </a:t>
            </a:r>
            <a:r>
              <a:rPr lang="en-US" altLang="zh-CN" sz="4000" b="1" dirty="0" smtClean="0">
                <a:latin typeface="+mj-ea"/>
              </a:rPr>
              <a:t>(CM) Sketch</a:t>
            </a:r>
            <a:endParaRPr lang="zh-CN" altLang="en-US" sz="4000" b="1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096595" y="1329100"/>
                <a:ext cx="9543071" cy="4898979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70000"/>
                  </a:lnSpc>
                  <a:spcBef>
                    <a:spcPts val="0"/>
                  </a:spcBef>
                </a:pPr>
                <a:r>
                  <a:rPr lang="zh-CN" altLang="en-US" b="1" dirty="0" smtClean="0"/>
                  <a:t>分析：</a:t>
                </a:r>
                <a:endParaRPr lang="en-US" altLang="zh-CN" b="1" dirty="0" smtClean="0"/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b="1" dirty="0" smtClean="0"/>
                  <a:t>查询结果不会小于真实值。</a:t>
                </a:r>
                <a:endParaRPr lang="en-US" altLang="zh-CN" b="1" dirty="0" smtClean="0"/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b="1" dirty="0" smtClean="0"/>
                  <a:t>错误率，即查询结果不等于真实值的概率，与</a:t>
                </a:r>
                <a:r>
                  <a:rPr lang="en-US" altLang="zh-CN" b="1" dirty="0" smtClean="0"/>
                  <a:t>Bloom filter</a:t>
                </a:r>
                <a:r>
                  <a:rPr lang="zh-CN" altLang="en-US" b="1" dirty="0" smtClean="0"/>
                  <a:t>的</a:t>
                </a:r>
                <a:r>
                  <a:rPr lang="zh-CN" altLang="en-US" b="1" dirty="0"/>
                  <a:t>假</a:t>
                </a:r>
                <a:r>
                  <a:rPr lang="zh-CN" altLang="en-US" b="1" dirty="0" smtClean="0"/>
                  <a:t>阳性概率相同</a:t>
                </a:r>
                <a:endParaRPr lang="en-US" altLang="zh-CN" b="1" dirty="0" smtClean="0"/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b="1" dirty="0" smtClean="0"/>
                  <a:t>误差分析：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⌈"/>
                        <m:endChr m:val="⌉"/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𝒆</m:t>
                            </m:r>
                          </m:num>
                          <m:den>
                            <m:r>
                              <a:rPr lang="zh-CN" altLang="en-US" b="1" i="1" smtClean="0">
                                <a:latin typeface="Cambria Math" panose="02040503050406030204" pitchFamily="18" charset="0"/>
                              </a:rPr>
                              <m:t>𝜺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b="1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⌈"/>
                        <m:endChr m:val="⌉"/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𝒍𝒏</m:t>
                        </m:r>
                        <m:f>
                          <m:f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zh-CN" altLang="en-US" b="1" i="1" smtClean="0">
                                <a:latin typeface="Cambria Math" panose="02040503050406030204" pitchFamily="18" charset="0"/>
                              </a:rPr>
                              <m:t>𝜹</m:t>
                            </m:r>
                          </m:den>
                        </m:f>
                      </m:e>
                    </m:d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b="1" dirty="0" smtClean="0"/>
                  <a:t> </a:t>
                </a:r>
                <a:r>
                  <a:rPr lang="zh-CN" altLang="en-US" b="1" dirty="0" smtClean="0"/>
                  <a:t>则一个元素 </a:t>
                </a:r>
                <a:r>
                  <a:rPr lang="en-US" altLang="zh-CN" b="1" dirty="0" err="1" smtClean="0"/>
                  <a:t>i</a:t>
                </a:r>
                <a:r>
                  <a:rPr lang="en-US" altLang="zh-CN" b="1" dirty="0" smtClean="0"/>
                  <a:t> </a:t>
                </a:r>
                <a:r>
                  <a:rPr lang="zh-CN" altLang="en-US" b="1" dirty="0" smtClean="0"/>
                  <a:t>的频率的查询值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̂"/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acc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CN" b="1" dirty="0" smtClean="0"/>
                  <a:t> </a:t>
                </a:r>
                <a:r>
                  <a:rPr lang="zh-CN" altLang="en-US" b="1" dirty="0" smtClean="0"/>
                  <a:t>和真实值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CN" b="1" dirty="0" smtClean="0"/>
                  <a:t> </a:t>
                </a:r>
                <a:r>
                  <a:rPr lang="zh-CN" altLang="en-US" b="1" dirty="0" smtClean="0"/>
                  <a:t>满足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𝑷𝒓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acc>
                              <m:accPr>
                                <m:chr m:val="̂"/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zh-CN" alt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𝜺</m:t>
                        </m:r>
                        <m:d>
                          <m:dPr>
                            <m:begChr m:val="‖"/>
                            <m:endChr m:val="‖"/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𝒂</m:t>
                            </m:r>
                          </m:e>
                        </m:d>
                      </m:e>
                    </m:d>
                    <m:r>
                      <a:rPr lang="en-US" altLang="zh-CN" b="1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b="1" i="1" smtClean="0">
                        <a:latin typeface="Cambria Math" panose="02040503050406030204" pitchFamily="18" charset="0"/>
                      </a:rPr>
                      <m:t>𝜹</m:t>
                    </m:r>
                  </m:oMath>
                </a14:m>
                <a:r>
                  <a:rPr lang="en-US" altLang="zh-CN" b="1" dirty="0" smtClean="0"/>
                  <a:t>, </a:t>
                </a:r>
                <a:r>
                  <a:rPr lang="zh-CN" altLang="en-US" b="1" dirty="0" smtClean="0"/>
                  <a:t>其中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</m:t>
                        </m:r>
                      </m:e>
                    </m:d>
                  </m:oMath>
                </a14:m>
                <a:r>
                  <a:rPr lang="en-US" altLang="zh-CN" b="1" dirty="0" smtClean="0"/>
                  <a:t> </a:t>
                </a:r>
                <a:r>
                  <a:rPr lang="zh-CN" altLang="en-US" b="1" dirty="0" smtClean="0"/>
                  <a:t>为集合中所有元素频率和</a:t>
                </a:r>
                <a:endParaRPr lang="en-US" altLang="zh-CN" b="1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6595" y="1329100"/>
                <a:ext cx="9543071" cy="4898979"/>
              </a:xfrm>
              <a:blipFill>
                <a:blip r:embed="rId3"/>
                <a:stretch>
                  <a:fillRect l="-1150" r="-7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线连接符 4"/>
          <p:cNvCxnSpPr/>
          <p:nvPr/>
        </p:nvCxnSpPr>
        <p:spPr>
          <a:xfrm flipV="1">
            <a:off x="1050058" y="1014668"/>
            <a:ext cx="9647041" cy="5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直线连接符 5"/>
          <p:cNvCxnSpPr/>
          <p:nvPr/>
        </p:nvCxnSpPr>
        <p:spPr>
          <a:xfrm>
            <a:off x="1096595" y="6371261"/>
            <a:ext cx="9600504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8927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0369" y="254381"/>
            <a:ext cx="9068981" cy="760288"/>
          </a:xfrm>
        </p:spPr>
        <p:txBody>
          <a:bodyPr>
            <a:normAutofit/>
          </a:bodyPr>
          <a:lstStyle/>
          <a:p>
            <a:r>
              <a:rPr lang="zh-CN" altLang="en-US" sz="4000" b="1" dirty="0" smtClean="0">
                <a:latin typeface="+mj-ea"/>
              </a:rPr>
              <a:t>课程内容</a:t>
            </a:r>
            <a:endParaRPr lang="zh-CN" altLang="en-US" sz="4000" b="1" dirty="0">
              <a:latin typeface="+mj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6595" y="1329100"/>
            <a:ext cx="9543071" cy="4886027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zh-CN" altLang="en-US" sz="3200" b="1" dirty="0" smtClean="0">
                <a:latin typeface="+mn-ea"/>
              </a:rPr>
              <a:t>哈希表扩展</a:t>
            </a:r>
            <a:endParaRPr lang="en-US" altLang="zh-CN" sz="3200" b="1" dirty="0" smtClean="0">
              <a:latin typeface="+mn-ea"/>
            </a:endParaRPr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en-US" altLang="zh-CN" sz="3200" b="1" dirty="0" smtClean="0">
                <a:ea typeface="+mj-ea"/>
              </a:rPr>
              <a:t>Bloom Filter</a:t>
            </a:r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en-US" altLang="zh-CN" sz="3200" b="1" dirty="0" smtClean="0">
                <a:ea typeface="+mj-ea"/>
              </a:rPr>
              <a:t>Count Min Sketch</a:t>
            </a:r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zh-CN" altLang="en-US" sz="3200" b="1" dirty="0" smtClean="0">
                <a:solidFill>
                  <a:srgbClr val="FF0000"/>
                </a:solidFill>
                <a:latin typeface="+mn-ea"/>
              </a:rPr>
              <a:t>其他摘要算法</a:t>
            </a:r>
            <a:endParaRPr lang="en-US" altLang="zh-CN" sz="3200" b="1" dirty="0" smtClean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5" name="直线连接符 4"/>
          <p:cNvCxnSpPr/>
          <p:nvPr/>
        </p:nvCxnSpPr>
        <p:spPr>
          <a:xfrm flipV="1">
            <a:off x="1050058" y="1014668"/>
            <a:ext cx="9647041" cy="5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直线连接符 5"/>
          <p:cNvCxnSpPr/>
          <p:nvPr/>
        </p:nvCxnSpPr>
        <p:spPr>
          <a:xfrm>
            <a:off x="1096595" y="6371261"/>
            <a:ext cx="9600504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7546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0369" y="254381"/>
            <a:ext cx="9068981" cy="760288"/>
          </a:xfrm>
        </p:spPr>
        <p:txBody>
          <a:bodyPr>
            <a:normAutofit/>
          </a:bodyPr>
          <a:lstStyle/>
          <a:p>
            <a:r>
              <a:rPr lang="en-US" altLang="zh-CN" sz="4000" b="1" dirty="0" smtClean="0">
                <a:latin typeface="+mj-ea"/>
              </a:rPr>
              <a:t>CU Sketch</a:t>
            </a:r>
            <a:endParaRPr lang="zh-CN" altLang="en-US" sz="4000" b="1" dirty="0">
              <a:latin typeface="+mj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25311" y="1319902"/>
            <a:ext cx="9543071" cy="893086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zh-CN" altLang="en-US" b="1" dirty="0" smtClean="0"/>
              <a:t>与</a:t>
            </a:r>
            <a:r>
              <a:rPr lang="en-US" altLang="zh-CN" b="1" dirty="0" smtClean="0"/>
              <a:t>CM sketch </a:t>
            </a:r>
            <a:r>
              <a:rPr lang="zh-CN" altLang="en-US" b="1" dirty="0" smtClean="0"/>
              <a:t>基本相同</a:t>
            </a:r>
            <a:r>
              <a:rPr lang="en-US" altLang="zh-CN" b="1" dirty="0" smtClean="0"/>
              <a:t>, </a:t>
            </a:r>
            <a:r>
              <a:rPr lang="zh-CN" altLang="en-US" b="1" dirty="0" smtClean="0"/>
              <a:t>在更新时只对映射位置中最小的加</a:t>
            </a:r>
            <a:r>
              <a:rPr lang="en-US" altLang="zh-CN" b="1" dirty="0" smtClean="0"/>
              <a:t>1</a:t>
            </a:r>
            <a:r>
              <a:rPr lang="zh-CN" altLang="en-US" b="1" dirty="0" smtClean="0"/>
              <a:t>。</a:t>
            </a:r>
            <a:endParaRPr lang="en-US" altLang="zh-CN" b="1" dirty="0" smtClean="0"/>
          </a:p>
        </p:txBody>
      </p:sp>
      <p:cxnSp>
        <p:nvCxnSpPr>
          <p:cNvPr id="5" name="直线连接符 4"/>
          <p:cNvCxnSpPr/>
          <p:nvPr/>
        </p:nvCxnSpPr>
        <p:spPr>
          <a:xfrm flipV="1">
            <a:off x="1050058" y="1014668"/>
            <a:ext cx="9647041" cy="5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4" name="矩形 43"/>
          <p:cNvSpPr/>
          <p:nvPr/>
        </p:nvSpPr>
        <p:spPr>
          <a:xfrm>
            <a:off x="4021523" y="3450942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0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582470" y="4927775"/>
            <a:ext cx="461665" cy="58080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••••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1543090" y="4740629"/>
                <a:ext cx="47320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0">
                          <a:latin typeface="Cambria Math" panose="02040503050406030204" pitchFamily="18" charset="0"/>
                        </a:rPr>
                        <m:t>𝐱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3090" y="4740629"/>
                <a:ext cx="473206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直接箭头连接符 22"/>
          <p:cNvCxnSpPr>
            <a:stCxn id="9" idx="3"/>
            <a:endCxn id="128" idx="0"/>
          </p:cNvCxnSpPr>
          <p:nvPr/>
        </p:nvCxnSpPr>
        <p:spPr>
          <a:xfrm>
            <a:off x="2016296" y="5002239"/>
            <a:ext cx="5415872" cy="84064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矩形 95"/>
          <p:cNvSpPr/>
          <p:nvPr/>
        </p:nvSpPr>
        <p:spPr>
          <a:xfrm>
            <a:off x="4640388" y="3450942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3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5261937" y="3450942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0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5880802" y="3450942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2</a:t>
            </a:r>
            <a:r>
              <a:rPr lang="en-US" altLang="zh-CN" b="1" dirty="0" smtClean="0">
                <a:solidFill>
                  <a:srgbClr val="FF0000"/>
                </a:solidFill>
              </a:rPr>
              <a:t>+1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01" name="矩形 100"/>
          <p:cNvSpPr/>
          <p:nvPr/>
        </p:nvSpPr>
        <p:spPr>
          <a:xfrm>
            <a:off x="6506107" y="3450942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0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02" name="矩形 101"/>
          <p:cNvSpPr/>
          <p:nvPr/>
        </p:nvSpPr>
        <p:spPr>
          <a:xfrm>
            <a:off x="7124972" y="3450942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4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03" name="矩形 102"/>
          <p:cNvSpPr/>
          <p:nvPr/>
        </p:nvSpPr>
        <p:spPr>
          <a:xfrm>
            <a:off x="7746521" y="3450942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04" name="矩形 103"/>
          <p:cNvSpPr/>
          <p:nvPr/>
        </p:nvSpPr>
        <p:spPr>
          <a:xfrm>
            <a:off x="8367783" y="3450942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3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8989332" y="3450942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…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10" name="矩形 109"/>
          <p:cNvSpPr/>
          <p:nvPr/>
        </p:nvSpPr>
        <p:spPr>
          <a:xfrm>
            <a:off x="4017050" y="4396830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11" name="矩形 110"/>
          <p:cNvSpPr/>
          <p:nvPr/>
        </p:nvSpPr>
        <p:spPr>
          <a:xfrm>
            <a:off x="4635915" y="4396830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2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12" name="矩形 111"/>
          <p:cNvSpPr/>
          <p:nvPr/>
        </p:nvSpPr>
        <p:spPr>
          <a:xfrm>
            <a:off x="5257464" y="4396830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2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13" name="矩形 112"/>
          <p:cNvSpPr/>
          <p:nvPr/>
        </p:nvSpPr>
        <p:spPr>
          <a:xfrm>
            <a:off x="5876329" y="4396830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6501634" y="4396830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0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15" name="矩形 114"/>
          <p:cNvSpPr/>
          <p:nvPr/>
        </p:nvSpPr>
        <p:spPr>
          <a:xfrm>
            <a:off x="7120499" y="4396830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3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16" name="矩形 115"/>
          <p:cNvSpPr/>
          <p:nvPr/>
        </p:nvSpPr>
        <p:spPr>
          <a:xfrm>
            <a:off x="7742048" y="4396830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8363310" y="4396830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0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18" name="矩形 117"/>
          <p:cNvSpPr/>
          <p:nvPr/>
        </p:nvSpPr>
        <p:spPr>
          <a:xfrm>
            <a:off x="8984859" y="4396830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…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cxnSp>
        <p:nvCxnSpPr>
          <p:cNvPr id="16" name="直接箭头连接符 15"/>
          <p:cNvCxnSpPr>
            <a:stCxn id="9" idx="3"/>
          </p:cNvCxnSpPr>
          <p:nvPr/>
        </p:nvCxnSpPr>
        <p:spPr>
          <a:xfrm flipV="1">
            <a:off x="2016296" y="4817855"/>
            <a:ext cx="5501045" cy="184384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>
            <a:stCxn id="9" idx="3"/>
            <a:endCxn id="98" idx="2"/>
          </p:cNvCxnSpPr>
          <p:nvPr/>
        </p:nvCxnSpPr>
        <p:spPr>
          <a:xfrm flipV="1">
            <a:off x="2016296" y="3847182"/>
            <a:ext cx="4176175" cy="1155057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矩形 122"/>
          <p:cNvSpPr/>
          <p:nvPr/>
        </p:nvSpPr>
        <p:spPr>
          <a:xfrm>
            <a:off x="4017050" y="5842888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0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24" name="矩形 123"/>
          <p:cNvSpPr/>
          <p:nvPr/>
        </p:nvSpPr>
        <p:spPr>
          <a:xfrm>
            <a:off x="4635915" y="5842888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25" name="矩形 124"/>
          <p:cNvSpPr/>
          <p:nvPr/>
        </p:nvSpPr>
        <p:spPr>
          <a:xfrm>
            <a:off x="5257464" y="5842888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3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26" name="矩形 125"/>
          <p:cNvSpPr/>
          <p:nvPr/>
        </p:nvSpPr>
        <p:spPr>
          <a:xfrm>
            <a:off x="5876329" y="5842888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2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27" name="矩形 126"/>
          <p:cNvSpPr/>
          <p:nvPr/>
        </p:nvSpPr>
        <p:spPr>
          <a:xfrm>
            <a:off x="6501634" y="5842888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28" name="矩形 127"/>
          <p:cNvSpPr/>
          <p:nvPr/>
        </p:nvSpPr>
        <p:spPr>
          <a:xfrm>
            <a:off x="7120499" y="5842888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3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29" name="矩形 128"/>
          <p:cNvSpPr/>
          <p:nvPr/>
        </p:nvSpPr>
        <p:spPr>
          <a:xfrm>
            <a:off x="7742048" y="5842888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30" name="矩形 129"/>
          <p:cNvSpPr/>
          <p:nvPr/>
        </p:nvSpPr>
        <p:spPr>
          <a:xfrm>
            <a:off x="8363310" y="5842888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0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31" name="矩形 130"/>
          <p:cNvSpPr/>
          <p:nvPr/>
        </p:nvSpPr>
        <p:spPr>
          <a:xfrm>
            <a:off x="8984859" y="5842888"/>
            <a:ext cx="623338" cy="396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</a:rPr>
              <a:t>…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文本框 132"/>
              <p:cNvSpPr txBox="1"/>
              <p:nvPr/>
            </p:nvSpPr>
            <p:spPr>
              <a:xfrm>
                <a:off x="2903754" y="4073906"/>
                <a:ext cx="8145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lang="en-US" altLang="zh-CN" b="1" i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133" name="文本框 1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3754" y="4073906"/>
                <a:ext cx="814582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文本框 133"/>
              <p:cNvSpPr txBox="1"/>
              <p:nvPr/>
            </p:nvSpPr>
            <p:spPr>
              <a:xfrm>
                <a:off x="4237570" y="4923629"/>
                <a:ext cx="8145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lang="en-US" altLang="zh-CN" b="1" i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b="1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134" name="文本框 1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7570" y="4923629"/>
                <a:ext cx="814582" cy="369332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文本框 134"/>
              <p:cNvSpPr txBox="1"/>
              <p:nvPr/>
            </p:nvSpPr>
            <p:spPr>
              <a:xfrm>
                <a:off x="3193490" y="5344925"/>
                <a:ext cx="8161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lang="en-US" altLang="zh-CN" b="1" i="0" smtClean="0">
                              <a:latin typeface="Cambria Math" panose="02040503050406030204" pitchFamily="18" charset="0"/>
                            </a:rPr>
                            <m:t>𝐝</m:t>
                          </m:r>
                        </m:sub>
                      </m:sSub>
                      <m:r>
                        <a:rPr lang="en-US" altLang="zh-CN" b="1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135" name="文本框 1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3490" y="5344925"/>
                <a:ext cx="816184" cy="369332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6" name="左大括号 135"/>
          <p:cNvSpPr/>
          <p:nvPr/>
        </p:nvSpPr>
        <p:spPr>
          <a:xfrm rot="10800000">
            <a:off x="9738613" y="3445206"/>
            <a:ext cx="389999" cy="2793922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文本框 136"/>
              <p:cNvSpPr txBox="1"/>
              <p:nvPr/>
            </p:nvSpPr>
            <p:spPr>
              <a:xfrm>
                <a:off x="10193435" y="4531460"/>
                <a:ext cx="50366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0" smtClean="0">
                          <a:latin typeface="Cambria Math" panose="02040503050406030204" pitchFamily="18" charset="0"/>
                        </a:rPr>
                        <m:t>𝐝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137" name="文本框 1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3435" y="4531460"/>
                <a:ext cx="503664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文本框 137"/>
              <p:cNvSpPr txBox="1"/>
              <p:nvPr/>
            </p:nvSpPr>
            <p:spPr>
              <a:xfrm>
                <a:off x="6546303" y="2639708"/>
                <a:ext cx="57419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0" smtClean="0">
                          <a:latin typeface="Cambria Math" panose="02040503050406030204" pitchFamily="18" charset="0"/>
                        </a:rPr>
                        <m:t>𝐰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138" name="文本框 1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6303" y="2639708"/>
                <a:ext cx="574196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9" name="左大括号 138"/>
          <p:cNvSpPr/>
          <p:nvPr/>
        </p:nvSpPr>
        <p:spPr>
          <a:xfrm rot="5400000">
            <a:off x="6653864" y="536108"/>
            <a:ext cx="317522" cy="5591147"/>
          </a:xfrm>
          <a:prstGeom prst="leftBrace">
            <a:avLst>
              <a:gd name="adj1" fmla="val 0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5784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0369" y="254381"/>
            <a:ext cx="9068981" cy="760288"/>
          </a:xfrm>
        </p:spPr>
        <p:txBody>
          <a:bodyPr>
            <a:normAutofit/>
          </a:bodyPr>
          <a:lstStyle/>
          <a:p>
            <a:pPr algn="just"/>
            <a:r>
              <a:rPr lang="en-US" altLang="zh-CN" sz="3600" b="1" dirty="0" err="1" smtClean="0">
                <a:latin typeface="+mj-ea"/>
              </a:rPr>
              <a:t>Hyperloglog</a:t>
            </a:r>
            <a:r>
              <a:rPr lang="zh-CN" altLang="en-US" sz="3600" b="1" dirty="0" smtClean="0">
                <a:latin typeface="+mj-ea"/>
              </a:rPr>
              <a:t>算法</a:t>
            </a:r>
            <a:endParaRPr lang="zh-CN" altLang="en-US" sz="3840" b="1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096595" y="1329101"/>
                <a:ext cx="9543071" cy="3171780"/>
              </a:xfrm>
            </p:spPr>
            <p:txBody>
              <a:bodyPr>
                <a:noAutofit/>
              </a:bodyPr>
              <a:lstStyle/>
              <a:p>
                <a:pPr marL="687600" lvl="2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sz="1800" b="1" dirty="0" smtClean="0">
                    <a:latin typeface="+mn-ea"/>
                  </a:rPr>
                  <a:t>估算集合内互异元素个数（基数）。</a:t>
                </a:r>
                <a:endParaRPr lang="en-US" altLang="zh-CN" sz="1800" b="1" dirty="0" smtClean="0">
                  <a:latin typeface="+mn-ea"/>
                </a:endParaRPr>
              </a:p>
              <a:p>
                <a:pPr marL="687600" lvl="2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sz="1800" b="1" dirty="0" smtClean="0">
                    <a:latin typeface="+mn-ea"/>
                  </a:rPr>
                  <a:t>为每一个元素 </a:t>
                </a:r>
                <a14:m>
                  <m:oMath xmlns:m="http://schemas.openxmlformats.org/officeDocument/2006/math">
                    <m:r>
                      <a:rPr lang="en-US" altLang="zh-CN" sz="1800" b="1" i="1" smtClean="0">
                        <a:latin typeface="Cambria Math" panose="02040503050406030204" pitchFamily="18" charset="0"/>
                      </a:rPr>
                      <m:t>𝒆</m:t>
                    </m:r>
                  </m:oMath>
                </a14:m>
                <a:r>
                  <a:rPr lang="en-US" altLang="zh-CN" sz="1800" b="1" dirty="0" smtClean="0">
                    <a:latin typeface="+mn-ea"/>
                  </a:rPr>
                  <a:t> </a:t>
                </a:r>
                <a:r>
                  <a:rPr lang="zh-CN" altLang="en-US" sz="1800" b="1" dirty="0" smtClean="0">
                    <a:latin typeface="+mn-ea"/>
                  </a:rPr>
                  <a:t>计算一个哈希函数</a:t>
                </a:r>
                <a14:m>
                  <m:oMath xmlns:m="http://schemas.openxmlformats.org/officeDocument/2006/math">
                    <m:r>
                      <a:rPr lang="en-US" altLang="zh-CN" sz="1800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800" b="1" i="1">
                        <a:latin typeface="Cambria Math" panose="02040503050406030204" pitchFamily="18" charset="0"/>
                      </a:rPr>
                      <m:t>𝐲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b="1" i="1">
                        <a:latin typeface="Cambria Math" panose="02040503050406030204" pitchFamily="18" charset="0"/>
                      </a:rPr>
                      <m:t>𝐞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1800" b="1" dirty="0">
                    <a:latin typeface="+mn-ea"/>
                  </a:rPr>
                  <a:t>， </a:t>
                </a:r>
                <a14:m>
                  <m:oMath xmlns:m="http://schemas.openxmlformats.org/officeDocument/2006/math">
                    <m:r>
                      <a:rPr lang="en-US" altLang="zh-CN" sz="1800" b="1" i="1">
                        <a:latin typeface="Cambria Math" panose="02040503050406030204" pitchFamily="18" charset="0"/>
                      </a:rPr>
                      <m:t>𝐲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b="1" i="1">
                        <a:latin typeface="Cambria Math" panose="02040503050406030204" pitchFamily="18" charset="0"/>
                      </a:rPr>
                      <m:t>𝐞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800" b="1" dirty="0">
                    <a:latin typeface="+mn-ea"/>
                  </a:rPr>
                  <a:t> </a:t>
                </a:r>
                <a:r>
                  <a:rPr lang="zh-CN" altLang="zh-CN" sz="1800" b="1" dirty="0">
                    <a:latin typeface="+mn-ea"/>
                  </a:rPr>
                  <a:t>服从 </a:t>
                </a:r>
                <a14:m>
                  <m:oMath xmlns:m="http://schemas.openxmlformats.org/officeDocument/2006/math">
                    <m:r>
                      <a:rPr lang="en-US" altLang="zh-CN" sz="1800" b="1" i="1">
                        <a:latin typeface="Cambria Math" panose="02040503050406030204" pitchFamily="18" charset="0"/>
                      </a:rPr>
                      <m:t>𝐩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1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8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sz="1800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zh-CN" sz="1800" b="1" dirty="0">
                    <a:latin typeface="+mn-ea"/>
                  </a:rPr>
                  <a:t> </a:t>
                </a:r>
                <a:r>
                  <a:rPr lang="zh-CN" altLang="zh-CN" sz="1800" b="1" dirty="0">
                    <a:latin typeface="+mn-ea"/>
                  </a:rPr>
                  <a:t>的几何分布，即为</a:t>
                </a:r>
                <a14:m>
                  <m:oMath xmlns:m="http://schemas.openxmlformats.org/officeDocument/2006/math">
                    <m:r>
                      <a:rPr lang="en-US" altLang="zh-CN" sz="1800" b="1" i="1">
                        <a:latin typeface="Cambria Math" panose="02040503050406030204" pitchFamily="18" charset="0"/>
                      </a:rPr>
                      <m:t>𝐲</m:t>
                    </m:r>
                    <m:d>
                      <m:dPr>
                        <m:ctrlPr>
                          <a:rPr lang="zh-CN" altLang="zh-CN" sz="1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b="1" i="1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</m:d>
                    <m:r>
                      <a:rPr lang="en-US" altLang="zh-CN" sz="18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800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altLang="zh-CN" sz="1800" b="1" dirty="0">
                    <a:latin typeface="+mn-ea"/>
                  </a:rPr>
                  <a:t> </a:t>
                </a:r>
                <a:r>
                  <a:rPr lang="zh-CN" altLang="zh-CN" sz="1800" b="1" dirty="0">
                    <a:latin typeface="+mn-ea"/>
                  </a:rPr>
                  <a:t>的概率为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1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8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sSup>
                          <m:sSupPr>
                            <m:ctrlPr>
                              <a:rPr lang="zh-CN" altLang="zh-CN" sz="18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sup>
                            <m:r>
                              <a:rPr lang="en-US" altLang="zh-CN" sz="18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en-US" sz="1800" b="1" dirty="0" smtClean="0">
                    <a:latin typeface="+mn-ea"/>
                  </a:rPr>
                  <a:t>。</a:t>
                </a:r>
                <a:endParaRPr lang="en-US" altLang="zh-CN" sz="1800" b="1" dirty="0" smtClean="0">
                  <a:latin typeface="+mn-ea"/>
                </a:endParaRPr>
              </a:p>
              <a:p>
                <a:pPr marL="687600" lvl="2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sz="1800" b="1" dirty="0">
                    <a:latin typeface="+mn-ea"/>
                  </a:rPr>
                  <a:t>用另一个哈希函数</a:t>
                </a:r>
                <a14:m>
                  <m:oMath xmlns:m="http://schemas.openxmlformats.org/officeDocument/2006/math">
                    <m:r>
                      <a:rPr lang="en-US" altLang="zh-CN" sz="1800" b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800" b="1" dirty="0">
                    <a:latin typeface="+mn-ea"/>
                  </a:rPr>
                  <a:t> </a:t>
                </a:r>
                <a:r>
                  <a:rPr lang="zh-CN" altLang="en-US" sz="1800" b="1" dirty="0">
                    <a:latin typeface="+mn-ea"/>
                  </a:rPr>
                  <a:t>将</a:t>
                </a:r>
                <a:r>
                  <a:rPr lang="en-US" altLang="zh-CN" sz="1800" b="1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 b="1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altLang="zh-CN" sz="1800" b="1" dirty="0">
                    <a:latin typeface="+mn-ea"/>
                  </a:rPr>
                  <a:t> </a:t>
                </a:r>
                <a:r>
                  <a:rPr lang="zh-CN" altLang="en-US" sz="1800" b="1" dirty="0">
                    <a:latin typeface="+mn-ea"/>
                  </a:rPr>
                  <a:t>映射到</a:t>
                </a:r>
                <a:r>
                  <a:rPr lang="zh-CN" altLang="zh-CN" sz="1800" b="1" dirty="0">
                    <a:latin typeface="+mn-ea"/>
                  </a:rPr>
                  <a:t>长度为</a:t>
                </a:r>
                <a:r>
                  <a:rPr lang="en-US" altLang="zh-CN" sz="1800" b="1" dirty="0">
                    <a:latin typeface="+mn-ea"/>
                  </a:rPr>
                  <a:t>k</a:t>
                </a:r>
                <a:r>
                  <a:rPr lang="zh-CN" altLang="zh-CN" sz="1800" b="1" dirty="0">
                    <a:latin typeface="+mn-ea"/>
                  </a:rPr>
                  <a:t>的计数器数组 </a:t>
                </a:r>
                <a14:m>
                  <m:oMath xmlns:m="http://schemas.openxmlformats.org/officeDocument/2006/math">
                    <m:r>
                      <a:rPr lang="en-US" altLang="zh-CN" sz="1800" b="1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zh-CN" altLang="zh-CN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CN" sz="1800" b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800" b="1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zh-CN" altLang="zh-CN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CN" sz="1800" b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800" b="1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zh-CN" altLang="zh-CN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CN" sz="1800" b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1800" b="1">
                        <a:latin typeface="Cambria Math" panose="02040503050406030204" pitchFamily="18" charset="0"/>
                      </a:rPr>
                      <m:t>…..</m:t>
                    </m:r>
                    <m:sSub>
                      <m:sSubPr>
                        <m:ctrlPr>
                          <a:rPr lang="zh-CN" altLang="zh-CN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CN" sz="1800" b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1800" b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zh-CN" sz="1800" b="1" dirty="0">
                    <a:latin typeface="+mn-ea"/>
                  </a:rPr>
                  <a:t> </a:t>
                </a:r>
                <a:r>
                  <a:rPr lang="zh-CN" altLang="en-US" sz="1800" b="1" dirty="0">
                    <a:latin typeface="+mn-ea"/>
                  </a:rPr>
                  <a:t>中的一个位置，若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800" b="1">
                        <a:latin typeface="Cambria Math" panose="02040503050406030204" pitchFamily="18" charset="0"/>
                      </a:rPr>
                      <m:t>y</m:t>
                    </m:r>
                    <m:d>
                      <m:dPr>
                        <m:ctrlPr>
                          <a:rPr lang="zh-CN" altLang="zh-CN" sz="1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800" b="1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d>
                    <m:r>
                      <a:rPr lang="en-US" altLang="zh-CN" sz="1800" b="1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zh-CN" altLang="zh-CN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CN" sz="1800" b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zh-CN" sz="1800" b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800" b="1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zh-CN" sz="1800" b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zh-CN" altLang="zh-CN" sz="1800" b="1" dirty="0">
                    <a:latin typeface="+mn-ea"/>
                  </a:rPr>
                  <a:t>，则令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CN" sz="1800" b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zh-CN" sz="1800" b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800" b="1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zh-CN" sz="1800" b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US" altLang="zh-CN" sz="1800" b="1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altLang="zh-CN" sz="1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b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</m:oMath>
                </a14:m>
                <a:endParaRPr lang="en-US" altLang="zh-CN" sz="1800" b="1" dirty="0">
                  <a:latin typeface="+mn-ea"/>
                </a:endParaRPr>
              </a:p>
              <a:p>
                <a:pPr marL="687600" lvl="2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sz="1800" b="1" dirty="0">
                    <a:latin typeface="+mn-ea"/>
                  </a:rPr>
                  <a:t>基数</a:t>
                </a:r>
                <a:r>
                  <a:rPr lang="zh-CN" altLang="zh-CN" sz="1800" b="1" dirty="0">
                    <a:latin typeface="+mn-ea"/>
                  </a:rPr>
                  <a:t>为</a:t>
                </a:r>
                <a:r>
                  <a:rPr lang="en-US" altLang="zh-CN" sz="1800" b="1" dirty="0">
                    <a:latin typeface="+mn-ea"/>
                  </a:rPr>
                  <a:t> </a:t>
                </a:r>
                <a:r>
                  <a:rPr lang="en-US" altLang="zh-CN" sz="1800" b="1" dirty="0" smtClean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18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b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altLang="zh-CN" sz="1800" b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zh-CN" altLang="en-US" sz="1800" b="1">
                            <a:latin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nary>
                          <m:naryPr>
                            <m:chr m:val="∑"/>
                            <m:ctrlPr>
                              <a:rPr lang="en-US" altLang="zh-CN" sz="1800" b="1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1800" b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sz="1800" b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1800" b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  <m:e>
                            <m:sSup>
                              <m:sSupPr>
                                <m:ctrlPr>
                                  <a:rPr lang="zh-CN" altLang="zh-CN" sz="18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800" b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zh-CN" sz="1800" b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1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1800" b="1">
                                        <a:latin typeface="Cambria Math" panose="02040503050406030204" pitchFamily="18" charset="0"/>
                                      </a:rPr>
                                      <m:t>g</m:t>
                                    </m:r>
                                  </m:e>
                                  <m:sub>
                                    <m:r>
                                      <a:rPr lang="en-US" altLang="zh-CN" sz="1800" b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sup>
                            </m:sSup>
                          </m:e>
                        </m:nary>
                        <m:r>
                          <a:rPr lang="en-US" altLang="zh-CN" sz="1800" b="1"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  <m:r>
                      <a:rPr lang="en-US" altLang="zh-CN" sz="1800" b="1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zh-CN" altLang="zh-CN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1800" b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1800" b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type m:val="lin"/>
                        <m:ctrlPr>
                          <a:rPr lang="zh-CN" altLang="zh-CN" sz="1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800" b="1">
                            <a:latin typeface="Cambria Math" panose="02040503050406030204" pitchFamily="18" charset="0"/>
                          </a:rPr>
                          <m:t>0.7213</m:t>
                        </m:r>
                      </m:num>
                      <m:den>
                        <m:r>
                          <a:rPr lang="en-US" altLang="zh-CN" sz="1800" b="1">
                            <a:latin typeface="Cambria Math" panose="02040503050406030204" pitchFamily="18" charset="0"/>
                          </a:rPr>
                          <m:t>(1+</m:t>
                        </m:r>
                        <m:f>
                          <m:fPr>
                            <m:ctrlPr>
                              <a:rPr lang="zh-CN" altLang="zh-CN" sz="18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800" b="1">
                                <a:latin typeface="Cambria Math" panose="02040503050406030204" pitchFamily="18" charset="0"/>
                              </a:rPr>
                              <m:t>1.079</m:t>
                            </m:r>
                          </m:num>
                          <m:den>
                            <m:r>
                              <a:rPr lang="en-US" altLang="zh-CN" sz="1800" b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den>
                    </m:f>
                    <m:r>
                      <a:rPr lang="en-US" altLang="zh-CN" sz="1800" b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800" b="1" dirty="0">
                    <a:latin typeface="+mn-ea"/>
                  </a:rPr>
                  <a:t> </a:t>
                </a:r>
                <a:r>
                  <a:rPr lang="zh-CN" altLang="zh-CN" sz="1800" b="1" dirty="0">
                    <a:latin typeface="+mn-ea"/>
                  </a:rPr>
                  <a:t>对于</a:t>
                </a:r>
                <a:r>
                  <a:rPr lang="en-US" altLang="zh-CN" sz="1800" b="1" dirty="0" smtClean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800" b="1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&gt;128</m:t>
                    </m:r>
                  </m:oMath>
                </a14:m>
                <a:endParaRPr lang="en-US" altLang="zh-CN" sz="1800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6595" y="1329101"/>
                <a:ext cx="9543071" cy="3171780"/>
              </a:xfrm>
              <a:blipFill>
                <a:blip r:embed="rId3"/>
                <a:stretch>
                  <a:fillRect r="-64" b="-40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线连接符 4"/>
          <p:cNvCxnSpPr/>
          <p:nvPr/>
        </p:nvCxnSpPr>
        <p:spPr>
          <a:xfrm flipV="1">
            <a:off x="1050058" y="1014668"/>
            <a:ext cx="9647041" cy="5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1573427" y="5725296"/>
            <a:ext cx="8369643" cy="3789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2273643" y="5725296"/>
            <a:ext cx="1" cy="37894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H="1">
            <a:off x="2973859" y="5725296"/>
            <a:ext cx="1" cy="37894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H="1">
            <a:off x="3604053" y="5725296"/>
            <a:ext cx="1" cy="37894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H="1">
            <a:off x="4234247" y="5725296"/>
            <a:ext cx="1" cy="37894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H="1">
            <a:off x="4864441" y="5725296"/>
            <a:ext cx="1" cy="37894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H="1">
            <a:off x="5494634" y="5725296"/>
            <a:ext cx="1" cy="37894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H="1">
            <a:off x="6124827" y="5718765"/>
            <a:ext cx="1" cy="37894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flipH="1">
            <a:off x="6755019" y="5725296"/>
            <a:ext cx="1" cy="37894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H="1">
            <a:off x="7385211" y="5731827"/>
            <a:ext cx="1" cy="37894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flipH="1">
            <a:off x="8015403" y="5731827"/>
            <a:ext cx="1" cy="37894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flipH="1">
            <a:off x="8645595" y="5731827"/>
            <a:ext cx="1" cy="37894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 flipH="1">
            <a:off x="9275787" y="5725296"/>
            <a:ext cx="1" cy="37894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椭圆 20"/>
          <p:cNvSpPr/>
          <p:nvPr/>
        </p:nvSpPr>
        <p:spPr>
          <a:xfrm>
            <a:off x="5132837" y="5023687"/>
            <a:ext cx="1128584" cy="38717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e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23" name="直接箭头连接符 22"/>
          <p:cNvCxnSpPr>
            <a:stCxn id="21" idx="4"/>
            <a:endCxn id="25" idx="0"/>
          </p:cNvCxnSpPr>
          <p:nvPr/>
        </p:nvCxnSpPr>
        <p:spPr>
          <a:xfrm>
            <a:off x="5697129" y="5410865"/>
            <a:ext cx="750915" cy="3079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/>
              <p:cNvSpPr txBox="1"/>
              <p:nvPr/>
            </p:nvSpPr>
            <p:spPr>
              <a:xfrm>
                <a:off x="6177232" y="5718765"/>
                <a:ext cx="541623" cy="3036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5" name="文本框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7232" y="5718765"/>
                <a:ext cx="541623" cy="303673"/>
              </a:xfrm>
              <a:prstGeom prst="rect">
                <a:avLst/>
              </a:prstGeom>
              <a:blipFill rotWithShape="0">
                <a:blip r:embed="rId4"/>
                <a:stretch>
                  <a:fillRect l="-10112" r="-8989" b="-2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/>
              <p:cNvSpPr txBox="1"/>
              <p:nvPr/>
            </p:nvSpPr>
            <p:spPr>
              <a:xfrm>
                <a:off x="5659853" y="6492479"/>
                <a:ext cx="1675972" cy="3036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⁡{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)}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6" name="文本框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9853" y="6492479"/>
                <a:ext cx="1675972" cy="303673"/>
              </a:xfrm>
              <a:prstGeom prst="rect">
                <a:avLst/>
              </a:prstGeom>
              <a:blipFill rotWithShape="0">
                <a:blip r:embed="rId5"/>
                <a:stretch>
                  <a:fillRect l="-1455" r="-5091" b="-2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直接箭头连接符 28"/>
          <p:cNvCxnSpPr/>
          <p:nvPr/>
        </p:nvCxnSpPr>
        <p:spPr>
          <a:xfrm>
            <a:off x="6448044" y="6110767"/>
            <a:ext cx="0" cy="36797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1743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0369" y="254381"/>
            <a:ext cx="9068981" cy="760288"/>
          </a:xfrm>
        </p:spPr>
        <p:txBody>
          <a:bodyPr>
            <a:normAutofit/>
          </a:bodyPr>
          <a:lstStyle/>
          <a:p>
            <a:pPr algn="just"/>
            <a:r>
              <a:rPr lang="zh-CN" altLang="en-US" sz="3600" b="1" dirty="0" smtClean="0">
                <a:latin typeface="+mj-ea"/>
              </a:rPr>
              <a:t>更多的摘要算法</a:t>
            </a:r>
            <a:endParaRPr lang="zh-CN" altLang="en-US" sz="3840" b="1" dirty="0">
              <a:latin typeface="+mj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6595" y="1329100"/>
            <a:ext cx="9543071" cy="4929459"/>
          </a:xfrm>
        </p:spPr>
        <p:txBody>
          <a:bodyPr>
            <a:noAutofit/>
          </a:bodyPr>
          <a:lstStyle/>
          <a:p>
            <a:pPr marL="687600" lvl="2">
              <a:lnSpc>
                <a:spcPct val="150000"/>
              </a:lnSpc>
              <a:spcBef>
                <a:spcPts val="0"/>
              </a:spcBef>
            </a:pPr>
            <a:r>
              <a:rPr lang="en-US" altLang="zh-CN" sz="2400" b="1" dirty="0" smtClean="0">
                <a:latin typeface="+mn-ea"/>
              </a:rPr>
              <a:t>Bloom filter </a:t>
            </a:r>
            <a:r>
              <a:rPr lang="zh-CN" altLang="en-US" sz="2400" b="1" dirty="0" smtClean="0">
                <a:latin typeface="+mn-ea"/>
              </a:rPr>
              <a:t>变体：</a:t>
            </a:r>
            <a:r>
              <a:rPr lang="en-US" altLang="zh-CN" sz="2400" b="1" dirty="0" err="1" smtClean="0">
                <a:latin typeface="+mn-ea"/>
              </a:rPr>
              <a:t>Bloomier</a:t>
            </a:r>
            <a:r>
              <a:rPr lang="en-US" altLang="zh-CN" sz="2400" b="1" dirty="0" smtClean="0">
                <a:latin typeface="+mn-ea"/>
              </a:rPr>
              <a:t> Filter, COMB </a:t>
            </a:r>
            <a:r>
              <a:rPr lang="zh-CN" altLang="en-US" sz="2400" b="1" dirty="0" smtClean="0">
                <a:latin typeface="+mn-ea"/>
              </a:rPr>
              <a:t>等</a:t>
            </a:r>
            <a:endParaRPr lang="en-US" altLang="zh-CN" sz="2400" b="1" dirty="0">
              <a:latin typeface="+mn-ea"/>
            </a:endParaRPr>
          </a:p>
          <a:p>
            <a:pPr marL="687600" lvl="2">
              <a:lnSpc>
                <a:spcPct val="150000"/>
              </a:lnSpc>
              <a:spcBef>
                <a:spcPts val="0"/>
              </a:spcBef>
            </a:pPr>
            <a:endParaRPr lang="en-US" altLang="zh-CN" sz="2400" b="1" dirty="0" smtClean="0">
              <a:latin typeface="+mn-ea"/>
            </a:endParaRPr>
          </a:p>
          <a:p>
            <a:pPr marL="687600" lvl="2">
              <a:lnSpc>
                <a:spcPct val="150000"/>
              </a:lnSpc>
              <a:spcBef>
                <a:spcPts val="0"/>
              </a:spcBef>
            </a:pPr>
            <a:r>
              <a:rPr lang="en-US" altLang="zh-CN" sz="2400" b="1" dirty="0" smtClean="0">
                <a:latin typeface="+mn-ea"/>
              </a:rPr>
              <a:t>CM sketch </a:t>
            </a:r>
            <a:r>
              <a:rPr lang="zh-CN" altLang="en-US" sz="2400" b="1" dirty="0" smtClean="0">
                <a:latin typeface="+mn-ea"/>
              </a:rPr>
              <a:t>变体：</a:t>
            </a:r>
            <a:r>
              <a:rPr lang="en-US" altLang="zh-CN" sz="2400" b="1" dirty="0" smtClean="0">
                <a:latin typeface="+mn-ea"/>
              </a:rPr>
              <a:t>Count Sketch, </a:t>
            </a:r>
            <a:r>
              <a:rPr lang="en-US" altLang="zh-CN" sz="2400" b="1" dirty="0" err="1" smtClean="0">
                <a:latin typeface="+mn-ea"/>
              </a:rPr>
              <a:t>gSketch</a:t>
            </a:r>
            <a:r>
              <a:rPr lang="en-US" altLang="zh-CN" sz="2400" b="1" dirty="0" smtClean="0">
                <a:latin typeface="+mn-ea"/>
              </a:rPr>
              <a:t> </a:t>
            </a:r>
            <a:r>
              <a:rPr lang="zh-CN" altLang="en-US" sz="2400" b="1" dirty="0" smtClean="0">
                <a:latin typeface="+mn-ea"/>
              </a:rPr>
              <a:t>等</a:t>
            </a:r>
            <a:endParaRPr lang="en-US" altLang="zh-CN" sz="2400" b="1" dirty="0" smtClean="0">
              <a:latin typeface="+mn-ea"/>
            </a:endParaRPr>
          </a:p>
          <a:p>
            <a:pPr marL="687600" lvl="2">
              <a:lnSpc>
                <a:spcPct val="150000"/>
              </a:lnSpc>
              <a:spcBef>
                <a:spcPts val="0"/>
              </a:spcBef>
            </a:pPr>
            <a:endParaRPr lang="en-US" altLang="zh-CN" sz="2400" b="1" dirty="0">
              <a:latin typeface="+mn-ea"/>
            </a:endParaRPr>
          </a:p>
          <a:p>
            <a:pPr marL="687600" lvl="2">
              <a:lnSpc>
                <a:spcPct val="150000"/>
              </a:lnSpc>
              <a:spcBef>
                <a:spcPts val="0"/>
              </a:spcBef>
            </a:pPr>
            <a:r>
              <a:rPr lang="en-US" altLang="zh-CN" sz="2400" b="1" dirty="0" smtClean="0">
                <a:latin typeface="+mn-ea"/>
              </a:rPr>
              <a:t>Heavy hitter </a:t>
            </a:r>
            <a:r>
              <a:rPr lang="zh-CN" altLang="en-US" sz="2400" b="1" dirty="0" smtClean="0">
                <a:latin typeface="+mn-ea"/>
              </a:rPr>
              <a:t>查询算法： </a:t>
            </a:r>
            <a:r>
              <a:rPr lang="en-US" altLang="zh-CN" sz="2400" b="1" dirty="0" err="1" smtClean="0">
                <a:latin typeface="+mn-ea"/>
              </a:rPr>
              <a:t>SpaceSaving</a:t>
            </a:r>
            <a:r>
              <a:rPr lang="en-US" altLang="zh-CN" sz="2400" b="1" dirty="0" smtClean="0">
                <a:latin typeface="+mn-ea"/>
              </a:rPr>
              <a:t> </a:t>
            </a:r>
            <a:r>
              <a:rPr lang="zh-CN" altLang="en-US" sz="2400" b="1" dirty="0" smtClean="0">
                <a:latin typeface="+mn-ea"/>
              </a:rPr>
              <a:t>等</a:t>
            </a:r>
            <a:endParaRPr lang="en-US" altLang="zh-CN" sz="2400" b="1" dirty="0" smtClean="0">
              <a:latin typeface="+mn-ea"/>
            </a:endParaRPr>
          </a:p>
          <a:p>
            <a:pPr marL="687600" lvl="2">
              <a:lnSpc>
                <a:spcPct val="150000"/>
              </a:lnSpc>
              <a:spcBef>
                <a:spcPts val="0"/>
              </a:spcBef>
            </a:pPr>
            <a:endParaRPr lang="en-US" altLang="zh-CN" sz="2400" b="1" dirty="0">
              <a:latin typeface="+mn-ea"/>
            </a:endParaRPr>
          </a:p>
          <a:p>
            <a:pPr marL="687600" lvl="2">
              <a:lnSpc>
                <a:spcPct val="150000"/>
              </a:lnSpc>
              <a:spcBef>
                <a:spcPts val="0"/>
              </a:spcBef>
            </a:pPr>
            <a:r>
              <a:rPr lang="zh-CN" altLang="en-US" sz="2400" b="1" dirty="0" smtClean="0">
                <a:latin typeface="+mn-ea"/>
              </a:rPr>
              <a:t>相比传统算法在时间空间之间进行 </a:t>
            </a:r>
            <a:r>
              <a:rPr lang="en-US" altLang="zh-CN" sz="2400" b="1" dirty="0" smtClean="0">
                <a:latin typeface="+mn-ea"/>
              </a:rPr>
              <a:t>trade-off, </a:t>
            </a:r>
            <a:r>
              <a:rPr lang="zh-CN" altLang="en-US" sz="2400" b="1" dirty="0" smtClean="0">
                <a:latin typeface="+mn-ea"/>
              </a:rPr>
              <a:t>摘要算法加入了第三种因素，准确率，在三者之间进行权衡</a:t>
            </a:r>
            <a:endParaRPr lang="en-US" altLang="zh-CN" sz="2400" b="1" dirty="0" smtClean="0">
              <a:latin typeface="+mn-ea"/>
            </a:endParaRPr>
          </a:p>
        </p:txBody>
      </p:sp>
      <p:cxnSp>
        <p:nvCxnSpPr>
          <p:cNvPr id="5" name="直线连接符 4"/>
          <p:cNvCxnSpPr/>
          <p:nvPr/>
        </p:nvCxnSpPr>
        <p:spPr>
          <a:xfrm flipV="1">
            <a:off x="1050058" y="1014668"/>
            <a:ext cx="9647041" cy="5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5510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0369" y="254381"/>
            <a:ext cx="9068981" cy="760288"/>
          </a:xfrm>
        </p:spPr>
        <p:txBody>
          <a:bodyPr>
            <a:normAutofit/>
          </a:bodyPr>
          <a:lstStyle/>
          <a:p>
            <a:pPr algn="just"/>
            <a:r>
              <a:rPr lang="zh-CN" altLang="en-US" sz="3600" b="1" dirty="0" smtClean="0">
                <a:latin typeface="+mj-ea"/>
              </a:rPr>
              <a:t>我们的算法</a:t>
            </a:r>
            <a:endParaRPr lang="zh-CN" altLang="en-US" sz="3840" b="1" dirty="0">
              <a:latin typeface="+mj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6595" y="1329100"/>
            <a:ext cx="9543071" cy="4929459"/>
          </a:xfrm>
        </p:spPr>
        <p:txBody>
          <a:bodyPr>
            <a:noAutofit/>
          </a:bodyPr>
          <a:lstStyle/>
          <a:p>
            <a:pPr marL="687600" lvl="2">
              <a:lnSpc>
                <a:spcPct val="150000"/>
              </a:lnSpc>
              <a:spcBef>
                <a:spcPts val="0"/>
              </a:spcBef>
            </a:pPr>
            <a:r>
              <a:rPr lang="en-US" altLang="zh-CN" sz="2400" b="1" dirty="0" smtClean="0">
                <a:latin typeface="+mn-ea"/>
              </a:rPr>
              <a:t>Graph Stream Sketch:</a:t>
            </a:r>
          </a:p>
          <a:p>
            <a:pPr marL="1144800" lvl="3">
              <a:lnSpc>
                <a:spcPct val="150000"/>
              </a:lnSpc>
              <a:spcBef>
                <a:spcPts val="0"/>
              </a:spcBef>
            </a:pPr>
            <a:r>
              <a:rPr lang="en-US" altLang="zh-CN" dirty="0"/>
              <a:t>Gou X, Zou L, Zhao C, et al. Fast and accurate graph stream summarization[C]//2019 IEEE 35th International Conference on Data Engineering (ICDE). IEEE, </a:t>
            </a:r>
            <a:r>
              <a:rPr lang="en-US" altLang="zh-CN" dirty="0" smtClean="0"/>
              <a:t>2019</a:t>
            </a:r>
            <a:r>
              <a:rPr lang="zh-CN" altLang="en-US" sz="1600" dirty="0" smtClean="0"/>
              <a:t>：</a:t>
            </a:r>
            <a:r>
              <a:rPr lang="en-US" altLang="zh-CN" dirty="0" smtClean="0"/>
              <a:t> </a:t>
            </a:r>
            <a:r>
              <a:rPr lang="en-US" altLang="zh-CN" dirty="0"/>
              <a:t>1118-1129.</a:t>
            </a:r>
            <a:endParaRPr lang="en-US" altLang="zh-CN" b="1" dirty="0" smtClean="0">
              <a:latin typeface="+mn-ea"/>
            </a:endParaRPr>
          </a:p>
          <a:p>
            <a:pPr marL="687600" lvl="2">
              <a:lnSpc>
                <a:spcPct val="150000"/>
              </a:lnSpc>
              <a:spcBef>
                <a:spcPts val="0"/>
              </a:spcBef>
            </a:pPr>
            <a:endParaRPr lang="en-US" altLang="zh-CN" sz="2400" b="1" dirty="0" smtClean="0">
              <a:latin typeface="+mn-ea"/>
            </a:endParaRPr>
          </a:p>
          <a:p>
            <a:pPr marL="687600" lvl="2">
              <a:lnSpc>
                <a:spcPct val="150000"/>
              </a:lnSpc>
              <a:spcBef>
                <a:spcPts val="0"/>
              </a:spcBef>
            </a:pPr>
            <a:endParaRPr lang="en-US" altLang="zh-CN" sz="2400" b="1" dirty="0" smtClean="0">
              <a:latin typeface="+mn-ea"/>
            </a:endParaRPr>
          </a:p>
        </p:txBody>
      </p:sp>
      <p:cxnSp>
        <p:nvCxnSpPr>
          <p:cNvPr id="5" name="直线连接符 4"/>
          <p:cNvCxnSpPr/>
          <p:nvPr/>
        </p:nvCxnSpPr>
        <p:spPr>
          <a:xfrm flipV="1">
            <a:off x="1050058" y="1014668"/>
            <a:ext cx="9647041" cy="5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6" name="图片 5" descr="C:\Users\icst-d21\Pictures\Screenshots\屏幕截图(88)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058" y="3306445"/>
            <a:ext cx="3750841" cy="3074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内容占位符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6844" y="3158349"/>
            <a:ext cx="4863339" cy="3161170"/>
          </a:xfrm>
          <a:prstGeom prst="rect">
            <a:avLst/>
          </a:prstGeom>
        </p:spPr>
      </p:pic>
      <p:sp>
        <p:nvSpPr>
          <p:cNvPr id="4" name="右箭头 3"/>
          <p:cNvSpPr/>
          <p:nvPr/>
        </p:nvSpPr>
        <p:spPr>
          <a:xfrm>
            <a:off x="5259977" y="3509554"/>
            <a:ext cx="1306286" cy="400595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3685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0369" y="254381"/>
            <a:ext cx="9068981" cy="760288"/>
          </a:xfrm>
        </p:spPr>
        <p:txBody>
          <a:bodyPr>
            <a:normAutofit/>
          </a:bodyPr>
          <a:lstStyle/>
          <a:p>
            <a:pPr algn="just"/>
            <a:r>
              <a:rPr lang="zh-CN" altLang="en-US" sz="3840" b="1" dirty="0" smtClean="0">
                <a:latin typeface="+mj-ea"/>
              </a:rPr>
              <a:t>参考</a:t>
            </a:r>
            <a:r>
              <a:rPr lang="zh-CN" altLang="en-US" sz="3840" b="1" dirty="0">
                <a:latin typeface="+mj-ea"/>
              </a:rPr>
              <a:t>文献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70369" y="1014667"/>
            <a:ext cx="9543071" cy="4886027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en-US" altLang="zh-CN" sz="1600" b="1" dirty="0" smtClean="0"/>
              <a:t>Cuckoo hashing: </a:t>
            </a:r>
            <a:r>
              <a:rPr lang="en-US" altLang="zh-CN" sz="1600" dirty="0" err="1" smtClean="0"/>
              <a:t>Pagh</a:t>
            </a:r>
            <a:r>
              <a:rPr lang="en-US" altLang="zh-CN" sz="1600" dirty="0" smtClean="0"/>
              <a:t> R , </a:t>
            </a:r>
            <a:r>
              <a:rPr lang="en-US" altLang="zh-CN" sz="1600" dirty="0" err="1" smtClean="0"/>
              <a:t>Rodler</a:t>
            </a:r>
            <a:r>
              <a:rPr lang="en-US" altLang="zh-CN" sz="1600" dirty="0" smtClean="0"/>
              <a:t> F </a:t>
            </a:r>
            <a:r>
              <a:rPr lang="en-US" altLang="zh-CN" sz="1600" dirty="0" err="1" smtClean="0"/>
              <a:t>F</a:t>
            </a:r>
            <a:r>
              <a:rPr lang="en-US" altLang="zh-CN" sz="1600" dirty="0" smtClean="0"/>
              <a:t> . Cuckoo Hashing[J]. Journal of Algorithms, 2004, 51(2):122-144.</a:t>
            </a:r>
            <a:endParaRPr lang="en-US" altLang="zh-CN" sz="1600" b="1" dirty="0"/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en-US" altLang="zh-CN" sz="1600" b="1" dirty="0"/>
              <a:t>d</a:t>
            </a:r>
            <a:r>
              <a:rPr lang="en-US" altLang="zh-CN" sz="1600" b="1" dirty="0" smtClean="0"/>
              <a:t>-left hashing</a:t>
            </a:r>
            <a:r>
              <a:rPr lang="en-US" altLang="zh-CN" sz="1600" dirty="0" smtClean="0"/>
              <a:t>: </a:t>
            </a:r>
            <a:r>
              <a:rPr lang="en-US" altLang="zh-CN" sz="1600" dirty="0" err="1" smtClean="0"/>
              <a:t>Vocking</a:t>
            </a:r>
            <a:r>
              <a:rPr lang="en-US" altLang="zh-CN" sz="1600" dirty="0" smtClean="0"/>
              <a:t> B . How asymmetry helps load balancing[C]// 40th Annual Symposium on Foundations of Computer Science (Cat. No.99CB37039). IEEE, 2002.</a:t>
            </a:r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en-US" altLang="zh-CN" sz="1600" b="1" dirty="0" smtClean="0"/>
              <a:t>CM sketch</a:t>
            </a:r>
            <a:r>
              <a:rPr lang="en-US" altLang="zh-CN" sz="1600" dirty="0" smtClean="0"/>
              <a:t>: </a:t>
            </a:r>
            <a:r>
              <a:rPr lang="en-US" altLang="zh-CN" sz="1600" dirty="0" err="1" smtClean="0"/>
              <a:t>Cormode</a:t>
            </a:r>
            <a:r>
              <a:rPr lang="en-US" altLang="zh-CN" sz="1600" dirty="0" smtClean="0"/>
              <a:t> </a:t>
            </a:r>
            <a:r>
              <a:rPr lang="en-US" altLang="zh-CN" sz="1600" dirty="0"/>
              <a:t>G, </a:t>
            </a:r>
            <a:r>
              <a:rPr lang="en-US" altLang="zh-CN" sz="1600" dirty="0" err="1"/>
              <a:t>Muthukrishnan</a:t>
            </a:r>
            <a:r>
              <a:rPr lang="en-US" altLang="zh-CN" sz="1600" dirty="0"/>
              <a:t> S. An improved data stream summary: the count-min sketch and its applications[J]. Journal of Algorithms, 2005, 55(1): 58-75.</a:t>
            </a:r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en-US" altLang="zh-CN" sz="1600" b="1" dirty="0" smtClean="0"/>
              <a:t>Bloom filter: </a:t>
            </a:r>
            <a:r>
              <a:rPr lang="en-US" altLang="zh-CN" sz="1600" dirty="0" smtClean="0"/>
              <a:t>Bloom </a:t>
            </a:r>
            <a:r>
              <a:rPr lang="en-US" altLang="zh-CN" sz="1600" dirty="0"/>
              <a:t>B H. Space/time trade-offs in hash coding with allowable errors[J]. Communications of the ACM, 1970, 13(7): 422-426.</a:t>
            </a:r>
            <a:endParaRPr lang="en-US" altLang="zh-CN" sz="1600" dirty="0">
              <a:latin typeface="+mj-ea"/>
            </a:endParaRPr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en-US" altLang="zh-CN" sz="1600" b="1" dirty="0" err="1" smtClean="0"/>
              <a:t>Hyperloglog</a:t>
            </a:r>
            <a:r>
              <a:rPr lang="en-US" altLang="zh-CN" sz="1600" b="1" dirty="0" smtClean="0"/>
              <a:t>:</a:t>
            </a:r>
            <a:r>
              <a:rPr lang="en-US" altLang="zh-CN" sz="1600" dirty="0" smtClean="0"/>
              <a:t> </a:t>
            </a:r>
            <a:r>
              <a:rPr lang="en-US" altLang="zh-CN" sz="1600" dirty="0" err="1" smtClean="0"/>
              <a:t>Flajolet</a:t>
            </a:r>
            <a:r>
              <a:rPr lang="en-US" altLang="zh-CN" sz="1600" dirty="0" smtClean="0"/>
              <a:t> </a:t>
            </a:r>
            <a:r>
              <a:rPr lang="en-US" altLang="zh-CN" sz="1600" dirty="0"/>
              <a:t>P, </a:t>
            </a:r>
            <a:r>
              <a:rPr lang="en-US" altLang="zh-CN" sz="1600" dirty="0" err="1"/>
              <a:t>Fusy</a:t>
            </a:r>
            <a:r>
              <a:rPr lang="en-US" altLang="zh-CN" sz="1600" dirty="0"/>
              <a:t> É, </a:t>
            </a:r>
            <a:r>
              <a:rPr lang="en-US" altLang="zh-CN" sz="1600" dirty="0" err="1"/>
              <a:t>Gandouet</a:t>
            </a:r>
            <a:r>
              <a:rPr lang="en-US" altLang="zh-CN" sz="1600" dirty="0"/>
              <a:t> O, et al. </a:t>
            </a:r>
            <a:r>
              <a:rPr lang="en-US" altLang="zh-CN" sz="1600" dirty="0" err="1"/>
              <a:t>Hyperloglog</a:t>
            </a:r>
            <a:r>
              <a:rPr lang="en-US" altLang="zh-CN" sz="1600" dirty="0"/>
              <a:t>: the analysis of a near-optimal cardinality estimation algorithm[C]. 2007</a:t>
            </a:r>
            <a:r>
              <a:rPr lang="en-US" altLang="zh-CN" sz="1600" dirty="0" smtClean="0"/>
              <a:t>.</a:t>
            </a:r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en-US" altLang="zh-CN" sz="1600" b="1" dirty="0" smtClean="0"/>
              <a:t>CU sketch</a:t>
            </a:r>
            <a:r>
              <a:rPr lang="zh-CN" altLang="en-US" sz="1600" b="1" dirty="0" smtClean="0"/>
              <a:t>：</a:t>
            </a:r>
            <a:r>
              <a:rPr lang="en-US" altLang="zh-CN" sz="1600" dirty="0" err="1" smtClean="0"/>
              <a:t>Estan</a:t>
            </a:r>
            <a:r>
              <a:rPr lang="en-US" altLang="zh-CN" sz="1600" dirty="0" smtClean="0"/>
              <a:t> C , Varghese G . New Directions in Traffic Measurement and Accounting: Focusing on the Elephants, Ignoring the Mice[J]. ACM transactions on computer systems, 2003, 21(3):p.270-313.</a:t>
            </a:r>
          </a:p>
          <a:p>
            <a:pPr>
              <a:lnSpc>
                <a:spcPct val="170000"/>
              </a:lnSpc>
              <a:spcBef>
                <a:spcPts val="0"/>
              </a:spcBef>
            </a:pPr>
            <a:endParaRPr lang="en-US" altLang="zh-CN" sz="1400" b="1" dirty="0"/>
          </a:p>
          <a:p>
            <a:pPr>
              <a:lnSpc>
                <a:spcPct val="170000"/>
              </a:lnSpc>
              <a:spcBef>
                <a:spcPts val="0"/>
              </a:spcBef>
            </a:pPr>
            <a:endParaRPr lang="en-US" altLang="zh-CN" sz="1400" dirty="0">
              <a:latin typeface="+mj-ea"/>
            </a:endParaRPr>
          </a:p>
          <a:p>
            <a:pPr>
              <a:lnSpc>
                <a:spcPct val="170000"/>
              </a:lnSpc>
              <a:spcBef>
                <a:spcPts val="0"/>
              </a:spcBef>
            </a:pPr>
            <a:endParaRPr lang="en-US" altLang="zh-CN" sz="1400" dirty="0" smtClean="0">
              <a:latin typeface="+mj-ea"/>
              <a:ea typeface="+mj-ea"/>
            </a:endParaRPr>
          </a:p>
        </p:txBody>
      </p:sp>
      <p:cxnSp>
        <p:nvCxnSpPr>
          <p:cNvPr id="5" name="直线连接符 4"/>
          <p:cNvCxnSpPr/>
          <p:nvPr/>
        </p:nvCxnSpPr>
        <p:spPr>
          <a:xfrm flipV="1">
            <a:off x="1050058" y="1014668"/>
            <a:ext cx="9647041" cy="5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765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 txBox="1">
            <a:spLocks/>
          </p:cNvSpPr>
          <p:nvPr/>
        </p:nvSpPr>
        <p:spPr bwMode="auto">
          <a:xfrm>
            <a:off x="1194487" y="2540445"/>
            <a:ext cx="9936480" cy="919447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algn="ctr">
              <a:spcBef>
                <a:spcPts val="2880"/>
              </a:spcBef>
            </a:pPr>
            <a:r>
              <a:rPr kumimoji="0" lang="zh-CN" altLang="en-US" sz="4800" b="1" dirty="0" smtClean="0">
                <a:latin typeface="+mj-ea"/>
                <a:ea typeface="+mj-ea"/>
                <a:cs typeface="黑体" charset="0"/>
              </a:rPr>
              <a:t>谢谢</a:t>
            </a:r>
            <a:endParaRPr kumimoji="0" lang="zh-CN" altLang="en-US" sz="3360" b="1" dirty="0">
              <a:latin typeface="+mj-ea"/>
              <a:ea typeface="+mj-ea"/>
              <a:cs typeface="黑体" charset="0"/>
            </a:endParaRPr>
          </a:p>
        </p:txBody>
      </p:sp>
      <p:pic>
        <p:nvPicPr>
          <p:cNvPr id="4" name="图片 3" descr="标志_红色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8468" y="4846319"/>
            <a:ext cx="1075658" cy="896382"/>
          </a:xfrm>
          <a:prstGeom prst="rect">
            <a:avLst/>
          </a:prstGeom>
        </p:spPr>
      </p:pic>
      <p:pic>
        <p:nvPicPr>
          <p:cNvPr id="6" name="图片 5" descr="Screen Shot 2016-05-24 at 5.24.18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2" y="5871635"/>
            <a:ext cx="10993120" cy="1003300"/>
          </a:xfrm>
          <a:prstGeom prst="rect">
            <a:avLst/>
          </a:prstGeom>
        </p:spPr>
      </p:pic>
      <p:grpSp>
        <p:nvGrpSpPr>
          <p:cNvPr id="13" name="组合 5"/>
          <p:cNvGrpSpPr/>
          <p:nvPr/>
        </p:nvGrpSpPr>
        <p:grpSpPr>
          <a:xfrm>
            <a:off x="609600" y="1"/>
            <a:ext cx="10972800" cy="676598"/>
            <a:chOff x="0" y="0"/>
            <a:chExt cx="12200792" cy="676598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602"/>
            <a:stretch/>
          </p:blipFill>
          <p:spPr>
            <a:xfrm>
              <a:off x="4818184" y="0"/>
              <a:ext cx="7382608" cy="676598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107" r="31323"/>
            <a:stretch/>
          </p:blipFill>
          <p:spPr>
            <a:xfrm>
              <a:off x="1983221" y="0"/>
              <a:ext cx="4281855" cy="676598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107" r="31323"/>
            <a:stretch/>
          </p:blipFill>
          <p:spPr>
            <a:xfrm>
              <a:off x="0" y="0"/>
              <a:ext cx="4281855" cy="676598"/>
            </a:xfrm>
            <a:prstGeom prst="rect">
              <a:avLst/>
            </a:prstGeom>
          </p:spPr>
        </p:pic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87CC-44FF-4D7B-9CEB-D984B5418D0E}" type="slidenum">
              <a:rPr lang="zh-CN" altLang="en-US" smtClean="0">
                <a:latin typeface="+mj-ea"/>
                <a:ea typeface="+mj-ea"/>
              </a:rPr>
              <a:t>32</a:t>
            </a:fld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1472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417"/>
    </mc:Choice>
    <mc:Fallback xmlns="">
      <p:transition spd="slow" advTm="38417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785</TotalTime>
  <Words>2880</Words>
  <Application>Microsoft Office PowerPoint</Application>
  <PresentationFormat>宽屏</PresentationFormat>
  <Paragraphs>475</Paragraphs>
  <Slides>32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39" baseType="lpstr">
      <vt:lpstr>等线</vt:lpstr>
      <vt:lpstr>等线 Light</vt:lpstr>
      <vt:lpstr>黑体</vt:lpstr>
      <vt:lpstr>宋体</vt:lpstr>
      <vt:lpstr>Arial</vt:lpstr>
      <vt:lpstr>Cambria Math</vt:lpstr>
      <vt:lpstr>Office 主题​​</vt:lpstr>
      <vt:lpstr>PowerPoint 演示文稿</vt:lpstr>
      <vt:lpstr>课程内容</vt:lpstr>
      <vt:lpstr>哈希表扩展</vt:lpstr>
      <vt:lpstr>哈希表扩展</vt:lpstr>
      <vt:lpstr>哈希表扩展</vt:lpstr>
      <vt:lpstr>哈希表扩展</vt:lpstr>
      <vt:lpstr>哈希表扩展</vt:lpstr>
      <vt:lpstr>哈希表扩展</vt:lpstr>
      <vt:lpstr>哈希表扩展</vt:lpstr>
      <vt:lpstr>思考</vt:lpstr>
      <vt:lpstr>课程内容</vt:lpstr>
      <vt:lpstr>Bloom Filter</vt:lpstr>
      <vt:lpstr>Bloom Filter</vt:lpstr>
      <vt:lpstr>Bloom Filter</vt:lpstr>
      <vt:lpstr>Bloom Filter</vt:lpstr>
      <vt:lpstr>Bloom Filter</vt:lpstr>
      <vt:lpstr>Bloom Filter</vt:lpstr>
      <vt:lpstr>Bloom Filter</vt:lpstr>
      <vt:lpstr>Bloom Filter</vt:lpstr>
      <vt:lpstr>思考</vt:lpstr>
      <vt:lpstr>课程内容</vt:lpstr>
      <vt:lpstr>Count Min (CM) Sketch</vt:lpstr>
      <vt:lpstr>Count Min (CM) Sketch</vt:lpstr>
      <vt:lpstr>Count Min (CM) Sketch</vt:lpstr>
      <vt:lpstr>Count Min (CM) Sketch</vt:lpstr>
      <vt:lpstr>课程内容</vt:lpstr>
      <vt:lpstr>CU Sketch</vt:lpstr>
      <vt:lpstr>Hyperloglog算法</vt:lpstr>
      <vt:lpstr>更多的摘要算法</vt:lpstr>
      <vt:lpstr>我们的算法</vt:lpstr>
      <vt:lpstr>参考文献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苟 向阳</dc:creator>
  <cp:lastModifiedBy>苟 向阳</cp:lastModifiedBy>
  <cp:revision>45</cp:revision>
  <dcterms:created xsi:type="dcterms:W3CDTF">2020-12-22T03:26:07Z</dcterms:created>
  <dcterms:modified xsi:type="dcterms:W3CDTF">2020-12-23T06:14:25Z</dcterms:modified>
</cp:coreProperties>
</file>