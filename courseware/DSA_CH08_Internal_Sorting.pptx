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703320"/>
            <a:ext cx="12191695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103120"/>
            <a:ext cx="11057839" cy="1554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  <a:ea typeface="微软雅黑"/>
              </a:rPr>
              <a:t>第8章　内排序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C7D3E2"/>
                </a:solidFill>
                <a:latin typeface="Segoe UI"/>
                <a:ea typeface="微软雅黑"/>
              </a:rPr>
              <a:t>插入 · 选择 · 交换 · 归并 · 分配 · 以及一条谁也绕不过的下界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160520"/>
            <a:ext cx="11057839" cy="1463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A8B8CC"/>
                </a:solidFill>
                <a:latin typeface="Segoe UI"/>
                <a:ea typeface="微软雅黑"/>
              </a:rPr>
              <a:t>《数据结构与算法》张铭、王腾蛟、赵海燕　高等教育出版社 2008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A8B8CC"/>
                </a:solidFill>
                <a:latin typeface="Segoe UI"/>
                <a:ea typeface="微软雅黑"/>
              </a:rPr>
              <a:t>现代化重制版讲义　代码按 C++17 重写；code/ 全部单元双档编译运行通过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读每一种排序方法时，同时问四件事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▍ ① 它靠元素之间比较，还是靠关键码的数字结构做分配？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② 相等的键排完之后相对次序变不变？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（稳定性）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▍ ③ 除了原序列还要多少额外空间？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▍ ④ 最好、平均、最坏各是什么时间？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「稳定」不是装饰：按成绩排序时，两名同分学生若仍按原来的姓名顺序出现，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后续按姓名再排才有意义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本章所有实现都是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手写的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—— 没有用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std::sort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顶替任何一个，那样等于把这一章删掉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第8章 内排序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本章的一句话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2084831"/>
            <a:ext cx="11057839" cy="2286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2084831"/>
            <a:ext cx="82296" cy="228600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" y="2377440"/>
            <a:ext cx="10051999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2395B"/>
                </a:solidFill>
                <a:latin typeface="Segoe UI"/>
                <a:ea typeface="微软雅黑"/>
              </a:rPr>
              <a:t>同阶不等于同速。</a:t>
            </a:r>
            <a:r>
              <a:rPr sz="2200" b="1" i="0">
                <a:solidFill>
                  <a:srgbClr val="12395B"/>
                </a:solidFill>
                <a:latin typeface="Segoe UI"/>
                <a:ea typeface="微软雅黑"/>
              </a:rPr>
              <a:t> 渐近记号告诉你 n 变大时谁会输，不告诉你在你关心的那个 n 上谁更快。本章有实测数据为证。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第8章 内排序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274320" cy="173736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395728"/>
            <a:ext cx="10424160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E07B39"/>
                </a:solidFill>
                <a:latin typeface="Segoe UI"/>
                <a:ea typeface="微软雅黑"/>
              </a:rPr>
              <a:t>第 1 节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12395B"/>
                </a:solidFill>
                <a:latin typeface="Segoe UI"/>
                <a:ea typeface="微软雅黑"/>
              </a:rPr>
              <a:t>8.1 排序问题的基本概念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B7582"/>
                </a:solidFill>
                <a:latin typeface="Segoe UI"/>
                <a:ea typeface="微软雅黑"/>
              </a:rPr>
              <a:t>术语、稳定性、怎么衡量代价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8.1 术语先约定清楚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内排序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：记录都能放进内存（本章）；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外排序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：要访问外存（第 9 章）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讨论排序时用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记录 / 元素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代替前 7 章的「结点」，用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序列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代替「线性表」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每个记录内有一个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排序码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域作为排序的依据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⚠️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排序码不一定是关键码。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关键码唯一确定一个记录；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排序码不是关键码时，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可能有多个记录排序码相同，排序结果因此可能不唯一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正序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：已经符合要求；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逆序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：反过来正好符合要求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稳定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：相同排序码的记录，排序后相对次序不变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第8章 内排序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怎么衡量代价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时间代价一般用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记录的总比较次数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和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总移动次数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来衡量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一次移动就是一次记录赋值，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一次 </a:t>
            </a:r>
            <a:r>
              <a:rPr sz="1541" b="1" i="0">
                <a:solidFill>
                  <a:srgbClr val="6B7582"/>
                </a:solidFill>
                <a:latin typeface="Consolas"/>
                <a:ea typeface="Consolas"/>
              </a:rPr>
              <a:t>swap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 交换算三次移动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这条换算在 8.7.2 解释「同样是 Θ(n²)，冒泡为什么比插入慢几十倍」时要用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影响相对运行时间的因素：记录数量、排序码与记录的大小、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输入的原始有序程度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要分别考虑最佳、最差、平均三种情况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长度 n 的序列共有 n! 种排列，假定等概率，平均运行时间就是平均时间代价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第8章 内排序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本章的分类（沿用原书）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298448"/>
          <a:ext cx="11057838" cy="29222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0516"/>
                <a:gridCol w="7036806"/>
                <a:gridCol w="2010516"/>
              </a:tblGrid>
              <a:tr h="487045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类别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算法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节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</a:tr>
              <a:tr h="487045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12395B"/>
                          </a:solidFill>
                          <a:latin typeface="Segoe UI"/>
                          <a:ea typeface="微软雅黑"/>
                        </a:rPr>
                        <a:t>插入排序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直接插入排序、Shell 排序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8.2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87045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12395B"/>
                          </a:solidFill>
                          <a:latin typeface="Segoe UI"/>
                          <a:ea typeface="微软雅黑"/>
                        </a:rPr>
                        <a:t>选择排序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直接选择排序、堆排序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8.3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87045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12395B"/>
                          </a:solidFill>
                          <a:latin typeface="Segoe UI"/>
                          <a:ea typeface="微软雅黑"/>
                        </a:rPr>
                        <a:t>交换排序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冒泡排序、快速排序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8.4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87045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12395B"/>
                          </a:solidFill>
                          <a:latin typeface="Segoe UI"/>
                          <a:ea typeface="微软雅黑"/>
                        </a:rPr>
                        <a:t>归并排序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二路归并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8.5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87045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12395B"/>
                          </a:solidFill>
                          <a:latin typeface="Segoe UI"/>
                          <a:ea typeface="微软雅黑"/>
                        </a:rPr>
                        <a:t>分配排序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桶式排序、基数排序、索引排序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8.6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4348734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另一种常见分类：把插入、直接选择、冒泡归为「简单排序」，快排和归并归为「分治排序」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第8章 内排序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274320" cy="173736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395728"/>
            <a:ext cx="10424160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E07B39"/>
                </a:solidFill>
                <a:latin typeface="Segoe UI"/>
                <a:ea typeface="微软雅黑"/>
              </a:rPr>
              <a:t>第 2 节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12395B"/>
                </a:solidFill>
                <a:latin typeface="Segoe UI"/>
                <a:ea typeface="微软雅黑"/>
              </a:rPr>
              <a:t>8.2 插入排序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B7582"/>
                </a:solidFill>
                <a:latin typeface="Segoe UI"/>
                <a:ea typeface="微软雅黑"/>
              </a:rPr>
              <a:t>直接插入与 Shell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8.2.1 直接插入排序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把第 i 个记录插入到前面已排好序的 i 个记录中的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恰当位置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最好 Θ(n)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—— 输入已有序时，内层循环一次都不进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最坏 Θ(n²)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—— 输入逆序时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稳定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：只与相邻元素比较，遇到相等就停，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绝不跳过相等元素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代价的来源说得清楚：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时间主要由记录移动到目标位置所需的步长之和决定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，而步长由序列中的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逆置数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决定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长度 n 的序列平均有 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n(n-1)/4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 对逆置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⇒ 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任何一种只对相邻记录进行比较的排序算法，平均时间代价都是 Θ(n²)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第8章 内排序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8.2.2 Shell 排序：跨越相邻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3862070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366090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// 算法8.2：增量每次减半的 Shell 排序。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inline void shell_sort(std::vector&lt;int&gt;&amp; values) {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for (std::size_t gap = values.size() / 2; gap != 0; gap /= 2) {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for (std::size_t index = gap; index &lt; values.size(); ++index) {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    const int value = values[index];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    std::size_t hole = index;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    while (hole &gt;= gap &amp;&amp; value &lt; values[hole - gap]) {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        values[hole] = values[hole - gap];    // 一步跨 gap 格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        hole -= gap;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    }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    values[hole] = value;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}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}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27939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它利用了插入排序的两条性质：</a:t>
            </a:r>
            <a:r>
              <a:rPr sz="1300" b="1" i="0">
                <a:solidFill>
                  <a:srgbClr val="6B7582"/>
                </a:solidFill>
                <a:latin typeface="Segoe UI"/>
                <a:ea typeface="微软雅黑"/>
              </a:rPr>
              <a:t>正序时 Θ(n)</a:t>
            </a: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，以及</a:t>
            </a:r>
            <a:r>
              <a:rPr sz="1300" b="1" i="0">
                <a:solidFill>
                  <a:srgbClr val="6B7582"/>
                </a:solidFill>
                <a:latin typeface="Segoe UI"/>
                <a:ea typeface="微软雅黑"/>
              </a:rPr>
              <a:t>短序列上很有效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第8章 内排序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Shell 排序：一步跨四格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117090"/>
            <a:ext cx="11057839" cy="2806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初始       45  34  78  12 34'  32  29  64        （两个 34 用 34 和 34' 区分）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gap=4     34'  32  29  12  45  34  78  64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      子序列 {45,34'} {34,32} {78,29} {12,64} 各自排好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      29 从下标 6 一步搬到下标 2；34' 从下标 4 一步搬到下标 0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gap=2      29  12 34'  32  45  34  78  64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gap=1      12  29  32 34'  34  45  64  78        最后一趟：序列已基本有序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888736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注意结果里 34′ 排在 34 前面，与输入次序相反 —— </a:t>
            </a:r>
            <a:r>
              <a:rPr sz="1300" b="1" i="0">
                <a:solidFill>
                  <a:srgbClr val="6B7582"/>
                </a:solidFill>
                <a:latin typeface="Segoe UI"/>
                <a:ea typeface="微软雅黑"/>
              </a:rPr>
              <a:t>Shell 排序不稳定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第8章 内排序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为什么 Shell 不稳定，以及增量怎么选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不稳定的原因正是「跨越式移动」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：34 与 34′ 落在不同的子序列里，34′ 在第一趟就越过了 34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而稳定性恰恰依赖「只与相邻元素比较、绝不跳过相等元素」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增量序列的选择直接决定复杂度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，这是一个至今没有完全解决的问题：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减半序列（本书所用）最坏 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Θ(n²)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Hibbard 序列 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1, 3, 7, …, 2ᵏ-1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 最坏 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Θ(n^1.5)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实测常用的 Sedgewick 序列更好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本书取减半，是因为它最容易讲清楚「增量」这件事本身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第8章 内排序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274320" cy="173736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395728"/>
            <a:ext cx="10424160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E07B39"/>
                </a:solidFill>
                <a:latin typeface="Segoe UI"/>
                <a:ea typeface="微软雅黑"/>
              </a:rPr>
              <a:t>第 3 节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12395B"/>
                </a:solidFill>
                <a:latin typeface="Segoe UI"/>
                <a:ea typeface="微软雅黑"/>
              </a:rPr>
              <a:t>8.3 / 8.4 选择排序与交换排序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B7582"/>
                </a:solidFill>
                <a:latin typeface="Segoe UI"/>
                <a:ea typeface="微软雅黑"/>
              </a:rPr>
              <a:t>选择、堆排、冒泡、快排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8.3 选择排序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直接选择排序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：每轮从剩余部分选出最小的，与当前位置交换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最好情况也是 Θ(n²)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 —— 无论输入什么样，都要把剩余部分完整扫一遍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换来的是别人没有的性质：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交换次数 ≤ n−1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不稳定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：交换会把相等元素跨过去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堆排序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（8.3.2）：用第 5 章的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最大堆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建堆 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O(n)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，然后 n 次取最大 —— 每次 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O(log n)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总代价 O(n log n)，最坏情况也有保证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；原地排序，不要额外空间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那个 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log n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 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全部来自后面 n 次取最大，建堆是白送的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（5.5.1a）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第8章 内排序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8.4.2 快速排序：分、治、不用合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1962 年 Tony Hoare 发明。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被评选为 20 世纪十大算法之一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，平均 Θ(n log n)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① 从序列中选一个记录作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轴值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（pivot）；② 把其余记录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分割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成 L 和 R；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③ L 中都 ≤ k，R 中都 ≥ k，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于是 k 正好位于它最终的位置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；④ 对 L、R 递归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不需要明显的「合」过程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—— 轴值已经到位，L 的记录再也不会跑到 k 的右边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这是它与归并排序（8.5）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最大的区别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分割是快排的全部工作量：它是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O(n) 的一次线性扫描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，而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分得均不均匀决定了递归有多深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每次平分是 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O(n log n)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；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每次只切下一个元素就退化成 </a:t>
            </a:r>
            <a:r>
              <a:rPr sz="1541" b="1" i="0">
                <a:solidFill>
                  <a:srgbClr val="6B7582"/>
                </a:solidFill>
                <a:latin typeface="Consolas"/>
                <a:ea typeface="Consolas"/>
              </a:rPr>
              <a:t>O(n²)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第8章 内排序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轴值怎么选，影响很大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最糟糕的情况莫过于轴值恰好是第一个或者最后一个记录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—— 分出的两个子序列中会有一个为空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选第一个或最后一个记录当轴值时，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输入恰好正序或逆序就每次都最坏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选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中间点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(start + end) / 2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：正序或逆序时正好平分序列，实验效果非常好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实务中的快排一定要配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三数取中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或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随机枢轴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等于轴值的记录怎么办？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快排不稳定，所以有多种处理方法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但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全相等的输入必须也能结束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 —— 处理不当会死循环，这是最常见的一处 bug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第8章 内排序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274320" cy="173736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395728"/>
            <a:ext cx="10424160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E07B39"/>
                </a:solidFill>
                <a:latin typeface="Segoe UI"/>
                <a:ea typeface="微软雅黑"/>
              </a:rPr>
              <a:t>第 4 节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12395B"/>
                </a:solidFill>
                <a:latin typeface="Segoe UI"/>
                <a:ea typeface="微软雅黑"/>
              </a:rPr>
              <a:t>8.5 / 8.6 归并排序与分配排序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B7582"/>
                </a:solidFill>
                <a:latin typeface="Segoe UI"/>
                <a:ea typeface="微软雅黑"/>
              </a:rPr>
              <a:t>稳定的 n log n；以及不比较的排序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8.5 归并排序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也是分治：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分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成两半各自排好，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合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成一个有序序列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与快排相反 —— 快排把功夫花在「分」上，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归并把功夫花在「合」上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稳定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（合并时相等元素优先取左半边的），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最坏也是 O(n log n)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代价是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需要 O(n) 的辅助空间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—— 这是它与堆排序的分水岭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堆排序原地但不稳定；归并稳定但费空间；快排平均最快但最坏退化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三者各占一角，没有一个全占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 —— 这就是为什么标准库要把它们拼起来用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第8章 内排序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8.6.1 桶式排序：不再比较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前面每一种排序都靠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元素之间的比较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决定次序，而比较排序最坏至少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Ω(n log n)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要突破这个下界，只能不再比较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—— 转而利用关键码本身的数字结构，直接算出每个元素该去哪儿。这类方法叫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分配排序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桶式排序：已知取值都在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[0, m)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之间时，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① 准备 m 个计数器，扫一遍数出每个取值出现几次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② 把计数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累加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成「小于等于 i 的元素共有几个」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③ 这就直接给出了每个取值在结果里的位置区间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「先数一遍再累加」的用处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：预先给每个桶留出恰好够用的一段，于是只要一个长度 n 的辅助数组，而不是 m 条变长的链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第8章 内排序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8.6.2 基数排序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桶式排序的问题是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m 太大时空间吃不消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（值域有多大就要多少计数器）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基数排序把关键码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按位拆开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，每一位的取值只有 r 种（十进制 r=10）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LSD（低位优先）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：从最低位开始，每一位做一次分配 + 收集，共 d 趟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⚠️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第一趟之后的每一趟都必须用稳定排序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—— 否则前面几趟的成果会被后面的趟数打乱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这是本章「稳定性不是装饰」最硬的一个例子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代价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Θ(d(n + r))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。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它没有违反 Ω(n log n) 下界，是站在下界管辖范围之外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代价是对关键码的形态有要求：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值域要够密，或者位数要够少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第8章 内排序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274320" cy="173736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395728"/>
            <a:ext cx="10424160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E07B39"/>
                </a:solidFill>
                <a:latin typeface="Segoe UI"/>
                <a:ea typeface="微软雅黑"/>
              </a:rPr>
              <a:t>第 5 节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12395B"/>
                </a:solidFill>
                <a:latin typeface="Segoe UI"/>
                <a:ea typeface="微软雅黑"/>
              </a:rPr>
              <a:t>8.7 排序算法的时间代价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B7582"/>
                </a:solidFill>
                <a:latin typeface="Segoe UI"/>
                <a:ea typeface="微软雅黑"/>
              </a:rPr>
              <a:t>实测数字，以及一条下界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8.7.1 三种简单排序：差别不在数量级，在对输入形态的反应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298448"/>
          <a:ext cx="11057836" cy="194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68547"/>
                <a:gridCol w="2137354"/>
                <a:gridCol w="1187418"/>
                <a:gridCol w="2003769"/>
                <a:gridCol w="1187418"/>
                <a:gridCol w="1573330"/>
              </a:tblGrid>
              <a:tr h="487045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算法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最好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平均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最坏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稳定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交换/搬移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</a:tr>
              <a:tr h="487045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直接插入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12395B"/>
                          </a:solidFill>
                          <a:latin typeface="Segoe UI"/>
                          <a:ea typeface="微软雅黑"/>
                        </a:rPr>
                        <a:t>Θ(n)</a:t>
                      </a: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（已有序）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Θ(n²)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Θ(n²)（逆序）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稳定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搬移 Θ(n²)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87045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冒泡（带无交换退出）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12395B"/>
                          </a:solidFill>
                          <a:latin typeface="Segoe UI"/>
                          <a:ea typeface="微软雅黑"/>
                        </a:rPr>
                        <a:t>Θ(n)</a:t>
                      </a: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（已有序）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Θ(n²)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Θ(n²)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稳定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交换 Θ(n²)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87045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直接选择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12395B"/>
                          </a:solidFill>
                          <a:latin typeface="Segoe UI"/>
                          <a:ea typeface="微软雅黑"/>
                        </a:rPr>
                        <a:t>Θ(n²)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Θ(n²)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Θ(n²)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12395B"/>
                          </a:solidFill>
                          <a:latin typeface="Segoe UI"/>
                          <a:ea typeface="微软雅黑"/>
                        </a:rPr>
                        <a:t>不稳定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12395B"/>
                          </a:solidFill>
                          <a:latin typeface="Segoe UI"/>
                          <a:ea typeface="微软雅黑"/>
                        </a:rPr>
                        <a:t>交换 ≤ n−1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3374644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选择排序那一行是关键：</a:t>
            </a:r>
            <a:r>
              <a:rPr sz="1300" b="1" i="0">
                <a:solidFill>
                  <a:srgbClr val="6B7582"/>
                </a:solidFill>
                <a:latin typeface="Segoe UI"/>
                <a:ea typeface="微软雅黑"/>
              </a:rPr>
              <a:t>它的最好情况也是 Θ(n²)</a:t>
            </a: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 —— 它换来的是「交换次数最少」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第8章 内排序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8.7.2 实测（g++ 13.3，-O2，随机数据，毫秒）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836420"/>
            <a:ext cx="11057839" cy="3368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  n     插入     选择     冒泡     堆排     快排     归并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1000      0.1      0.2      2.8      0.0      0.0      0.0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10000      7.9     18.9    162.4      0.7      0.4      0.5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50000    213.5    482.1   5821.9      3.0      2.2      3.1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再看输入形态的影响（2 万个数）：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                插入      冒泡    优化快排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已经排好序          0.0       0.0     105.9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随机               58.5     675.1       0.7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888736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这两张表是本章最值得盯着看的两页 —— 下一页逐条读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第8章 内排序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从这两张表读出来的三件事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① 同为 Θ(n²)，冒泡比插入慢 27 倍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（5822 对 214）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常数差异来自：冒泡每遇到一个逆序对做一次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三步交换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，插入只做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一次搬移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Θ 告诉你 n 变大时谁会输，不告诉你在你关心的那个 n 上谁更快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② n 从 1 万涨到 5 万（5 倍）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：Θ(n²) 的三个涨了约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25 倍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，Θ(n log n) 的三个只涨了 5～6 倍 ——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这就是量出来的数量级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▍ ③ 优化快排在已排好序的输入上比插入排序慢 100 倍以上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本书实现取末元素作枢轴，有序输入每次划分都最坏，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Θ(n²)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那两处优化管的是栈深和常数，救不了最坏时间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第8章 内排序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原书量出的几条敏感性结论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▍ 选择排序、归并排序、基数排序对数据分布不敏感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插入、冒泡、Shell 都是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正序比逆序快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；正序或基本有序时，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简单算法反而最好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快速排序的正序和逆序速度一样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，都比随机分布快 —— 因为原书取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中间点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作轴值，正序逆序时正好平分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本书实现取末元素，所以在这两种输入上反而最慢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同一个算法，选轴策略不同，对输入形态的反应可以完全相反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堆排序逆序比正序稍快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—— 用的是最大堆，逆序时已经自然成堆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顺序基数排序比链式快；但记录很大时应改用链式以减少移动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第8章 内排序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标准库里的排序是怎么做的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std::sort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是一种基于快速排序的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混合算法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（今天通称 introsort）：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先用快速排序，轴值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三点选中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；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长度小于阈值（原书记为 n &lt; 20）时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停止递归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，最后对整个序列做一次插入排序；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引入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递归计数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：深度超过阈值（原书记为 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2 log n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）时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转入堆排序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stable_sort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用归并排序，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partial_sort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用堆排序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这段话正好解释了本书为什么不用 </a:t>
            </a:r>
            <a:r>
              <a:rPr sz="1879" b="1" i="0">
                <a:solidFill>
                  <a:srgbClr val="12395B"/>
                </a:solidFill>
                <a:latin typeface="Consolas"/>
                <a:ea typeface="Consolas"/>
              </a:rPr>
              <a:t>std::sort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 顶替这一章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它是把本章三种算法拼起来的产物，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读懂它的前提恰恰是先把这三种都手写一遍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第8章 内排序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8.7.3 排序问题的下限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下限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是解决问题所能达到的最佳可能效率（哪怕算法还没设计出来）；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上限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是已知最快算法的效率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一条谁也绕不过去的下限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：任何算法的时间代价都不可能小于它的 I/O 时间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至少要花 n 步读入、n 步输出 → 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排序的时间只可能在 </a:t>
            </a:r>
            <a:r>
              <a:rPr sz="1541" b="1" i="0">
                <a:solidFill>
                  <a:srgbClr val="6B7582"/>
                </a:solidFill>
                <a:latin typeface="Consolas"/>
                <a:ea typeface="Consolas"/>
              </a:rPr>
              <a:t>Ω(n)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 到 </a:t>
            </a:r>
            <a:r>
              <a:rPr sz="1541" b="1" i="0">
                <a:solidFill>
                  <a:srgbClr val="6B7582"/>
                </a:solidFill>
                <a:latin typeface="Consolas"/>
                <a:ea typeface="Consolas"/>
              </a:rPr>
              <a:t>O(n log n)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 之间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已知比较排序的上限是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O(n log n)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。下限能不能降到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Ω(n)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？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▍ 答案是不能：任何基于比较的排序，最坏情况下至少需要 </a:t>
            </a:r>
            <a:r>
              <a:rPr sz="1879" b="1" i="0">
                <a:solidFill>
                  <a:srgbClr val="12395B"/>
                </a:solidFill>
                <a:latin typeface="Consolas"/>
                <a:ea typeface="Consolas"/>
              </a:rPr>
              <a:t>Ω(n log n)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 次比较。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第8章 内排序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判定树：Ω(n log n) 的证明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4439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944"/>
              </a:lnSpc>
              <a:spcBef>
                <a:spcPts val="0"/>
              </a:spcBef>
              <a:spcAft>
                <a:spcPts val="0"/>
              </a:spcAft>
            </a:pPr>
            <a:r>
              <a:rPr sz="1495" b="0" i="0">
                <a:solidFill>
                  <a:srgbClr val="12395B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944"/>
              </a:lnSpc>
              <a:spcBef>
                <a:spcPts val="0"/>
              </a:spcBef>
              <a:spcAft>
                <a:spcPts val="0"/>
              </a:spcAft>
            </a:pPr>
            <a:r>
              <a:rPr sz="1495" b="0" i="0">
                <a:solidFill>
                  <a:srgbClr val="12395B"/>
                </a:solidFill>
                <a:latin typeface="Consolas"/>
                <a:ea typeface="Consolas"/>
              </a:rPr>
              <a:t>把一次排序的执行过程画成一棵二叉树：</a:t>
            </a:r>
          </a:p>
          <a:p>
            <a:pPr algn="l">
              <a:lnSpc>
                <a:spcPts val="1944"/>
              </a:lnSpc>
              <a:spcBef>
                <a:spcPts val="0"/>
              </a:spcBef>
              <a:spcAft>
                <a:spcPts val="0"/>
              </a:spcAft>
            </a:pPr>
            <a:r>
              <a:rPr sz="1495" b="0" i="0">
                <a:solidFill>
                  <a:srgbClr val="12395B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944"/>
              </a:lnSpc>
              <a:spcBef>
                <a:spcPts val="0"/>
              </a:spcBef>
              <a:spcAft>
                <a:spcPts val="0"/>
              </a:spcAft>
            </a:pPr>
            <a:r>
              <a:rPr sz="1495" b="0" i="0">
                <a:solidFill>
                  <a:srgbClr val="12395B"/>
                </a:solidFill>
                <a:latin typeface="Consolas"/>
                <a:ea typeface="Consolas"/>
              </a:rPr>
              <a:t>    每个内部结点 = 一次比较「a_i &lt; a_j ?」</a:t>
            </a:r>
          </a:p>
          <a:p>
            <a:pPr algn="l">
              <a:lnSpc>
                <a:spcPts val="1944"/>
              </a:lnSpc>
              <a:spcBef>
                <a:spcPts val="0"/>
              </a:spcBef>
              <a:spcAft>
                <a:spcPts val="0"/>
              </a:spcAft>
            </a:pPr>
            <a:r>
              <a:rPr sz="1495" b="0" i="0">
                <a:solidFill>
                  <a:srgbClr val="12395B"/>
                </a:solidFill>
                <a:latin typeface="Consolas"/>
                <a:ea typeface="Consolas"/>
              </a:rPr>
              <a:t>    两条边       = 两种结果</a:t>
            </a:r>
          </a:p>
          <a:p>
            <a:pPr algn="l">
              <a:lnSpc>
                <a:spcPts val="1944"/>
              </a:lnSpc>
              <a:spcBef>
                <a:spcPts val="0"/>
              </a:spcBef>
              <a:spcAft>
                <a:spcPts val="0"/>
              </a:spcAft>
            </a:pPr>
            <a:r>
              <a:rPr sz="1495" b="0" i="0">
                <a:solidFill>
                  <a:srgbClr val="12395B"/>
                </a:solidFill>
                <a:latin typeface="Consolas"/>
                <a:ea typeface="Consolas"/>
              </a:rPr>
              <a:t>    每片叶子     = 一种最终的输出排列</a:t>
            </a:r>
          </a:p>
          <a:p>
            <a:pPr algn="l">
              <a:lnSpc>
                <a:spcPts val="1944"/>
              </a:lnSpc>
              <a:spcBef>
                <a:spcPts val="0"/>
              </a:spcBef>
              <a:spcAft>
                <a:spcPts val="0"/>
              </a:spcAft>
            </a:pPr>
            <a:r>
              <a:rPr sz="1495" b="0" i="0">
                <a:solidFill>
                  <a:srgbClr val="12395B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944"/>
              </a:lnSpc>
              <a:spcBef>
                <a:spcPts val="0"/>
              </a:spcBef>
              <a:spcAft>
                <a:spcPts val="0"/>
              </a:spcAft>
            </a:pPr>
            <a:r>
              <a:rPr sz="1495" b="0" i="0">
                <a:solidFill>
                  <a:srgbClr val="12395B"/>
                </a:solidFill>
                <a:latin typeface="Consolas"/>
                <a:ea typeface="Consolas"/>
              </a:rPr>
              <a:t>于是「算法在某个输入上做了多少次比较」= 从根走到对应叶子的路径长度。</a:t>
            </a:r>
          </a:p>
          <a:p>
            <a:pPr algn="l">
              <a:lnSpc>
                <a:spcPts val="1944"/>
              </a:lnSpc>
              <a:spcBef>
                <a:spcPts val="0"/>
              </a:spcBef>
              <a:spcAft>
                <a:spcPts val="0"/>
              </a:spcAft>
            </a:pPr>
            <a:r>
              <a:rPr sz="1495" b="0" i="0">
                <a:solidFill>
                  <a:srgbClr val="12395B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944"/>
              </a:lnSpc>
              <a:spcBef>
                <a:spcPts val="0"/>
              </a:spcBef>
              <a:spcAft>
                <a:spcPts val="0"/>
              </a:spcAft>
            </a:pPr>
            <a:r>
              <a:rPr sz="1495" b="0" i="0">
                <a:solidFill>
                  <a:srgbClr val="12395B"/>
                </a:solidFill>
                <a:latin typeface="Consolas"/>
                <a:ea typeface="Consolas"/>
              </a:rPr>
              <a:t>  n 个互不相同的元素有 n! 种排列，每一种都必须能被这棵树区分出来</a:t>
            </a:r>
          </a:p>
          <a:p>
            <a:pPr algn="l">
              <a:lnSpc>
                <a:spcPts val="1944"/>
              </a:lnSpc>
              <a:spcBef>
                <a:spcPts val="0"/>
              </a:spcBef>
              <a:spcAft>
                <a:spcPts val="0"/>
              </a:spcAft>
            </a:pPr>
            <a:r>
              <a:rPr sz="1495" b="0" i="0">
                <a:solidFill>
                  <a:srgbClr val="12395B"/>
                </a:solidFill>
                <a:latin typeface="Consolas"/>
                <a:ea typeface="Consolas"/>
              </a:rPr>
              <a:t>     （否则算法会对两个不同的输入给出同一个答案）</a:t>
            </a:r>
          </a:p>
          <a:p>
            <a:pPr algn="l">
              <a:lnSpc>
                <a:spcPts val="1944"/>
              </a:lnSpc>
              <a:spcBef>
                <a:spcPts val="0"/>
              </a:spcBef>
              <a:spcAft>
                <a:spcPts val="0"/>
              </a:spcAft>
            </a:pPr>
            <a:r>
              <a:rPr sz="1495" b="0" i="0">
                <a:solidFill>
                  <a:srgbClr val="12395B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944"/>
              </a:lnSpc>
              <a:spcBef>
                <a:spcPts val="0"/>
              </a:spcBef>
              <a:spcAft>
                <a:spcPts val="0"/>
              </a:spcAft>
            </a:pPr>
            <a:r>
              <a:rPr sz="1495" b="0" i="0">
                <a:solidFill>
                  <a:srgbClr val="12395B"/>
                </a:solidFill>
                <a:latin typeface="Consolas"/>
                <a:ea typeface="Consolas"/>
              </a:rPr>
              <a:t>           ==&gt;  叶子至少有 n! 片</a:t>
            </a:r>
          </a:p>
          <a:p>
            <a:pPr algn="l">
              <a:lnSpc>
                <a:spcPts val="1944"/>
              </a:lnSpc>
              <a:spcBef>
                <a:spcPts val="0"/>
              </a:spcBef>
              <a:spcAft>
                <a:spcPts val="0"/>
              </a:spcAft>
            </a:pPr>
            <a:r>
              <a:rPr sz="1495" b="0" i="0">
                <a:solidFill>
                  <a:srgbClr val="12395B"/>
                </a:solidFill>
                <a:latin typeface="Consolas"/>
                <a:ea typeface="Consolas"/>
              </a:rPr>
              <a:t>  高度为 h 的二叉树最多有 2^h 片叶子</a:t>
            </a:r>
          </a:p>
          <a:p>
            <a:pPr algn="l">
              <a:lnSpc>
                <a:spcPts val="1944"/>
              </a:lnSpc>
              <a:spcBef>
                <a:spcPts val="0"/>
              </a:spcBef>
              <a:spcAft>
                <a:spcPts val="0"/>
              </a:spcAft>
            </a:pPr>
            <a:r>
              <a:rPr sz="1495" b="0" i="0">
                <a:solidFill>
                  <a:srgbClr val="12395B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944"/>
              </a:lnSpc>
              <a:spcBef>
                <a:spcPts val="0"/>
              </a:spcBef>
              <a:spcAft>
                <a:spcPts val="0"/>
              </a:spcAft>
            </a:pPr>
            <a:r>
              <a:rPr sz="1495" b="0" i="0">
                <a:solidFill>
                  <a:srgbClr val="12395B"/>
                </a:solidFill>
                <a:latin typeface="Consolas"/>
                <a:ea typeface="Consolas"/>
              </a:rPr>
              <a:t>           ==&gt;  2^h &gt;= n!  ==&gt;  h &gt;= log2(n!) = Theta(n log n)</a:t>
            </a:r>
          </a:p>
          <a:p>
            <a:pPr algn="l">
              <a:lnSpc>
                <a:spcPts val="1944"/>
              </a:lnSpc>
              <a:spcBef>
                <a:spcPts val="0"/>
              </a:spcBef>
              <a:spcAft>
                <a:spcPts val="0"/>
              </a:spcAft>
            </a:pPr>
            <a:r>
              <a:rPr sz="1495" b="0" i="0">
                <a:solidFill>
                  <a:srgbClr val="12395B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944"/>
              </a:lnSpc>
              <a:spcBef>
                <a:spcPts val="0"/>
              </a:spcBef>
              <a:spcAft>
                <a:spcPts val="0"/>
              </a:spcAft>
            </a:pPr>
            <a:r>
              <a:rPr sz="1495" b="0" i="0">
                <a:solidFill>
                  <a:srgbClr val="12395B"/>
                </a:solidFill>
                <a:latin typeface="Consolas"/>
                <a:ea typeface="Consolas"/>
              </a:rPr>
              <a:t>  而树的高度，正是最坏情况下的比较次数。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888736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Stirling：log₂(n!) ≥ log₂(n/2)^(n/2) = (n/2)·log₂(n/2) = Θ(n log 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第8章 内排序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这个下界只约束比较排序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2084831"/>
            <a:ext cx="11057839" cy="2286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2084831"/>
            <a:ext cx="82296" cy="228600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" y="2377440"/>
            <a:ext cx="10051999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2395B"/>
                </a:solidFill>
                <a:latin typeface="Segoe UI"/>
                <a:ea typeface="微软雅黑"/>
              </a:rPr>
              <a:t>桶式排序和基数排序</a:t>
            </a:r>
            <a:r>
              <a:rPr sz="2200" b="1" i="0">
                <a:solidFill>
                  <a:srgbClr val="12395B"/>
                </a:solidFill>
                <a:latin typeface="Segoe UI"/>
                <a:ea typeface="微软雅黑"/>
              </a:rPr>
              <a:t>不比较元素</a:t>
            </a:r>
            <a:r>
              <a:rPr sz="2200" b="1" i="0">
                <a:solidFill>
                  <a:srgbClr val="12395B"/>
                </a:solidFill>
                <a:latin typeface="Segoe UI"/>
                <a:ea typeface="微软雅黑"/>
              </a:rPr>
              <a:t>，它们直接用关键码的值算位置 —— </a:t>
            </a:r>
            <a:r>
              <a:rPr sz="2200" b="1" i="0">
                <a:solidFill>
                  <a:srgbClr val="12395B"/>
                </a:solidFill>
                <a:latin typeface="Segoe UI"/>
                <a:ea typeface="微软雅黑"/>
              </a:rPr>
              <a:t>它们没有违反下界，是站在下界管辖范围之外。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第8章 内排序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本章小结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排序、检索和索引历来是数据结构讨论的重点问题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，三者互相支撑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稳定性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决定了能不能做「多关键码排序」—— 基数排序 LSD 完全依赖它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三种简单排序都是 Θ(n²)，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根本原因是「只对相邻记录比较和移动」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想从数量级上提高，就必须摆脱这种一步步操作的思想（Shell 是第一步）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堆排序原地但不稳定；归并稳定但费空间；快排平均最快但最坏退化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—— 各占一角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比较排序的最坏下界是 Ω(n log n)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，用判定树证明；分配排序不受它约束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同阶不等于同速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—— 冒泡与插入同为 Θ(n²)，实测差 27 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第8章 内排序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习题选讲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085"/>
              </a:spcAft>
            </a:pPr>
            <a:r>
              <a:rPr sz="175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1750" b="1" i="0">
                <a:solidFill>
                  <a:srgbClr val="12395B"/>
                </a:solidFill>
                <a:latin typeface="Segoe UI"/>
                <a:ea typeface="微软雅黑"/>
              </a:rPr>
              <a:t>手算</a:t>
            </a:r>
            <a:r>
              <a:rPr sz="1750" b="0" i="0">
                <a:solidFill>
                  <a:srgbClr val="242A33"/>
                </a:solidFill>
                <a:latin typeface="Segoe UI"/>
                <a:ea typeface="微软雅黑"/>
              </a:rPr>
              <a:t>　对同一组数据分别走一遍插入、Shell、选择、冒泡、快排、归并，写出每一趟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085"/>
              </a:spcAft>
            </a:pPr>
            <a:r>
              <a:rPr sz="175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1750" b="1" i="0">
                <a:solidFill>
                  <a:srgbClr val="12395B"/>
                </a:solidFill>
                <a:latin typeface="Segoe UI"/>
                <a:ea typeface="微软雅黑"/>
              </a:rPr>
              <a:t>稳定性</a:t>
            </a:r>
            <a:r>
              <a:rPr sz="1750" b="0" i="0">
                <a:solidFill>
                  <a:srgbClr val="242A33"/>
                </a:solidFill>
                <a:latin typeface="Segoe UI"/>
                <a:ea typeface="微软雅黑"/>
              </a:rPr>
              <a:t>　逐一判断本章各算法是否稳定，</a:t>
            </a:r>
            <a:r>
              <a:rPr sz="1750" b="1" i="0">
                <a:solidFill>
                  <a:srgbClr val="12395B"/>
                </a:solidFill>
                <a:latin typeface="Segoe UI"/>
                <a:ea typeface="微软雅黑"/>
              </a:rPr>
              <a:t>并对不稳定的给出最小反例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085"/>
              </a:spcAft>
            </a:pPr>
            <a:r>
              <a:rPr sz="175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1750" b="1" i="0">
                <a:solidFill>
                  <a:srgbClr val="12395B"/>
                </a:solidFill>
                <a:latin typeface="Segoe UI"/>
                <a:ea typeface="微软雅黑"/>
              </a:rPr>
              <a:t>下界</a:t>
            </a:r>
            <a:r>
              <a:rPr sz="1750" b="0" i="0">
                <a:solidFill>
                  <a:srgbClr val="242A33"/>
                </a:solidFill>
                <a:latin typeface="Segoe UI"/>
                <a:ea typeface="微软雅黑"/>
              </a:rPr>
              <a:t>　用判定树证明比较排序的 </a:t>
            </a:r>
            <a:r>
              <a:rPr sz="1645" b="0" i="0">
                <a:solidFill>
                  <a:srgbClr val="242A33"/>
                </a:solidFill>
                <a:latin typeface="Consolas"/>
                <a:ea typeface="Consolas"/>
              </a:rPr>
              <a:t>Ω(n log n)</a:t>
            </a:r>
            <a:r>
              <a:rPr sz="1750" b="0" i="0">
                <a:solidFill>
                  <a:srgbClr val="242A33"/>
                </a:solidFill>
                <a:latin typeface="Segoe UI"/>
                <a:ea typeface="微软雅黑"/>
              </a:rPr>
              <a:t>；说明基数排序为什么不受约束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085"/>
              </a:spcAft>
            </a:pPr>
            <a:r>
              <a:rPr sz="175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1750" b="1" i="0">
                <a:solidFill>
                  <a:srgbClr val="12395B"/>
                </a:solidFill>
                <a:latin typeface="Segoe UI"/>
                <a:ea typeface="微软雅黑"/>
              </a:rPr>
              <a:t>快排</a:t>
            </a:r>
            <a:r>
              <a:rPr sz="1750" b="0" i="0">
                <a:solidFill>
                  <a:srgbClr val="242A33"/>
                </a:solidFill>
                <a:latin typeface="Segoe UI"/>
                <a:ea typeface="微软雅黑"/>
              </a:rPr>
              <a:t>　举例说明取末元素作枢轴时哪种输入最坏；三数取中能不能根治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085"/>
              </a:spcAft>
            </a:pPr>
            <a:r>
              <a:rPr sz="175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1750" b="1" i="0">
                <a:solidFill>
                  <a:srgbClr val="12395B"/>
                </a:solidFill>
                <a:latin typeface="Segoe UI"/>
                <a:ea typeface="微软雅黑"/>
              </a:rPr>
              <a:t>基数</a:t>
            </a:r>
            <a:r>
              <a:rPr sz="1750" b="0" i="0">
                <a:solidFill>
                  <a:srgbClr val="242A33"/>
                </a:solidFill>
                <a:latin typeface="Segoe UI"/>
                <a:ea typeface="微软雅黑"/>
              </a:rPr>
              <a:t>　为什么 LSD 的每一趟都必须稳定？举一个用不稳定排序会出错的例子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085"/>
              </a:spcAft>
            </a:pPr>
            <a:r>
              <a:rPr sz="175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1750" b="1" i="0">
                <a:solidFill>
                  <a:srgbClr val="12395B"/>
                </a:solidFill>
                <a:latin typeface="Segoe UI"/>
                <a:ea typeface="微软雅黑"/>
              </a:rPr>
              <a:t>原书 11</a:t>
            </a:r>
            <a:r>
              <a:rPr sz="1750" b="0" i="0">
                <a:solidFill>
                  <a:srgbClr val="242A33"/>
                </a:solidFill>
                <a:latin typeface="Segoe UI"/>
                <a:ea typeface="微软雅黑"/>
              </a:rPr>
              <a:t>　大量重复记录时把快排改成</a:t>
            </a:r>
            <a:r>
              <a:rPr sz="1750" b="1" i="0">
                <a:solidFill>
                  <a:srgbClr val="12395B"/>
                </a:solidFill>
                <a:latin typeface="Segoe UI"/>
                <a:ea typeface="微软雅黑"/>
              </a:rPr>
              <a:t>三分数组</a:t>
            </a:r>
            <a:r>
              <a:rPr sz="1750" b="0" i="0">
                <a:solidFill>
                  <a:srgbClr val="242A33"/>
                </a:solidFill>
                <a:latin typeface="Segoe UI"/>
                <a:ea typeface="微软雅黑"/>
              </a:rPr>
              <a:t>（小于 / 等于 / 大于轴值）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085"/>
              </a:spcAft>
            </a:pPr>
            <a:r>
              <a:rPr sz="175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1750" b="1" i="0">
                <a:solidFill>
                  <a:srgbClr val="12395B"/>
                </a:solidFill>
                <a:latin typeface="Segoe UI"/>
                <a:ea typeface="微软雅黑"/>
              </a:rPr>
              <a:t>原书 12</a:t>
            </a:r>
            <a:r>
              <a:rPr sz="1750" b="0" i="0">
                <a:solidFill>
                  <a:srgbClr val="242A33"/>
                </a:solidFill>
                <a:latin typeface="Segoe UI"/>
                <a:ea typeface="微软雅黑"/>
              </a:rPr>
              <a:t>　用栈代替递归；最差情况栈有多深？</a:t>
            </a:r>
            <a:r>
              <a:rPr sz="1750" b="1" i="0">
                <a:solidFill>
                  <a:srgbClr val="12395B"/>
                </a:solidFill>
                <a:latin typeface="Segoe UI"/>
                <a:ea typeface="微软雅黑"/>
              </a:rPr>
              <a:t>怎样组织递归顺序能把栈深减到最小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085"/>
              </a:spcAft>
            </a:pPr>
            <a:r>
              <a:rPr sz="175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1750" b="1" i="0">
                <a:solidFill>
                  <a:srgbClr val="12395B"/>
                </a:solidFill>
                <a:latin typeface="Segoe UI"/>
                <a:ea typeface="微软雅黑"/>
              </a:rPr>
              <a:t>上机 1</a:t>
            </a:r>
            <a:r>
              <a:rPr sz="1750" b="0" i="0">
                <a:solidFill>
                  <a:srgbClr val="242A33"/>
                </a:solidFill>
                <a:latin typeface="Segoe UI"/>
                <a:ea typeface="微软雅黑"/>
              </a:rPr>
              <a:t>　复现 8.7.2 的两张实测表，并解释你机器上的数字与书上的差异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085"/>
              </a:spcAft>
            </a:pPr>
            <a:r>
              <a:rPr sz="175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1750" b="1" i="0">
                <a:solidFill>
                  <a:srgbClr val="12395B"/>
                </a:solidFill>
                <a:latin typeface="Segoe UI"/>
                <a:ea typeface="微软雅黑"/>
              </a:rPr>
              <a:t>这一页和讲义里都是选讲。</a:t>
            </a:r>
            <a:r>
              <a:rPr sz="1750" b="0" i="0">
                <a:solidFill>
                  <a:srgbClr val="242A33"/>
                </a:solidFill>
                <a:latin typeface="Segoe UI"/>
                <a:ea typeface="微软雅黑"/>
              </a:rPr>
              <a:t> 原书全部 </a:t>
            </a:r>
            <a:r>
              <a:rPr sz="1750" b="1" i="0">
                <a:solidFill>
                  <a:srgbClr val="12395B"/>
                </a:solidFill>
                <a:latin typeface="Segoe UI"/>
                <a:ea typeface="微软雅黑"/>
              </a:rPr>
              <a:t>344 道</a:t>
            </a:r>
            <a:r>
              <a:rPr sz="1750" b="0" i="0">
                <a:solidFill>
                  <a:srgbClr val="242A33"/>
                </a:solidFill>
                <a:latin typeface="Segoe UI"/>
                <a:ea typeface="微软雅黑"/>
              </a:rPr>
              <a:t>习题与上机题的参考答案，在 </a:t>
            </a:r>
            <a:r>
              <a:rPr sz="1645" b="0" i="0">
                <a:solidFill>
                  <a:srgbClr val="242A33"/>
                </a:solidFill>
                <a:latin typeface="Consolas"/>
                <a:ea typeface="Consolas"/>
              </a:rPr>
              <a:t>book/习题与参考答案.md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第8章 内排序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31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