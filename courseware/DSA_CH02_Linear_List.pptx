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第2章　线性表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顺序表与链表 · 三法则 · 按位置访问 vs 改链接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本章要回答三个问题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一串同类型元素排成唯一的先后次序，怎么存？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2.2 顺序表：连续放在数组里；2.3 链表：用链接保存相邻关系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为什么同一个操作，在两种结构上代价差一个数量级？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关键是分清「按位置找元素」和「已知结点后改链接」这两类操作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自己管着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new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出来的内存，最少要写哪几个函数？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三法则。这是本章第一次、也不是最后一次遇到它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本章的一句话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顺序表按下标读是 O(1)，插删要搬 O(n) 个元素；链表已知前驱后插删是 O(1)，但找到那个前驱仍是 O(n)。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2.1 线性表的概念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定义、结构特点与抽象数据类型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2.1 线性表的定义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线性表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是由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元素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组成的一种有限且有序的序列。用第 1 章的二元组写出来：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K = {k₀, k₁, …, kₙ₋₁}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R = {r}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r = {&lt;kᵢ, kᵢ₊₁&gt; | 0 ≤ i ≤ n-2}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元素个数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长度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 = 0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是空表；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k₀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表首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kₙ₋₁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表尾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关系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就是前驱 / 后继关系，具有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反对称性和传递性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逻辑特征：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每个结点最多只有一个前驱、一个后继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同一种线性结构在不同场合有不同称谓：顺序表、链表、串、栈、顺序文件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线性结构的两个特点，运算的五个类别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均匀性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同一线性表中各元素必定具有相同的数据类型和长度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有序性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各元素在表中都有自己的位置，相对位置是线性的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运算按特性分五类：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① 创建实例；② 析构并释放空间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③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获取信息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：由内容找位置、由位置读内容 ——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不改变表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④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改变内容或结构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：更新、插入、删除、清空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⑤ 辅助管理：求当前长度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要定下来的是这张表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409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1472"/>
                <a:gridCol w="5047800"/>
                <a:gridCol w="1498565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运算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含义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时间代价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at(i)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/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set(i, x)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按下标取值、改值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find(x)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按内容查位置；找不到返回「没有」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insert(i, x)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在位置 i 插入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append(x)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在表尾追加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摊还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remove(i)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删除位置 i 的元素并把它带回来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size()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/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empty()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/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clear()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长度、判空、置空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83577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这张表定的是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顺序表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的代价。同一张表在链表上是另一组数字，2.4 节对比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原书【代码2.1】的两处硬伤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① 它声明了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bool delete(const int p);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delete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 C++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关键字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，不能作函数名。整章的删除操作都建立在这个名字上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② 它写的是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class List { void clear(); ... };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，通篇没有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public: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class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的默认访问权限是 private，于是这个 ADT 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每一个运算都调不到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同一本书第 3 章的代码3.1 是写了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public: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第 2 点值得停一下：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一个所有运算都私有的 ADT，语法上成立，语义上是空的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2.2 顺序表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连续存储、随机访问，与三法则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先跑一遍：顺序表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ArrayList&lt;int&gt; values;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values.append(10);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values.append(30);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values.insert(1, 20);          // 要把 30 右移一位 —— 顺序表的固有代价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(int value : values) {     // 有 begin()/end()，range-for 直接可用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std::cout &lt;&lt; ' ' &lt;&lt; value;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if (auto pos = values.find(20)) {           // find 返回 optional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std::cout &lt;&lt; "\n查找 20 的下标: " &lt;&lt; *pos &lt;&lt; '\n';   //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std::cout &lt;&lt; "删除位置 1 得到 " &lt;&lt; values.remove(1);      //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输出：顺序表 10 20 30 / 查找 20 的下标: 1 / 删除位置 1 得到 20，剩余: 10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2.2.1 类定义：原书四个成员，这里三个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template &lt;typename T&gt;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ArrayList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public: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explicit ArrayList(size_type initial_capacity = 8)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: data_(new T[initial_capacity]), capacity_(initial_capacity), size_(0) {}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~ArrayList() { delete[] data_;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// ... 三法则的另外两个见后面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private: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T* data_;             // 指向底层数组      —— 原书 T* aList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size_type capacity_;  // 数组能放多少个    —— 原书 int maxSize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size_type size_;      // 现在放了几个      —— 原书 int curLen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};                        // 原书还有第四个：int position，本书删掉了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int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换成 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std::size_t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：「负下标」不该在类型层面存在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第四个成员 </a:t>
            </a:r>
            <a:r>
              <a:rPr sz="2444" b="1" i="0">
                <a:solidFill>
                  <a:srgbClr val="12395B"/>
                </a:solidFill>
                <a:latin typeface="Consolas"/>
                <a:ea typeface="Consolas"/>
              </a:rPr>
              <a:t>position</a:t>
            </a: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 为什么删掉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原书用一个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当前位置游标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加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setPos / setStart / next / prev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来「依次处理元素」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这个设计今天不能要 ——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遍历状态一旦住进容器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const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对象没法遍历（游标要改）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两处代码不能同时遍历，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嵌套遍历直接互相踩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本书删掉它，改为提供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begin()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/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end()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，把遍历状态交回调用方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range-for 因此可以直接用在顺序表上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顺带一提：原书那个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position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，在书中展示的所有算法里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一次都没被用到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按下标读写：O(1)，这是顺序表的看家本领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const T&amp; at(size_type index) const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(index &gt;= size_)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throw std::out_of_range("ArrayList::at: 下标越界");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data_[index];        // 直接算地址，没有循环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void set(size_type index, const T&amp; value)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(index &gt;= size_)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throw std::out_of_range("ArrayList::set: 下标越界");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data_[index] = value;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348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下标非法是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调用方的错误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，不是可预期状态，所以抛异常而不是返回 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按内容检索：O(n)，「没找到」写进返回值类型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32664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125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std::optional&lt;size_type&gt; find(const T&amp; value) const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(size_type i = 0; i &lt; size_; ++i)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(data_[i] == value)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i;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std::nullopt;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439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原书【算法2.3】用 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bool getPos(int&amp; p, const T value)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：忘了看返回值，就会读到一个从没被写过的 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插入：搬 O(n) 个元素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void insert(size_type pos, const T&amp; value)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(pos &gt; size_) {                       // pos == size() 就是追加到表尾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throw std::out_of_range("ArrayList::insert: 插入位置非法");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(size_ == capacity_)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grow();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(size_type i = size_; i &gt; pos; --i)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data_[i] = data_[i - 1];             // 从后往前搬，否则会自己覆盖自己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data_[pos] = value;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++size_;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void append(const T&amp; value) { insert(size_, value);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3529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「从后往前搬」这一条不是风格问题：反过来写，第一步就把后面的数据抹掉了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删除，与翻倍扩容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T remove(size_type pos) {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if (pos &gt;= size_) { throw std::out_of_range("ArrayList::remove: 下标越界"); }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T removed = data_[pos];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for (size_type i = pos; i + 1 &lt; size_; ++i) {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data_[i] = data_[i + 1];             // 后面的元素左移一位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--size_;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return removed;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void grow() {                                // 私有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size_type next = (capacity_ == 0) ? 1 : capacity_ * 2;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T* fresh = new T[next];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for (size_type i = 0; i &lt; size_; ++i) { fresh[i] = data_[i]; }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delete[] data_;      // 先搬完再释放旧的，顺序反了就会读到已释放的内存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data_ = fresh;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capacity_ = next;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翻倍而不是加一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，才能让 append 的摊还代价保持 O(1)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三法则（Rule of Three）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一个类只要写了析构函数、拷贝构造、拷贝赋值中的任意一个，通常这三个都得写。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为什么三法则是硬要求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你之所以要写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析构函数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，是因为你在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管资源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既然在管资源，编译器那份「逐成员照抄」的拷贝就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一定是错的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照抄一个指针成员的结果是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两个对象指向同一块内存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各自析构时各释放一次 ——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同一块内存被释放两次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arrList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正是如此：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有析构函数，却没有拷贝构造与拷贝赋值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一句普通的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arrList&lt;int&gt; b = a;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就会二次释放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与第 3 章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arrStack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是同一个错误，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同一份 ASan 报告可以复现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教学版补上的那两个函数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ArrayList(const ArrayList&amp; other)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: data_(new T[other.capacity_]), capacity_(other.capacity_), size_(other.size_) {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for (size_type i = 0; i &lt; size_; ++i) {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    data_[i] = other.data_[i];              // 深拷贝：各自一块内存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ArrayList&amp; operator=(const ArrayList&amp; other) {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if (this == &amp;other) { return *this; }       // 自赋值：a = a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T* fresh = new T[other.capacity_];          // 先申请新的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for (size_type i = 0; i &lt; other.size_; ++i) { fresh[i] = other.data_[i]; }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delete[] data_;                             // 成功了再释放旧的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data_ = fresh;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capacity_ = other.capacity_;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size_ = other.size_;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    return *this;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83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注意赋值的顺序：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先申请、拷完、再释放旧的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。倒过来写，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new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抛异常就毁掉了原对象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顺带看一眼原书的 </a:t>
            </a:r>
            <a:r>
              <a:rPr sz="2444" b="1" i="0">
                <a:solidFill>
                  <a:srgbClr val="12395B"/>
                </a:solidFill>
                <a:latin typeface="Consolas"/>
                <a:ea typeface="Consolas"/>
              </a:rPr>
              <a:t>clear()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原书写的是：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void clear() { delete [] aList; curLen = position = 0; aList = new T[maxSize]; }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释放整块再重新分配。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两个问题：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没必要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把长度归零即可，容量留着复用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不是异常安全的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若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new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抛异常，对象就停在「指针已释放、长度已归零」的破碎状态，之后析构还会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再 </a:t>
            </a:r>
            <a:r>
              <a:rPr sz="1541" b="1" i="0">
                <a:solidFill>
                  <a:srgbClr val="6B7582"/>
                </a:solidFill>
                <a:latin typeface="Consolas"/>
                <a:ea typeface="Consolas"/>
              </a:rPr>
              <a:t>delete[]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 一次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教学版的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clear()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只有一行：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void clear() { size_ = 0;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2.3 链表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单链表、双链表、循环链表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链表换了哪一件事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顺序表用「物理相邻」表示逻辑相邻；链表把逻辑相邻写进结点的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链接域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，结点可以散落在内存里。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2.4　单链表示例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2792717"/>
            <a:ext cx="11240719" cy="1309141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2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884157"/>
            <a:ext cx="11057839" cy="11262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结点分两部分：data 域存数据，next 域存后继的地址。终止结点的 next 是空指针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从图 2.4 能读出来的三件事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访问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只能从表头开始顺着 next 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head-&gt;next-&gt;data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8，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head-&gt;next-&gt;next-&gt;data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50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结点在内存中不必两两相邻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这正是链表能以常数条指针完成插删的原因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表越长，这条链越长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：按位置访问是 O(n)，不是 O(1)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为了让「在表尾追加」不必每次走到底，另设一个指向尾结点的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tail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（图 2.5）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有了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tail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append()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O(1)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先跑一遍：链表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LinkedList&lt;int&gt; values;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values.append(10);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values.append(30);        // 经尾指针 O(1) 接链，不必从头走到尾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values.insert(1, 20);     // 只改两条链接，但要先循链找到前驱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(int value : values) { std::cout &lt;&lt; ' ' &lt;&lt; value; }        // 10 20 30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std::cout &lt;&lt; "删除位置 0 得到 " &lt;&lt; values.remove(0);            // 10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std::cout &lt;&lt; "尾元素是 " &lt;&lt; values.at(values.size() - 1);       //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9986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同一组操作，链表不搬元素；但按位置找前驱仍是 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2.6　引入头结点的单链表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791568"/>
            <a:ext cx="11240719" cy="3311439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2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83008"/>
            <a:ext cx="11057839" cy="3128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(a) 带头结点的空表；(b) 一个典型的带头结点的单链表。带阴影的就是头结点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结点与头结点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template &lt;typename T&gt;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class LinkedList {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private: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struct Node {          // 原书【代码2.6】：一个数据域 + 一根指向后继的链接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T value;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Node* next;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};                     // 放在 private：调用方拿不到指针，就改不坏链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public: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LinkedList() : head_(new Node), tail_(head_), size_(0) {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head_-&gt;next = nullptr;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// ...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private: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Node* head_;           // 头结点：不存放数据的哨兵，等价于原书「第 -1 个结点」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Node* tail_;           // 尾指针：空表时回指头结点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size_type size_;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头结点消掉的是「在表头插入 / 删除表头」这个特例：任何位置都变成「找前驱，改它的 next」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循链定位：头结点的意义就在这一行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Node* predecessor_at(size_type pos) const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(pos &gt; size_)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throw std::out_of_range("LinkedList: 下标越界");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Node* predecessor = head_;          // pos == 0 时前驱就是头结点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(size_type i = 0; i &lt; pos; ++i)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predecessor = predecessor-&gt;next;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predecessor;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没有头结点，这里就要为 pos == 0 单写一套分支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，插入、删除各写一次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插入与删除：定位 O(n)，改链接 O(1)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void insert(size_type pos, const T&amp; value) {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Node* predecessor = predecessor_at(pos);      // ① 循链找前驱，O(n)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Node* fresh = new Node;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fresh-&gt;value = value;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fresh-&gt;next = predecessor-&gt;next;              // ② 改两条链接，O(1)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predecessor-&gt;next = fresh;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if (predecessor == tail_) { tail_ = fresh; }  // 插在表尾，尾指针要跟上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++size_;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T remove(size_type pos) {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if (pos &gt;= size_) { throw std::out_of_range("LinkedList::remove: 下标越界"); }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Node* predecessor = predecessor_at(pos);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Node* dying = predecessor-&gt;next;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T value = dying-&gt;value;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predecessor-&gt;next = dying-&gt;next;              // 只改一条链接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if (dying == tail_) { tail_ = predecessor; }  // 删的是最后一个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delete dying;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--size_;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return value;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链表的插入不搬元素，但定位要走。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这就是链表与顺序表的全部分工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析构必须循环，不能递归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void clear()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Node* current = head_-&gt;next;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(current != nullptr) {        // 沿 next 逐个释放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Node* dying = current;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current = current-&gt;next;        // 先记下后继，再 delete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delete dying;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head_-&gt;next = nullptr;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tail_ = head_;                      // 表空了，尾指针退回头结点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size_ = 0;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~LinkedList() { clear(); delete head_; }   // 头结点是构造时 new 的，最后要还回去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348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链长十万级时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递归释放会耗尽运行栈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—— 第 3 章 3.1.5 有实测数字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2.10　双链表的结点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425114"/>
            <a:ext cx="11240719" cy="4044347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2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6554"/>
            <a:ext cx="11057839" cy="3861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一个数据域，两根指针：prev 指前驱，next 指后继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2.3.2 双链表：多一根指针买到什么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双链结点比单链结点多一根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prev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。64 位机上多花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8 字节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它只买到一件事，但这件事很值：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已知一个结点时，删除它是 O(1)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单链表要做同一件事，得先从头走到它的前驱，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O(n)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因为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单链表从一个结点走不回前一个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原书在此只给出结点定义（【代码2.12】），没有给出完整的双链表算法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本书补了一份完整实现：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code/ch02/doubly_linked_list/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2.3.3 循环链表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把尾结点的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next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接回首结点，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没有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nullptr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作为终点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不多花任何存储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，却让「从任一结点都能访问到其余全部结点」成为可能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原书举的例子是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进程轮转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：进程串成一个环，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current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走一步就轮到下一个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只保存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tail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就够了：首结点是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tail-&gt;next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，尾插只改两根链接，都是 O(1)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代价是边界更容易写错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空表、单结点表、多结点表的链接规则不同：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遍历必须保存起点、再次遇到起点时停止，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不能写成「走到 nullptr 为止」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删除最后一个结点后要把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tail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清空；测试至少覆盖三种长度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2.4 线性表实现方法的比较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什么时候不要用哪一个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同一组运算，两种结构的代价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409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7373"/>
                <a:gridCol w="3584388"/>
                <a:gridCol w="3656076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运算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顺序表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链表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按下标读写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at(i)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　随机访问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　只能循链数过去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按内容查找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find(x)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已知前驱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后插入 / 删除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　要搬后续元素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　只改常数条链接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按位置插入 / 删除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　定位是瓶颈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表尾追加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append(x)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摊还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　靠尾指针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额外空间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几乎没有（紧凑存储）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每个结点一根指针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83577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注意第三、第四行的差别 —— 链表的 O(1) 前提是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已经拿到了前驱结点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什么时候不要用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不要用顺序表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经常插入 / 删除</a:t>
            </a:r>
            <a:r>
              <a:rPr sz="1600" b="1" i="0">
                <a:solidFill>
                  <a:srgbClr val="12395B"/>
                </a:solidFill>
                <a:latin typeface="Segoe UI"/>
                <a:ea typeface="微软雅黑"/>
              </a:rPr>
              <a:t>内部</a:t>
            </a: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元素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平均要移动表中一半的元素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无法确定表长的最大值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（顺序表是定长的顺序存储）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0751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不要用链表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经常</a:t>
            </a:r>
            <a:r>
              <a:rPr sz="1600" b="1" i="0">
                <a:solidFill>
                  <a:srgbClr val="12395B"/>
                </a:solidFill>
                <a:latin typeface="Segoe UI"/>
                <a:ea typeface="微软雅黑"/>
              </a:rPr>
              <a:t>按位置访问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按位读比插删频繁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顺链扫描比按下标读费时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</a:t>
            </a:r>
            <a:r>
              <a:rPr sz="1600" b="1" i="0">
                <a:solidFill>
                  <a:srgbClr val="12395B"/>
                </a:solidFill>
                <a:latin typeface="Segoe UI"/>
                <a:ea typeface="微软雅黑"/>
              </a:rPr>
              <a:t>指针本身的存储开销</a:t>
            </a: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与结点内容之比超过 1:1 要慎重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线性表在后面各章的位置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存储管理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本质上就是利用线性表管理可利用空间（第 12 章）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散列方法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是把顺序表和链表结合起来的一种数据结构（第 10 章）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栈、队列、串都是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限制了存取点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的线性表（第 3、4 章）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顺序表提供随机访问，因此适合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二分检索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（第 10 章）与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快速排序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（第 8 章）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实际采用哪种实现，取决于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数据的统计特征和操作特点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没有普适答案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线性结构是最简单也最常用的一种数据结构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，元素之间满足线性关系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线性表通常有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链式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两种存储方式，各运算的实现效率各有千秋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顺序表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：易用、空间开销小、支持随机访问，是存储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静态数据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的理想选择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链表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：适用于频繁增删结点，也适用于事先无法确定长度的表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三法则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：写了析构函数，就得写拷贝构造和拷贝赋值 —— 否则是二次释放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原书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arrList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与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arrStack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都栽在这里，ASan 可以复现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头结点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是消特例的工具：表头插删不再需要单写一套分支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顺序表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把 x 插入递增有序表的适当位置；删除从第 i 个开始的 k 个元素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单链表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删除值在 (min, max) 之间的全部元素，并释放结点空间，分析复杂度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归并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两个递增单链表归并成一个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递减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表 C，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要求利用原表的结点空间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分割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把含字母 / 数字 / 其他三类字符的链表，分割成 3 个循环链表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上机 1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O(n)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时间、常量辅助空间，非递归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逆置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单链表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上机 2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找单链表的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倒数第 m 个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元素，要求既省时间又省空间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上机 3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Josephus 问题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：n 个人围坐，从第 s 个起数到第 m 出列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344 道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第2章 线性表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