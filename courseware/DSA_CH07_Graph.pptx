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第7章　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存储结构 · DFS/BFS 与拓扑排序 · 最短路径 · 最小生成树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图是什么？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线性结构唯一前驱唯一后继；树唯一前驱多个后继；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图对两者都不加限制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线性和树都可以看成受限的图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同一张图，两种存法差在哪？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7.3 邻接矩阵 vs 邻接表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从一个点能走到哪些点？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7.4 DFS 与 BFS —— 第 5 章周游的推广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先修课怎么排？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7.4.3 拓扑排序，顺便检测有没有环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最短的路 / 最省的网怎么找？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7.5 Dijkstra 与 Floyd；7.6 Prim 与 Kruskal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换存储方式不该换答案，只该换代价。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 本章两套实现（邻接矩阵与邻接表）逐项对拍：同一张图上 DFS/BFS 序列、拓扑序、Dijkstra 距离必须完全相同。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7.1 图的定义和基本术语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一次把词汇过完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7.1 基本定义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图记作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G = &lt;V, E&gt;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。V 是顶点的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有穷非空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集合，E 是边的集合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无向图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：边写成无序对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(v₁,v₂)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(v₁,v₂)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(v₂,v₁)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是同一条边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有向图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：写成有序对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&lt;v₁,v₂&gt;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，也叫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弧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；v₁ 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弧尾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，v₂ 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弧头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&lt;v₁,v₂&gt;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&lt;v₂,v₁&gt;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两条不同的弧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边上附权表示距离、时间或代价 →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带权图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（网络）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记 n 为顶点数、e 为边数：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无向图 e ≤ n(n-1)/2，有向图 e ≤ n(n-1)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边少叫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稀疏图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，边多叫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稠密图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；取到上限的叫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完全图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本书不考虑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多重边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连通性与生成树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= 与顶点相关联的边数；有向图分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入度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出度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。度为 0 的是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孤立点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路径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：从 u 沿边走到 v 的顶点序列；边数是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路径长度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。有向图必须顺着弧走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起点终点相同且至少含一条边的路径叫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回路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；除端点外无重复顶点的叫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简单路径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连通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（无向图）：任意两点之间都有路径。极大的连通子图叫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连通分量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强连通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（有向图）：任意 u、v 之间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双向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都有有向路径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只把有向边看成无向边后连通的，叫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弱连通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生成树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：包含全部顶点、有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n−1 条边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、因而没有环的连通子图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再加一条边必成环；边数少于 n−1 则必不连通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选算法之前，先分清题目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1199"/>
                <a:gridCol w="1995999"/>
                <a:gridCol w="4670639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前提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结果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从一个点能走到哪些点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任意图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DFS 或 BFS 的访问序列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课程或任务的可行顺序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有向无环图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拓扑序；有环则无解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一个源点到各点的最短路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边权非负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Dijkstra 的距离数组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任意两点最短路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顶点数较小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Floyd 的距离矩阵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连通所有点且总权最小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无向连通图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Prim 或 Kruskal 的边集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34873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每一行的「前提」那一列都不是装饰 —— 前提不满足，算法给出的就是错误答案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7.3 图的存储结构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稠密用矩阵，稀疏用邻接表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7.3.1 相邻矩阵（邻接矩阵）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一个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V × V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的二维数组：第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from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行第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to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列保存弧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from → to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的权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构造时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对角线为 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（到自己的距离是 0），其余为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infinity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无向边要同时写入 (u,v) 和 (v,u) 两格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不能用 0 表示「无边」，因为权为 0 的边是合法的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本书用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infinity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无向图的矩阵一定对称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；顶点 vᵢ 的度就是第 i 行（或第 i 列）之和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有向图不一定对称：第 i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行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之和是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出度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，第 i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列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之和是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入度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空间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O(V²)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无论实际有多少条边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；查询两点是否相邻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7.3.2 邻接表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为每个顶点存一张出边表，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只存实际存在的边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无向图里一条边出现两次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（在 u 的表里，也在 v 的表里）→ 边表结点共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个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有向图的一条弧只出现一次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，vᵢ 的边表长度就是它的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出度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所以也叫出边表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想知道入度就得扫遍整张表，于是有了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逆邻接表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（入边表）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7.4.3 节拓扑排序要的正是入度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这就是逆邻接表的用处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带权图在边表结点里多存一个权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两种存法的取舍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709"/>
                <a:gridCol w="2922323"/>
                <a:gridCol w="4904805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邻接矩阵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邻接表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空间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O(V²)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，与边数无关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O(V + E)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问「两点之间有没有边」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1" i="0">
                          <a:solidFill>
                            <a:srgbClr val="12395B"/>
                          </a:solidFill>
                          <a:latin typeface="Consolas"/>
                          <a:ea typeface="Consolas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要扫一遍那个顶点的边表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扫一个顶点的全部邻居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扫完整行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O(V)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只走实际存在的边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遍历全图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O(V²)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1" i="0">
                          <a:solidFill>
                            <a:srgbClr val="12395B"/>
                          </a:solidFill>
                          <a:latin typeface="Consolas"/>
                          <a:ea typeface="Consolas"/>
                        </a:rPr>
                        <a:t>O(V + E)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适合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稠密图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；Floyd、Prim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稀疏图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；DFS、BFS、Dijkstra、拓扑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34873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本书两套实现逐项对拍，外加 30 轮随机图 —— 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换存储方式不该换答案，只该换代价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7.4 图的周游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DFS、BFS 与拓扑排序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7.4.1 深度优先周游（DFS）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DFS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树的先根次序周游的推广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：进入一个顶点就立刻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标记已访问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，再沿出边递归下去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某顶点的邻接点都访问过了，就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回退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到上一个顶点，换一条还没走过的边继续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两点值得记住：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图不连通时一次 DFS 走不完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要在外层对每个未访问顶点再起一次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存储结构一旦定下、源点一旦定下，深度优先序列就是唯一的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序列不同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不是算法不同，是边表次序不同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与树不同，图可能有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，所以「访问过没有」的标记是必需的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代价取决于存储结构，而不是取决于算法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用相邻矩阵时共需检查 n² 个矩阵元素，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O(n²)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；用邻接表时把所有边结点检查一遍，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O(n + e)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7.4.2 广度优先周游（BFS）：靠队列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[[nodiscard]] std::vector&lt;std::size_t&gt; bfs(std::size_t source) const {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check_vertex(source);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std::vector&lt;bool&gt; seen(vertices());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std::queue&lt;std::size_t&gt; queue;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std::vector&lt;std::size_t&gt; result;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queue.push(source);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seen[source] = true;                    // 入队时就标记，不是出队时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while (!queue.empty()) {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const std::size_t from = queue.front();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queue.pop();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result.push_back(from);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for (std::size_t to = 0; to &lt; vertices(); ++to) {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if (adjacency_[from][to] &lt; infinity &amp;&amp; !seen[to]) {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seen[to] = true;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queue.push(to);             // 每个顶点只入队一次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}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}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return result;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BFS 与树的层次周游是同一套骨架。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入队时立刻标记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—— 出队时才标记会让同一顶点重复入队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7.4.3 拓扑排序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有向无环图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（DAG）常用来描述一个工程：某些子工程完成之后另一些才能开始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拓扑序列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：若存在 vᵢ 到 vⱼ 的路径，则序列中 vᵢ 必在 vⱼ 之前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方法是两步的反复：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① 选出一个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入度为 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的顶点并输出；② 删除它和所有以它为起点的弧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⚠️ 拓扑序不唯一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图 7.17 的课程图至少有两个合法答案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当图中还有顶点没有输出时，说明含有环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所以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拓扑排序可以顺便检查有向图是否存在环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实现：给每个顶点存一个入度域；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把入度为 0 的顶点放进一个队列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，避免每次扫描整个顶点表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7.5 最短路径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Dijkstra 与 Floyd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7.18　最短路径的示例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32921" y="1207008"/>
            <a:ext cx="8325852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7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361" y="1298448"/>
            <a:ext cx="8142972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从 A 到 B 的最短路径是 A→C→B —— 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并不是边数最少的那条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。「短」指的是边权总和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7.5.1 Dijkstra：按路径长度递增的次序产生结果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单源最短路径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问题，前提是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每条边的权都非负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把顶点集合划分成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S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（最短距离已确定）和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V−S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。初始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 = {s}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特殊路径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：从 s 到 v、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中间只经过 S 中顶点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的路径。数组 D 记录当前最短特殊路径长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每一轮：从 V−S 中取出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D 值最小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的顶点 u 加入 S，然后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松弛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若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D[u] + W[u,v] &lt; D[v]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，就令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D[v] = D[u] + W[u,v]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重复到 S 包含全部顶点。这是一个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贪心算法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要输出路径本身还需要一个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pre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记录最短路径上 v 前面的那个顶点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7.5.2 Floyd：一个典型的动态规划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所有顶点对之间的最短路径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。跑 n 次 Dijkstra 是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O(n³)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，Floyd 也是 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O(n³)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，但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形式上简单得多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核心是这句话：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经过第 k 次迭代，</a:t>
            </a:r>
            <a:r>
              <a:rPr sz="1832" b="1" i="0">
                <a:solidFill>
                  <a:srgbClr val="12395B"/>
                </a:solidFill>
                <a:latin typeface="Consolas"/>
                <a:ea typeface="Consolas"/>
              </a:rPr>
              <a:t>adj⁽ᵏ⁾[i,j]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 是 i 到 j、中间顶点序号不大于 k 的最短路径长度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推导只有两种情况：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98" b="1" i="0">
                <a:solidFill>
                  <a:srgbClr val="6B7582"/>
                </a:solidFill>
                <a:latin typeface="Segoe UI"/>
                <a:ea typeface="微软雅黑"/>
              </a:rPr>
              <a:t>中间不经过 v_k</a:t>
            </a: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：</a:t>
            </a:r>
            <a:r>
              <a:rPr sz="1503" b="0" i="0">
                <a:solidFill>
                  <a:srgbClr val="6B7582"/>
                </a:solidFill>
                <a:latin typeface="Consolas"/>
                <a:ea typeface="Consolas"/>
              </a:rPr>
              <a:t>adj⁽ᵏ⁾[i,j] = adj⁽ᵏ⁻¹⁾[i,j]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98" b="1" i="0">
                <a:solidFill>
                  <a:srgbClr val="6B7582"/>
                </a:solidFill>
                <a:latin typeface="Segoe UI"/>
                <a:ea typeface="微软雅黑"/>
              </a:rPr>
              <a:t>中间经过 v_k</a:t>
            </a: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：分成 </a:t>
            </a:r>
            <a:r>
              <a:rPr sz="1503" b="0" i="0">
                <a:solidFill>
                  <a:srgbClr val="6B7582"/>
                </a:solidFill>
                <a:latin typeface="Consolas"/>
                <a:ea typeface="Consolas"/>
              </a:rPr>
              <a:t>i→k</a:t>
            </a: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 和 </a:t>
            </a:r>
            <a:r>
              <a:rPr sz="1503" b="0" i="0">
                <a:solidFill>
                  <a:srgbClr val="6B7582"/>
                </a:solidFill>
                <a:latin typeface="Consolas"/>
                <a:ea typeface="Consolas"/>
              </a:rPr>
              <a:t>k→j</a:t>
            </a: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 两段，各自中间序号不大于 k−1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合起来：</a:t>
            </a:r>
            <a:r>
              <a:rPr sz="1832" b="0" i="0">
                <a:solidFill>
                  <a:srgbClr val="242A33"/>
                </a:solidFill>
                <a:latin typeface="Consolas"/>
                <a:ea typeface="Consolas"/>
              </a:rPr>
              <a:t>adj⁽ᵏ⁾[i,j] = min{ adj⁽ᵏ⁻¹⁾[i,j], adj⁽ᵏ⁻¹⁾[i,k] + adj⁽ᵏ⁻¹⁾[k,j] }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第 1 章那个股市传言问题用的就是它</a:t>
            </a:r>
            <a:r>
              <a:rPr sz="1950" b="0" i="0">
                <a:solidFill>
                  <a:srgbClr val="242A33"/>
                </a:solidFill>
                <a:latin typeface="Segoe UI"/>
                <a:ea typeface="微软雅黑"/>
              </a:rPr>
              <a:t> —— 现在你知道为什么最外层必须是中转点 k 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7.6 最小生成树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MST 性质、Prim 与 Kruskal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7.6 目标与依据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目标不是任意两点最短，而是连通全部顶点且选中边的总权最小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连通 n 个城市只需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n−1 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线路，问题是选哪 n−1 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Prim 与 Kruskal 都是贪心算法，都靠同一条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MST 性质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站住脚：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设 U 是 V 的非空真子集，若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(u,v)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是所有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跨界边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（一端在 U、一端在 V−U）里权最小的一条，则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一定存在一棵包含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(u,v)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 的最小生成树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反证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：设最小生成树 T 不含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(u,v)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。把它加进 T 必成回路，回路上一定另有一条跨界边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(u′,v′)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删掉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(u′,v′)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得到 T′；因为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W(u,v) ≤ W(u′,v′)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，T′ 代价不比 T 大 —— 矛盾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这条性质就是两个算法「每一步都可以放心地取当前最小的跨界边」的依据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两个算法，互补的适用面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Prim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从一个顶点出发</a:t>
            </a:r>
            <a:r>
              <a:rPr sz="1450" b="1" i="0">
                <a:solidFill>
                  <a:srgbClr val="12395B"/>
                </a:solidFill>
                <a:latin typeface="Segoe UI"/>
                <a:ea typeface="微软雅黑"/>
              </a:rPr>
              <a:t>长大一棵树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U 从 {u₀} 开始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每轮取权最小的</a:t>
            </a:r>
            <a:r>
              <a:rPr sz="1450" b="1" i="0">
                <a:solidFill>
                  <a:srgbClr val="12395B"/>
                </a:solidFill>
                <a:latin typeface="Segoe UI"/>
                <a:ea typeface="微软雅黑"/>
              </a:rPr>
              <a:t>跨界边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把另一端并入 U，重复 n−1 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</a:t>
            </a:r>
            <a:r>
              <a:rPr sz="1363" b="0" i="0">
                <a:solidFill>
                  <a:srgbClr val="242A33"/>
                </a:solidFill>
                <a:latin typeface="Consolas"/>
                <a:ea typeface="Consolas"/>
              </a:rPr>
              <a:t>O(n²)</a:t>
            </a: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，只与</a:t>
            </a:r>
            <a:r>
              <a:rPr sz="1450" b="1" i="0">
                <a:solidFill>
                  <a:srgbClr val="12395B"/>
                </a:solidFill>
                <a:latin typeface="Segoe UI"/>
                <a:ea typeface="微软雅黑"/>
              </a:rPr>
              <a:t>顶点数</a:t>
            </a: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有关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→ 适合</a:t>
            </a:r>
            <a:r>
              <a:rPr sz="1450" b="1" i="0">
                <a:solidFill>
                  <a:srgbClr val="12395B"/>
                </a:solidFill>
                <a:latin typeface="Segoe UI"/>
                <a:ea typeface="微软雅黑"/>
              </a:rPr>
              <a:t>稠密图</a:t>
            </a: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（配邻接矩阵）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0751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Kruskal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从 n 个孤立顶点</a:t>
            </a:r>
            <a:r>
              <a:rPr sz="1450" b="1" i="0">
                <a:solidFill>
                  <a:srgbClr val="12395B"/>
                </a:solidFill>
                <a:latin typeface="Segoe UI"/>
                <a:ea typeface="微软雅黑"/>
              </a:rPr>
              <a:t>合并森林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把边</a:t>
            </a:r>
            <a:r>
              <a:rPr sz="1450" b="1" i="0">
                <a:solidFill>
                  <a:srgbClr val="12395B"/>
                </a:solidFill>
                <a:latin typeface="Segoe UI"/>
                <a:ea typeface="微软雅黑"/>
              </a:rPr>
              <a:t>按权排序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依次取最小边；两端已连通就丢弃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</a:t>
            </a:r>
            <a:r>
              <a:rPr sz="1450" b="1" i="0">
                <a:solidFill>
                  <a:srgbClr val="12395B"/>
                </a:solidFill>
                <a:latin typeface="Segoe UI"/>
                <a:ea typeface="微软雅黑"/>
              </a:rPr>
              <a:t>用并查集判断是否会成环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</a:t>
            </a:r>
            <a:r>
              <a:rPr sz="1363" b="0" i="0">
                <a:solidFill>
                  <a:srgbClr val="242A33"/>
                </a:solidFill>
                <a:latin typeface="Consolas"/>
                <a:ea typeface="Consolas"/>
              </a:rPr>
              <a:t>O(e log e)</a:t>
            </a: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，只与</a:t>
            </a:r>
            <a:r>
              <a:rPr sz="1450" b="1" i="0">
                <a:solidFill>
                  <a:srgbClr val="12395B"/>
                </a:solidFill>
                <a:latin typeface="Segoe UI"/>
                <a:ea typeface="微软雅黑"/>
              </a:rPr>
              <a:t>边数</a:t>
            </a: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有关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242A33"/>
                </a:solidFill>
                <a:latin typeface="Segoe UI"/>
                <a:ea typeface="微软雅黑"/>
              </a:rPr>
              <a:t>· → 适合</a:t>
            </a:r>
            <a:r>
              <a:rPr sz="1450" b="1" i="0">
                <a:solidFill>
                  <a:srgbClr val="12395B"/>
                </a:solidFill>
                <a:latin typeface="Segoe UI"/>
                <a:ea typeface="微软雅黑"/>
              </a:rPr>
              <a:t>稀疏图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连通图上两者的结果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总权相同、都是 n−1 条边。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 但具体选中哪些边可能不同 —— 权有相同值时，最小生成树本来就可能不唯一。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第 6 章的并查集在这里兑现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Kruskal 的关键一步是：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这条边的两端已经连通了吗？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连通 → 加进去会成环，丢弃；不连通 → 加进去，并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合并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两个连通分量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这正是并查集的两个基本操作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find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union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没有并查集，判断「会不会成环」就要每次做一次搜索，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一条边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有了它（重量权衡 + 路径压缩），均摊接近常数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排序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O(e log e)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因此成了瓶颈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这就是 Kruskal 复杂度的来历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一个数据结构决定了一个算法能不能用，本章第二次遇到（第一次是 Huffman 用堆）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图对前驱后继都不加限制；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线性结构和树都可以看成受限的图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邻接矩阵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O(V²)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空间、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O(1)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判邻接，适合稠密图与 Floyd / Prim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邻接表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O(V+E)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空间、遍历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O(V+E)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，适合稀疏图与 DFS / BFS / Dijkstra / 拓扑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DFS 靠栈（递归），BFS 靠队列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；两者时间复杂度相同，只是访问顺序不同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拓扑排序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用入度为 0 的队列实现，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顺便检测环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；拓扑序不唯一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Dijkstra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是贪心，要求边权非负；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Floyd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是动态规划，形式简单，两者都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O(n³)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量级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Prim 与 Kruskal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都靠 MST 性质；前者与顶点数有关，后者与边数有关，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互补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存储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同一张图写出邻接矩阵、邻接表与逆邻接表；分别读出各顶点的入度与出度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周游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给定邻接表，写出 DFS 与 BFS 序列；说明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为什么序列由边表次序决定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拓扑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对课程先修图给出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两个不同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的拓扑序；再加一条弧使其成环，说明算法怎么发现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Dijkstra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逐轮写出 S 集合与 D 数组；举例说明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边权为负时算法为什么失效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Floyd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写出每一轮迭代后的矩阵；解释为什么最外层循环必须是中转点 k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MST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对同一张图分别跑 Prim 与 Kruskal，比较选中的边集与总权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上机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用并查集实现 Kruskal，并与 Prim 的结果对拍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第7章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