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703320"/>
            <a:ext cx="12191695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103120"/>
            <a:ext cx="11057839" cy="1554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</a:rPr>
              <a:t>第5章　二叉树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C7D3E2"/>
                </a:solidFill>
                <a:latin typeface="Segoe UI"/>
                <a:ea typeface="微软雅黑"/>
              </a:rPr>
              <a:t>递归定义 · 三种周游 · 二叉搜索树 · 堆与 Huffman 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160520"/>
            <a:ext cx="11057839" cy="1463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A8B8CC"/>
                </a:solidFill>
                <a:latin typeface="Segoe UI"/>
                <a:ea typeface="微软雅黑"/>
              </a:rPr>
              <a:t>《数据结构与算法》张铭、王腾蛟、赵海燕　高等教育出版社 2008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A8B8CC"/>
                </a:solidFill>
                <a:latin typeface="Segoe UI"/>
                <a:ea typeface="微软雅黑"/>
              </a:rPr>
              <a:t>现代化重制版讲义　代码按 C++17 重写；code/ 全部单元双档编译运行通过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本章要回答四个问题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「二叉树」为什么不是「度为 2 的树」？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5.1 左右有别 —— 同样一个根加一个孩子，挂左边和挂右边是两棵不同的树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把一棵树摊成一个序列，有几种摊法？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5.2 前序、中序、后序、层次；「前驱后继」这类说法对树才有了意义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怎么让插入、删除、检索都快？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5.4 二叉搜索树 —— 每一步都能扔掉一整棵子树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只要「最小的那个」，需要全序吗？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5.5 堆：只保证局部有序，所以建堆只要 O(n)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第5章 二叉树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本章的一句话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084831"/>
            <a:ext cx="11057839" cy="2286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084831"/>
            <a:ext cx="82296" cy="2286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377440"/>
            <a:ext cx="10051999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2395B"/>
                </a:solidFill>
                <a:latin typeface="Segoe UI"/>
                <a:ea typeface="微软雅黑"/>
              </a:rPr>
              <a:t>二叉树的定义是</a:t>
            </a:r>
            <a:r>
              <a:rPr sz="2200" b="1" i="0">
                <a:solidFill>
                  <a:srgbClr val="12395B"/>
                </a:solidFill>
                <a:latin typeface="Segoe UI"/>
                <a:ea typeface="微软雅黑"/>
              </a:rPr>
              <a:t>递归</a:t>
            </a:r>
            <a:r>
              <a:rPr sz="2200" b="1" i="0">
                <a:solidFill>
                  <a:srgbClr val="12395B"/>
                </a:solidFill>
                <a:latin typeface="Segoe UI"/>
                <a:ea typeface="微软雅黑"/>
              </a:rPr>
              <a:t>的，所以本章的算法几乎都是递归的 —— 代码的形状能和定义的形状一眼对上。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第5章 二叉树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1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5.1 二叉树的概念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B7582"/>
                </a:solidFill>
                <a:latin typeface="Segoe UI"/>
                <a:ea typeface="微软雅黑"/>
              </a:rPr>
              <a:t>定义、术语与三条要反复用的性质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5.1.1 定义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二叉树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由结点的有限集合构成：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或者为空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，或者由一个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根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和两棵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互不相交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的左、右子树组成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这是一个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递归定义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，它刻画了二叉树的固有特性 —— 子树本身也是二叉树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子树有左、右之分，次序不能颠倒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根没有父结点；其余每个结点恰有一个父结点，至多两个孩子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没有孩子的是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叶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，其余是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内部结点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；结点的子树数目叫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度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从根到某结点的边数是该结点的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层数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，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根在第 0 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第5章 二叉树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图 5.1　二叉树的 5 种基本形态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75488" y="2321985"/>
            <a:ext cx="11240719" cy="2250605"/>
          </a:xfrm>
          <a:prstGeom prst="rect">
            <a:avLst/>
          </a:prstGeom>
          <a:solidFill>
            <a:srgbClr val="FFFFFF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ig-5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413425"/>
            <a:ext cx="11057839" cy="206772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5888736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(c) 和 (d) 是两棵不同的二叉树 —— 这正是二叉树不是「度为 2 的树」的原因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第5章 二叉树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5.1.2 三种特殊的二叉树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满二叉树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（full）—— 任何结点或者是叶，或者左右子树都非空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只要求没有度为 1 的结点，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不要求叶在同一层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（每层排满的 perfect 树是特例）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完全二叉树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（complete）—— 所有叶只出现在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最下两层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，且最下层从左到右连续排列、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没有空洞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堆正是利用这个条件按层编号存进数组（5.5 节）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满与完全互不包含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：图 5.2(a) 满而不完全，(b) 完全而不满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扩充二叉树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（extended）—— 把每个空子树位置补成一个「外部叶」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n 个内部结点 →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n+1 个外部叶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；补完之后一定是满二叉树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第5章 二叉树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5.1.3 三条要反复用的性质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性质 3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：非空二叉树的叶结点数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n₀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等于度为 2 的结点数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n₂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加 1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证明：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n = n₀+n₁+n₂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；数边，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e = n-1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，同时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e = n₁+2n₂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。两式一减即得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性质 4（满二叉树定理）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：非空满二叉树的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树叶数 = 分支结点数 + 1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满二叉树里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n₁ = 0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，由性质 3 直接得到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性质 5（推论）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：非空二叉树的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空子树数目 = 结点数 + 1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证明：把所有空子树换成树叶得到扩充树 T′，T 的每个结点在 T′ 里都成了分支结点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按层从 0 编号时：结点 i 的父是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⌊(i-1)/2⌋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，左右孩子是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2i+1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与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2i+2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第5章 二叉树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性质 5 不是纸面游戏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084831"/>
            <a:ext cx="11057839" cy="2286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084831"/>
            <a:ext cx="82296" cy="2286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377440"/>
            <a:ext cx="10051999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2395B"/>
                </a:solidFill>
                <a:latin typeface="Segoe UI"/>
                <a:ea typeface="微软雅黑"/>
              </a:rPr>
              <a:t>一棵 n 个结点的二叉树里有 </a:t>
            </a:r>
            <a:r>
              <a:rPr sz="1800" b="1" i="0">
                <a:solidFill>
                  <a:srgbClr val="12395B"/>
                </a:solidFill>
                <a:latin typeface="Segoe UI"/>
                <a:ea typeface="微软雅黑"/>
              </a:rPr>
              <a:t>n+1 个空指针</a:t>
            </a:r>
            <a:r>
              <a:rPr sz="1800" b="1" i="0">
                <a:solidFill>
                  <a:srgbClr val="12395B"/>
                </a:solidFill>
                <a:latin typeface="Segoe UI"/>
                <a:ea typeface="微软雅黑"/>
              </a:rPr>
              <a:t>。链式存储时它们占的空间和结点本身同阶 —— 线索二叉树、Trie 的压缩、第 12 章 PATRICIA 的动机都从这里来。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第5章 二叉树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2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5.2 二叉树的周游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B7582"/>
                </a:solidFill>
                <a:latin typeface="Segoe UI"/>
                <a:ea typeface="微软雅黑"/>
              </a:rPr>
              <a:t>三件事的六种排列，习惯上只留三种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5.2.2 深度优先周游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二叉树的逻辑结构只有三个基本单元：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根结点、左子树、右子树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周游一棵树就是安排这三件事的先后。记访问当前结点为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t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、周游左为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L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、周游右为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R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六种排列里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约定「先左后右」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，于是只剩三种：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前序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tLR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—— 访问根 → 前序周游左子树 → 前序周游右子树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中序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LtR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—— 中序周游左子树 → 访问根 → 中序周游右子树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后序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LRt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—— 后序周游左子树 → 后序周游右子树 → 访问根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深度优先的走法：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沿左链一路下降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，左子树空就退回最近的、右子树尚未访问的分支结点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第5章 二叉树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图 5.5　周游的例子（9 个结点）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204404" y="1207008"/>
            <a:ext cx="5782887" cy="44805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ig-5-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5844" y="1298448"/>
            <a:ext cx="5600007" cy="4297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5888736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根 A；左子树的根 B 有孩子 D、E，E 有左孩子 G；右子树的根 C 有右孩子 F，F 有孩子 H、I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第5章 二叉树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同一棵树，四种周游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8" cy="243522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5597"/>
                <a:gridCol w="3393710"/>
                <a:gridCol w="5288531"/>
              </a:tblGrid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周游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次序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图 5.5 的序列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前序</a:t>
                      </a: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 tLR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根，左，右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97" b="0" i="0">
                          <a:solidFill>
                            <a:srgbClr val="242A33"/>
                          </a:solidFill>
                          <a:latin typeface="Consolas"/>
                          <a:ea typeface="Consolas"/>
                        </a:rPr>
                        <a:t>A B D E G C F H I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中序</a:t>
                      </a: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 LtR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左，根，右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97" b="0" i="0">
                          <a:solidFill>
                            <a:srgbClr val="242A33"/>
                          </a:solidFill>
                          <a:latin typeface="Consolas"/>
                          <a:ea typeface="Consolas"/>
                        </a:rPr>
                        <a:t>D B G E A C H F I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后序</a:t>
                      </a: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 LRt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左，右，根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97" b="0" i="0">
                          <a:solidFill>
                            <a:srgbClr val="242A33"/>
                          </a:solidFill>
                          <a:latin typeface="Consolas"/>
                          <a:ea typeface="Consolas"/>
                        </a:rPr>
                        <a:t>D G E B H I F C A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层次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按离根的距离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97" b="0" i="0">
                          <a:solidFill>
                            <a:srgbClr val="242A33"/>
                          </a:solidFill>
                          <a:latin typeface="Consolas"/>
                          <a:ea typeface="Consolas"/>
                        </a:rPr>
                        <a:t>A B C D E F G H I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3861689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周游把非线性的树摊成线性序列，「前驱」「后继」对树才有了意义 —— 但它取决于用哪一种周游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第5章 二叉树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三个函数的形状完全一样，只差 visit 放在哪里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117975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391680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template &lt;typename Visitor&gt;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static void preorder_impl(const Node* node, Visitor&amp; visit) {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if (node == nullptr) return;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visit(node-&gt;value);                 // 根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preorder_impl(node-&gt;left, visit);   // 左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preorder_impl(node-&gt;right, visit);  // 右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}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template &lt;typename Visitor&gt;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static void inorder_impl(const Node* node, Visitor&amp; visit) {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if (node == nullptr) return;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inorder_impl(node-&gt;left, visit);    // 左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visit(node-&gt;value);                 // 根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inorder_impl(node-&gt;right, visit);   // 右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535295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读的时候要分清：</a:t>
            </a:r>
            <a:r>
              <a:rPr sz="1222" b="0" i="0">
                <a:solidFill>
                  <a:srgbClr val="6B7582"/>
                </a:solidFill>
                <a:latin typeface="Consolas"/>
                <a:ea typeface="Consolas"/>
              </a:rPr>
              <a:t>visit(...)</a:t>
            </a: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 是</a:t>
            </a:r>
            <a:r>
              <a:rPr sz="1300" b="1" i="0">
                <a:solidFill>
                  <a:srgbClr val="6B7582"/>
                </a:solidFill>
                <a:latin typeface="Segoe UI"/>
                <a:ea typeface="微软雅黑"/>
              </a:rPr>
              <a:t>访问</a:t>
            </a: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，</a:t>
            </a:r>
            <a:r>
              <a:rPr sz="1222" b="0" i="0">
                <a:solidFill>
                  <a:srgbClr val="6B7582"/>
                </a:solidFill>
                <a:latin typeface="Consolas"/>
                <a:ea typeface="Consolas"/>
              </a:rPr>
              <a:t>preorder_impl(...)</a:t>
            </a: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 是</a:t>
            </a:r>
            <a:r>
              <a:rPr sz="1300" b="1" i="0">
                <a:solidFill>
                  <a:srgbClr val="6B7582"/>
                </a:solidFill>
                <a:latin typeface="Segoe UI"/>
                <a:ea typeface="微软雅黑"/>
              </a:rPr>
              <a:t>走进去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第5章 二叉树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周游的代价，以及哪些地方不能用递归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每个结点进出各一次，三种周游的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时间都是 O(n)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空间是递归深度 = 树高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：平衡时约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log₂n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，退化成一条藤时是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n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周游保留递归为主实现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它就是本节要教的东西，抹掉递归等于抹掉课程内容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但析构与深拷贝改成了迭代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，理由是：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它们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不是教学内容，却会被隐式触发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—— 一次作用域结束、一句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auto copy = tree;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调用方根本看不见自己正在递归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。教学价值为零，风险却实打实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改完之后纯左链 500 万结点不再崩（原先分别在 100 万、50 万段错误）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第5章 二叉树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表达式树：三种周游各对应一种表达式写法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8" cy="19481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0423"/>
                <a:gridCol w="4538665"/>
                <a:gridCol w="4868750"/>
              </a:tblGrid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周游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得到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97" b="1" i="0">
                          <a:solidFill>
                            <a:srgbClr val="FFFFFF"/>
                          </a:solidFill>
                          <a:latin typeface="Consolas"/>
                          <a:ea typeface="Consolas"/>
                        </a:rPr>
                        <a:t>A + B × (C + D)</a:t>
                      </a: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 的结果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前序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前缀</a:t>
                      </a: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表达式（波兰式）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97" b="0" i="0">
                          <a:solidFill>
                            <a:srgbClr val="242A33"/>
                          </a:solidFill>
                          <a:latin typeface="Consolas"/>
                          <a:ea typeface="Consolas"/>
                        </a:rPr>
                        <a:t>+ A × B + C D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中序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中缀表达式（</a:t>
                      </a: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括号丢了</a:t>
                      </a: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）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97" b="0" i="0">
                          <a:solidFill>
                            <a:srgbClr val="242A33"/>
                          </a:solidFill>
                          <a:latin typeface="Consolas"/>
                          <a:ea typeface="Consolas"/>
                        </a:rPr>
                        <a:t>A + B × C + D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后序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后缀</a:t>
                      </a: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表达式（逆波兰式）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97" b="0" i="0">
                          <a:solidFill>
                            <a:srgbClr val="242A33"/>
                          </a:solidFill>
                          <a:latin typeface="Consolas"/>
                          <a:ea typeface="Consolas"/>
                        </a:rPr>
                        <a:t>A B C D + × +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3374644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中序那一行：照它算出来的是 A + B×C + D，已经不是原式 —— 要印回可读的中缀式，必须按优先级补括号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第5章 二叉树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5.2.3 广度优先周游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深度优先尽量往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深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走，广度优先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一层一层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走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第 0 层（根）→ 第 1 层从左到右 → 第 2 层…… 图 5.5 的结果是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A B C D E F G H I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深度优先靠栈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（写成递归时就是运行栈），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广度优先靠队列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把根入队；队列非空时：出队一个、访问它、把它的左右孩子依次入队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这就是第 3 章那个「队列是广度优先搜索的主要中间数据结构」的第一次兑现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第 6、7 章的图搜索用的是同一套骨架，只是要多一个「访问过没有」的标记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第5章 二叉树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3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5.3 / 5.4 存储结构与二叉搜索树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B7582"/>
                </a:solidFill>
                <a:latin typeface="Segoe UI"/>
                <a:ea typeface="微软雅黑"/>
              </a:rPr>
              <a:t>二叉链表；左小右大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5.3 两种存储结构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链式存储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结点含三个域：数据域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info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、左指针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left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、右指针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right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这样得到的是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二叉链表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；再加一根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parent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就是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三叉链表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二叉链表里找父结点得从根重新走一趟，三叉链表顺着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parent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一步就到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顺序存储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用一组地址连续的单元存结点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⚠️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通常情况下，只通过相应位置不足以刻画整个树形结构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但对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完全二叉树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例外：按层从 0 编号，编号 i 就放在下标 i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这个线性序列正是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层次周游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的结果。堆全靠这一条（5.5 节）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第5章 二叉树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5.4 二叉搜索树：为什么需要它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无序线性表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：插入只要放表尾，但检索慢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有序线性表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：二分检索快，但插入删除要移动大量元素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很多应用需要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插入、删除、检索效率都较高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的组织方法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二叉搜索树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（BST）的性质：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左子树上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所有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结点的值均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小于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该结点；右子树上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所有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结点的值均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大于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它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任何结点的左右子树也都是二叉搜索树；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关键码必须唯一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中序周游二叉搜索树，得到的是由小到大的有序排列。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第5章 二叉树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图 5.11　二叉搜索树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036795" y="1207008"/>
            <a:ext cx="4118105" cy="44805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ig-5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28235" y="1298448"/>
            <a:ext cx="3935225" cy="4297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5888736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检索 key：小于就只找左子树，大于就只找右子树 —— 每一步扔掉一整棵子树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第5章 二叉树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插入：不用移动数据，只改一根空指针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先按检索方法查找待插入关键码是否已在树中；不允许重复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直到走到空子树还没发现重复，就把新结点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插在那个位置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作为新的叶结点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它不像有序线性表那样要移动大量数据，只需改动某个结点的空指针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代价是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根到插入位置的路径长度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所以树形比较平衡时效率相当高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实现上用了「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指向指针的指针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」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Node** link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它指向「新结点该挂在哪根指针上」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于是「挂到根」和「挂到某个孩子」写成同一句，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空树不必另开一个分支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第5章 二叉树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删除：本章最容易写错的一段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要保持性质，就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不能在树中留下一个空位置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，必须找一个结点来填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用左子树里最右的那个（中序前驱）顶替被删结点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它比左子树其余的都大、比右子树全部都小，顶上来之后「左小右大」原封不动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⚠️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前驱自己可能还有一个左孩子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，顶替之前必须先把它接走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漏了这一句，树上会出现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环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—— 中序周游立刻无限递归，ASan 报栈溢出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教学版的测试专门搭了一棵这样的树守着它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插入重复键、删除不存在的键都是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可预期状态，返回 false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，不抛异常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第5章 二叉树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图 5.13　改进的删除办法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597707" y="1207008"/>
            <a:ext cx="4996281" cy="44805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ig-5-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9147" y="1298448"/>
            <a:ext cx="4813401" cy="4297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5888736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原书给了两个算法。基本方案把右子树整个下降，</a:t>
            </a:r>
            <a:r>
              <a:rPr sz="1300" b="1" i="0">
                <a:solidFill>
                  <a:srgbClr val="6B7582"/>
                </a:solidFill>
                <a:latin typeface="Segoe UI"/>
                <a:ea typeface="微软雅黑"/>
              </a:rPr>
              <a:t>树可能因此变高</a:t>
            </a: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；改进方案接的是同一层的邻居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第5章 二叉树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4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5.5 堆与优先队列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B7582"/>
                </a:solidFill>
                <a:latin typeface="Segoe UI"/>
                <a:ea typeface="微软雅黑"/>
              </a:rPr>
              <a:t>只保证局部有序，换来线性时间建堆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5.5 堆是什么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堆是一种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特殊的完全二叉树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：每个结点对应序列中的一个关键码，根对应 K₀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最小堆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：所有内部结点的值均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不大于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其左右子结点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⚠️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堆序只是局部有序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一个结点与其兄弟之间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没有任何必然联系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只有当两个结点是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父子关系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时，才能确定它们的大小关系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这一点和二叉搜索树完全不同，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也正是建堆能比排序更快的原因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既然是完全二叉树，就用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顺序存储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：下标 i 的孩子是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2i+1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和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2i+2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既避免了用指针保持结构，又能有效执行相应操作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第5章 二叉树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图 5.14　最小堆对应的完全二叉树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357286" y="1207008"/>
            <a:ext cx="5477123" cy="44805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ig-5-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8726" y="1298448"/>
            <a:ext cx="5294243" cy="4297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5888736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K = {12,14,15,19,20,17,18,24,22,26}。根一定是最小的那个，但兄弟之间没有关系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第5章 二叉树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插入、删除与建堆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插入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：新元素加到末尾，然后沿祖先路径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自下而上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比较交换 —— 这叫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筛选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要么升到顶端，要么遇到一个更小的父结点就停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删除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：方向相反。把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最末端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的结点填进空位，再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自上而下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与较小的孩子交换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⚠️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sift_down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必须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比较左右两个孩子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，只看一个是常见错误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建堆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：把关键码放进数组后并不是堆，但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仅含叶结点的子树已经是堆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i &gt; ⌊n/2⌋ - 1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时以 Kᵢ 为根的子树已是堆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所以从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i = ⌊n/2⌋ - 1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开始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从右至左、从下往上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依次下沉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第5章 二叉树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5.5.1a 建堆为什么是 O(n) 而不是 O(n log n)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粗看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：一次下沉最多走一条树高，是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O(log n)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；非叶结点约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n/2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个 →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O(n log n)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原书特意说这只是一个粗略的上界。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细算的关键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：下沉的代价不是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log n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，而是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「这个结点到最底层还有多远」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越靠近底层的结点越多，而它们能下沉的距离越短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—— 两者正好互相抵消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先把堆放大成同高度、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每层排满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的二叉树（每个结点能下沉的距离都不比原来短，所以是上界）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第 i 层恰有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2^i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个结点，最多下沉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h-i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层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总代价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≤ Σ 2^i (h-i) = 2^h · Σ j/2^j &lt; 2^h · 2 = 2^(h+1) ≤ 2n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第5章 二叉树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这个结论有实际后果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084831"/>
            <a:ext cx="11057839" cy="2286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084831"/>
            <a:ext cx="82296" cy="2286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377440"/>
            <a:ext cx="10051999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2395B"/>
                </a:solidFill>
                <a:latin typeface="Segoe UI"/>
                <a:ea typeface="微软雅黑"/>
              </a:rPr>
              <a:t>第 8.3.2 节堆排序的 O(n log n)，那个 log n </a:t>
            </a:r>
            <a:r>
              <a:rPr sz="1800" b="1" i="0">
                <a:solidFill>
                  <a:srgbClr val="12395B"/>
                </a:solidFill>
                <a:latin typeface="Segoe UI"/>
                <a:ea typeface="微软雅黑"/>
              </a:rPr>
              <a:t>全部来自后面 n 次取最小值</a:t>
            </a:r>
            <a:r>
              <a:rPr sz="1800" b="1" i="0">
                <a:solidFill>
                  <a:srgbClr val="12395B"/>
                </a:solidFill>
                <a:latin typeface="Segoe UI"/>
                <a:ea typeface="微软雅黑"/>
              </a:rPr>
              <a:t>，建堆那一步是白送的。反过来，一个个 </a:t>
            </a:r>
            <a:r>
              <a:rPr sz="1691" b="1" i="0">
                <a:solidFill>
                  <a:srgbClr val="12395B"/>
                </a:solidFill>
                <a:latin typeface="Consolas"/>
                <a:ea typeface="Consolas"/>
              </a:rPr>
              <a:t>insert</a:t>
            </a:r>
            <a:r>
              <a:rPr sz="1800" b="1" i="0">
                <a:solidFill>
                  <a:srgbClr val="12395B"/>
                </a:solidFill>
                <a:latin typeface="Segoe UI"/>
                <a:ea typeface="微软雅黑"/>
              </a:rPr>
              <a:t> 建堆就把这份便宜丢掉了。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第5章 二叉树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5.5.2 优先队列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优先队列支持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快速地查找并移出具有最大值或最小值的元素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应用：操作系统的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进程调度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（优先级越高值越小）；打印机的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输出任务队列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几种实现的对比：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无序线性表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：插入 O(1)，取最小 O(n)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有序线性表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：取最小 O(1)，插入要移动元素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堆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：查看堆顶 O(1)，插入与移除堆顶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O(log n)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，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建堆 O(n)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⚠️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最小堆只适合查最小值，查任意值的效率不高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它没有全序，只能线性扫描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这正是第 10 章要另起炉灶讲检索的原因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第5章 二叉树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5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5.6 Huffman 树及其应用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B7582"/>
                </a:solidFill>
                <a:latin typeface="Segoe UI"/>
                <a:ea typeface="微软雅黑"/>
              </a:rPr>
              <a:t>带权外部路径长度与前缀编码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图 5.18　三棵权值相同、形状不同的扩充二叉树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75488" y="1456502"/>
            <a:ext cx="11240719" cy="3981572"/>
          </a:xfrm>
          <a:prstGeom prst="rect">
            <a:avLst/>
          </a:prstGeom>
          <a:solidFill>
            <a:srgbClr val="FFFFFF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ig-5-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47942"/>
            <a:ext cx="11057839" cy="37986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5888736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外部叶权同为 6、2、3、4：(a) WPL=30，(b) 31，(c) </a:t>
            </a:r>
            <a:r>
              <a:rPr sz="1300" b="1" i="0">
                <a:solidFill>
                  <a:srgbClr val="6B7582"/>
                </a:solidFill>
                <a:latin typeface="Segoe UI"/>
                <a:ea typeface="微软雅黑"/>
              </a:rPr>
              <a:t>29</a:t>
            </a: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。(c) 就是 Huffman 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第5章 二叉树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Huffman 树的构造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带权外部路径长度 WPL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= Σ(叶的权 × 叶的深度)。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权越大的叶离根越近，总长越小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构造：n 个权各自成为一棵单结点树；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每次挑出根权最小的两棵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，合成一棵新树、新根的权是两者之和；重复 n−1 次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根的权等于全部叶子权之和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为什么用堆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：每一轮都要「取当前最小的两棵」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用数组线性扫是 O(n) 一轮、总共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O(n²)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用最小堆是 O(log n) 一轮、总共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O(n log n)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这就是 5.5 节那个数据结构在本节的兑现 —— 数据结构选对了，算法的阶就变了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第5章 二叉树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5.6.2 Huffman 编码：问题从哪来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要传电文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abbaaadc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。定长编码每字符 2 位，共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16 位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想更短，就得让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出现次数多的字符用更短的码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。比如 a=0, b=1, c=01, d=10 → 10 位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但这样的电文没法译码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：收到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011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，既可以读成 a b b，也可以读成 c b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症结是「前缀」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0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是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01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的前缀，读到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0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时无法判断该停还是该再读一位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解决办法：要求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任何字符的编码都不是另一个字符编码的前缀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，这叫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前缀码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Huffman 树天然给出前缀码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：左边标 0、右边标 1，从根走到叶一路读下来就是编码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为什么一定无冲突？因为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字符只住在叶子上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，一个叶子不可能在另一个叶子的路径上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第5章 二叉树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44" b="1" i="0">
                <a:solidFill>
                  <a:srgbClr val="12395B"/>
                </a:solidFill>
                <a:latin typeface="Consolas"/>
                <a:ea typeface="Consolas"/>
              </a:rPr>
              <a:t>abbaaadc</a:t>
            </a: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 的 Huffman 编码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6" cy="243522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4459"/>
                <a:gridCol w="2764459"/>
                <a:gridCol w="2764459"/>
                <a:gridCol w="2764459"/>
              </a:tblGrid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字符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频率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编码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位数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a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4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97" b="0" i="0">
                          <a:solidFill>
                            <a:srgbClr val="242A33"/>
                          </a:solidFill>
                          <a:latin typeface="Consolas"/>
                          <a:ea typeface="Consolas"/>
                        </a:rPr>
                        <a:t>0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b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2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97" b="0" i="0">
                          <a:solidFill>
                            <a:srgbClr val="242A33"/>
                          </a:solidFill>
                          <a:latin typeface="Consolas"/>
                          <a:ea typeface="Consolas"/>
                        </a:rPr>
                        <a:t>10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2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c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97" b="0" i="0">
                          <a:solidFill>
                            <a:srgbClr val="242A33"/>
                          </a:solidFill>
                          <a:latin typeface="Consolas"/>
                          <a:ea typeface="Consolas"/>
                        </a:rPr>
                        <a:t>110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3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d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97" b="0" i="0">
                          <a:solidFill>
                            <a:srgbClr val="242A33"/>
                          </a:solidFill>
                          <a:latin typeface="Consolas"/>
                          <a:ea typeface="Consolas"/>
                        </a:rPr>
                        <a:t>111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3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3861689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电文编成 </a:t>
            </a:r>
            <a:r>
              <a:rPr sz="1300" b="1" i="0">
                <a:solidFill>
                  <a:srgbClr val="6B7582"/>
                </a:solidFill>
                <a:latin typeface="Segoe UI"/>
                <a:ea typeface="微软雅黑"/>
              </a:rPr>
              <a:t>14 位</a:t>
            </a: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，比定长的 16 位短。14 正好等于这棵树的 WPL —— 这不是巧合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第5章 二叉树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两条值得记住的结论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WPL = Σ(权 × 深度)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，而权就是出现次数、深度就是码长 —— 算的是同一个和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所以「Huffman 树让 WPL 最小」翻译过来就是「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它让这段电文的编码总长最短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」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译码用的是同一棵树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：从根出发，读 0 走左、读 1 走右，走到叶子吐一个字符再回根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一个反直觉的结论：如果所有字符频率相同，Huffman 一位都省不下来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8 个等权字符建出的是一棵平衡树，每个字符恰好 3 位 —— 退化成定长编码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压缩的收益完全来自频率的不均匀。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教学版把这条写成了断言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三处边界各有一条测试守着：比特串走到一半没了、出现非 0/1 字符、整棵树只有一个字符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第5章 二叉树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本章小结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二叉树的定义是递归的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，左右有别；5 种基本形态，(c) 与 (d) 是两棵不同的树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性质 5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：n 个结点的二叉树有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n+1 个空指针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后面几章的多个技巧都源于此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三种深度优先周游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只差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visit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放在哪一行；时间 O(n)，空间 = 树高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周游保留递归（那是课程内容），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析构与深拷贝改迭代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（会被隐式触发）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二叉搜索树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：左小右大，中序周游得到有序序列；删除用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中序前驱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顶替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堆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：完全二叉树 + 顺序存储 +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局部有序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；建堆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O(n)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，取最小 O(log n)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Huffman 树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让 WPL 最小，等价于让电文的编码总长最短；前缀码保证译码无歧义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第5章 二叉树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习题选讲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085"/>
              </a:spcAft>
            </a:pPr>
            <a:r>
              <a:rPr sz="175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1750" b="1" i="0">
                <a:solidFill>
                  <a:srgbClr val="12395B"/>
                </a:solidFill>
                <a:latin typeface="Segoe UI"/>
                <a:ea typeface="微软雅黑"/>
              </a:rPr>
              <a:t>补充 1</a:t>
            </a:r>
            <a:r>
              <a:rPr sz="1750" b="0" i="0">
                <a:solidFill>
                  <a:srgbClr val="242A33"/>
                </a:solidFill>
                <a:latin typeface="Segoe UI"/>
                <a:ea typeface="微软雅黑"/>
              </a:rPr>
              <a:t>　「先序 + 后序总能唯一确定二叉树」成不成立？不成立就给</a:t>
            </a:r>
            <a:r>
              <a:rPr sz="1750" b="1" i="0">
                <a:solidFill>
                  <a:srgbClr val="12395B"/>
                </a:solidFill>
                <a:latin typeface="Segoe UI"/>
                <a:ea typeface="微软雅黑"/>
              </a:rPr>
              <a:t>最小反例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085"/>
              </a:spcAft>
            </a:pPr>
            <a:r>
              <a:rPr sz="175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1750" b="1" i="0">
                <a:solidFill>
                  <a:srgbClr val="12395B"/>
                </a:solidFill>
                <a:latin typeface="Segoe UI"/>
                <a:ea typeface="微软雅黑"/>
              </a:rPr>
              <a:t>补充 2</a:t>
            </a:r>
            <a:r>
              <a:rPr sz="1750" b="0" i="0">
                <a:solidFill>
                  <a:srgbClr val="242A33"/>
                </a:solidFill>
                <a:latin typeface="Segoe UI"/>
                <a:ea typeface="微软雅黑"/>
              </a:rPr>
              <a:t>　</a:t>
            </a:r>
            <a:r>
              <a:rPr sz="1645" b="0" i="0">
                <a:solidFill>
                  <a:srgbClr val="242A33"/>
                </a:solidFill>
                <a:latin typeface="Consolas"/>
                <a:ea typeface="Consolas"/>
              </a:rPr>
              <a:t>O(n)</a:t>
            </a:r>
            <a:r>
              <a:rPr sz="1750" b="0" i="0">
                <a:solidFill>
                  <a:srgbClr val="242A33"/>
                </a:solidFill>
                <a:latin typeface="Segoe UI"/>
                <a:ea typeface="微软雅黑"/>
              </a:rPr>
              <a:t> 判断数组是不是大顶堆，并说明</a:t>
            </a:r>
            <a:r>
              <a:rPr sz="1750" b="1" i="0">
                <a:solidFill>
                  <a:srgbClr val="12395B"/>
                </a:solidFill>
                <a:latin typeface="Segoe UI"/>
                <a:ea typeface="微软雅黑"/>
              </a:rPr>
              <a:t>为什么只需检查每个非根结点与父结点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085"/>
              </a:spcAft>
            </a:pPr>
            <a:r>
              <a:rPr sz="175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1750" b="1" i="0">
                <a:solidFill>
                  <a:srgbClr val="12395B"/>
                </a:solidFill>
                <a:latin typeface="Segoe UI"/>
                <a:ea typeface="微软雅黑"/>
              </a:rPr>
              <a:t>习题 2</a:t>
            </a:r>
            <a:r>
              <a:rPr sz="1750" b="0" i="0">
                <a:solidFill>
                  <a:srgbClr val="242A33"/>
                </a:solidFill>
                <a:latin typeface="Segoe UI"/>
                <a:ea typeface="微软雅黑"/>
              </a:rPr>
              <a:t>　先序 </a:t>
            </a:r>
            <a:r>
              <a:rPr sz="1645" b="0" i="0">
                <a:solidFill>
                  <a:srgbClr val="242A33"/>
                </a:solidFill>
                <a:latin typeface="Consolas"/>
                <a:ea typeface="Consolas"/>
              </a:rPr>
              <a:t>ABCDEFG</a:t>
            </a:r>
            <a:r>
              <a:rPr sz="1750" b="0" i="0">
                <a:solidFill>
                  <a:srgbClr val="242A33"/>
                </a:solidFill>
                <a:latin typeface="Segoe UI"/>
                <a:ea typeface="微软雅黑"/>
              </a:rPr>
              <a:t>、中序 </a:t>
            </a:r>
            <a:r>
              <a:rPr sz="1645" b="0" i="0">
                <a:solidFill>
                  <a:srgbClr val="242A33"/>
                </a:solidFill>
                <a:latin typeface="Consolas"/>
                <a:ea typeface="Consolas"/>
              </a:rPr>
              <a:t>CBDAFEG</a:t>
            </a:r>
            <a:r>
              <a:rPr sz="1750" b="0" i="0">
                <a:solidFill>
                  <a:srgbClr val="242A33"/>
                </a:solidFill>
                <a:latin typeface="Segoe UI"/>
                <a:ea typeface="微软雅黑"/>
              </a:rPr>
              <a:t>，画出这棵树并写出后序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085"/>
              </a:spcAft>
            </a:pPr>
            <a:r>
              <a:rPr sz="175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1750" b="1" i="0">
                <a:solidFill>
                  <a:srgbClr val="12395B"/>
                </a:solidFill>
                <a:latin typeface="Segoe UI"/>
                <a:ea typeface="微软雅黑"/>
              </a:rPr>
              <a:t>习题 3 / 4</a:t>
            </a:r>
            <a:r>
              <a:rPr sz="1750" b="0" i="0">
                <a:solidFill>
                  <a:srgbClr val="242A33"/>
                </a:solidFill>
                <a:latin typeface="Segoe UI"/>
                <a:ea typeface="微软雅黑"/>
              </a:rPr>
              <a:t>　证明 n 个结点的二叉树有 n+1 个空指针域；证明按层编号的父子下标公式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085"/>
              </a:spcAft>
            </a:pPr>
            <a:r>
              <a:rPr sz="175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1750" b="1" i="0">
                <a:solidFill>
                  <a:srgbClr val="12395B"/>
                </a:solidFill>
                <a:latin typeface="Segoe UI"/>
                <a:ea typeface="微软雅黑"/>
              </a:rPr>
              <a:t>习题 6</a:t>
            </a:r>
            <a:r>
              <a:rPr sz="1750" b="0" i="0">
                <a:solidFill>
                  <a:srgbClr val="242A33"/>
                </a:solidFill>
                <a:latin typeface="Segoe UI"/>
                <a:ea typeface="微软雅黑"/>
              </a:rPr>
              <a:t>　依次插入 50,30,70,20,40,60,80 画出 BST；再删除 50，画出结果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085"/>
              </a:spcAft>
            </a:pPr>
            <a:r>
              <a:rPr sz="175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1750" b="1" i="0">
                <a:solidFill>
                  <a:srgbClr val="12395B"/>
                </a:solidFill>
                <a:latin typeface="Segoe UI"/>
                <a:ea typeface="微软雅黑"/>
              </a:rPr>
              <a:t>原书 8</a:t>
            </a:r>
            <a:r>
              <a:rPr sz="1750" b="0" i="0">
                <a:solidFill>
                  <a:srgbClr val="242A33"/>
                </a:solidFill>
                <a:latin typeface="Segoe UI"/>
                <a:ea typeface="微软雅黑"/>
              </a:rPr>
              <a:t>　给定两个结点指针，求它们</a:t>
            </a:r>
            <a:r>
              <a:rPr sz="1750" b="1" i="0">
                <a:solidFill>
                  <a:srgbClr val="12395B"/>
                </a:solidFill>
                <a:latin typeface="Segoe UI"/>
                <a:ea typeface="微软雅黑"/>
              </a:rPr>
              <a:t>最近的共同祖先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085"/>
              </a:spcAft>
            </a:pPr>
            <a:r>
              <a:rPr sz="175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1750" b="1" i="0">
                <a:solidFill>
                  <a:srgbClr val="12395B"/>
                </a:solidFill>
                <a:latin typeface="Segoe UI"/>
                <a:ea typeface="微软雅黑"/>
              </a:rPr>
              <a:t>原书 19</a:t>
            </a:r>
            <a:r>
              <a:rPr sz="1750" b="0" i="0">
                <a:solidFill>
                  <a:srgbClr val="242A33"/>
                </a:solidFill>
                <a:latin typeface="Segoe UI"/>
                <a:ea typeface="微软雅黑"/>
              </a:rPr>
              <a:t>　对 </a:t>
            </a:r>
            <a:r>
              <a:rPr sz="1645" b="0" i="0">
                <a:solidFill>
                  <a:srgbClr val="242A33"/>
                </a:solidFill>
                <a:latin typeface="Consolas"/>
                <a:ea typeface="Consolas"/>
              </a:rPr>
              <a:t>{E,D,X,K,H,L,M,C,P}</a:t>
            </a:r>
            <a:r>
              <a:rPr sz="1750" b="0" i="0">
                <a:solidFill>
                  <a:srgbClr val="242A33"/>
                </a:solidFill>
                <a:latin typeface="Segoe UI"/>
                <a:ea typeface="微软雅黑"/>
              </a:rPr>
              <a:t> 用筛选法建最小堆，并数</a:t>
            </a:r>
            <a:r>
              <a:rPr sz="1750" b="1" i="0">
                <a:solidFill>
                  <a:srgbClr val="12395B"/>
                </a:solidFill>
                <a:latin typeface="Segoe UI"/>
                <a:ea typeface="微软雅黑"/>
              </a:rPr>
              <a:t>移位次数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085"/>
              </a:spcAft>
            </a:pPr>
            <a:r>
              <a:rPr sz="175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1750" b="1" i="0">
                <a:solidFill>
                  <a:srgbClr val="12395B"/>
                </a:solidFill>
                <a:latin typeface="Segoe UI"/>
                <a:ea typeface="微软雅黑"/>
              </a:rPr>
              <a:t>上机</a:t>
            </a:r>
            <a:r>
              <a:rPr sz="1750" b="0" i="0">
                <a:solidFill>
                  <a:srgbClr val="242A33"/>
                </a:solidFill>
                <a:latin typeface="Segoe UI"/>
                <a:ea typeface="微软雅黑"/>
              </a:rPr>
              <a:t>　表达式二叉树：读入一种表达式，建树，输出另外两种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085"/>
              </a:spcAft>
            </a:pPr>
            <a:r>
              <a:rPr sz="175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1750" b="1" i="0">
                <a:solidFill>
                  <a:srgbClr val="12395B"/>
                </a:solidFill>
                <a:latin typeface="Segoe UI"/>
                <a:ea typeface="微软雅黑"/>
              </a:rPr>
              <a:t>这一页和讲义里都是选讲。</a:t>
            </a:r>
            <a:r>
              <a:rPr sz="1750" b="0" i="0">
                <a:solidFill>
                  <a:srgbClr val="242A33"/>
                </a:solidFill>
                <a:latin typeface="Segoe UI"/>
                <a:ea typeface="微软雅黑"/>
              </a:rPr>
              <a:t> 原书全部 </a:t>
            </a:r>
            <a:r>
              <a:rPr sz="1750" b="1" i="0">
                <a:solidFill>
                  <a:srgbClr val="12395B"/>
                </a:solidFill>
                <a:latin typeface="Segoe UI"/>
                <a:ea typeface="微软雅黑"/>
              </a:rPr>
              <a:t>345 道</a:t>
            </a:r>
            <a:r>
              <a:rPr sz="1750" b="0" i="0">
                <a:solidFill>
                  <a:srgbClr val="242A33"/>
                </a:solidFill>
                <a:latin typeface="Segoe UI"/>
                <a:ea typeface="微软雅黑"/>
              </a:rPr>
              <a:t>习题与上机题的参考答案，在 </a:t>
            </a:r>
            <a:r>
              <a:rPr sz="1645" b="0" i="0">
                <a:solidFill>
                  <a:srgbClr val="242A33"/>
                </a:solidFill>
                <a:latin typeface="Consolas"/>
                <a:ea typeface="Consolas"/>
              </a:rPr>
              <a:t>book/习题与参考答案.md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第5章 二叉树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