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第4章　字符串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字符编码与比较 · 串的存储 · 朴素匹配与 KMP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本章要回答三个问题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字符串和普通线性表差在哪？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数据对象限定为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字符集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；运算的对象是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整段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，不是单个元素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「一个字符」到底是几个字节？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4.1.1 从 ASCII 到 UTF-8，以及一条 2008 年的书还讲不到的结论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在几十亿字符里找一个几百字符的模式，怎么找得动？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4.3 朴素匹配的瓶颈，以及 KMP 为什么是线性的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模式匹配的关键不在「比得更快」，而在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不要重复比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。KMP 的全部收益，就是让目标串的下标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只增不减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4.1 字符串的基本概念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子串、字符编码、编码顺序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4.1 字符串与线性表的两点区别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字符串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是组成元素为单个字符的线性表，简称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。字符个数称为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长度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尽管它是特殊的线性表，逻辑结构上有两点区别：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① 数据对象约束为字符集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② 基本操作通常以「串的整体」为对象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拼接、复制、抽取子串、模式匹配，动的都是一整段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子串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：若存在 i 使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P[j] == T[i+j]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对所有 j 成立，则 P 是 T 的子串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空串是所有串的子串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，任何串都是自身的子串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非空且不为自身的子串叫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真子串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原书【代码4.1】的三处问题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① 类名是小写的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string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在任何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using namespace std;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的翻译单元里，它与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std::string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构成歧义。原书正文随后又改用大写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String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同一章两个名字混用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②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int isEmpty();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用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int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表达布尔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int find(char, int)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用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-1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表示「没找到」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与「位置 0」只差一个符号，调用方漏判就把「没找到」当成「匹配在开头」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③ 修改器按值返回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string append(const char c);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返回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string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而非引用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代码4.1 只有声明没有函数体，所以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不能断定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原书会丢结果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能断定的是签名含混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：调用方无从判断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s.append('x');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是改了 s，还是返回了新串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本书改为：类名大写、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bool empty()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std::optional&lt;size_type&gt; find(...)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、修改器返回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String&amp;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4.1.1 字符编码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字符串的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逻辑元素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是字符，内存里保存的却是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编码单元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ASCII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：单字节，低 7 位表示字符，最高位为 0。共 128 个：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第 0–32 号与第 127 号共 34 个是控制字符或通信专用字符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大写字母 65–90，小写字母 97–122，数字 48–57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ASCII 没有考虑多语言。各语言各自发展出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互相冲突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的编码：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中文 GB2312-80、BIG5，日文 S-JIS / JIS，韩文 Wansung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同一个数字在两种编码里是两个不同的字符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UNICODE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统一编号；今天最常见的落地形式是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UTF-8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（1–4 字节，与 ASCII 完全兼容）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一条 2008 年的书还讲不到的结论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C++ 的 </a:t>
            </a:r>
            <a:r>
              <a:rPr sz="1691" b="1" i="0">
                <a:solidFill>
                  <a:srgbClr val="12395B"/>
                </a:solidFill>
                <a:latin typeface="Consolas"/>
                <a:ea typeface="Consolas"/>
              </a:rPr>
              <a:t>char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 是一个字节，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不等于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一个「人眼看到的字符」。</a:t>
            </a:r>
            <a:r>
              <a:rPr sz="1691" b="1" i="0">
                <a:solidFill>
                  <a:srgbClr val="12395B"/>
                </a:solidFill>
                <a:latin typeface="Consolas"/>
                <a:ea typeface="Consolas"/>
              </a:rPr>
              <a:t>std::string::size()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 返回的是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字节数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，不能用来数 Unicode 字符。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4.1.2 字符的编码顺序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字符编码表遵循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偏序编码规则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：编码顺序与自然次序一致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encode('0') + 1 == encode('1')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，一直到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'9'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；字母同理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所以任意两个字符可以直接用编码值比大小；对字母而言就是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字典编目次序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两个串按字符顺序比：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"monday" &lt; "sunday" &lt; "tuesday"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"123" &lt; "1234" &lt; "23"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这只是字典次序，不是日常理解的次序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星期一在星期二之前，整数 123 比 23 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比较规则：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先比第一个不同的编码单元；一个是另一个的前缀时，短者更小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大小写、重音、中文排序都可能需要额外的 locale 或排序键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这里有个 C++ 特有的坑，必须点破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32664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125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$ g++ -std=c++17 -Wall -Wextra litcmp.cpp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litcmp.cpp:7:25: warning: comparison between two arrays [-Warray-compare]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7 |     std::cout &lt;&lt; ("123" &lt; "1234") &lt;&lt; ' ' &lt;&lt; ("1234" &lt; "23") &lt;&lt; '\n';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|                   ~~~~~~^~~~~~~~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$ ./litcmp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true true      # ("123" &lt; std::string("1234"))、(std::string("1234") &lt; "23")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false true     # ("123" &lt; "1234")、("1234" &lt; "23")  —— 第一个的答案反了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439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两边只要有一边是 std::string，比的就是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内容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；两边都是裸字面量，比的是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地址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4.2 字符串的存储结构和实现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顺序存储与 String 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4.2 串的顺序存储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串一般用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顺序存储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：一块连续的字符数组。两种记长度的办法：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末尾放结束标记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C 风格字符串用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\0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。求长度是 O(n)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单独存一个长度字段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求长度 O(1)，而且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串里可以含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\0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String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用后者：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char* data_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+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size_type size_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+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size_type capacity_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这个类同样自己管着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new[]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出来的缓冲区，所以三法则（乃至五法则）一条都不能少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与第 2 章顺序表、第 3 章顺序栈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是同一课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，这已经是第三次了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原书 String 类的三处硬伤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①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assert(str != '\0');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char*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'\0'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int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指针与整数比较，本身就编译不过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②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String(char* s)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参数不是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const char*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于是书中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自己的例子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String s1 = "Hello";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在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-Werror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下编译失败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C++11 起字符串字面量的类型是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const char[N]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，不能绑到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char*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③ 算法4.5 越界时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return NULL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调用方拿去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strlen(nullptr)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运行期 SEGV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const char*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参数、越界抛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std::out_of_range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find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返回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4.3 字符串的模式匹配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朴素算法与 KMP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4.3 模式匹配问题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文本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（text）中寻找一个给定的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模式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（pattern）。通常文本很大，模式很短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文本编辑：模式约 10 个字符，文本几百字到上百万字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DNA 分析：基因几百个字符，而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人类染色体长达 30 亿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精确匹配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哪怕只差一个字符也算失败。本节与原书一样只讨论精确匹配的单选情况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多选（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s?t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里的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?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通配符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）、正则、近似匹配都不在本节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要回答的是：P 是否作为 T 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连续子串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出现，若出现，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首次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出现在哪个位置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记住一句：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P 和 T 的第一个字符都从位置 0 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4.3.1 朴素算法：思路与代价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思路直白：把模式的首字符对齐目标的每一个位置，逐字符比较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一旦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失配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，就把模式向右移动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一个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字符位置，重新开始下一趟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最佳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：目标首位置就是配串，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O(|P|)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O(|T| · |P|)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。例如 T 是 n 个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，P 是 m-1 个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加一个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b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每趟都在模式的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最后一个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字符处不匹配，共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|P|(|T|-|P|+1)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次比较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此类情况很少出现在文本中，却经常出现在 DNA 与图像信息中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平均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：字符集大小为 2 时约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2|T|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次；一般为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(|A|^(|P|+1) - |A|) / (|A|-1)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朴素算法的问题出在哪里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一旦失配，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无论模式的具体情况如何，都只右移一位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。于是目标 T 中的字符会被反复比较 —— 这叫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目标的回溯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一个具体的浪费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模式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 = "abacab"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，目标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 = "abacaabaccabacabaa"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第 1 趟发现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P₅ ≠ T₅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，朴素算法把模式右移一位，让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比较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但这次比较是多余的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上一趟已经比过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T₁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P₁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，而且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相等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又已知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P₁ ≠ P₀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（这是模式自身的性质）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所以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P₀ ≠ T₁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推得出来的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，根本用不着重新比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Knuth、Morris、Pratt 的发现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：每次右移的位数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存在，且与目标串无关，仅依赖于模式本身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4.3.2 特征向量：一个例子就清楚了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T = ababab d,  P = ababd,  从位置 0 开始比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位置:  0 1 2 3 4 5 6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T   :  a b a b a b d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P   :  a b a b d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               ^ 这里失配（T[4]='a'，P[4]='d'）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失配前已经匹配上了 abab。问：abab 的前缀和后缀里，最长的相同一段是多少？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    abab 的前缀:  a,  ab,  aba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    abab 的后缀:  b,  ab,  bab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    最长相同的一段:  "ab"，长度 2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所以模式可以一次右移 4 - 2 = 2 位，而且移过去之后前两个字符不必再比：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位置:  0 1 2 3 4 5 6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T   :  a b a b a b d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P   :      a b a b d</a:t>
            </a:r>
          </a:p>
          <a:p>
            <a:pPr algn="l">
              <a:lnSpc>
                <a:spcPts val="1749"/>
              </a:lnSpc>
              <a:spcBef>
                <a:spcPts val="0"/>
              </a:spcBef>
              <a:spcAft>
                <a:spcPts val="0"/>
              </a:spcAft>
            </a:pPr>
            <a:r>
              <a:rPr sz="1345" b="0" i="0">
                <a:solidFill>
                  <a:srgbClr val="12395B"/>
                </a:solidFill>
                <a:latin typeface="Consolas"/>
                <a:ea typeface="Consolas"/>
              </a:rPr>
              <a:t>             ^ 这两个已知相同，从这里继续比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整个过程中 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T 的下标从来没有往回退过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—— 这正是 KMP 优于朴素算法的地方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特征向量（next 数组）怎么算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[[nodiscard]] inline std::vector&lt;next_type&gt; build_next(std::string_view pattern) {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const std::size_t m = pattern.size();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std::vector&lt;next_type&gt; next(m);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if (m == 0) { return next; }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next_type i = 0;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next_type k = -1;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next[0] = -1;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while (i &lt; static_cast&lt;next_type&gt;(m)) {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while (k &gt;= 0 &amp;&amp; pattern[i] != pattern[k]) {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    k = next[k];              // 沿已算好的特征值回退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}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++i;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++k;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if (i == static_cast&lt;next_type&gt;(m)) { break; }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// P[i] 与 P[k] 相等时可以直接借用 next[k]，省掉一次注定失败的比较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next[i] = (pattern[i] == pattern[k]) ? next[k] : k;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return next;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next(ababd) = -1 0 -1 0 2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。最后那个三目就是「优化版」next 与朴素 next 的差别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4.3.3 KMP：与朴素算法只差失配那一步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next_type i = 0;    // 模式下标，可以退到 -1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std::size_t j = 0;  // 目标下标，**只增不减**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while (i &lt; static_cast&lt;next_type&gt;(m) &amp;&amp; j &lt; n)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(i == -1 || text[j] == pattern[i])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++i;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++j;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 else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 = next[i];        // 不再退回开头，而是退到 next[i]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return i &gt;= static_cast&lt;next_type&gt;(m)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? std::optional&lt;std::size_t&gt;(j - m)     // 注意是 j - m，不是 j - m + 1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: std::nullopt;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next 由调用方传入：同一个模式只算一次、多次匹配复用 —— 接口把这条性质显式表达出来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 KMP 是线性的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关键在于目标下标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j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只增不减。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循环体里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++j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至多执行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|T|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次，与它同处一条语句的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++i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也不超过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|T|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能让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减少的只有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 = next[i]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，而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next[i] &lt; i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，所以每执行一次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至少减 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一旦减到 −1，下一步必然进入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++i, ++j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分支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因此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 = next[i]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的执行次数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不超过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++i, ++j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的次数加 1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整个循环体至多执行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2|T| + 1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次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与目标串长度成线性关系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加上算 next 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O(|P|)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，KMP 整体是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O(|P| + |T|)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4.12　KMP 匹配示例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956693"/>
            <a:ext cx="11240719" cy="298119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4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48133"/>
            <a:ext cx="11057839" cy="2798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第 1 趟第 5 次比较失配，特征值 −1，右移 4−(−1)=5 位；第 4 趟第 22 次匹配成功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一条能真正检出退化的测试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本书用朴素算法的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最坏情况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验证这条线性性质：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= 20 万个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= 1999 个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加一个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b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KMP 在其上瞬间完成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；而失配后不按特征值回退的实现会退化成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O(|T|·|P|)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直接撞上构建闸门的超时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这就是一条有牙的测试的样子：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不是「跑通了」，而是「实现退化了就会红」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把复杂度的差别做成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可观测的现象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，而不是留在注释里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本章抓到的原书错误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算法4.6 与 算法4.8 的返回值都差 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：原书写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return (j - pLen + 1);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在 0 起始下标体系里，正确的是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j - pLen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用书中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自己的例子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当场可见：匹配始于下标 10，原书返回 11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四组数据对拍证实。这一条同时命中两个算法，因为第二个是照抄第一个的收尾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正文的 next 数组比模式还长一位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，与图 4.11 自相矛盾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assert(m &gt; 0)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挡住空模式 —— 而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assert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在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NDEBUG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下会被整个编译掉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本书约定空模式返回 0，与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std::string::find("")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字符串是数据对象限定为字符集、且以整段为操作对象的线性表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编码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：ASCII 单字节；UTF-8 用 1–4 字节兼容 ASCII。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char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≠ 一个人眼看到的字符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比较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：按编码单元的字典序，前缀更短者更小。⚠️ 两个裸字面量之间的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&lt;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比的是地址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朴素匹配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最坏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O(|T|·|P|)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，瓶颈是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目标的回溯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KMP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用模式自身的前后缀信息决定右移多少，目标下标只增不减，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O(|P| + |T|)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特征向量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只依赖模式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，同一模式可跨多个目标复用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顺序存储 + 自管缓冲区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三法则在本章第三次出现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习题 2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给出使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s1 + s2 == s2 + s1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成立的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所有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可能条件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习题 4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把长 n 的串改造成「奇数位升序在前半、偶数位降序在后半」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48"/>
              </a:spcAft>
            </a:pPr>
            <a:r>
              <a:rPr sz="1557" b="0" i="0">
                <a:solidFill>
                  <a:srgbClr val="6B7582"/>
                </a:solidFill>
                <a:latin typeface="Segoe UI"/>
                <a:ea typeface="微软雅黑"/>
              </a:rPr>
              <a:t>·  例：</a:t>
            </a:r>
            <a:r>
              <a:rPr sz="1464" b="0" i="0">
                <a:solidFill>
                  <a:srgbClr val="6B7582"/>
                </a:solidFill>
                <a:latin typeface="Consolas"/>
                <a:ea typeface="Consolas"/>
              </a:rPr>
              <a:t>ABCDEFGHIJKL</a:t>
            </a:r>
            <a:r>
              <a:rPr sz="1557" b="0" i="0">
                <a:solidFill>
                  <a:srgbClr val="6B7582"/>
                </a:solidFill>
                <a:latin typeface="Segoe UI"/>
                <a:ea typeface="微软雅黑"/>
              </a:rPr>
              <a:t> → </a:t>
            </a:r>
            <a:r>
              <a:rPr sz="1464" b="0" i="0">
                <a:solidFill>
                  <a:srgbClr val="6B7582"/>
                </a:solidFill>
                <a:latin typeface="Consolas"/>
                <a:ea typeface="Consolas"/>
              </a:rPr>
              <a:t>ACEGIKLJHFDB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习题 7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线性时间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判断 T 是否是 T′ 的循环移位（如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arc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与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car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习题 9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求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BAAABBBAA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的特征向量，并与给定目标匹配，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画出过程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上机 3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求最长重复子串及其下标（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abcdacdac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→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cdac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，下标 2）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上机 4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行编辑程序：查找必须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自己实现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KMP，不许用环境提供的查找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第4章 字符串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