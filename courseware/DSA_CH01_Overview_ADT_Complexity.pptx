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第1章　概论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问题求解 · 逻辑结构与存储结构 · 抽象数据类型 · 渐进分析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本章要回答四个问题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一个现实问题怎么变成能写的程序？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1.1 股市传言 —— 抽象成图，选 Floyd，写成 100 行可运行代码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数据之间的关系怎么描述、又怎么落到内存里？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1.2 逻辑结构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(K, r)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；顺序 / 链接 / 索引 / 散列四种存储映射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「有哪些运算」和「运算怎么实现」怎么分开？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1.2.3 抽象数据类型 ADT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(D, R, P)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两个算法谁更快，凭什么下这个结论？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1.3 算法的性质与六种设计方法；1.4 渐进分析 O / Ω / 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程序 = 数据结构 + 算法（Wirth）。结构选错了，算法再巧也补不回来。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1.1 问题求解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从股市的传言到一个可以跑起来的程序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1.1.1 问题描述：股市的传言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若干股票经纪人之间互相传消息。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谁能直接传给谁、要花多久，都是已知的。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问：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从哪一个人开始散布消息，能让所有人最快都知道？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注意题面不是“出边最多的人”——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要的是让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最后一个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收到消息的人也尽可能早收到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五个经纪人 B1…B5，共 10 条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边；方向和权都重要：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B1→B5 要 3，B5→B1 要 5 —— 同一对人，两个方向不一样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1.1　经纪人间的消息传递图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21265" y="1207008"/>
            <a:ext cx="4749165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705" y="1298448"/>
            <a:ext cx="456628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顶点是人，有向边 &lt;Bi, Bj&gt; 表示 i 能把消息直接传给 j，边上的数是所需时间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1.1.2 抽象：顶点 + 有向带权边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292"/>
                <a:gridCol w="9130546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起点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出边（终点 / 耗时）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→B2 (8)　→B4 (4)　→B5 (3)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→B5 (8)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→B1 (6)　→B2 (7)　→B4 (10)　→B5 (2)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（没有出边）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→B1 (5)　→B2 (5)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B3 是唯一能到达其余所有人的起点 —— 但“能到达”还不等于“最快”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1.2　相邻矩阵：这就是算法的输入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 i 行第 j 列是边 &lt;Bi, Bj&gt; 的权；没有边记 ∞，对角线是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解法拆成三步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Floyd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：先算出任意两人之间的最短传播时间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每行取最大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：消息要传遍所有人，就得等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的那个人收到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各行的最大值里取最小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：这个起点就是答案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某一行还留着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∞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有人永远收不到 → 这个起点不合格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对照原书算法 1.1 的记号：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就是代码里的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shortest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矩阵；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max[i]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是每行的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largest_distance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pos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best_source()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的返回值。下标从 0 起，所以 B3 返回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为什么取“最慢的一项”，而不是和、也不是最小值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从 B3 出发：到 B1 是 6、到 B2 是 7、到 B4 是 10、到 B5 是 2。消息要传遍所有人，就必须等最慢的 B4 —— B3 的完成时间是 10。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把每个人都当一次起点（图 1.3 的结果矩阵）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753"/>
                <a:gridCol w="1263753"/>
                <a:gridCol w="1263753"/>
                <a:gridCol w="1263753"/>
                <a:gridCol w="1263753"/>
                <a:gridCol w="1263753"/>
                <a:gridCol w="2211567"/>
                <a:gridCol w="126375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起点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B1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B2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B3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B4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B5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最慢的最短时间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可选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答案是 B3。这类目标叫「最小化最大距离」，后面第 7 章还会再遇到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1.1.3 用起来：demo.cpp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#include "modern.hpp"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#include &lt;iostream&gt;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int main()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// B1 ... B5 对应下标 0 ... 4。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dsa::adt::RumorNetwork network(5);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3, 4);   // B1 -&gt; B4，耗时 4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4, 3);   // B1 -&gt; B5，耗时 3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1, 8);   // B1 -&gt; B2，耗时 8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network.add_route(1, 4, 8);   // B2 -&gt; B5，耗时 8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0, 6);   // B3 -&gt; B1，耗时 6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1, 7);   // B3 -&gt; B2，耗时 7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3, 10);  // B3 -&gt; B4，耗时 10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4, 2);   // B3 -&gt; B5，耗时 2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network.add_route(4, 0, 5);   // B5 -&gt; B1，耗时 5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network.add_route(4, 1, 5);   // B5 -&gt; B2，耗时 5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const auto source = network.best_source();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if (source)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std::cout &lt;&lt; "最佳传播起点是 B" &lt;&lt; *source + 1 &lt;&lt; '\n';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} else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std::cout &lt;&lt; "不存在能到达全部经纪人的起点\n";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demo.cpp 只管输入输出；数据和计算全在 modern.hpp —— 展示与计算分开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模型：RumorNetwork 的对外接口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11797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9168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RumorNetwork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// infinity 只表示「没有直接路线」；每段时间都必须小于它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static constexpr int infinity = std::numeric_limits&lt;int&gt;::max() / 4;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// 最短时间是若干段之和，用 64 位存；「到不了」另记 unreachable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using distance_type = std::int64_t;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static constexpr distance_type unreachable =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std::numeric_limits&lt;distance_type&gt;::max();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explicit RumorNetwork(std::size_t people);                    // 建 n x n 距离矩阵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void add_route(std::size_t from, std::size_t to, int cost);   // 加一条有向边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[[nodiscard]] std::optional&lt;std::size_t&gt; best_source() const; // 算答案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std::vector&lt;std::vector&lt;int&gt;&gt; distance_;    // 相邻矩阵；末尾下划线 = 私有成员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53529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这一屏就是这个 ADT 的全部：三个运算 + 一份内部表示。调用者不该关心后者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Floyd：三重循环到底在循环什么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const std::size_t people = distance_.size();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std::vector&lt;std::vector&lt;distance_type&gt;&gt; shortest(               // 64 位，初值全是 unreachable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people, std::vector&lt;distance_type&gt;(people, unreachable));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for (std::size_t from = 0; from &lt; people; ++from)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(std::size_t to = 0; to &lt; people; ++to)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if (distance_[from][to] != infinity) shortest[from][to] = distance_[from][to];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for (std::size_t via = 0; via &lt; people; ++via) {                // 允许经过 via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for (std::size_t from = 0; from &lt; people; ++from) {         // 固定起点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for (std::size_t to = 0; to &lt; people; ++to) {           // 固定终点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if (shortest[from][via] != unreachable &amp;&amp;           // 两段都可达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shortest[via][to] != unreachable &amp;&amp;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shortest[from][to] &gt; shortest[from][via] + shortest[via][to]) {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    shortest[from][to] = shortest[from][via] + shortest[via][to];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   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B2→B4 没有直接边，但 B2→B5 (8) + B5→B1 (5) + B1→B4 (4) =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选答案：每行取最大，再在其中取最小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std::optional&lt;std::size_t&gt; result;          // 空 = 还没找到合格的起点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distance_type smallest_eccentricity = unreachable;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(std::size_t from = 0; from &lt; people; ++from)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distance_type largest_distance = 0;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(distance_type distance : shortest[from]) {   // 这一行的最大值 = 该起点的完成时间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largest_distance = distance &gt; largest_distance ? distance : largest_distance;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(largest_distance &lt; smallest_eccentricity)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smallest_eccentricity = largest_distance;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result = from;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return result;                              // 全都不可达时返回 std::nullopt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eccentricity（离心率）= 某点到所有点的最短距离中的最大值。时间 O(V³)，空间 O(V²)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「可能没有答案」怎么返回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原书 / 传统写法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Consolas"/>
                <a:ea typeface="Consolas"/>
              </a:rPr>
              <a:t>bool find(size_t&amp; out);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答案和“有没有答案”走两条通道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忘了看返回值 → 读到未初始化的 out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容器里直接 cout 打中文提示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于是这段逻辑没法被自动测试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本书写法（风格公约 D-001）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Consolas"/>
                <a:ea typeface="Consolas"/>
              </a:rPr>
              <a:t>optional&lt;size_t&gt; best_source();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一个“可能装着下标的盒子”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取值前必须先判空，漏不掉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容器内零 I/O，真错误抛标准异常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504" b="0" i="0">
                <a:solidFill>
                  <a:srgbClr val="242A33"/>
                </a:solidFill>
                <a:latin typeface="Consolas"/>
                <a:ea typeface="Consolas"/>
              </a:rPr>
              <a:t>[[nodiscard]]</a:t>
            </a: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：返回值丢不掉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编译并运行（在仓库根目录）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c++ -std=c++17 -Wall -Wextra -Werror -Icode/ch01/adt \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code/ch01/adt/demo.cpp -o /tmp/rumor-demo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/tmp/rumor-demo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最佳传播起点是 B3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试着删掉 B3 的一条出边：network.add_route(2, 1, 7);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于是没有任何起点能覆盖全部顶点，best_source() 返回空值：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不存在能到达全部经纪人的起点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-Werror 把警告当错误；刚开始调试时可以先去掉它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1.2 数据结构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逻辑结构 · 存储结构 · 定义在其上的运算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数据结构是三件事，必须分开看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逻辑结构（关系是什么）+ 存储结构（关系怎么落到内存里）+ 运算。后面十一章，都是在这三层之间做选择。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1.2.1 逻辑结构：二元组 B = (K, 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结点的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有穷集合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。一个结点就是一个数据单位，类型任意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数据结构课只关心结点之间的关系，所以通常把结点当黑盒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定义在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上的一组二元关系。本书里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一般只含一个关系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，记作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(K, r)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&lt;k, k′&gt; ∈ 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前驱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后继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无前驱的叫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开始结点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，无后继的叫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终止结点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例：教学计划。每门必修课是一个结点，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&lt;程序设计, 数据结构&gt;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表示必须先修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逻辑结构只谈关系，不谈占几个字节。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按关系 r 的性质，逻辑结构分三类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245"/>
                <a:gridCol w="3417077"/>
                <a:gridCol w="1363897"/>
                <a:gridCol w="5103618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前驱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后继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本书在哪几章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线性结构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至多 1 个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至多 1 个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线性表、栈、队列、串（第 2–4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树形结构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根无前驱，其余恰好 1 个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二叉树、树、B 树（第 5、6、11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最短路、最小生成树（第 7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37464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树 vs 图：结点是否只从属于一个直接前驱。线性 vs 树：结点是否只有一个直接后继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1.2.2 存储结构：四种基本映射方法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存进地址相邻的单元，逻辑顺序就是地址顺序。按下标访问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又叫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紧凑存储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：除数据本身没有附加信息，用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存储密度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度量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完全二叉树也能顺序存：孩子下标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2i+1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2i+2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算得出来（第 5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链接方法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每个结点附指针域存后继地址。增删方便；按位置访问不再是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在结点空间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之外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另建一张表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Y : Z → 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，把索引值映射到存储地址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主要作用是减少读写磁盘的数据量（第 11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索引法的延伸：不查表，用散列函数把关键码直接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成地址（第 10 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索引：上下两行的错位就是它的全部意义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36420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存储区的数据 —— 物理无序，而且每块长度不等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+----------------+----------+------------+--------------+--------+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[1] 73         | [2] 52   | [3] 42     | [4] 98       | [5] 37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+----------------+----------+------------+--------------+--------+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线性索引 —— 附加在数据之外的一张小表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 37  |  42  |  52  |  73  |  98  |   关键码：升序  -&gt; 逻辑有序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[5]  | [3]  | [2]  | [1]  | [4]  |   指向第几块：乱序 -&gt; 物理没搬过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找 52：在索引里二分到第 3 列，读出 [2]，直接取第 2 块 —— 只读了一块（图 1.4）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为什么索引函数不是数组那样的线性函数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看一眼上一页每块的宽度：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五块长度各不相同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正因为长度不等，“第 k 块在哪”就没法用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起始地址 + k × 块长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算出来 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只能查表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。这才是原书那句“索引函数并非简单线性函数”的意思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上面一行升序，所以可以在索引里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；下面一行完全乱序，说明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数据一块都没搬过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代价是索引表本身的空间 —— 这正是 1.4.3 要讲的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时空折衷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1.2.3 抽象数据类型 ADT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ADT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定义了一组操作的抽象模型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。数据和操作封在一起，外部只能通过操作访问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一般写成三元组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(D, R, P)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：数据对象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、数据关系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、基本操作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给出数据模型，是对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数据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的抽象；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操作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的抽象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于是讨论一种结构时可以先不问它是数组还是链表，只问：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它提供哪些运算？这些运算有什么约定？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整数连同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× 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，就是一个最简单的 ADT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C++ 用类（类模板）的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声明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表示 ADT，用类的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实现它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ADT 的写法，与原书【代码1.2】的空模板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ADT 名字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数据对象 D：结点是什么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数据关系 R：结点之间有什么关系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基本操作 P：对外提供哪些运算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原书【代码1.2】：先把接口写出来，再谈实现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template &lt;class Type&gt;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ClassName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Type data;          // 取值类型和存储 —— 实现细节，外部看不到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void method();      // 对外运算 —— 这一行才是 ADT 的内容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概念层的 ADT 说“问题需要什么运算”；实现层的类说“这些运算在内存里怎么做”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本书的一处改动：不写抽象基类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原书先写一个纯声明的抽象基类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List&lt;T&gt;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，再让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arrList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继承它。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本书不这么做：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它给不了多态。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各章的容器都是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模板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，元素类型编译期就定了，彼此不需要互相替换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那个基类从头到尾没有一处用到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它还带一个陷阱。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基类析构函数不是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virtual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List&lt;int&gt;* p = new ArrayList&lt;int&gt;; delete p;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未定义行为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常见后果：只析构了基类那层，派生类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new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的缓冲区没人释放 → 内存泄漏；也可能直接崩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「未定义行为」= 标准不再对程序行为作任何承诺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，而不是“结果不确定但还能用”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1.3 算法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概念、四条性质与六种设计方法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1.3.1 算法的四条性质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通用性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对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任意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符合输入类型的数据都成立，不是只对书上那组样例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有效性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由有限条能被确切执行的指令组成，每步结果的类型可预期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确定性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每执行一步之后，下一步怎么走有明确指示；不能含糊，也不能被锁住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必须在有限步内结束，不能含死循环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指令条数有限 ≠ 执行有穷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。循环条件写错，有限条指令照样能转个没完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所以设计算法时要专门盯住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结束条件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程序是算法的一种实现：计算机按程序逐步执行算法，完成求解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1.3.2 六种算法设计方法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6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460"/>
                <a:gridCol w="5785536"/>
                <a:gridCol w="4217842"/>
              </a:tblGrid>
              <a:tr h="457517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要点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本书在哪儿用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穷举法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把问题空间里的对象一一列举、逐个检验；范围要有限、要有列举规则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6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switch</a:t>
                      </a: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就是一种穷举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回溯法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逐一枚举候选解，走不通就退回上一步换一个（回溯 / 向前试探）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深度优先搜索（第 5–7 章）、背包（第 3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分治 + 递归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大问题切成同形的小问题，各个击破再合并；</a:t>
                      </a: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自顶向下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快排、归并（第 8 章），二分检索（第 10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57517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贪心法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每步按某个贪心标准取局部最优，寄望于拼出全局最优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Prim、Kruskal、Dijkstra（第 7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动态规划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子问题</a:t>
                      </a: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不独立</a:t>
                      </a: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：把已解的答案记进一张表，避免重复计算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Floyd（第 7 章）、最佳二叉搜索树（第 12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203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1.1 节要的是任意两点间的最短路，所以选 Floyd，而不是对每个起点各跑一遍 Dijkstra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1.4 算法分析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渐进分析 · 最佳 / 最差 / 平均 · 时空折衷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为什么不能拿秒来衡量算法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同一个算法，Cray 巨型机上跑和 PC 上跑差很多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反过来，差算法在 Cray 上也可能比好算法在 PC 上更快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同一台机器，编译型语言比解释型快很多 —— 原书举例：C 比同算法的 LISP 快近 20 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所以衡量的不是时间，而是「输入规模 n」与「基本操作次数」之间的关系。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规模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：输入量的数目。排序问题里就是待排元素的个数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基本操作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：完成它所需的时间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与被操作的具体数值无关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，例如两个整数相加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 = cn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时规模翻 5 倍时间也翻 5 倍；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 = log₂n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时规模翻倍只多花 1 个单位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1.4.1 渐进分析：只留增长最快的那一项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49"/>
                <a:gridCol w="1897272"/>
                <a:gridCol w="1533149"/>
                <a:gridCol w="2740504"/>
                <a:gridCol w="335376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n²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100n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log₁₀n + 1000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谁说了算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常数项贡献最大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100n 与常数项持平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10 000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10 000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前两项持平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1 000 000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100 000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n² 一家独大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f(n) = n² + 100n + log₁₀n + 1000。⚠️ 但 n 很小时系数和常数项举足轻重 —— 排上万个数的算法未必适合排 10 个数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大 O 表示法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若存在正数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，使任意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≥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都有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 ≤ c·g(n)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，则称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它说的是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的增长最终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至多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趋同于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即“这个算法最多差到什么程度”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上限并不唯一：在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里的函数也在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O(n²)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大 O 取的是所有上限中最小的那一个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常用性质：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an^k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O(n^k)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 = c·g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可传递、可相加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任何底数的对数增长率相同：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log_a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O(log_b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。本书把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简写成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常见增长率：n 稍大就是天文数字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711"/>
                <a:gridCol w="2481422"/>
                <a:gridCol w="1240711"/>
                <a:gridCol w="1240711"/>
                <a:gridCol w="4854282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阶 g(n)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名称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 = 16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 = 256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长这样的算法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不依赖数据规模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256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扫一遍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介于一、二阶之间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2048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 / 归并，常出现在树形结构里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256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65 536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双重循环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指数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65 536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穷举子集，递归定义的函数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n=1000、单位 1μs：n 是 1ms，n² 是 1s，n³ 约 16 分钟，2ⁿ 约 10²⁸⁶ 年 —— 地球年龄还不到 10¹⁰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1.5　常用函数的增长趋势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25702" y="1207008"/>
            <a:ext cx="5140291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42" y="1298448"/>
            <a:ext cx="495741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指数增长比任何高次多项式（n³、n⁴）都快 —— 指数爆炸型算法，用之前先算一算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Ω 与 Θ：下限，以及上下限同阶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Ω（欧米伽）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存在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，使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≥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 ≥ c·g(n)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下限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的增长最终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至少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趋同于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g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与大 O 唯一的区别是不等号方向。大 O 取所有上限中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的，Ω 取所有下限中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最大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Θ（希塔）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既是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又是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，即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c₁g(n) ≤ f(n) ≤ c₂g(n)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例：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f(n) = 100n² + 5n + 500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，取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c₁ = 100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c₂ = 105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 = 10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f(n)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Θ(n²)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这是比“是 O(n²)”更强的一句话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数一数赋值操作（一）：O(n)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0302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1018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sum = 0; i &lt; n; i++)    // 循环开始前 2 次赋值：i、sum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sum += a[i];                 // 每轮 2 次赋值：sum、i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合计 2 + 2n 次赋值  -&gt; 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034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主要开销落在赋值上，所以就数赋值的次数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数一数赋值操作（二）：嵌套循环 O(n²)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0; i &lt; n; i++) {                        // 循环前 1 次：i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(j = 1, sum = a[0]; j &lt;= i; j++)         // 每轮外层 3 次：i、j、sum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sum += a[j];                             // 内层每轮 2 次，共执行 i 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cout &lt;&lt; "sum for subarray 0 through " &lt;&lt; i &lt;&lt; " is " &lt;&lt; sum &lt;&lt; endl;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1 + 3n + Σ(i=1..n-1) 2i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1 + 3n + 2(1 + 2 + ... + 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1 + 3n + n(n-1)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O(n) + O(n²)  -&gt;  O(n²)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依次求出所有前缀子数组之和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数一数赋值操作（三）：嵌套 ≠ 平方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4; i &lt; n; i++)                           // 外层 n - 4 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(j = i - 3, sum = a[i - 4]; j &lt;= i; j++)  // 内层恒定 4 次，与 i 无关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sum += a[j];                              // 每个 i 合计 8 次赋值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O(1) + 8(n - 4)  -&gt; 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只对每个子数组的前 5 个元素求和。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看的是内层跑几次，不是有几层循环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1.4.2 最佳 / 最差 / 平均：在数组里顺序检索一个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0231"/>
                <a:gridCol w="1683934"/>
                <a:gridCol w="328367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情况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K 在哪儿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比较次数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最佳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1 个元素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最差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最后一个元素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（每个位置等概率 1/n）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任意位置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(1+2+…+n)/n =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(n+1)/2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（第 1 位 1/2、第 2 位 1/4、其余均分）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偏向前面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+ (n+3)/8，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快近 4 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C_avg = Σ p(inputᵢ)·steps(inputᵢ)。平均情况分析并不总是可行 —— 它要求你知道输入的概率分布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那该看哪一种情况？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最佳情况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发生的概率太小，代表不了算法性能；但能说明这个算法在什么场合适用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最差情况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告诉你“这个算法至少能做多快”—— 实时系统里这一条最要紧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空运处理系统里，一个绝大多数时候能管 n 架飞机、但偶尔超时的算法是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不可接受的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多数算法的最坏与平均，往往只差一个常数因子或常数项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本书后面每讲一个算法，都会分别交代三种情况：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例如第 8 章的快速排序平均是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 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，输入已经有序时退化成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算法分析的第一条纪律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只报一个数字、不说是针对哪一种输入，这个数字就没有意义。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1.4.3 时间和空间的折衷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静态数据结构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规模一旦定下，占用空间就不变；空间好估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本书对这类算法一般只讨论时间代价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动态数据结构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运行中空间会数量级地涨落，必须单独分析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时空折衷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：为改善时间开销，往往要以增大空间开销为代价；反之亦然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空间换时间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：黄页查电话另建一张散列索引表 —— 时间从线性降到常数，空间多出线性一份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时间换空间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：第 6.3 节把树压成「带右链」序列，省下全部指针域，代价是恢复结构要重扫一遍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没有免费的加速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：空间紧时间松、和空间松时间紧，选出来的结构会不一样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1.4.4 选数据结构的四条原则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先分析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问题本身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：涉及哪些数据类型、数据之间是什么逻辑关系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数据结构的初步设计通常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算法设计 —— 结构定了，算法往往水到渠成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注意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可扩展性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：输入规模变了、问题演变了，这个结构还撑得住吗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比较时空开销的优劣，具体情况具体分析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回到本章的例子：5 个顶点、要的是任意两点最短路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相邻矩阵 + Floyd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顶点多、边少、只问单源 → 邻接表 + Dijkstra（第 7 章）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数据在外存 → 一次磁盘 I/O 比一次比较贵几个数量级（第 9、11 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用计算机求解问题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问题抽象 → 数据抽象 → 算法抽象 → 编码实现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逻辑结构 + 存储结构 + 运算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逻辑结构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(K, r)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按关系性质分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线性 / 树形 / 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三类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存储映射四法：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顺序、链接、索引、散列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ADT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把“需要哪些运算”和“运算怎么实现”分开，达到数据抽象与信息隐蔽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四性质：通用性、有效性、确定性、有穷性；设计方法六种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算法分析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不看秒表，看基本操作次数随 n 怎么长：用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Θ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说话，并分清最好、最坏与平均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for(i=1;i&lt;n;++i) for(j=n;j&gt;=i;--j) a[i][j]=1;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的精确执行次数与量级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证明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对非负渐进函数证明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max(f(n), g(n)) = Θ(f(n) + g(n))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求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T(n) = 2T(⌊n/2⌋) +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的渐进阶，并用数学归纳法证明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判断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已知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，问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2^f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是否分别是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O(log₂g)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O(2^g)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上机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f(m,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把 m 写成若干个不超过 n 的自然数之和的方案数（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f(5,3)=5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上机 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用 C++ 类定义「复数」ADT：3 个构造函数、取/改实部虚部、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* 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、重载流输出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344 道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