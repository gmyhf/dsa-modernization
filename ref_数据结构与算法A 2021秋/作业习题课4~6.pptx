
<file path=[Content_Types].xml><?xml version="1.0" encoding="utf-8"?>
<Types xmlns="http://schemas.openxmlformats.org/package/2006/content-types">
  <Default Extension="png" ContentType="image/png"/>
  <Default Extension="svg" ContentType="image/svg+xml"/>
  <Default Extension="tmp"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636" r:id="rId3"/>
    <p:sldId id="661" r:id="rId4"/>
    <p:sldId id="697" r:id="rId5"/>
    <p:sldId id="710" r:id="rId6"/>
    <p:sldId id="698" r:id="rId7"/>
    <p:sldId id="713" r:id="rId8"/>
    <p:sldId id="712" r:id="rId9"/>
    <p:sldId id="695" r:id="rId10"/>
    <p:sldId id="714" r:id="rId11"/>
    <p:sldId id="699" r:id="rId12"/>
    <p:sldId id="715" r:id="rId13"/>
    <p:sldId id="663" r:id="rId14"/>
    <p:sldId id="703" r:id="rId15"/>
    <p:sldId id="704" r:id="rId16"/>
    <p:sldId id="716" r:id="rId17"/>
    <p:sldId id="705" r:id="rId18"/>
    <p:sldId id="707" r:id="rId19"/>
    <p:sldId id="708" r:id="rId20"/>
    <p:sldId id="709" r:id="rId21"/>
    <p:sldId id="662" r:id="rId22"/>
    <p:sldId id="717" r:id="rId23"/>
    <p:sldId id="665" r:id="rId24"/>
    <p:sldId id="718" r:id="rId25"/>
    <p:sldId id="724" r:id="rId26"/>
    <p:sldId id="725" r:id="rId27"/>
    <p:sldId id="720" r:id="rId28"/>
    <p:sldId id="71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88110" autoAdjust="0"/>
  </p:normalViewPr>
  <p:slideViewPr>
    <p:cSldViewPr snapToGrid="0">
      <p:cViewPr varScale="1">
        <p:scale>
          <a:sx n="106" d="100"/>
          <a:sy n="106" d="100"/>
        </p:scale>
        <p:origin x="106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420A0-3F76-4ED5-A491-A6D4F2E8A782}" type="datetimeFigureOut">
              <a:rPr lang="zh-CN" altLang="en-US" smtClean="0"/>
              <a:t>2021/11/2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F472E-0071-4A33-8625-5340564E53A3}" type="slidenum">
              <a:rPr lang="zh-CN" altLang="en-US" smtClean="0"/>
              <a:t>‹#›</a:t>
            </a:fld>
            <a:endParaRPr lang="zh-CN" altLang="en-US"/>
          </a:p>
        </p:txBody>
      </p:sp>
    </p:spTree>
    <p:extLst>
      <p:ext uri="{BB962C8B-B14F-4D97-AF65-F5344CB8AC3E}">
        <p14:creationId xmlns:p14="http://schemas.microsoft.com/office/powerpoint/2010/main" val="281017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794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4029638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2450728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2052274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141300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3768290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106562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2467819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3324638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745971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1818785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3573129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632297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14</a:t>
            </a:fld>
            <a:endParaRPr lang="zh-CN" altLang="en-US"/>
          </a:p>
        </p:txBody>
      </p:sp>
    </p:spTree>
    <p:extLst>
      <p:ext uri="{BB962C8B-B14F-4D97-AF65-F5344CB8AC3E}">
        <p14:creationId xmlns:p14="http://schemas.microsoft.com/office/powerpoint/2010/main" val="3934775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15</a:t>
            </a:fld>
            <a:endParaRPr lang="zh-CN" altLang="en-US"/>
          </a:p>
        </p:txBody>
      </p:sp>
    </p:spTree>
    <p:extLst>
      <p:ext uri="{BB962C8B-B14F-4D97-AF65-F5344CB8AC3E}">
        <p14:creationId xmlns:p14="http://schemas.microsoft.com/office/powerpoint/2010/main" val="4247290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16</a:t>
            </a:fld>
            <a:endParaRPr lang="zh-CN" altLang="en-US"/>
          </a:p>
        </p:txBody>
      </p:sp>
    </p:spTree>
    <p:extLst>
      <p:ext uri="{BB962C8B-B14F-4D97-AF65-F5344CB8AC3E}">
        <p14:creationId xmlns:p14="http://schemas.microsoft.com/office/powerpoint/2010/main" val="21008947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17</a:t>
            </a:fld>
            <a:endParaRPr lang="zh-CN" altLang="en-US"/>
          </a:p>
        </p:txBody>
      </p:sp>
    </p:spTree>
    <p:extLst>
      <p:ext uri="{BB962C8B-B14F-4D97-AF65-F5344CB8AC3E}">
        <p14:creationId xmlns:p14="http://schemas.microsoft.com/office/powerpoint/2010/main" val="951964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18</a:t>
            </a:fld>
            <a:endParaRPr lang="zh-CN" altLang="en-US"/>
          </a:p>
        </p:txBody>
      </p:sp>
    </p:spTree>
    <p:extLst>
      <p:ext uri="{BB962C8B-B14F-4D97-AF65-F5344CB8AC3E}">
        <p14:creationId xmlns:p14="http://schemas.microsoft.com/office/powerpoint/2010/main" val="3823533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extLst>
      <p:ext uri="{BB962C8B-B14F-4D97-AF65-F5344CB8AC3E}">
        <p14:creationId xmlns:p14="http://schemas.microsoft.com/office/powerpoint/2010/main" val="1343488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1128003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21</a:t>
            </a:fld>
            <a:endParaRPr lang="zh-CN" altLang="en-US"/>
          </a:p>
        </p:txBody>
      </p:sp>
    </p:spTree>
    <p:extLst>
      <p:ext uri="{BB962C8B-B14F-4D97-AF65-F5344CB8AC3E}">
        <p14:creationId xmlns:p14="http://schemas.microsoft.com/office/powerpoint/2010/main" val="238990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22</a:t>
            </a:fld>
            <a:endParaRPr lang="zh-CN" altLang="en-US"/>
          </a:p>
        </p:txBody>
      </p:sp>
    </p:spTree>
    <p:extLst>
      <p:ext uri="{BB962C8B-B14F-4D97-AF65-F5344CB8AC3E}">
        <p14:creationId xmlns:p14="http://schemas.microsoft.com/office/powerpoint/2010/main" val="698752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23</a:t>
            </a:fld>
            <a:endParaRPr lang="zh-CN" altLang="en-US"/>
          </a:p>
        </p:txBody>
      </p:sp>
    </p:spTree>
    <p:extLst>
      <p:ext uri="{BB962C8B-B14F-4D97-AF65-F5344CB8AC3E}">
        <p14:creationId xmlns:p14="http://schemas.microsoft.com/office/powerpoint/2010/main" val="40192535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24</a:t>
            </a:fld>
            <a:endParaRPr lang="zh-CN" altLang="en-US"/>
          </a:p>
        </p:txBody>
      </p:sp>
    </p:spTree>
    <p:extLst>
      <p:ext uri="{BB962C8B-B14F-4D97-AF65-F5344CB8AC3E}">
        <p14:creationId xmlns:p14="http://schemas.microsoft.com/office/powerpoint/2010/main" val="26372499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25</a:t>
            </a:fld>
            <a:endParaRPr lang="zh-CN" altLang="en-US"/>
          </a:p>
        </p:txBody>
      </p:sp>
    </p:spTree>
    <p:extLst>
      <p:ext uri="{BB962C8B-B14F-4D97-AF65-F5344CB8AC3E}">
        <p14:creationId xmlns:p14="http://schemas.microsoft.com/office/powerpoint/2010/main" val="3695280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26</a:t>
            </a:fld>
            <a:endParaRPr lang="zh-CN" altLang="en-US"/>
          </a:p>
        </p:txBody>
      </p:sp>
    </p:spTree>
    <p:extLst>
      <p:ext uri="{BB962C8B-B14F-4D97-AF65-F5344CB8AC3E}">
        <p14:creationId xmlns:p14="http://schemas.microsoft.com/office/powerpoint/2010/main" val="890016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27</a:t>
            </a:fld>
            <a:endParaRPr lang="zh-CN" altLang="en-US"/>
          </a:p>
        </p:txBody>
      </p:sp>
    </p:spTree>
    <p:extLst>
      <p:ext uri="{BB962C8B-B14F-4D97-AF65-F5344CB8AC3E}">
        <p14:creationId xmlns:p14="http://schemas.microsoft.com/office/powerpoint/2010/main" val="3212801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CDDDB-7C04-43BB-B204-99FA124806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8CFC805-7917-48EC-805A-2CDF4658F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51A655-FC12-4240-BC77-7D89C7F65AF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2CC8E920-EF2D-43B5-9513-4595EC634E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0D34B5-488D-4162-B02D-C0C02CB73BF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60783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D7DA1-8149-4B8D-AA7B-1F5B718BC8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555B50-8915-463E-B918-52B377F3C7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39FFA-9327-4A3F-8200-D3B98890EF5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472A232-10B9-41D9-8C1A-AA6845C8C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6635C-4DD4-4BD6-9665-77FC7967D6E3}"/>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75778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CF8C7-C500-4CD5-919A-6158C0A98B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A622C59-50AB-4CA0-ABB4-19121B2CB9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637927-D423-47BA-81E7-D7F673B3F9F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F96632F-57AF-42C2-BF3D-26EC04CD15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EED63-73F5-4B28-85B3-EB0E111DD53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09161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3F96F-7DD6-4BD3-A4DD-E926D908C7F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952CFA7-876F-47DC-B8BA-C85F223CF6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410C0FD-C516-4F24-9F24-F42355ED5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DEB56BC-AD95-4D55-9455-77D5C3830CE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09EDFDC-ACD9-4A34-9FA4-883F581419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DE2F23-F480-4748-A48A-0D1246EC923B}"/>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37237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6208E-2116-4025-9950-D2377645E0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32A21E-D3DD-4E75-9E9D-5C87E58009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6935C11-C5A7-4027-A22E-2B5603FF2C7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FF8F6-7481-4B06-8307-A502AAAC5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6295B9C-91E8-49F9-B732-E2DE98BBA38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025AD6A-914A-4DB7-B086-FF500B740324}"/>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95E0EA91-9490-4EF3-B946-287B34C8DC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A198CA2-E0C2-4680-A081-EBDDE080B73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96636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5F21C-2793-4194-9317-83472E45025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DC048B-AD09-49AD-8287-8D547C72D39E}"/>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CBD866D6-52ED-4B0D-8F41-018C32C882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6A4FCF-F27B-4CA0-B605-ADE6FFF16A4F}"/>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52928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059181-E631-4B1A-B924-AAE3387B4FF5}"/>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9E53192E-9287-4663-ADDB-F5AFDF1816B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DACA25-9278-464F-8666-9DC9169A437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83002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4CE83-CC4A-46A2-926E-86FCE3F602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ECA719-D570-4E10-9D1E-229A3D42C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024995A-89A0-4592-A926-56262C1AE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D6E123-2FC6-4326-BA9A-07F9A90EAE0D}"/>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6A53CF9C-BAF2-4797-B080-82A6B7AD77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94C22E-DFC8-4B43-A045-AB522FF5E674}"/>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404331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9D47B-2BDC-4EF9-AEE6-4C3EBC08CF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369BA18-19EC-45BC-A79C-FA87924E9A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89C145-EC25-45E8-8F71-0C6B999DF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150F4F-EB4A-4FF4-9570-B0428773AC8B}"/>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7579902-1D8B-45E1-9590-ACC4232962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1B7CD1-1E91-41AC-B562-22A10AA9B18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20465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C5E82-EDF4-45B8-849A-A6BDAED781F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158223-16E4-4600-9456-B701B66F7E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E94BA3-459C-42E9-8838-765D95B1758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CFEFDACB-73A9-48BD-BB89-6307904423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BE8F70-83B9-4DE2-B6C3-04BB4405071C}"/>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09136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6DCCE4-4877-48D6-A11D-F2258F91CC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76EED3-3CCE-4E4C-AB19-B381F90F07E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DA9827-18D4-4B85-ACD5-404A80D70D8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67CFEE7-8E70-44B3-B67B-2095302356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30CEA0-AC33-4CFF-84D3-425421F9E6D9}"/>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671551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2553958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14381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21624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363003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710524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07460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64201858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7631627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56740207"/>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302374986"/>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31753214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734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347991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741431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78707024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392112008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47247552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82842858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77855067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38028280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3455C0-832D-42B5-87CA-98983ACE7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F2D6243-D774-493B-A6CB-55BA5AC17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DB6C0E-2F8F-4954-AD0C-342D1686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FCB4F914-6D13-4D21-B73D-FFA3F0B9D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C55A3A-A704-474B-876D-9A80CCBAA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001298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48299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9.tmp"/></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12.tmp"/></Relationships>
</file>

<file path=ppt/slides/_rels/slide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60D80825-8C48-474D-87A6-364ABCC81FF0}"/>
              </a:ext>
            </a:extLst>
          </p:cNvPr>
          <p:cNvSpPr/>
          <p:nvPr/>
        </p:nvSpPr>
        <p:spPr>
          <a:xfrm>
            <a:off x="1" y="2698230"/>
            <a:ext cx="12192000" cy="17355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3" name="矩形 122">
            <a:extLst>
              <a:ext uri="{FF2B5EF4-FFF2-40B4-BE49-F238E27FC236}">
                <a16:creationId xmlns:a16="http://schemas.microsoft.com/office/drawing/2014/main" id="{A83A5D28-9D83-48F5-9E5A-9FE4B0EEFCD2}"/>
              </a:ext>
            </a:extLst>
          </p:cNvPr>
          <p:cNvSpPr/>
          <p:nvPr/>
        </p:nvSpPr>
        <p:spPr>
          <a:xfrm>
            <a:off x="1622712" y="3182291"/>
            <a:ext cx="8944132" cy="767390"/>
          </a:xfrm>
          <a:prstGeom prst="rect">
            <a:avLst/>
          </a:prstGeom>
        </p:spPr>
        <p:txBody>
          <a:bodyPr wrap="square">
            <a:spAutoFit/>
          </a:bodyPr>
          <a:lstStyle/>
          <a:p>
            <a:pPr algn="ctr">
              <a:lnSpc>
                <a:spcPct val="120000"/>
              </a:lnSpc>
              <a:defRPr sz="4000" b="1" spc="300">
                <a:solidFill>
                  <a:srgbClr val="FFFFFF"/>
                </a:solidFill>
                <a:latin typeface="Arial"/>
                <a:ea typeface="Arial"/>
                <a:cs typeface="Arial"/>
                <a:sym typeface="Arial"/>
              </a:defRPr>
            </a:pPr>
            <a:r>
              <a:rPr lang="en-US" altLang="zh-CN" dirty="0">
                <a:latin typeface="Microsoft YaHei"/>
                <a:ea typeface="Microsoft YaHei"/>
                <a:cs typeface="Microsoft YaHei"/>
                <a:sym typeface="Microsoft YaHei"/>
              </a:rPr>
              <a:t>2021</a:t>
            </a:r>
            <a:r>
              <a:rPr lang="zh-CN" altLang="en-US" dirty="0">
                <a:latin typeface="Microsoft YaHei"/>
                <a:ea typeface="Microsoft YaHei"/>
                <a:cs typeface="Microsoft YaHei"/>
                <a:sym typeface="Microsoft YaHei"/>
              </a:rPr>
              <a:t>数算四</a:t>
            </a:r>
            <a:r>
              <a:rPr lang="en-US" altLang="zh-CN" dirty="0">
                <a:latin typeface="Microsoft YaHei"/>
                <a:ea typeface="Microsoft YaHei"/>
                <a:cs typeface="Microsoft YaHei"/>
                <a:sym typeface="Microsoft YaHei"/>
              </a:rPr>
              <a:t>-</a:t>
            </a:r>
            <a:r>
              <a:rPr lang="zh-CN" altLang="en-US" dirty="0">
                <a:latin typeface="Microsoft YaHei"/>
                <a:ea typeface="Microsoft YaHei"/>
                <a:cs typeface="Microsoft YaHei"/>
                <a:sym typeface="Microsoft YaHei"/>
              </a:rPr>
              <a:t>六章习题课</a:t>
            </a:r>
          </a:p>
        </p:txBody>
      </p:sp>
      <p:grpSp>
        <p:nvGrpSpPr>
          <p:cNvPr id="119" name="组合 118">
            <a:extLst>
              <a:ext uri="{FF2B5EF4-FFF2-40B4-BE49-F238E27FC236}">
                <a16:creationId xmlns:a16="http://schemas.microsoft.com/office/drawing/2014/main" id="{6112D7F5-0BB5-439E-BE56-6514A6EF151C}"/>
              </a:ext>
            </a:extLst>
          </p:cNvPr>
          <p:cNvGrpSpPr/>
          <p:nvPr/>
        </p:nvGrpSpPr>
        <p:grpSpPr>
          <a:xfrm>
            <a:off x="5049188" y="326210"/>
            <a:ext cx="2093624" cy="2088742"/>
            <a:chOff x="2105799" y="20055838"/>
            <a:chExt cx="6748090" cy="6732363"/>
          </a:xfrm>
          <a:solidFill>
            <a:schemeClr val="accent1"/>
          </a:solidFill>
        </p:grpSpPr>
        <p:sp>
          <p:nvSpPr>
            <p:cNvPr id="120" name="Freeform 8">
              <a:extLst>
                <a:ext uri="{FF2B5EF4-FFF2-40B4-BE49-F238E27FC236}">
                  <a16:creationId xmlns:a16="http://schemas.microsoft.com/office/drawing/2014/main" id="{E2C71814-3CD5-4384-BD75-5B90DC1171A9}"/>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4" name="Freeform 42">
              <a:extLst>
                <a:ext uri="{FF2B5EF4-FFF2-40B4-BE49-F238E27FC236}">
                  <a16:creationId xmlns:a16="http://schemas.microsoft.com/office/drawing/2014/main" id="{26FE1644-E9DD-4D51-80EE-783310CEF052}"/>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5" name="Freeform 43">
              <a:extLst>
                <a:ext uri="{FF2B5EF4-FFF2-40B4-BE49-F238E27FC236}">
                  <a16:creationId xmlns:a16="http://schemas.microsoft.com/office/drawing/2014/main" id="{FD497158-79D6-46F7-966F-3425FA2B755F}"/>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6" name="Freeform 44">
              <a:extLst>
                <a:ext uri="{FF2B5EF4-FFF2-40B4-BE49-F238E27FC236}">
                  <a16:creationId xmlns:a16="http://schemas.microsoft.com/office/drawing/2014/main" id="{CFF5618C-E761-44F7-896F-4FE288C508CA}"/>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7" name="Freeform 45">
              <a:extLst>
                <a:ext uri="{FF2B5EF4-FFF2-40B4-BE49-F238E27FC236}">
                  <a16:creationId xmlns:a16="http://schemas.microsoft.com/office/drawing/2014/main" id="{D7446E18-F17A-4984-BCC6-B7E1F52DBA2C}"/>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8" name="Freeform 46">
              <a:extLst>
                <a:ext uri="{FF2B5EF4-FFF2-40B4-BE49-F238E27FC236}">
                  <a16:creationId xmlns:a16="http://schemas.microsoft.com/office/drawing/2014/main" id="{F6E61D19-7B2C-4497-B399-701EFE5F4B46}"/>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9" name="Freeform 47">
              <a:extLst>
                <a:ext uri="{FF2B5EF4-FFF2-40B4-BE49-F238E27FC236}">
                  <a16:creationId xmlns:a16="http://schemas.microsoft.com/office/drawing/2014/main" id="{7BAC70CB-898B-4A15-B1F7-C4CE85925914}"/>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0" name="Freeform 48">
              <a:extLst>
                <a:ext uri="{FF2B5EF4-FFF2-40B4-BE49-F238E27FC236}">
                  <a16:creationId xmlns:a16="http://schemas.microsoft.com/office/drawing/2014/main" id="{9F1A83BD-85A3-469B-AC00-6602A68BA1D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1" name="Freeform 49">
              <a:extLst>
                <a:ext uri="{FF2B5EF4-FFF2-40B4-BE49-F238E27FC236}">
                  <a16:creationId xmlns:a16="http://schemas.microsoft.com/office/drawing/2014/main" id="{F32EB500-90B0-4205-82ED-166B57C7E8B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2" name="Freeform 50">
              <a:extLst>
                <a:ext uri="{FF2B5EF4-FFF2-40B4-BE49-F238E27FC236}">
                  <a16:creationId xmlns:a16="http://schemas.microsoft.com/office/drawing/2014/main" id="{4F617127-BCBB-4A32-AAA8-36502E80FCF6}"/>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3" name="Freeform 51">
              <a:extLst>
                <a:ext uri="{FF2B5EF4-FFF2-40B4-BE49-F238E27FC236}">
                  <a16:creationId xmlns:a16="http://schemas.microsoft.com/office/drawing/2014/main" id="{897B8C90-DEB2-4158-B384-343B9267466E}"/>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4" name="Freeform 52">
              <a:extLst>
                <a:ext uri="{FF2B5EF4-FFF2-40B4-BE49-F238E27FC236}">
                  <a16:creationId xmlns:a16="http://schemas.microsoft.com/office/drawing/2014/main" id="{CB13675F-D179-44C4-BC0A-462F3976992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5" name="Freeform 53">
              <a:extLst>
                <a:ext uri="{FF2B5EF4-FFF2-40B4-BE49-F238E27FC236}">
                  <a16:creationId xmlns:a16="http://schemas.microsoft.com/office/drawing/2014/main" id="{E70B5CC0-D928-4EFD-B2C5-2F6F0CE8DBC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6" name="Freeform 54">
              <a:extLst>
                <a:ext uri="{FF2B5EF4-FFF2-40B4-BE49-F238E27FC236}">
                  <a16:creationId xmlns:a16="http://schemas.microsoft.com/office/drawing/2014/main" id="{4FBB0DCE-F889-4809-ACE2-3F2CF7BF726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7" name="Freeform 55">
              <a:extLst>
                <a:ext uri="{FF2B5EF4-FFF2-40B4-BE49-F238E27FC236}">
                  <a16:creationId xmlns:a16="http://schemas.microsoft.com/office/drawing/2014/main" id="{EFCD19A0-81A0-4BA3-B910-84F8654B5E34}"/>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8" name="Freeform 56">
              <a:extLst>
                <a:ext uri="{FF2B5EF4-FFF2-40B4-BE49-F238E27FC236}">
                  <a16:creationId xmlns:a16="http://schemas.microsoft.com/office/drawing/2014/main" id="{2CA3269D-9C7D-4B20-A5AE-325A8A0D4DB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9" name="Freeform 57">
              <a:extLst>
                <a:ext uri="{FF2B5EF4-FFF2-40B4-BE49-F238E27FC236}">
                  <a16:creationId xmlns:a16="http://schemas.microsoft.com/office/drawing/2014/main" id="{1B5FE221-3E48-4E96-B8E5-5FE1CD6CFF13}"/>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0" name="Freeform 58">
              <a:extLst>
                <a:ext uri="{FF2B5EF4-FFF2-40B4-BE49-F238E27FC236}">
                  <a16:creationId xmlns:a16="http://schemas.microsoft.com/office/drawing/2014/main" id="{0C80588D-DFE1-4FB4-962E-E3C92D9E11E7}"/>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1" name="Freeform 59">
              <a:extLst>
                <a:ext uri="{FF2B5EF4-FFF2-40B4-BE49-F238E27FC236}">
                  <a16:creationId xmlns:a16="http://schemas.microsoft.com/office/drawing/2014/main" id="{320EA19E-5EAD-4B80-911A-EBF3A28694B6}"/>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2" name="Freeform 60">
              <a:extLst>
                <a:ext uri="{FF2B5EF4-FFF2-40B4-BE49-F238E27FC236}">
                  <a16:creationId xmlns:a16="http://schemas.microsoft.com/office/drawing/2014/main" id="{CE249F1C-D798-4BD0-8FB9-089BB37E767F}"/>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3" name="Freeform 61">
              <a:extLst>
                <a:ext uri="{FF2B5EF4-FFF2-40B4-BE49-F238E27FC236}">
                  <a16:creationId xmlns:a16="http://schemas.microsoft.com/office/drawing/2014/main" id="{BC1A26E3-0AA5-4CA3-9984-A9FA381A1C0A}"/>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4" name="Freeform 62">
              <a:extLst>
                <a:ext uri="{FF2B5EF4-FFF2-40B4-BE49-F238E27FC236}">
                  <a16:creationId xmlns:a16="http://schemas.microsoft.com/office/drawing/2014/main" id="{019A6925-DD6B-4C29-B18F-663928AE5C79}"/>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5" name="Freeform 71">
              <a:extLst>
                <a:ext uri="{FF2B5EF4-FFF2-40B4-BE49-F238E27FC236}">
                  <a16:creationId xmlns:a16="http://schemas.microsoft.com/office/drawing/2014/main" id="{4E677B05-5C62-4629-A766-3F659E7E1A6A}"/>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2" name="文本框 1">
            <a:extLst>
              <a:ext uri="{FF2B5EF4-FFF2-40B4-BE49-F238E27FC236}">
                <a16:creationId xmlns:a16="http://schemas.microsoft.com/office/drawing/2014/main" id="{4803BD50-60D5-1E4D-AB2A-3FB1716057C4}"/>
              </a:ext>
            </a:extLst>
          </p:cNvPr>
          <p:cNvSpPr txBox="1"/>
          <p:nvPr/>
        </p:nvSpPr>
        <p:spPr>
          <a:xfrm>
            <a:off x="2429177" y="5719230"/>
            <a:ext cx="7572778" cy="943528"/>
          </a:xfrm>
          <a:prstGeom prst="rect">
            <a:avLst/>
          </a:prstGeom>
          <a:noFill/>
        </p:spPr>
        <p:txBody>
          <a:bodyPr wrap="square" rtlCol="0">
            <a:spAutoFit/>
          </a:bodyPr>
          <a:lstStyle/>
          <a:p>
            <a:pPr algn="ct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周雨奇（助教） </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gn="ctr">
              <a:lnSpc>
                <a:spcPct val="150000"/>
              </a:lnSpc>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zhouyuqi@pku.edu.cn</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10185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0"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1536511"/>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求字符串的</a:t>
            </a:r>
            <a:r>
              <a:rPr lang="en-US" altLang="zh-CN" sz="2200" kern="100" dirty="0">
                <a:latin typeface="宋体" panose="02010600030101010101" pitchFamily="2" charset="-122"/>
                <a:ea typeface="宋体" panose="02010600030101010101" pitchFamily="2" charset="-122"/>
              </a:rPr>
              <a:t>next</a:t>
            </a:r>
            <a:r>
              <a:rPr lang="zh-CN" altLang="en-US" sz="2200" kern="100" dirty="0">
                <a:latin typeface="宋体" panose="02010600030101010101" pitchFamily="2" charset="-122"/>
                <a:ea typeface="宋体" panose="02010600030101010101" pitchFamily="2" charset="-122"/>
              </a:rPr>
              <a:t>数组。</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t=’</a:t>
            </a:r>
            <a:r>
              <a:rPr lang="en-US" altLang="zh-CN" sz="2200" kern="100" dirty="0" err="1">
                <a:latin typeface="宋体" panose="02010600030101010101" pitchFamily="2" charset="-122"/>
                <a:ea typeface="宋体" panose="02010600030101010101" pitchFamily="2" charset="-122"/>
              </a:rPr>
              <a:t>abcdaabcddaba</a:t>
            </a:r>
            <a:r>
              <a:rPr lang="en-US" altLang="zh-CN" sz="2200" kern="100" dirty="0">
                <a:latin typeface="宋体" panose="02010600030101010101" pitchFamily="2" charset="-122"/>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s=’XYYXYZXZXYYXZ’</a:t>
            </a:r>
          </a:p>
        </p:txBody>
      </p:sp>
      <p:graphicFrame>
        <p:nvGraphicFramePr>
          <p:cNvPr id="5" name="表格 4">
            <a:extLst>
              <a:ext uri="{FF2B5EF4-FFF2-40B4-BE49-F238E27FC236}">
                <a16:creationId xmlns:a16="http://schemas.microsoft.com/office/drawing/2014/main" id="{AC11F8B9-21EA-416C-92A4-187630486A18}"/>
              </a:ext>
            </a:extLst>
          </p:cNvPr>
          <p:cNvGraphicFramePr>
            <a:graphicFrameLocks noGrp="1"/>
          </p:cNvGraphicFramePr>
          <p:nvPr>
            <p:extLst>
              <p:ext uri="{D42A27DB-BD31-4B8C-83A1-F6EECF244321}">
                <p14:modId xmlns:p14="http://schemas.microsoft.com/office/powerpoint/2010/main" val="3675527064"/>
              </p:ext>
            </p:extLst>
          </p:nvPr>
        </p:nvGraphicFramePr>
        <p:xfrm>
          <a:off x="1133396" y="3088786"/>
          <a:ext cx="8418176" cy="1332015"/>
        </p:xfrm>
        <a:graphic>
          <a:graphicData uri="http://schemas.openxmlformats.org/drawingml/2006/table">
            <a:tbl>
              <a:tblPr firstRow="1" firstCol="1" bandRow="1">
                <a:tableStyleId>{5C22544A-7EE6-4342-B048-85BDC9FD1C3A}</a:tableStyleId>
              </a:tblPr>
              <a:tblGrid>
                <a:gridCol w="774604">
                  <a:extLst>
                    <a:ext uri="{9D8B030D-6E8A-4147-A177-3AD203B41FA5}">
                      <a16:colId xmlns:a16="http://schemas.microsoft.com/office/drawing/2014/main" val="1290026391"/>
                    </a:ext>
                  </a:extLst>
                </a:gridCol>
                <a:gridCol w="504000">
                  <a:extLst>
                    <a:ext uri="{9D8B030D-6E8A-4147-A177-3AD203B41FA5}">
                      <a16:colId xmlns:a16="http://schemas.microsoft.com/office/drawing/2014/main" val="2764966708"/>
                    </a:ext>
                  </a:extLst>
                </a:gridCol>
                <a:gridCol w="585552">
                  <a:extLst>
                    <a:ext uri="{9D8B030D-6E8A-4147-A177-3AD203B41FA5}">
                      <a16:colId xmlns:a16="http://schemas.microsoft.com/office/drawing/2014/main" val="1556785861"/>
                    </a:ext>
                  </a:extLst>
                </a:gridCol>
                <a:gridCol w="494448">
                  <a:extLst>
                    <a:ext uri="{9D8B030D-6E8A-4147-A177-3AD203B41FA5}">
                      <a16:colId xmlns:a16="http://schemas.microsoft.com/office/drawing/2014/main" val="2795725986"/>
                    </a:ext>
                  </a:extLst>
                </a:gridCol>
                <a:gridCol w="546247">
                  <a:extLst>
                    <a:ext uri="{9D8B030D-6E8A-4147-A177-3AD203B41FA5}">
                      <a16:colId xmlns:a16="http://schemas.microsoft.com/office/drawing/2014/main" val="1595410572"/>
                    </a:ext>
                  </a:extLst>
                </a:gridCol>
                <a:gridCol w="611282">
                  <a:extLst>
                    <a:ext uri="{9D8B030D-6E8A-4147-A177-3AD203B41FA5}">
                      <a16:colId xmlns:a16="http://schemas.microsoft.com/office/drawing/2014/main" val="3021278573"/>
                    </a:ext>
                  </a:extLst>
                </a:gridCol>
                <a:gridCol w="611282">
                  <a:extLst>
                    <a:ext uri="{9D8B030D-6E8A-4147-A177-3AD203B41FA5}">
                      <a16:colId xmlns:a16="http://schemas.microsoft.com/office/drawing/2014/main" val="2132290003"/>
                    </a:ext>
                  </a:extLst>
                </a:gridCol>
                <a:gridCol w="611282">
                  <a:extLst>
                    <a:ext uri="{9D8B030D-6E8A-4147-A177-3AD203B41FA5}">
                      <a16:colId xmlns:a16="http://schemas.microsoft.com/office/drawing/2014/main" val="3657125384"/>
                    </a:ext>
                  </a:extLst>
                </a:gridCol>
                <a:gridCol w="586307">
                  <a:extLst>
                    <a:ext uri="{9D8B030D-6E8A-4147-A177-3AD203B41FA5}">
                      <a16:colId xmlns:a16="http://schemas.microsoft.com/office/drawing/2014/main" val="1808195536"/>
                    </a:ext>
                  </a:extLst>
                </a:gridCol>
                <a:gridCol w="639625">
                  <a:extLst>
                    <a:ext uri="{9D8B030D-6E8A-4147-A177-3AD203B41FA5}">
                      <a16:colId xmlns:a16="http://schemas.microsoft.com/office/drawing/2014/main" val="3095841650"/>
                    </a:ext>
                  </a:extLst>
                </a:gridCol>
                <a:gridCol w="614650">
                  <a:extLst>
                    <a:ext uri="{9D8B030D-6E8A-4147-A177-3AD203B41FA5}">
                      <a16:colId xmlns:a16="http://schemas.microsoft.com/office/drawing/2014/main" val="1202923114"/>
                    </a:ext>
                  </a:extLst>
                </a:gridCol>
                <a:gridCol w="614650">
                  <a:extLst>
                    <a:ext uri="{9D8B030D-6E8A-4147-A177-3AD203B41FA5}">
                      <a16:colId xmlns:a16="http://schemas.microsoft.com/office/drawing/2014/main" val="1456180847"/>
                    </a:ext>
                  </a:extLst>
                </a:gridCol>
                <a:gridCol w="614650">
                  <a:extLst>
                    <a:ext uri="{9D8B030D-6E8A-4147-A177-3AD203B41FA5}">
                      <a16:colId xmlns:a16="http://schemas.microsoft.com/office/drawing/2014/main" val="118399946"/>
                    </a:ext>
                  </a:extLst>
                </a:gridCol>
                <a:gridCol w="609597">
                  <a:extLst>
                    <a:ext uri="{9D8B030D-6E8A-4147-A177-3AD203B41FA5}">
                      <a16:colId xmlns:a16="http://schemas.microsoft.com/office/drawing/2014/main" val="4191612778"/>
                    </a:ext>
                  </a:extLst>
                </a:gridCol>
              </a:tblGrid>
              <a:tr h="444005">
                <a:tc>
                  <a:txBody>
                    <a:bodyPr/>
                    <a:lstStyle/>
                    <a:p>
                      <a:pPr algn="l">
                        <a:spcAft>
                          <a:spcPts val="0"/>
                        </a:spcAft>
                      </a:pPr>
                      <a:r>
                        <a:rPr lang="en-US" sz="1000" kern="100">
                          <a:effectLst/>
                        </a:rPr>
                        <a:t>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1</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2</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5</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6</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7</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8</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9</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50235545"/>
                  </a:ext>
                </a:extLst>
              </a:tr>
              <a:tr h="444005">
                <a:tc>
                  <a:txBody>
                    <a:bodyPr/>
                    <a:lstStyle/>
                    <a:p>
                      <a:pPr algn="l">
                        <a:spcAft>
                          <a:spcPts val="0"/>
                        </a:spcAft>
                      </a:pPr>
                      <a:r>
                        <a:rPr lang="en-US" sz="1000" kern="100">
                          <a:effectLst/>
                        </a:rPr>
                        <a:t>t[j]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b</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c</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d</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b</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c</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d</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d</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b</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a</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86844408"/>
                  </a:ext>
                </a:extLst>
              </a:tr>
              <a:tr h="444005">
                <a:tc>
                  <a:txBody>
                    <a:bodyPr/>
                    <a:lstStyle/>
                    <a:p>
                      <a:pPr algn="l">
                        <a:spcAft>
                          <a:spcPts val="0"/>
                        </a:spcAft>
                      </a:pPr>
                      <a:r>
                        <a:rPr lang="en-US" sz="1000" kern="100">
                          <a:effectLst/>
                        </a:rPr>
                        <a:t>next[j]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1</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2</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33632362"/>
                  </a:ext>
                </a:extLst>
              </a:tr>
            </a:tbl>
          </a:graphicData>
        </a:graphic>
      </p:graphicFrame>
      <p:graphicFrame>
        <p:nvGraphicFramePr>
          <p:cNvPr id="7" name="表格 6">
            <a:extLst>
              <a:ext uri="{FF2B5EF4-FFF2-40B4-BE49-F238E27FC236}">
                <a16:creationId xmlns:a16="http://schemas.microsoft.com/office/drawing/2014/main" id="{301E4175-A34B-4609-B69D-1D8AF13BD44A}"/>
              </a:ext>
            </a:extLst>
          </p:cNvPr>
          <p:cNvGraphicFramePr>
            <a:graphicFrameLocks noGrp="1"/>
          </p:cNvGraphicFramePr>
          <p:nvPr>
            <p:extLst>
              <p:ext uri="{D42A27DB-BD31-4B8C-83A1-F6EECF244321}">
                <p14:modId xmlns:p14="http://schemas.microsoft.com/office/powerpoint/2010/main" val="1015237652"/>
              </p:ext>
            </p:extLst>
          </p:nvPr>
        </p:nvGraphicFramePr>
        <p:xfrm>
          <a:off x="1133396" y="4641138"/>
          <a:ext cx="8418178" cy="1236516"/>
        </p:xfrm>
        <a:graphic>
          <a:graphicData uri="http://schemas.openxmlformats.org/drawingml/2006/table">
            <a:tbl>
              <a:tblPr firstRow="1" firstCol="1" bandRow="1">
                <a:tableStyleId>{5C22544A-7EE6-4342-B048-85BDC9FD1C3A}</a:tableStyleId>
              </a:tblPr>
              <a:tblGrid>
                <a:gridCol w="779523">
                  <a:extLst>
                    <a:ext uri="{9D8B030D-6E8A-4147-A177-3AD203B41FA5}">
                      <a16:colId xmlns:a16="http://schemas.microsoft.com/office/drawing/2014/main" val="329998795"/>
                    </a:ext>
                  </a:extLst>
                </a:gridCol>
                <a:gridCol w="510141">
                  <a:extLst>
                    <a:ext uri="{9D8B030D-6E8A-4147-A177-3AD203B41FA5}">
                      <a16:colId xmlns:a16="http://schemas.microsoft.com/office/drawing/2014/main" val="3137159399"/>
                    </a:ext>
                  </a:extLst>
                </a:gridCol>
                <a:gridCol w="575803">
                  <a:extLst>
                    <a:ext uri="{9D8B030D-6E8A-4147-A177-3AD203B41FA5}">
                      <a16:colId xmlns:a16="http://schemas.microsoft.com/office/drawing/2014/main" val="3998757700"/>
                    </a:ext>
                  </a:extLst>
                </a:gridCol>
                <a:gridCol w="536337">
                  <a:extLst>
                    <a:ext uri="{9D8B030D-6E8A-4147-A177-3AD203B41FA5}">
                      <a16:colId xmlns:a16="http://schemas.microsoft.com/office/drawing/2014/main" val="2859332852"/>
                    </a:ext>
                  </a:extLst>
                </a:gridCol>
                <a:gridCol w="743225">
                  <a:extLst>
                    <a:ext uri="{9D8B030D-6E8A-4147-A177-3AD203B41FA5}">
                      <a16:colId xmlns:a16="http://schemas.microsoft.com/office/drawing/2014/main" val="1421052966"/>
                    </a:ext>
                  </a:extLst>
                </a:gridCol>
                <a:gridCol w="585905">
                  <a:extLst>
                    <a:ext uri="{9D8B030D-6E8A-4147-A177-3AD203B41FA5}">
                      <a16:colId xmlns:a16="http://schemas.microsoft.com/office/drawing/2014/main" val="2869966317"/>
                    </a:ext>
                  </a:extLst>
                </a:gridCol>
                <a:gridCol w="584222">
                  <a:extLst>
                    <a:ext uri="{9D8B030D-6E8A-4147-A177-3AD203B41FA5}">
                      <a16:colId xmlns:a16="http://schemas.microsoft.com/office/drawing/2014/main" val="1824369144"/>
                    </a:ext>
                  </a:extLst>
                </a:gridCol>
                <a:gridCol w="584222">
                  <a:extLst>
                    <a:ext uri="{9D8B030D-6E8A-4147-A177-3AD203B41FA5}">
                      <a16:colId xmlns:a16="http://schemas.microsoft.com/office/drawing/2014/main" val="1937400497"/>
                    </a:ext>
                  </a:extLst>
                </a:gridCol>
                <a:gridCol w="584222">
                  <a:extLst>
                    <a:ext uri="{9D8B030D-6E8A-4147-A177-3AD203B41FA5}">
                      <a16:colId xmlns:a16="http://schemas.microsoft.com/office/drawing/2014/main" val="3142372681"/>
                    </a:ext>
                  </a:extLst>
                </a:gridCol>
                <a:gridCol w="587589">
                  <a:extLst>
                    <a:ext uri="{9D8B030D-6E8A-4147-A177-3AD203B41FA5}">
                      <a16:colId xmlns:a16="http://schemas.microsoft.com/office/drawing/2014/main" val="1691859966"/>
                    </a:ext>
                  </a:extLst>
                </a:gridCol>
                <a:gridCol w="587589">
                  <a:extLst>
                    <a:ext uri="{9D8B030D-6E8A-4147-A177-3AD203B41FA5}">
                      <a16:colId xmlns:a16="http://schemas.microsoft.com/office/drawing/2014/main" val="4076007384"/>
                    </a:ext>
                  </a:extLst>
                </a:gridCol>
                <a:gridCol w="587589">
                  <a:extLst>
                    <a:ext uri="{9D8B030D-6E8A-4147-A177-3AD203B41FA5}">
                      <a16:colId xmlns:a16="http://schemas.microsoft.com/office/drawing/2014/main" val="4017779818"/>
                    </a:ext>
                  </a:extLst>
                </a:gridCol>
                <a:gridCol w="587589">
                  <a:extLst>
                    <a:ext uri="{9D8B030D-6E8A-4147-A177-3AD203B41FA5}">
                      <a16:colId xmlns:a16="http://schemas.microsoft.com/office/drawing/2014/main" val="3084252444"/>
                    </a:ext>
                  </a:extLst>
                </a:gridCol>
                <a:gridCol w="584222">
                  <a:extLst>
                    <a:ext uri="{9D8B030D-6E8A-4147-A177-3AD203B41FA5}">
                      <a16:colId xmlns:a16="http://schemas.microsoft.com/office/drawing/2014/main" val="3386564584"/>
                    </a:ext>
                  </a:extLst>
                </a:gridCol>
              </a:tblGrid>
              <a:tr h="412172">
                <a:tc>
                  <a:txBody>
                    <a:bodyPr/>
                    <a:lstStyle/>
                    <a:p>
                      <a:pPr algn="l">
                        <a:spcAft>
                          <a:spcPts val="0"/>
                        </a:spcAft>
                      </a:pPr>
                      <a:r>
                        <a:rPr lang="en-US" sz="1000" kern="100">
                          <a:effectLst/>
                        </a:rPr>
                        <a:t>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5</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6</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7</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8</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9</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65427674"/>
                  </a:ext>
                </a:extLst>
              </a:tr>
              <a:tr h="412172">
                <a:tc>
                  <a:txBody>
                    <a:bodyPr/>
                    <a:lstStyle/>
                    <a:p>
                      <a:pPr algn="l">
                        <a:spcAft>
                          <a:spcPts val="0"/>
                        </a:spcAft>
                      </a:pPr>
                      <a:r>
                        <a:rPr lang="en-US" sz="1000" kern="100">
                          <a:effectLst/>
                        </a:rPr>
                        <a:t>s[j]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X</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Y</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Y</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X</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Y</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Z</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X</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Z</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X</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Y</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Y</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X</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Z</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42810216"/>
                  </a:ext>
                </a:extLst>
              </a:tr>
              <a:tr h="412172">
                <a:tc>
                  <a:txBody>
                    <a:bodyPr/>
                    <a:lstStyle/>
                    <a:p>
                      <a:pPr algn="l">
                        <a:spcAft>
                          <a:spcPts val="0"/>
                        </a:spcAft>
                      </a:pPr>
                      <a:r>
                        <a:rPr lang="en-US" sz="1000" kern="100">
                          <a:effectLst/>
                        </a:rPr>
                        <a:t>next[j]</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0</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a:effectLst/>
                        </a:rPr>
                        <a:t>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2</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3</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l">
                        <a:spcAft>
                          <a:spcPts val="0"/>
                        </a:spcAft>
                      </a:pPr>
                      <a:r>
                        <a:rPr lang="en-US" sz="1000" kern="100" dirty="0">
                          <a:effectLst/>
                        </a:rPr>
                        <a:t>4</a:t>
                      </a:r>
                      <a:endParaRPr lang="zh-CN" sz="1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15384321"/>
                  </a:ext>
                </a:extLst>
              </a:tr>
            </a:tbl>
          </a:graphicData>
        </a:graphic>
      </p:graphicFrame>
      <p:sp>
        <p:nvSpPr>
          <p:cNvPr id="8" name="Rectangle 1">
            <a:extLst>
              <a:ext uri="{FF2B5EF4-FFF2-40B4-BE49-F238E27FC236}">
                <a16:creationId xmlns:a16="http://schemas.microsoft.com/office/drawing/2014/main" id="{6B197DAB-4EFE-490D-997F-E1382BEA7337}"/>
              </a:ext>
            </a:extLst>
          </p:cNvPr>
          <p:cNvSpPr>
            <a:spLocks noChangeArrowheads="1"/>
          </p:cNvSpPr>
          <p:nvPr/>
        </p:nvSpPr>
        <p:spPr bwMode="auto">
          <a:xfrm>
            <a:off x="1133397" y="4675518"/>
            <a:ext cx="9760203" cy="1177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62746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dirty="0">
                <a:sym typeface="Arial" panose="020B0604020202020204" pitchFamily="34" charset="0"/>
              </a:rPr>
              <a:t>&lt; </a:t>
            </a:r>
            <a:fld id="{A548B57D-AE10-4CF7-A9DF-59FEFA91B28E}" type="slidenum">
              <a:rPr lang="zh-CN" altLang="en-US" smtClean="0">
                <a:sym typeface="Arial" panose="020B0604020202020204" pitchFamily="34" charset="0"/>
              </a:rPr>
              <a:pPr/>
              <a:t>3</a:t>
            </a:fld>
            <a:r>
              <a:rPr lang="zh-CN" altLang="en-US" dirty="0">
                <a:sym typeface="Arial" panose="020B0604020202020204" pitchFamily="34" charset="0"/>
              </a:rPr>
              <a:t> </a:t>
            </a:r>
            <a:r>
              <a:rPr lang="en-US" altLang="zh-CN" dirty="0">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868236" y="1266839"/>
                <a:ext cx="10142708" cy="4017125"/>
              </a:xfrm>
              <a:prstGeom prst="rect">
                <a:avLst/>
              </a:prstGeom>
            </p:spPr>
            <p:txBody>
              <a:bodyPr wrap="square">
                <a:spAutoFit/>
              </a:bodyPr>
              <a:lstStyle/>
              <a:p>
                <a:pPr>
                  <a:lnSpc>
                    <a:spcPct val="150000"/>
                  </a:lnSpc>
                </a:pPr>
                <a:r>
                  <a:rPr lang="en-US" altLang="zh-CN" sz="2200" kern="100" dirty="0">
                    <a:latin typeface="宋体" panose="02010600030101010101" pitchFamily="2" charset="-122"/>
                    <a:ea typeface="宋体" panose="02010600030101010101" pitchFamily="2" charset="-122"/>
                  </a:rPr>
                  <a:t>2.</a:t>
                </a:r>
                <a:r>
                  <a:rPr lang="zh-CN" altLang="en-US" kern="100" dirty="0">
                    <a:latin typeface="宋体" panose="02010600030101010101" pitchFamily="2" charset="-122"/>
                    <a:ea typeface="宋体" panose="02010600030101010101" pitchFamily="2" charset="-122"/>
                  </a:rPr>
                  <a:t>求</a:t>
                </a:r>
                <a:r>
                  <a:rPr lang="zh-CN" altLang="zh-CN" dirty="0">
                    <a:latin typeface="宋体" panose="02010600030101010101" pitchFamily="2" charset="-122"/>
                    <a:ea typeface="宋体" panose="02010600030101010101" pitchFamily="2" charset="-122"/>
                  </a:rPr>
                  <a:t>已知长度为</a:t>
                </a:r>
                <a:r>
                  <a:rPr lang="en-US" altLang="zh-CN" dirty="0">
                    <a:latin typeface="宋体" panose="02010600030101010101" pitchFamily="2" charset="-122"/>
                    <a:ea typeface="宋体" panose="02010600030101010101" pitchFamily="2" charset="-122"/>
                  </a:rPr>
                  <a:t>m</a:t>
                </a:r>
                <a:r>
                  <a:rPr lang="zh-CN" altLang="zh-CN" dirty="0">
                    <a:latin typeface="宋体" panose="02010600030101010101" pitchFamily="2" charset="-122"/>
                    <a:ea typeface="宋体" panose="02010600030101010101" pitchFamily="2" charset="-122"/>
                  </a:rPr>
                  <a:t>的字符串</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和长度为</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的字符串</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n&gt;m</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S=PT</a:t>
                </a:r>
                <a:r>
                  <a:rPr lang="zh-CN" altLang="zh-CN" dirty="0">
                    <a:latin typeface="宋体" panose="02010600030101010101" pitchFamily="2" charset="-122"/>
                    <a:ea typeface="宋体" panose="02010600030101010101" pitchFamily="2" charset="-122"/>
                  </a:rPr>
                  <a:t>（由</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连接形成的长度为</a:t>
                </a:r>
                <a:r>
                  <a:rPr lang="en-US" altLang="zh-CN" dirty="0" err="1">
                    <a:latin typeface="宋体" panose="02010600030101010101" pitchFamily="2" charset="-122"/>
                    <a:ea typeface="宋体" panose="02010600030101010101" pitchFamily="2" charset="-122"/>
                  </a:rPr>
                  <a:t>m+n</a:t>
                </a:r>
                <a:r>
                  <a:rPr lang="zh-CN" altLang="zh-CN" dirty="0">
                    <a:latin typeface="宋体" panose="02010600030101010101" pitchFamily="2" charset="-122"/>
                    <a:ea typeface="宋体" panose="02010600030101010101" pitchFamily="2" charset="-122"/>
                  </a:rPr>
                  <a:t>的字符串），类似于</a:t>
                </a:r>
                <a14:m>
                  <m:oMath xmlns:m="http://schemas.openxmlformats.org/officeDocument/2006/math">
                    <m:r>
                      <a:rPr lang="en-US" altLang="zh-CN" i="1">
                        <a:latin typeface="Cambria Math" panose="02040503050406030204" pitchFamily="18" charset="0"/>
                      </a:rPr>
                      <m:t>𝑛𝑒𝑥𝑡</m:t>
                    </m:r>
                  </m:oMath>
                </a14:m>
                <a:r>
                  <a:rPr lang="zh-CN" altLang="zh-CN" dirty="0">
                    <a:latin typeface="宋体" panose="02010600030101010101" pitchFamily="2" charset="-122"/>
                    <a:ea typeface="宋体" panose="02010600030101010101" pitchFamily="2" charset="-122"/>
                  </a:rPr>
                  <a:t>数组，在</a:t>
                </a:r>
                <a:r>
                  <a:rPr lang="en-US" altLang="zh-CN" dirty="0">
                    <a:latin typeface="宋体" panose="02010600030101010101" pitchFamily="2" charset="-122"/>
                    <a:ea typeface="宋体" panose="02010600030101010101" pitchFamily="2" charset="-122"/>
                  </a:rPr>
                  <a:t>S</a:t>
                </a:r>
                <a:r>
                  <a:rPr lang="zh-CN" altLang="zh-CN" dirty="0">
                    <a:latin typeface="宋体" panose="02010600030101010101" pitchFamily="2" charset="-122"/>
                    <a:ea typeface="宋体" panose="02010600030101010101" pitchFamily="2" charset="-122"/>
                  </a:rPr>
                  <a:t>上定义</a:t>
                </a:r>
                <a14:m>
                  <m:oMath xmlns:m="http://schemas.openxmlformats.org/officeDocument/2006/math">
                    <m:r>
                      <a:rPr lang="en-US" altLang="zh-CN" i="1">
                        <a:latin typeface="Cambria Math" panose="02040503050406030204" pitchFamily="18" charset="0"/>
                      </a:rPr>
                      <m:t>𝑛𝑒𝑥𝑡𝑠𝑒𝑡</m:t>
                    </m:r>
                  </m:oMath>
                </a14:m>
                <a:r>
                  <a:rPr lang="zh-CN" altLang="zh-CN" dirty="0">
                    <a:latin typeface="宋体" panose="02010600030101010101" pitchFamily="2" charset="-122"/>
                    <a:ea typeface="宋体" panose="02010600030101010101" pitchFamily="2" charset="-122"/>
                  </a:rPr>
                  <a:t>数组，定义</a:t>
                </a:r>
                <a14:m>
                  <m:oMath xmlns:m="http://schemas.openxmlformats.org/officeDocument/2006/math">
                    <m:r>
                      <a:rPr lang="en-US" altLang="zh-CN" i="1">
                        <a:latin typeface="Cambria Math" panose="02040503050406030204" pitchFamily="18" charset="0"/>
                      </a:rPr>
                      <m:t>𝑛𝑒𝑥𝑡𝑠𝑒𝑡</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𝑖</m:t>
                        </m:r>
                      </m:e>
                    </m:d>
                    <m:d>
                      <m:dPr>
                        <m:ctrlPr>
                          <a:rPr lang="zh-CN" altLang="zh-CN" i="1">
                            <a:latin typeface="Cambria Math" panose="02040503050406030204" pitchFamily="18" charset="0"/>
                          </a:rPr>
                        </m:ctrlPr>
                      </m:dPr>
                      <m:e>
                        <m:r>
                          <a:rPr lang="en-US" altLang="zh-CN" i="1">
                            <a:latin typeface="Cambria Math" panose="02040503050406030204" pitchFamily="18" charset="0"/>
                          </a:rPr>
                          <m:t>0</m:t>
                        </m:r>
                        <m:r>
                          <a:rPr lang="zh-CN"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&lt;</m:t>
                        </m:r>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𝑛</m:t>
                        </m:r>
                      </m:e>
                    </m:d>
                  </m:oMath>
                </a14:m>
                <a:r>
                  <a:rPr lang="zh-CN" altLang="zh-CN" dirty="0">
                    <a:latin typeface="宋体" panose="02010600030101010101" pitchFamily="2" charset="-122"/>
                    <a:ea typeface="宋体" panose="02010600030101010101" pitchFamily="2" charset="-122"/>
                  </a:rPr>
                  <a:t>如下</a:t>
                </a:r>
                <a:r>
                  <a:rPr lang="en-US" altLang="zh-CN" dirty="0">
                    <a:latin typeface="宋体" panose="02010600030101010101" pitchFamily="2" charset="-122"/>
                    <a:ea typeface="宋体" panose="02010600030101010101" pitchFamily="2" charset="-122"/>
                  </a:rPr>
                  <a:t>,</a:t>
                </a:r>
                <a:endParaRPr lang="zh-CN" altLang="zh-CN" dirty="0">
                  <a:latin typeface="宋体" panose="02010600030101010101" pitchFamily="2" charset="-122"/>
                  <a:ea typeface="宋体" panose="02010600030101010101" pitchFamily="2"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𝑛𝑒𝑥𝑡𝑠𝑒𝑡</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𝑘</m:t>
                              </m:r>
                              <m:r>
                                <a:rPr lang="en-US" altLang="zh-CN" i="1">
                                  <a:latin typeface="Cambria Math" panose="02040503050406030204" pitchFamily="18" charset="0"/>
                                </a:rPr>
                                <m:t> </m:t>
                              </m:r>
                            </m:e>
                          </m:d>
                          <m:r>
                            <a:rPr lang="en-US" altLang="zh-CN" i="1">
                              <a:latin typeface="Cambria Math" panose="02040503050406030204" pitchFamily="18" charset="0"/>
                            </a:rPr>
                            <m:t> </m:t>
                          </m:r>
                          <m:eqArr>
                            <m:eqArrPr>
                              <m:ctrlPr>
                                <a:rPr lang="zh-CN" altLang="zh-CN" i="1">
                                  <a:latin typeface="Cambria Math" panose="02040503050406030204" pitchFamily="18" charset="0"/>
                                </a:rPr>
                              </m:ctrlPr>
                            </m:eqArr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−1</m:t>
                                  </m:r>
                                </m:e>
                              </m:d>
                              <m:r>
                                <a:rPr lang="en-US" altLang="zh-CN" i="1">
                                  <a:latin typeface="Cambria Math" panose="02040503050406030204" pitchFamily="18" charset="0"/>
                                </a:rPr>
                                <m:t>,  </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𝑖</m:t>
                              </m:r>
                              <m:r>
                                <a:rPr lang="en-US" altLang="zh-CN" i="1">
                                  <a:latin typeface="Cambria Math" panose="02040503050406030204" pitchFamily="18" charset="0"/>
                                </a:rPr>
                                <m:t>=0</m:t>
                              </m:r>
                            </m:e>
                            <m:e>
                              <m:r>
                                <a:rPr lang="en-US" altLang="zh-CN" i="1">
                                  <a:latin typeface="Cambria Math" panose="02040503050406030204" pitchFamily="18" charset="0"/>
                                </a:rPr>
                                <m:t>0&lt;</m:t>
                              </m:r>
                              <m:r>
                                <a:rPr lang="en-US" altLang="zh-CN" i="1">
                                  <a:latin typeface="Cambria Math" panose="02040503050406030204" pitchFamily="18" charset="0"/>
                                </a:rPr>
                                <m:t>𝑘</m:t>
                              </m:r>
                              <m:r>
                                <a:rPr lang="en-US" altLang="zh-CN" i="1">
                                  <a:latin typeface="Cambria Math" panose="02040503050406030204" pitchFamily="18" charset="0"/>
                                </a:rPr>
                                <m:t>&lt;</m:t>
                              </m:r>
                              <m:r>
                                <a:rPr lang="en-US" altLang="zh-CN" i="1">
                                  <a:latin typeface="Cambria Math" panose="02040503050406030204" pitchFamily="18" charset="0"/>
                                </a:rPr>
                                <m:t>𝑖</m:t>
                              </m:r>
                              <m:r>
                                <a:rPr lang="en-US" altLang="zh-CN" i="1">
                                  <a:latin typeface="Cambria Math" panose="02040503050406030204" pitchFamily="18" charset="0"/>
                                </a:rPr>
                                <m:t> , </m:t>
                              </m:r>
                              <m:r>
                                <a:rPr lang="en-US" altLang="zh-CN" i="1">
                                  <a:latin typeface="Cambria Math" panose="02040503050406030204" pitchFamily="18" charset="0"/>
                                </a:rPr>
                                <m:t>𝑆</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0…</m:t>
                                  </m:r>
                                  <m:d>
                                    <m:dPr>
                                      <m:ctrlPr>
                                        <a:rPr lang="zh-CN" altLang="zh-CN" i="1">
                                          <a:latin typeface="Cambria Math" panose="02040503050406030204" pitchFamily="18" charset="0"/>
                                        </a:rPr>
                                      </m:ctrlPr>
                                    </m:dPr>
                                    <m:e>
                                      <m:r>
                                        <a:rPr lang="en-US" altLang="zh-CN" i="1">
                                          <a:latin typeface="Cambria Math" panose="02040503050406030204" pitchFamily="18" charset="0"/>
                                        </a:rPr>
                                        <m:t>𝑘</m:t>
                                      </m:r>
                                      <m:r>
                                        <a:rPr lang="en-US" altLang="zh-CN" i="1">
                                          <a:latin typeface="Cambria Math" panose="02040503050406030204" pitchFamily="18" charset="0"/>
                                        </a:rPr>
                                        <m:t>−1</m:t>
                                      </m:r>
                                    </m:e>
                                  </m:d>
                                </m:e>
                              </m:d>
                              <m:r>
                                <a:rPr lang="en-US" altLang="zh-CN" i="1">
                                  <a:latin typeface="Cambria Math" panose="02040503050406030204" pitchFamily="18" charset="0"/>
                                </a:rPr>
                                <m:t>=</m:t>
                              </m:r>
                              <m:r>
                                <a:rPr lang="en-US" altLang="zh-CN" i="1">
                                  <a:latin typeface="Cambria Math" panose="02040503050406030204" pitchFamily="18" charset="0"/>
                                </a:rPr>
                                <m:t>𝑆</m:t>
                              </m:r>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𝑘</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e>
                              </m:d>
                              <m:r>
                                <a:rPr lang="en-US" altLang="zh-CN" i="1">
                                  <a:latin typeface="Cambria Math" panose="02040503050406030204" pitchFamily="18" charset="0"/>
                                </a:rPr>
                                <m:t>,</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𝑘</m:t>
                              </m:r>
                              <m:r>
                                <a:rPr lang="en-US" altLang="zh-CN" i="1">
                                  <a:latin typeface="Cambria Math" panose="02040503050406030204" pitchFamily="18" charset="0"/>
                                </a:rPr>
                                <m:t> </m:t>
                              </m:r>
                              <m:r>
                                <a:rPr lang="en-US" altLang="zh-CN" i="1">
                                  <a:latin typeface="Cambria Math" panose="02040503050406030204" pitchFamily="18" charset="0"/>
                                </a:rPr>
                                <m:t>𝑒𝑥𝑖𝑠𝑡𝑠</m:t>
                              </m:r>
                            </m:e>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0</m:t>
                                  </m:r>
                                </m:e>
                              </m:d>
                              <m:r>
                                <a:rPr lang="en-US" altLang="zh-CN" i="1">
                                  <a:latin typeface="Cambria Math" panose="02040503050406030204" pitchFamily="18" charset="0"/>
                                </a:rPr>
                                <m:t>,  </m:t>
                              </m:r>
                              <m:r>
                                <a:rPr lang="en-US" altLang="zh-CN" i="1">
                                  <a:latin typeface="Cambria Math" panose="02040503050406030204" pitchFamily="18" charset="0"/>
                                </a:rPr>
                                <m:t>𝑜𝑡h𝑒𝑟𝑤𝑖𝑠𝑒</m:t>
                              </m:r>
                            </m:e>
                          </m:eqArr>
                        </m:e>
                      </m:d>
                      <m:r>
                        <a:rPr lang="en-US" altLang="zh-CN" i="1">
                          <a:latin typeface="Cambria Math" panose="02040503050406030204" pitchFamily="18" charset="0"/>
                        </a:rPr>
                        <m:t> </m:t>
                      </m:r>
                    </m:oMath>
                  </m:oMathPara>
                </a14:m>
                <a:endParaRPr lang="zh-CN" altLang="zh-CN" dirty="0">
                  <a:latin typeface="宋体" panose="02010600030101010101" pitchFamily="2" charset="-122"/>
                  <a:ea typeface="宋体" panose="02010600030101010101" pitchFamily="2" charset="-122"/>
                </a:endParaRPr>
              </a:p>
              <a:p>
                <a:pPr>
                  <a:lnSpc>
                    <a:spcPct val="150000"/>
                  </a:lnSpc>
                </a:pPr>
                <a:r>
                  <a:rPr lang="zh-CN" altLang="zh-CN" dirty="0">
                    <a:latin typeface="宋体" panose="02010600030101010101" pitchFamily="2" charset="-122"/>
                    <a:ea typeface="宋体" panose="02010600030101010101" pitchFamily="2" charset="-122"/>
                  </a:rPr>
                  <a:t>分两种情况，说明如何通过检查</a:t>
                </a:r>
                <a14:m>
                  <m:oMath xmlns:m="http://schemas.openxmlformats.org/officeDocument/2006/math">
                    <m:r>
                      <a:rPr lang="en-US" altLang="zh-CN" i="1">
                        <a:latin typeface="Cambria Math" panose="02040503050406030204" pitchFamily="18" charset="0"/>
                      </a:rPr>
                      <m:t>𝑛𝑒𝑥𝑡𝑠𝑒𝑡</m:t>
                    </m:r>
                  </m:oMath>
                </a14:m>
                <a:r>
                  <a:rPr lang="zh-CN" altLang="zh-CN" dirty="0">
                    <a:latin typeface="宋体" panose="02010600030101010101" pitchFamily="2" charset="-122"/>
                    <a:ea typeface="宋体" panose="02010600030101010101" pitchFamily="2" charset="-122"/>
                  </a:rPr>
                  <a:t>数组来判断模式</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是否在文本</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中出现</a:t>
                </a:r>
              </a:p>
              <a:p>
                <a:pPr>
                  <a:lnSpc>
                    <a:spcPct val="150000"/>
                  </a:lnSpc>
                </a:pP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）若</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不会出现在</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尾部，即</a:t>
                </a:r>
                <a14:m>
                  <m:oMath xmlns:m="http://schemas.openxmlformats.org/officeDocument/2006/math">
                    <m:r>
                      <a:rPr lang="en-US" altLang="zh-CN" i="1">
                        <a:latin typeface="Cambria Math" panose="02040503050406030204" pitchFamily="18" charset="0"/>
                      </a:rPr>
                      <m:t>𝑃</m:t>
                    </m:r>
                    <m:r>
                      <a:rPr lang="en-US" altLang="zh-CN" i="1">
                        <a:latin typeface="Cambria Math" panose="02040503050406030204" pitchFamily="18" charset="0"/>
                      </a:rPr>
                      <m:t>≠</m:t>
                    </m:r>
                    <m:r>
                      <a:rPr lang="en-US" altLang="zh-CN" i="1">
                        <a:latin typeface="Cambria Math" panose="02040503050406030204" pitchFamily="18" charset="0"/>
                      </a:rPr>
                      <m:t>𝑇</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 </m:t>
                        </m:r>
                        <m:d>
                          <m:dPr>
                            <m:ctrlPr>
                              <a:rPr lang="zh-CN"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−2</m:t>
                            </m:r>
                          </m:e>
                        </m:d>
                        <m:r>
                          <a:rPr lang="en-US" altLang="zh-CN" i="1">
                            <a:latin typeface="Cambria Math" panose="02040503050406030204" pitchFamily="18" charset="0"/>
                          </a:rPr>
                          <m:t>… </m:t>
                        </m:r>
                        <m:d>
                          <m:dPr>
                            <m:ctrlPr>
                              <a:rPr lang="zh-CN"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−1</m:t>
                            </m:r>
                          </m:e>
                        </m:d>
                      </m:e>
                    </m:d>
                  </m:oMath>
                </a14:m>
                <a:r>
                  <a:rPr lang="zh-CN" altLang="zh-CN" dirty="0">
                    <a:latin typeface="宋体" panose="02010600030101010101" pitchFamily="2" charset="-122"/>
                    <a:ea typeface="宋体" panose="02010600030101010101" pitchFamily="2" charset="-122"/>
                  </a:rPr>
                  <a:t>，</a:t>
                </a:r>
                <a:r>
                  <a:rPr lang="zh-CN" altLang="zh-CN" b="1" dirty="0">
                    <a:latin typeface="宋体" panose="02010600030101010101" pitchFamily="2" charset="-122"/>
                    <a:ea typeface="宋体" panose="02010600030101010101" pitchFamily="2" charset="-122"/>
                  </a:rPr>
                  <a:t>写出充要条件并证明</a:t>
                </a:r>
                <a:r>
                  <a:rPr lang="zh-CN" altLang="zh-CN" dirty="0">
                    <a:latin typeface="宋体" panose="02010600030101010101" pitchFamily="2" charset="-122"/>
                    <a:ea typeface="宋体" panose="02010600030101010101" pitchFamily="2" charset="-122"/>
                  </a:rPr>
                  <a:t>。</a:t>
                </a:r>
              </a:p>
              <a:p>
                <a:pPr>
                  <a:lnSpc>
                    <a:spcPct val="150000"/>
                  </a:lnSpc>
                </a:pP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）若</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可能出现在</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尾部，</a:t>
                </a:r>
                <a:r>
                  <a:rPr lang="zh-CN" altLang="zh-CN" b="1" dirty="0">
                    <a:latin typeface="宋体" panose="02010600030101010101" pitchFamily="2" charset="-122"/>
                    <a:ea typeface="宋体" panose="02010600030101010101" pitchFamily="2" charset="-122"/>
                  </a:rPr>
                  <a:t>写出充要条件但不需证明</a:t>
                </a:r>
                <a:r>
                  <a:rPr lang="zh-CN" altLang="zh-CN" dirty="0"/>
                  <a:t>。</a:t>
                </a: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868236" y="1266839"/>
                <a:ext cx="10142708" cy="4017125"/>
              </a:xfrm>
              <a:prstGeom prst="rect">
                <a:avLst/>
              </a:prstGeom>
              <a:blipFill>
                <a:blip r:embed="rId3"/>
                <a:stretch>
                  <a:fillRect l="-7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8580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463979"/>
              </a:xfrm>
              <a:prstGeom prst="rect">
                <a:avLst/>
              </a:prstGeom>
            </p:spPr>
            <p:txBody>
              <a:bodyPr wrap="square">
                <a:spAutoFit/>
              </a:bodyPr>
              <a:lstStyle/>
              <a:p>
                <a:r>
                  <a:rPr lang="en-US" altLang="zh-CN" dirty="0"/>
                  <a:t>1</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充要条件（记为条件</a:t>
                </a:r>
                <a:r>
                  <a:rPr lang="en-US" altLang="zh-CN" dirty="0">
                    <a:latin typeface="宋体" panose="02010600030101010101" pitchFamily="2" charset="-122"/>
                    <a:ea typeface="宋体" panose="02010600030101010101" pitchFamily="2" charset="-122"/>
                  </a:rPr>
                  <a:t>A</a:t>
                </a:r>
                <a:r>
                  <a:rPr lang="zh-CN" altLang="zh-CN" dirty="0">
                    <a:latin typeface="宋体" panose="02010600030101010101" pitchFamily="2" charset="-122"/>
                    <a:ea typeface="宋体" panose="02010600030101010101" pitchFamily="2" charset="-122"/>
                  </a:rPr>
                  <a:t>）为：</a:t>
                </a:r>
              </a:p>
              <a:p>
                <a:pPr algn="ctr"/>
                <a:r>
                  <a:rPr lang="zh-CN" altLang="zh-CN" dirty="0">
                    <a:latin typeface="宋体" panose="02010600030101010101" pitchFamily="2" charset="-122"/>
                    <a:ea typeface="宋体" panose="02010600030101010101" pitchFamily="2" charset="-122"/>
                  </a:rPr>
                  <a:t>存在 </a:t>
                </a:r>
                <a14:m>
                  <m:oMath xmlns:m="http://schemas.openxmlformats.org/officeDocument/2006/math">
                    <m:r>
                      <a:rPr lang="en-US" altLang="zh-CN" i="1"/>
                      <m:t>2∗</m:t>
                    </m:r>
                    <m:r>
                      <a:rPr lang="en-US" altLang="zh-CN" i="1"/>
                      <m:t>𝑚</m:t>
                    </m:r>
                    <m:r>
                      <a:rPr lang="zh-CN" altLang="zh-CN" i="1"/>
                      <m:t>≤</m:t>
                    </m:r>
                    <m:r>
                      <a:rPr lang="en-US" altLang="zh-CN" i="1"/>
                      <m:t>𝑞</m:t>
                    </m:r>
                    <m:r>
                      <a:rPr lang="zh-CN" altLang="zh-CN" i="1"/>
                      <m:t>≤</m:t>
                    </m:r>
                    <m:r>
                      <a:rPr lang="en-US" altLang="zh-CN" i="1"/>
                      <m:t>𝑛</m:t>
                    </m:r>
                    <m:r>
                      <a:rPr lang="en-US" altLang="zh-CN" i="1"/>
                      <m:t>+</m:t>
                    </m:r>
                    <m:r>
                      <a:rPr lang="en-US" altLang="zh-CN" i="1"/>
                      <m:t>𝑚</m:t>
                    </m:r>
                    <m:r>
                      <a:rPr lang="zh-CN" altLang="en-US" i="1"/>
                      <m:t>−</m:t>
                    </m:r>
                    <m:r>
                      <a:rPr lang="en-US" altLang="zh-CN" i="1"/>
                      <m:t>1</m:t>
                    </m:r>
                  </m:oMath>
                </a14:m>
                <a:r>
                  <a:rPr lang="zh-CN" altLang="zh-CN" dirty="0">
                    <a:latin typeface="宋体" panose="02010600030101010101" pitchFamily="2" charset="-122"/>
                    <a:ea typeface="宋体" panose="02010600030101010101" pitchFamily="2" charset="-122"/>
                  </a:rPr>
                  <a:t>，使得</a:t>
                </a:r>
                <a14:m>
                  <m:oMath xmlns:m="http://schemas.openxmlformats.org/officeDocument/2006/math">
                    <m:r>
                      <a:rPr lang="en-US" altLang="zh-CN" i="1"/>
                      <m:t>𝑚</m:t>
                    </m:r>
                    <m:r>
                      <a:rPr lang="zh-CN" altLang="zh-CN" i="1"/>
                      <m:t>∈</m:t>
                    </m:r>
                    <m:r>
                      <a:rPr lang="en-US" altLang="zh-CN" i="1"/>
                      <m:t>𝑛𝑒𝑥𝑡𝑠𝑒𝑡</m:t>
                    </m:r>
                    <m:r>
                      <a:rPr lang="en-US" altLang="zh-CN" i="1"/>
                      <m:t>[</m:t>
                    </m:r>
                    <m:r>
                      <a:rPr lang="en-US" altLang="zh-CN" i="1"/>
                      <m:t>𝑞</m:t>
                    </m:r>
                    <m:r>
                      <a:rPr lang="en-US" altLang="zh-CN" i="1"/>
                      <m:t>] </m:t>
                    </m:r>
                  </m:oMath>
                </a14:m>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a:t>
                </a:r>
                <a:endParaRPr lang="zh-CN" altLang="zh-CN" dirty="0">
                  <a:latin typeface="宋体" panose="02010600030101010101" pitchFamily="2" charset="-122"/>
                  <a:ea typeface="宋体" panose="02010600030101010101" pitchFamily="2" charset="-122"/>
                </a:endParaRPr>
              </a:p>
              <a:p>
                <a:r>
                  <a:rPr lang="en-US" altLang="zh-CN" b="1" dirty="0">
                    <a:latin typeface="宋体" panose="02010600030101010101" pitchFamily="2" charset="-122"/>
                    <a:ea typeface="宋体" panose="02010600030101010101" pitchFamily="2" charset="-122"/>
                  </a:rPr>
                  <a:t>P</a:t>
                </a:r>
                <a:r>
                  <a:rPr lang="zh-CN" altLang="zh-CN" b="1" dirty="0">
                    <a:latin typeface="宋体" panose="02010600030101010101" pitchFamily="2" charset="-122"/>
                    <a:ea typeface="宋体" panose="02010600030101010101" pitchFamily="2" charset="-122"/>
                  </a:rPr>
                  <a:t>在文本</a:t>
                </a:r>
                <a:r>
                  <a:rPr lang="en-US" altLang="zh-CN" b="1" dirty="0">
                    <a:latin typeface="宋体" panose="02010600030101010101" pitchFamily="2" charset="-122"/>
                    <a:ea typeface="宋体" panose="02010600030101010101" pitchFamily="2" charset="-122"/>
                  </a:rPr>
                  <a:t>T</a:t>
                </a:r>
                <a:r>
                  <a:rPr lang="zh-CN" altLang="zh-CN" b="1" dirty="0">
                    <a:latin typeface="宋体" panose="02010600030101010101" pitchFamily="2" charset="-122"/>
                    <a:ea typeface="宋体" panose="02010600030101010101" pitchFamily="2" charset="-122"/>
                  </a:rPr>
                  <a:t>中出现</a:t>
                </a:r>
                <a:r>
                  <a:rPr lang="en-US" altLang="zh-CN" b="1" dirty="0">
                    <a:latin typeface="宋体" panose="02010600030101010101" pitchFamily="2" charset="-122"/>
                    <a:ea typeface="宋体" panose="02010600030101010101" pitchFamily="2" charset="-122"/>
                  </a:rPr>
                  <a:t>-&gt;</a:t>
                </a:r>
                <a:r>
                  <a:rPr lang="zh-CN" altLang="zh-CN" b="1" dirty="0">
                    <a:latin typeface="宋体" panose="02010600030101010101" pitchFamily="2" charset="-122"/>
                    <a:ea typeface="宋体" panose="02010600030101010101" pitchFamily="2" charset="-122"/>
                  </a:rPr>
                  <a:t>条件</a:t>
                </a:r>
                <a:r>
                  <a:rPr lang="en-US" altLang="zh-CN" b="1" dirty="0">
                    <a:latin typeface="宋体" panose="02010600030101010101" pitchFamily="2" charset="-122"/>
                    <a:ea typeface="宋体" panose="02010600030101010101" pitchFamily="2" charset="-122"/>
                  </a:rPr>
                  <a:t>A:</a:t>
                </a:r>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若</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出现</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中，则存在 </a:t>
                </a:r>
                <a14:m>
                  <m:oMath xmlns:m="http://schemas.openxmlformats.org/officeDocument/2006/math">
                    <m:sSup>
                      <m:sSupPr>
                        <m:ctrlPr>
                          <a:rPr lang="zh-CN" altLang="zh-CN" i="1"/>
                        </m:ctrlPr>
                      </m:sSupPr>
                      <m:e>
                        <m:r>
                          <a:rPr lang="en-US" altLang="zh-CN" i="1"/>
                          <m:t>2</m:t>
                        </m:r>
                        <m:r>
                          <a:rPr lang="zh-CN" altLang="en-US" i="1"/>
                          <m:t>∗</m:t>
                        </m:r>
                        <m:r>
                          <a:rPr lang="en-US" altLang="zh-CN" i="1"/>
                          <m:t>𝑚</m:t>
                        </m:r>
                        <m:r>
                          <a:rPr lang="zh-CN" altLang="en-US" i="1"/>
                          <m:t>−</m:t>
                        </m:r>
                        <m:r>
                          <a:rPr lang="en-US" altLang="zh-CN" i="1"/>
                          <m:t>1</m:t>
                        </m:r>
                        <m:r>
                          <a:rPr lang="zh-CN" altLang="zh-CN" i="1"/>
                          <m:t>≤</m:t>
                        </m:r>
                        <m:r>
                          <a:rPr lang="en-US" altLang="zh-CN" i="1"/>
                          <m:t>𝑞</m:t>
                        </m:r>
                      </m:e>
                      <m:sup>
                        <m:r>
                          <a:rPr lang="en-US" altLang="zh-CN" i="1"/>
                          <m:t>′</m:t>
                        </m:r>
                      </m:sup>
                    </m:sSup>
                    <m:r>
                      <a:rPr lang="zh-CN" altLang="zh-CN" i="1"/>
                      <m:t>≤</m:t>
                    </m:r>
                    <m:r>
                      <a:rPr lang="en-US" altLang="zh-CN" i="1"/>
                      <m:t>𝑛</m:t>
                    </m:r>
                    <m:r>
                      <a:rPr lang="en-US" altLang="zh-CN" i="1"/>
                      <m:t>+</m:t>
                    </m:r>
                    <m:r>
                      <a:rPr lang="en-US" altLang="zh-CN" i="1"/>
                      <m:t>𝑚</m:t>
                    </m:r>
                    <m:r>
                      <a:rPr lang="zh-CN" altLang="en-US" i="1"/>
                      <m:t>−</m:t>
                    </m:r>
                    <m:r>
                      <a:rPr lang="en-US" altLang="zh-CN" i="1"/>
                      <m:t>2</m:t>
                    </m:r>
                  </m:oMath>
                </a14:m>
                <a:r>
                  <a:rPr lang="zh-CN" altLang="zh-CN" dirty="0">
                    <a:latin typeface="宋体" panose="02010600030101010101" pitchFamily="2" charset="-122"/>
                    <a:ea typeface="宋体" panose="02010600030101010101" pitchFamily="2" charset="-122"/>
                  </a:rPr>
                  <a:t>，使得</a:t>
                </a:r>
              </a:p>
              <a:p>
                <a14:m>
                  <m:oMathPara xmlns:m="http://schemas.openxmlformats.org/officeDocument/2006/math">
                    <m:oMathParaPr>
                      <m:jc m:val="centerGroup"/>
                    </m:oMathParaPr>
                    <m:oMath xmlns:m="http://schemas.openxmlformats.org/officeDocument/2006/math">
                      <m:r>
                        <a:rPr lang="en-US" altLang="zh-CN" i="1"/>
                        <m:t>𝑆</m:t>
                      </m:r>
                      <m:r>
                        <a:rPr lang="en-US" altLang="zh-CN" i="1"/>
                        <m:t>[0…(</m:t>
                      </m:r>
                      <m:r>
                        <a:rPr lang="en-US" altLang="zh-CN" i="1"/>
                        <m:t>𝑚</m:t>
                      </m:r>
                      <m:r>
                        <a:rPr lang="en-US" altLang="zh-CN" i="1"/>
                        <m:t>−1)] = </m:t>
                      </m:r>
                      <m:r>
                        <a:rPr lang="en-US" altLang="zh-CN" i="1"/>
                        <m:t>𝑆</m:t>
                      </m:r>
                      <m:r>
                        <a:rPr lang="en-US" altLang="zh-CN" i="1"/>
                        <m:t>[(</m:t>
                      </m:r>
                      <m:sSup>
                        <m:sSupPr>
                          <m:ctrlPr>
                            <a:rPr lang="zh-CN" altLang="zh-CN" i="1"/>
                          </m:ctrlPr>
                        </m:sSupPr>
                        <m:e>
                          <m:r>
                            <a:rPr lang="en-US" altLang="zh-CN" i="1"/>
                            <m:t>𝑞</m:t>
                          </m:r>
                        </m:e>
                        <m:sup>
                          <m:r>
                            <a:rPr lang="en-US" altLang="zh-CN" i="1"/>
                            <m:t>′</m:t>
                          </m:r>
                        </m:sup>
                      </m:sSup>
                      <m:r>
                        <a:rPr lang="en-US" altLang="zh-CN" i="1"/>
                        <m:t>−</m:t>
                      </m:r>
                      <m:r>
                        <a:rPr lang="en-US" altLang="zh-CN" i="1"/>
                        <m:t>𝑚</m:t>
                      </m:r>
                      <m:r>
                        <a:rPr lang="en-US" altLang="zh-CN" i="1"/>
                        <m:t>+1)…</m:t>
                      </m:r>
                      <m:sSup>
                        <m:sSupPr>
                          <m:ctrlPr>
                            <a:rPr lang="zh-CN" altLang="zh-CN" i="1"/>
                          </m:ctrlPr>
                        </m:sSupPr>
                        <m:e>
                          <m:r>
                            <a:rPr lang="en-US" altLang="zh-CN" i="1"/>
                            <m:t>𝑞</m:t>
                          </m:r>
                        </m:e>
                        <m:sup>
                          <m:r>
                            <a:rPr lang="en-US" altLang="zh-CN" i="1"/>
                            <m:t>′</m:t>
                          </m:r>
                        </m:sup>
                      </m:sSup>
                      <m:r>
                        <a:rPr lang="en-US" altLang="zh-CN" i="1"/>
                        <m:t>]</m:t>
                      </m:r>
                    </m:oMath>
                  </m:oMathPara>
                </a14:m>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由</a:t>
                </a:r>
                <a14:m>
                  <m:oMath xmlns:m="http://schemas.openxmlformats.org/officeDocument/2006/math">
                    <m:r>
                      <a:rPr lang="en-US" altLang="zh-CN" i="1"/>
                      <m:t>𝑛𝑒𝑥𝑡𝑠𝑒𝑡</m:t>
                    </m:r>
                  </m:oMath>
                </a14:m>
                <a:r>
                  <a:rPr lang="zh-CN" altLang="zh-CN" dirty="0">
                    <a:latin typeface="宋体" panose="02010600030101010101" pitchFamily="2" charset="-122"/>
                    <a:ea typeface="宋体" panose="02010600030101010101" pitchFamily="2" charset="-122"/>
                  </a:rPr>
                  <a:t>数组定义，设</a:t>
                </a:r>
                <a14:m>
                  <m:oMath xmlns:m="http://schemas.openxmlformats.org/officeDocument/2006/math">
                    <m:r>
                      <a:rPr lang="en-US" altLang="zh-CN" i="1"/>
                      <m:t>𝑞</m:t>
                    </m:r>
                    <m:r>
                      <a:rPr lang="en-US" altLang="zh-CN" i="1"/>
                      <m:t>=</m:t>
                    </m:r>
                    <m:sSup>
                      <m:sSupPr>
                        <m:ctrlPr>
                          <a:rPr lang="zh-CN" altLang="zh-CN" i="1"/>
                        </m:ctrlPr>
                      </m:sSupPr>
                      <m:e>
                        <m:r>
                          <a:rPr lang="en-US" altLang="zh-CN" i="1"/>
                          <m:t>𝑞</m:t>
                        </m:r>
                      </m:e>
                      <m:sup>
                        <m:r>
                          <a:rPr lang="en-US" altLang="zh-CN" i="1"/>
                          <m:t>′</m:t>
                        </m:r>
                      </m:sup>
                    </m:sSup>
                    <m:r>
                      <a:rPr lang="en-US" altLang="zh-CN" i="1"/>
                      <m:t>+1</m:t>
                    </m:r>
                  </m:oMath>
                </a14:m>
                <a:r>
                  <a:rPr lang="zh-CN" altLang="zh-CN" dirty="0">
                    <a:latin typeface="宋体" panose="02010600030101010101" pitchFamily="2" charset="-122"/>
                    <a:ea typeface="宋体" panose="02010600030101010101" pitchFamily="2" charset="-122"/>
                  </a:rPr>
                  <a:t>，有</a:t>
                </a:r>
              </a:p>
              <a:p>
                <a14:m>
                  <m:oMathPara xmlns:m="http://schemas.openxmlformats.org/officeDocument/2006/math">
                    <m:oMathParaPr>
                      <m:jc m:val="centerGroup"/>
                    </m:oMathParaPr>
                    <m:oMath xmlns:m="http://schemas.openxmlformats.org/officeDocument/2006/math">
                      <m:r>
                        <a:rPr lang="en-US" altLang="zh-CN" i="1"/>
                        <m:t>𝑚</m:t>
                      </m:r>
                      <m:r>
                        <a:rPr lang="zh-CN" altLang="zh-CN" i="1"/>
                        <m:t>∈</m:t>
                      </m:r>
                      <m:r>
                        <a:rPr lang="en-US" altLang="zh-CN" i="1"/>
                        <m:t>𝑛𝑒𝑥𝑡𝑠𝑒𝑡</m:t>
                      </m:r>
                      <m:r>
                        <a:rPr lang="en-US" altLang="zh-CN" i="1"/>
                        <m:t>[</m:t>
                      </m:r>
                      <m:r>
                        <a:rPr lang="en-US" altLang="zh-CN" i="1"/>
                        <m:t>𝑞</m:t>
                      </m:r>
                      <m:r>
                        <a:rPr lang="en-US" altLang="zh-CN" i="1"/>
                        <m:t>]</m:t>
                      </m:r>
                    </m:oMath>
                  </m:oMathPara>
                </a14:m>
                <a:endParaRPr lang="en-US" altLang="zh-CN" dirty="0">
                  <a:latin typeface="宋体" panose="02010600030101010101" pitchFamily="2" charset="-122"/>
                  <a:ea typeface="宋体" panose="02010600030101010101" pitchFamily="2" charset="-122"/>
                </a:endParaRPr>
              </a:p>
              <a:p>
                <a:endParaRPr lang="zh-CN" altLang="zh-CN" dirty="0">
                  <a:latin typeface="宋体" panose="02010600030101010101" pitchFamily="2" charset="-122"/>
                  <a:ea typeface="宋体" panose="02010600030101010101" pitchFamily="2" charset="-122"/>
                </a:endParaRPr>
              </a:p>
              <a:p>
                <a:r>
                  <a:rPr lang="zh-CN" altLang="zh-CN" b="1" dirty="0">
                    <a:latin typeface="宋体" panose="02010600030101010101" pitchFamily="2" charset="-122"/>
                    <a:ea typeface="宋体" panose="02010600030101010101" pitchFamily="2" charset="-122"/>
                  </a:rPr>
                  <a:t>条件</a:t>
                </a:r>
                <a:r>
                  <a:rPr lang="en-US" altLang="zh-CN" b="1" dirty="0">
                    <a:latin typeface="宋体" panose="02010600030101010101" pitchFamily="2" charset="-122"/>
                    <a:ea typeface="宋体" panose="02010600030101010101" pitchFamily="2" charset="-122"/>
                  </a:rPr>
                  <a:t>A -&gt;P</a:t>
                </a:r>
                <a:r>
                  <a:rPr lang="zh-CN" altLang="zh-CN" b="1" dirty="0">
                    <a:latin typeface="宋体" panose="02010600030101010101" pitchFamily="2" charset="-122"/>
                    <a:ea typeface="宋体" panose="02010600030101010101" pitchFamily="2" charset="-122"/>
                  </a:rPr>
                  <a:t>在文本</a:t>
                </a:r>
                <a:r>
                  <a:rPr lang="en-US" altLang="zh-CN" b="1" dirty="0">
                    <a:latin typeface="宋体" panose="02010600030101010101" pitchFamily="2" charset="-122"/>
                    <a:ea typeface="宋体" panose="02010600030101010101" pitchFamily="2" charset="-122"/>
                  </a:rPr>
                  <a:t>T</a:t>
                </a:r>
                <a:r>
                  <a:rPr lang="zh-CN" altLang="zh-CN" b="1" dirty="0">
                    <a:latin typeface="宋体" panose="02010600030101010101" pitchFamily="2" charset="-122"/>
                    <a:ea typeface="宋体" panose="02010600030101010101" pitchFamily="2" charset="-122"/>
                  </a:rPr>
                  <a:t>中出现</a:t>
                </a:r>
                <a:r>
                  <a:rPr lang="en-US" altLang="zh-CN" b="1" dirty="0">
                    <a:latin typeface="宋体" panose="02010600030101010101" pitchFamily="2" charset="-122"/>
                    <a:ea typeface="宋体" panose="02010600030101010101" pitchFamily="2" charset="-122"/>
                  </a:rPr>
                  <a:t>:</a:t>
                </a:r>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若存在 </a:t>
                </a:r>
                <a14:m>
                  <m:oMath xmlns:m="http://schemas.openxmlformats.org/officeDocument/2006/math">
                    <m:r>
                      <a:rPr lang="en-US" altLang="zh-CN" i="1"/>
                      <m:t>2∗</m:t>
                    </m:r>
                    <m:r>
                      <a:rPr lang="en-US" altLang="zh-CN" i="1"/>
                      <m:t>𝑚</m:t>
                    </m:r>
                    <m:r>
                      <a:rPr lang="zh-CN" altLang="zh-CN" i="1"/>
                      <m:t>≤</m:t>
                    </m:r>
                    <m:r>
                      <a:rPr lang="en-US" altLang="zh-CN" i="1"/>
                      <m:t>𝑞</m:t>
                    </m:r>
                    <m:r>
                      <a:rPr lang="zh-CN" altLang="zh-CN" i="1"/>
                      <m:t>≤</m:t>
                    </m:r>
                    <m:r>
                      <a:rPr lang="en-US" altLang="zh-CN" i="1"/>
                      <m:t>𝑛</m:t>
                    </m:r>
                    <m:r>
                      <a:rPr lang="en-US" altLang="zh-CN" i="1"/>
                      <m:t>+</m:t>
                    </m:r>
                    <m:r>
                      <a:rPr lang="en-US" altLang="zh-CN" i="1"/>
                      <m:t>𝑚</m:t>
                    </m:r>
                    <m:r>
                      <a:rPr lang="zh-CN" altLang="en-US" i="1"/>
                      <m:t>−</m:t>
                    </m:r>
                    <m:r>
                      <a:rPr lang="en-US" altLang="zh-CN" i="1"/>
                      <m:t>1</m:t>
                    </m:r>
                  </m:oMath>
                </a14:m>
                <a:r>
                  <a:rPr lang="zh-CN" altLang="zh-CN" dirty="0">
                    <a:latin typeface="宋体" panose="02010600030101010101" pitchFamily="2" charset="-122"/>
                    <a:ea typeface="宋体" panose="02010600030101010101" pitchFamily="2" charset="-122"/>
                  </a:rPr>
                  <a:t>，使得</a:t>
                </a:r>
                <a14:m>
                  <m:oMath xmlns:m="http://schemas.openxmlformats.org/officeDocument/2006/math">
                    <m:r>
                      <a:rPr lang="en-US" altLang="zh-CN" i="1"/>
                      <m:t>𝑚</m:t>
                    </m:r>
                    <m:r>
                      <a:rPr lang="zh-CN" altLang="zh-CN" i="1"/>
                      <m:t>∈</m:t>
                    </m:r>
                    <m:r>
                      <a:rPr lang="en-US" altLang="zh-CN" i="1"/>
                      <m:t>𝑛𝑒𝑥𝑡𝑠𝑒𝑡</m:t>
                    </m:r>
                    <m:r>
                      <a:rPr lang="en-US" altLang="zh-CN" i="1"/>
                      <m:t>[</m:t>
                    </m:r>
                    <m:r>
                      <a:rPr lang="en-US" altLang="zh-CN" i="1"/>
                      <m:t>𝑞</m:t>
                    </m:r>
                    <m:r>
                      <a:rPr lang="en-US" altLang="zh-CN" i="1"/>
                      <m:t>]</m:t>
                    </m:r>
                  </m:oMath>
                </a14:m>
                <a:r>
                  <a:rPr lang="zh-CN" altLang="zh-CN" dirty="0">
                    <a:latin typeface="宋体" panose="02010600030101010101" pitchFamily="2" charset="-122"/>
                    <a:ea typeface="宋体" panose="02010600030101010101" pitchFamily="2" charset="-122"/>
                  </a:rPr>
                  <a:t>，则由</a:t>
                </a:r>
                <a14:m>
                  <m:oMath xmlns:m="http://schemas.openxmlformats.org/officeDocument/2006/math">
                    <m:r>
                      <a:rPr lang="en-US" altLang="zh-CN" i="1"/>
                      <m:t>𝑛𝑒𝑥𝑡𝑠𝑒𝑡</m:t>
                    </m:r>
                  </m:oMath>
                </a14:m>
                <a:r>
                  <a:rPr lang="zh-CN" altLang="zh-CN" dirty="0">
                    <a:latin typeface="宋体" panose="02010600030101010101" pitchFamily="2" charset="-122"/>
                    <a:ea typeface="宋体" panose="02010600030101010101" pitchFamily="2" charset="-122"/>
                  </a:rPr>
                  <a:t>数组的定义，有</a:t>
                </a:r>
              </a:p>
              <a:p>
                <a14:m>
                  <m:oMathPara xmlns:m="http://schemas.openxmlformats.org/officeDocument/2006/math">
                    <m:oMathParaPr>
                      <m:jc m:val="centerGroup"/>
                    </m:oMathParaPr>
                    <m:oMath xmlns:m="http://schemas.openxmlformats.org/officeDocument/2006/math">
                      <m:r>
                        <a:rPr lang="en-US" altLang="zh-CN" i="1"/>
                        <m:t>𝑆</m:t>
                      </m:r>
                      <m:r>
                        <a:rPr lang="en-US" altLang="zh-CN" i="1"/>
                        <m:t>[0…(</m:t>
                      </m:r>
                      <m:r>
                        <a:rPr lang="en-US" altLang="zh-CN" i="1"/>
                        <m:t>𝑚</m:t>
                      </m:r>
                      <m:r>
                        <a:rPr lang="en-US" altLang="zh-CN" i="1"/>
                        <m:t>−1)]=</m:t>
                      </m:r>
                      <m:r>
                        <a:rPr lang="en-US" altLang="zh-CN" i="1"/>
                        <m:t>𝑆</m:t>
                      </m:r>
                      <m:r>
                        <a:rPr lang="en-US" altLang="zh-CN" i="1"/>
                        <m:t>[(</m:t>
                      </m:r>
                      <m:r>
                        <a:rPr lang="en-US" altLang="zh-CN" i="1"/>
                        <m:t>𝑞</m:t>
                      </m:r>
                      <m:r>
                        <a:rPr lang="en-US" altLang="zh-CN" i="1"/>
                        <m:t>−</m:t>
                      </m:r>
                      <m:r>
                        <a:rPr lang="en-US" altLang="zh-CN" i="1"/>
                        <m:t>𝑚</m:t>
                      </m:r>
                      <m:r>
                        <a:rPr lang="en-US" altLang="zh-CN" i="1"/>
                        <m:t>)…</m:t>
                      </m:r>
                      <m:r>
                        <a:rPr lang="en-US" altLang="zh-CN" i="1"/>
                        <m:t>𝑞</m:t>
                      </m:r>
                      <m:r>
                        <a:rPr lang="en-US" altLang="zh-CN" i="1"/>
                        <m:t>−1]</m:t>
                      </m:r>
                    </m:oMath>
                  </m:oMathPara>
                </a14:m>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并且</a:t>
                </a:r>
                <a14:m>
                  <m:oMath xmlns:m="http://schemas.openxmlformats.org/officeDocument/2006/math">
                    <m:r>
                      <a:rPr lang="en-US" altLang="zh-CN" i="1"/>
                      <m:t>𝑞</m:t>
                    </m:r>
                    <m:r>
                      <a:rPr lang="en-US" altLang="zh-CN" i="1"/>
                      <m:t>−2</m:t>
                    </m:r>
                    <m:r>
                      <a:rPr lang="en-US" altLang="zh-CN" i="1"/>
                      <m:t>𝑚</m:t>
                    </m:r>
                    <m:r>
                      <a:rPr lang="zh-CN" altLang="zh-CN" i="1"/>
                      <m:t>≥</m:t>
                    </m:r>
                    <m:r>
                      <a:rPr lang="en-US" altLang="zh-CN" i="1"/>
                      <m:t>0</m:t>
                    </m:r>
                  </m:oMath>
                </a14:m>
                <a:r>
                  <a:rPr lang="zh-CN" altLang="zh-CN" dirty="0">
                    <a:latin typeface="宋体" panose="02010600030101010101" pitchFamily="2" charset="-122"/>
                    <a:ea typeface="宋体" panose="02010600030101010101" pitchFamily="2" charset="-122"/>
                  </a:rPr>
                  <a:t>，可得</a:t>
                </a:r>
              </a:p>
              <a:p>
                <a14:m>
                  <m:oMathPara xmlns:m="http://schemas.openxmlformats.org/officeDocument/2006/math">
                    <m:oMathParaPr>
                      <m:jc m:val="centerGroup"/>
                    </m:oMathParaPr>
                    <m:oMath xmlns:m="http://schemas.openxmlformats.org/officeDocument/2006/math">
                      <m:r>
                        <a:rPr lang="en-US" altLang="zh-CN" i="1"/>
                        <m:t>𝑇</m:t>
                      </m:r>
                      <m:r>
                        <a:rPr lang="en-US" altLang="zh-CN" i="1"/>
                        <m:t>[(</m:t>
                      </m:r>
                      <m:r>
                        <a:rPr lang="en-US" altLang="zh-CN" i="1"/>
                        <m:t>𝑞</m:t>
                      </m:r>
                      <m:r>
                        <a:rPr lang="en-US" altLang="zh-CN" i="1"/>
                        <m:t>−2</m:t>
                      </m:r>
                      <m:r>
                        <a:rPr lang="en-US" altLang="zh-CN" i="1"/>
                        <m:t>𝑚</m:t>
                      </m:r>
                      <m:r>
                        <a:rPr lang="en-US" altLang="zh-CN" i="1"/>
                        <m:t>)…(</m:t>
                      </m:r>
                      <m:r>
                        <a:rPr lang="en-US" altLang="zh-CN" i="1"/>
                        <m:t>𝑞</m:t>
                      </m:r>
                      <m:r>
                        <a:rPr lang="en-US" altLang="zh-CN" i="1"/>
                        <m:t>−</m:t>
                      </m:r>
                      <m:r>
                        <a:rPr lang="en-US" altLang="zh-CN" i="1"/>
                        <m:t>𝑚</m:t>
                      </m:r>
                      <m:r>
                        <a:rPr lang="en-US" altLang="zh-CN" i="1"/>
                        <m:t>−1)]=</m:t>
                      </m:r>
                      <m:r>
                        <a:rPr lang="en-US" altLang="zh-CN" i="1"/>
                        <m:t>𝑃</m:t>
                      </m:r>
                    </m:oMath>
                  </m:oMathPara>
                </a14:m>
                <a:endParaRPr lang="zh-CN" altLang="zh-CN" dirty="0">
                  <a:latin typeface="宋体" panose="02010600030101010101" pitchFamily="2" charset="-122"/>
                  <a:ea typeface="宋体" panose="02010600030101010101" pitchFamily="2" charset="-122"/>
                </a:endParaRP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4463979"/>
              </a:xfrm>
              <a:prstGeom prst="rect">
                <a:avLst/>
              </a:prstGeom>
              <a:blipFill>
                <a:blip r:embed="rId3"/>
                <a:stretch>
                  <a:fillRect l="-481" t="-10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30845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1351845"/>
              </a:xfrm>
              <a:prstGeom prst="rect">
                <a:avLst/>
              </a:prstGeom>
            </p:spPr>
            <p:txBody>
              <a:bodyPr wrap="square">
                <a:spAutoFit/>
              </a:bodyPr>
              <a:lstStyle/>
              <a:p>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充要条件为：以下两个条件至少有一个成立：</a:t>
                </a:r>
              </a:p>
              <a:p>
                <a:pPr marL="342900" lvl="0" indent="-342900">
                  <a:buFont typeface="+mj-lt"/>
                  <a:buAutoNum type="arabicPeriod"/>
                </a:pPr>
                <a:r>
                  <a:rPr lang="zh-CN" altLang="zh-CN" dirty="0">
                    <a:latin typeface="宋体" panose="02010600030101010101" pitchFamily="2" charset="-122"/>
                    <a:ea typeface="宋体" panose="02010600030101010101" pitchFamily="2" charset="-122"/>
                  </a:rPr>
                  <a:t>存在 </a:t>
                </a:r>
                <a14:m>
                  <m:oMath xmlns:m="http://schemas.openxmlformats.org/officeDocument/2006/math">
                    <m:r>
                      <a:rPr lang="en-US" altLang="zh-CN" i="1"/>
                      <m:t>2∗</m:t>
                    </m:r>
                    <m:r>
                      <a:rPr lang="en-US" altLang="zh-CN" i="1"/>
                      <m:t>𝑚</m:t>
                    </m:r>
                    <m:r>
                      <a:rPr lang="zh-CN" altLang="zh-CN" i="1"/>
                      <m:t>≤</m:t>
                    </m:r>
                    <m:r>
                      <a:rPr lang="en-US" altLang="zh-CN" i="1"/>
                      <m:t>𝑞</m:t>
                    </m:r>
                    <m:r>
                      <a:rPr lang="zh-CN" altLang="zh-CN" i="1"/>
                      <m:t>≤</m:t>
                    </m:r>
                    <m:r>
                      <a:rPr lang="en-US" altLang="zh-CN" i="1"/>
                      <m:t>𝑛</m:t>
                    </m:r>
                    <m:r>
                      <a:rPr lang="en-US" altLang="zh-CN" i="1"/>
                      <m:t>+</m:t>
                    </m:r>
                    <m:r>
                      <a:rPr lang="en-US" altLang="zh-CN" i="1"/>
                      <m:t>𝑚</m:t>
                    </m:r>
                    <m:r>
                      <a:rPr lang="zh-CN" altLang="en-US" i="1"/>
                      <m:t>−</m:t>
                    </m:r>
                    <m:r>
                      <a:rPr lang="en-US" altLang="zh-CN" i="1"/>
                      <m:t>1</m:t>
                    </m:r>
                  </m:oMath>
                </a14:m>
                <a:r>
                  <a:rPr lang="zh-CN" altLang="zh-CN" dirty="0">
                    <a:latin typeface="宋体" panose="02010600030101010101" pitchFamily="2" charset="-122"/>
                    <a:ea typeface="宋体" panose="02010600030101010101" pitchFamily="2" charset="-122"/>
                  </a:rPr>
                  <a:t>，使得</a:t>
                </a:r>
                <a14:m>
                  <m:oMath xmlns:m="http://schemas.openxmlformats.org/officeDocument/2006/math">
                    <m:r>
                      <a:rPr lang="en-US" altLang="zh-CN" i="1"/>
                      <m:t>𝑚</m:t>
                    </m:r>
                    <m:r>
                      <a:rPr lang="zh-CN" altLang="zh-CN" i="1"/>
                      <m:t>∈</m:t>
                    </m:r>
                    <m:r>
                      <a:rPr lang="en-US" altLang="zh-CN" i="1"/>
                      <m:t>𝑛𝑒𝑥𝑡𝑠𝑒𝑡</m:t>
                    </m:r>
                    <m:r>
                      <a:rPr lang="en-US" altLang="zh-CN" i="1"/>
                      <m:t>[</m:t>
                    </m:r>
                    <m:r>
                      <a:rPr lang="en-US" altLang="zh-CN" i="1"/>
                      <m:t>𝑞</m:t>
                    </m:r>
                    <m:r>
                      <a:rPr lang="en-US" altLang="zh-CN" i="1"/>
                      <m:t>] </m:t>
                    </m:r>
                  </m:oMath>
                </a14:m>
                <a:endParaRPr lang="zh-CN" altLang="zh-CN" dirty="0">
                  <a:latin typeface="宋体" panose="02010600030101010101" pitchFamily="2" charset="-122"/>
                  <a:ea typeface="宋体" panose="02010600030101010101" pitchFamily="2" charset="-122"/>
                </a:endParaRPr>
              </a:p>
              <a:p>
                <a:pPr lvl="0"/>
                <a:r>
                  <a:rPr lang="en-US" altLang="zh-CN" dirty="0">
                    <a:latin typeface="宋体" panose="02010600030101010101" pitchFamily="2" charset="-122"/>
                    <a:ea typeface="宋体" panose="02010600030101010101" pitchFamily="2" charset="-122"/>
                  </a:rPr>
                  <a:t>2. </a:t>
                </a:r>
                <a14:m>
                  <m:oMath xmlns:m="http://schemas.openxmlformats.org/officeDocument/2006/math">
                    <m:r>
                      <a:rPr lang="en-US" altLang="zh-CN" i="1"/>
                      <m:t>𝑚</m:t>
                    </m:r>
                    <m:r>
                      <a:rPr lang="en-US" altLang="zh-CN" i="1"/>
                      <m:t>−1</m:t>
                    </m:r>
                    <m:r>
                      <a:rPr lang="zh-CN" altLang="zh-CN" i="1"/>
                      <m:t>∈</m:t>
                    </m:r>
                    <m:r>
                      <a:rPr lang="en-US" altLang="zh-CN" i="1"/>
                      <m:t>𝑛𝑒𝑥𝑡𝑠𝑒𝑡</m:t>
                    </m:r>
                    <m:r>
                      <a:rPr lang="en-US" altLang="zh-CN" i="1"/>
                      <m:t>[</m:t>
                    </m:r>
                    <m:r>
                      <a:rPr lang="en-US" altLang="zh-CN" i="1"/>
                      <m:t>𝑚</m:t>
                    </m:r>
                    <m:r>
                      <a:rPr lang="en-US" altLang="zh-CN" i="1"/>
                      <m:t>+</m:t>
                    </m:r>
                    <m:r>
                      <a:rPr lang="en-US" altLang="zh-CN" i="1"/>
                      <m:t>𝑛</m:t>
                    </m:r>
                    <m:r>
                      <a:rPr lang="en-US" altLang="zh-CN" i="1"/>
                      <m:t>−1]</m:t>
                    </m:r>
                  </m:oMath>
                </a14:m>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且</a:t>
                </a:r>
                <a14:m>
                  <m:oMath xmlns:m="http://schemas.openxmlformats.org/officeDocument/2006/math">
                    <m:r>
                      <a:rPr lang="en-US" altLang="zh-CN" i="1"/>
                      <m:t>𝑆</m:t>
                    </m:r>
                    <m:r>
                      <a:rPr lang="en-US" altLang="zh-CN" i="1"/>
                      <m:t>[</m:t>
                    </m:r>
                    <m:r>
                      <a:rPr lang="en-US" altLang="zh-CN" i="1"/>
                      <m:t>𝑚</m:t>
                    </m:r>
                    <m:r>
                      <a:rPr lang="en-US" altLang="zh-CN" i="1"/>
                      <m:t>−1]=</m:t>
                    </m:r>
                    <m:r>
                      <a:rPr lang="en-US" altLang="zh-CN" i="1"/>
                      <m:t>𝑆</m:t>
                    </m:r>
                    <m:r>
                      <a:rPr lang="en-US" altLang="zh-CN" i="1"/>
                      <m:t>[</m:t>
                    </m:r>
                    <m:r>
                      <a:rPr lang="en-US" altLang="zh-CN" i="1"/>
                      <m:t>𝑚</m:t>
                    </m:r>
                    <m:r>
                      <a:rPr lang="en-US" altLang="zh-CN" i="1"/>
                      <m:t>+</m:t>
                    </m:r>
                    <m:r>
                      <a:rPr lang="en-US" altLang="zh-CN" i="1"/>
                      <m:t>𝑛</m:t>
                    </m:r>
                    <m:r>
                      <a:rPr lang="en-US" altLang="zh-CN" i="1"/>
                      <m:t>−1]</m:t>
                    </m:r>
                  </m:oMath>
                </a14:m>
                <a:r>
                  <a:rPr lang="zh-CN" altLang="zh-CN" dirty="0">
                    <a:latin typeface="宋体" panose="02010600030101010101" pitchFamily="2" charset="-122"/>
                    <a:ea typeface="宋体" panose="02010600030101010101" pitchFamily="2" charset="-122"/>
                  </a:rPr>
                  <a:t>（对应</a:t>
                </a:r>
                <a:r>
                  <a:rPr lang="en-US" altLang="zh-CN" dirty="0">
                    <a:latin typeface="宋体" panose="02010600030101010101" pitchFamily="2" charset="-122"/>
                    <a:ea typeface="宋体" panose="02010600030101010101" pitchFamily="2" charset="-122"/>
                  </a:rPr>
                  <a:t>P</a:t>
                </a:r>
                <a:r>
                  <a:rPr lang="zh-CN" altLang="zh-CN" dirty="0">
                    <a:latin typeface="宋体" panose="02010600030101010101" pitchFamily="2" charset="-122"/>
                    <a:ea typeface="宋体" panose="02010600030101010101" pitchFamily="2" charset="-122"/>
                  </a:rPr>
                  <a:t>在</a:t>
                </a:r>
                <a:r>
                  <a:rPr lang="en-US" altLang="zh-CN" dirty="0">
                    <a:latin typeface="宋体" panose="02010600030101010101" pitchFamily="2" charset="-122"/>
                    <a:ea typeface="宋体" panose="02010600030101010101" pitchFamily="2" charset="-122"/>
                  </a:rPr>
                  <a:t>T</a:t>
                </a:r>
                <a:r>
                  <a:rPr lang="zh-CN" altLang="zh-CN" dirty="0">
                    <a:latin typeface="宋体" panose="02010600030101010101" pitchFamily="2" charset="-122"/>
                    <a:ea typeface="宋体" panose="02010600030101010101" pitchFamily="2" charset="-122"/>
                  </a:rPr>
                  <a:t>尾部匹配的情况）</a:t>
                </a: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1351845"/>
              </a:xfrm>
              <a:prstGeom prst="rect">
                <a:avLst/>
              </a:prstGeom>
              <a:blipFill>
                <a:blip r:embed="rId3"/>
                <a:stretch>
                  <a:fillRect l="-481" t="-27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9C55367C-9351-4FD7-9248-F12D35E55DE6}"/>
                  </a:ext>
                </a:extLst>
              </p:cNvPr>
              <p:cNvSpPr/>
              <p:nvPr/>
            </p:nvSpPr>
            <p:spPr>
              <a:xfrm>
                <a:off x="1024646" y="2451555"/>
                <a:ext cx="10005754" cy="3015826"/>
              </a:xfrm>
              <a:prstGeom prst="rect">
                <a:avLst/>
              </a:prstGeom>
            </p:spPr>
            <p:txBody>
              <a:bodyPr wrap="square">
                <a:spAutoFit/>
              </a:bodyPr>
              <a:lstStyle/>
              <a:p>
                <a:pPr algn="just">
                  <a:lnSpc>
                    <a:spcPct val="150000"/>
                  </a:lnSpc>
                  <a:spcAft>
                    <a:spcPts val="0"/>
                  </a:spcAft>
                </a:pPr>
                <a:r>
                  <a:rPr lang="zh-CN" altLang="en-US" kern="100" dirty="0">
                    <a:latin typeface="宋体" panose="02010600030101010101" pitchFamily="2" charset="-122"/>
                    <a:ea typeface="宋体" panose="02010600030101010101" pitchFamily="2" charset="-122"/>
                  </a:rPr>
                  <a:t>几个错误点：</a:t>
                </a:r>
                <a:endParaRPr lang="en-US" altLang="zh-CN"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kern="100" dirty="0">
                    <a:latin typeface="宋体" panose="02010600030101010101" pitchFamily="2" charset="-122"/>
                    <a:ea typeface="宋体" panose="02010600030101010101" pitchFamily="2" charset="-122"/>
                  </a:rPr>
                  <a:t>定义不清 </a:t>
                </a:r>
                <a:r>
                  <a:rPr lang="en-US" altLang="zh-CN" kern="100" dirty="0" err="1">
                    <a:latin typeface="宋体" panose="02010600030101010101" pitchFamily="2" charset="-122"/>
                    <a:ea typeface="宋体" panose="02010600030101010101" pitchFamily="2" charset="-122"/>
                  </a:rPr>
                  <a:t>nextset</a:t>
                </a:r>
                <a:r>
                  <a:rPr lang="en-US" altLang="zh-CN" kern="100" dirty="0">
                    <a:latin typeface="宋体" panose="02010600030101010101" pitchFamily="2" charset="-122"/>
                    <a:ea typeface="宋体" panose="02010600030101010101" pitchFamily="2" charset="-122"/>
                  </a:rPr>
                  <a:t> </a:t>
                </a:r>
                <a:r>
                  <a:rPr lang="zh-CN" altLang="en-US" kern="100" dirty="0">
                    <a:latin typeface="宋体" panose="02010600030101010101" pitchFamily="2" charset="-122"/>
                    <a:ea typeface="宋体" panose="02010600030101010101" pitchFamily="2" charset="-122"/>
                  </a:rPr>
                  <a:t>是 </a:t>
                </a:r>
                <a:r>
                  <a:rPr lang="en-US" altLang="zh-CN" kern="100" dirty="0">
                    <a:latin typeface="宋体" panose="02010600030101010101" pitchFamily="2" charset="-122"/>
                    <a:ea typeface="宋体" panose="02010600030101010101" pitchFamily="2" charset="-122"/>
                  </a:rPr>
                  <a:t>set</a:t>
                </a:r>
              </a:p>
              <a:p>
                <a:pPr algn="just">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𝑘</m:t>
                              </m:r>
                              <m:r>
                                <a:rPr lang="en-US" altLang="zh-CN" i="1">
                                  <a:latin typeface="Cambria Math" panose="02040503050406030204" pitchFamily="18" charset="0"/>
                                </a:rPr>
                                <m:t> </m:t>
                              </m:r>
                            </m:e>
                          </m:d>
                          <m:r>
                            <a:rPr lang="en-US" altLang="zh-CN" i="1">
                              <a:latin typeface="Cambria Math" panose="02040503050406030204" pitchFamily="18" charset="0"/>
                            </a:rPr>
                            <m:t> </m:t>
                          </m:r>
                          <m:eqArr>
                            <m:eqArrPr>
                              <m:ctrlPr>
                                <a:rPr lang="zh-CN" altLang="zh-CN" i="1">
                                  <a:latin typeface="Cambria Math" panose="02040503050406030204" pitchFamily="18" charset="0"/>
                                </a:rPr>
                              </m:ctrlPr>
                            </m:eqArrPr>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−1</m:t>
                                  </m:r>
                                </m:e>
                              </m:d>
                              <m:r>
                                <a:rPr lang="en-US" altLang="zh-CN" i="1">
                                  <a:latin typeface="Cambria Math" panose="02040503050406030204" pitchFamily="18" charset="0"/>
                                </a:rPr>
                                <m:t>,  </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𝑖</m:t>
                              </m:r>
                              <m:r>
                                <a:rPr lang="en-US" altLang="zh-CN" i="1">
                                  <a:latin typeface="Cambria Math" panose="02040503050406030204" pitchFamily="18" charset="0"/>
                                </a:rPr>
                                <m:t>=0</m:t>
                              </m:r>
                            </m:e>
                            <m:e>
                              <m:r>
                                <a:rPr lang="en-US" altLang="zh-CN" i="1">
                                  <a:latin typeface="Cambria Math" panose="02040503050406030204" pitchFamily="18" charset="0"/>
                                </a:rPr>
                                <m:t>0&lt;</m:t>
                              </m:r>
                              <m:r>
                                <a:rPr lang="en-US" altLang="zh-CN" i="1">
                                  <a:latin typeface="Cambria Math" panose="02040503050406030204" pitchFamily="18" charset="0"/>
                                </a:rPr>
                                <m:t>𝑘</m:t>
                              </m:r>
                              <m:r>
                                <a:rPr lang="en-US" altLang="zh-CN" i="1">
                                  <a:latin typeface="Cambria Math" panose="02040503050406030204" pitchFamily="18" charset="0"/>
                                </a:rPr>
                                <m:t>&lt;</m:t>
                              </m:r>
                              <m:r>
                                <a:rPr lang="en-US" altLang="zh-CN" i="1">
                                  <a:latin typeface="Cambria Math" panose="02040503050406030204" pitchFamily="18" charset="0"/>
                                </a:rPr>
                                <m:t>𝑖</m:t>
                              </m:r>
                              <m:r>
                                <a:rPr lang="en-US" altLang="zh-CN" i="1">
                                  <a:latin typeface="Cambria Math" panose="02040503050406030204" pitchFamily="18" charset="0"/>
                                </a:rPr>
                                <m:t> , </m:t>
                              </m:r>
                              <m:r>
                                <a:rPr lang="en-US" altLang="zh-CN" i="1">
                                  <a:latin typeface="Cambria Math" panose="02040503050406030204" pitchFamily="18" charset="0"/>
                                </a:rPr>
                                <m:t>𝑆</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0…</m:t>
                                  </m:r>
                                  <m:d>
                                    <m:dPr>
                                      <m:ctrlPr>
                                        <a:rPr lang="zh-CN" altLang="zh-CN" i="1">
                                          <a:latin typeface="Cambria Math" panose="02040503050406030204" pitchFamily="18" charset="0"/>
                                        </a:rPr>
                                      </m:ctrlPr>
                                    </m:dPr>
                                    <m:e>
                                      <m:r>
                                        <a:rPr lang="en-US" altLang="zh-CN" i="1">
                                          <a:latin typeface="Cambria Math" panose="02040503050406030204" pitchFamily="18" charset="0"/>
                                        </a:rPr>
                                        <m:t>𝑘</m:t>
                                      </m:r>
                                      <m:r>
                                        <a:rPr lang="en-US" altLang="zh-CN" i="1">
                                          <a:latin typeface="Cambria Math" panose="02040503050406030204" pitchFamily="18" charset="0"/>
                                        </a:rPr>
                                        <m:t>−1</m:t>
                                      </m:r>
                                    </m:e>
                                  </m:d>
                                </m:e>
                              </m:d>
                              <m:r>
                                <a:rPr lang="en-US" altLang="zh-CN" i="1">
                                  <a:latin typeface="Cambria Math" panose="02040503050406030204" pitchFamily="18" charset="0"/>
                                </a:rPr>
                                <m:t>=</m:t>
                              </m:r>
                              <m:r>
                                <a:rPr lang="en-US" altLang="zh-CN" i="1">
                                  <a:latin typeface="Cambria Math" panose="02040503050406030204" pitchFamily="18" charset="0"/>
                                </a:rPr>
                                <m:t>𝑆</m:t>
                              </m:r>
                              <m:d>
                                <m:dPr>
                                  <m:begChr m:val="["/>
                                  <m:endChr m:val="]"/>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𝑘</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e>
                              </m:d>
                              <m:r>
                                <a:rPr lang="en-US" altLang="zh-CN" i="1">
                                  <a:latin typeface="Cambria Math" panose="02040503050406030204" pitchFamily="18" charset="0"/>
                                </a:rPr>
                                <m:t>,</m:t>
                              </m:r>
                              <m:r>
                                <a:rPr lang="en-US" altLang="zh-CN" i="1">
                                  <a:latin typeface="Cambria Math" panose="02040503050406030204" pitchFamily="18" charset="0"/>
                                </a:rPr>
                                <m:t>𝑖𝑓</m:t>
                              </m:r>
                              <m:r>
                                <a:rPr lang="en-US" altLang="zh-CN" i="1">
                                  <a:latin typeface="Cambria Math" panose="02040503050406030204" pitchFamily="18" charset="0"/>
                                </a:rPr>
                                <m:t> </m:t>
                              </m:r>
                              <m:r>
                                <a:rPr lang="en-US" altLang="zh-CN" i="1">
                                  <a:latin typeface="Cambria Math" panose="02040503050406030204" pitchFamily="18" charset="0"/>
                                </a:rPr>
                                <m:t>𝑘</m:t>
                              </m:r>
                              <m:r>
                                <a:rPr lang="en-US" altLang="zh-CN" i="1">
                                  <a:latin typeface="Cambria Math" panose="02040503050406030204" pitchFamily="18" charset="0"/>
                                </a:rPr>
                                <m:t> </m:t>
                              </m:r>
                              <m:r>
                                <a:rPr lang="en-US" altLang="zh-CN" i="1">
                                  <a:latin typeface="Cambria Math" panose="02040503050406030204" pitchFamily="18" charset="0"/>
                                </a:rPr>
                                <m:t>𝑒𝑥𝑖𝑠𝑡𝑠</m:t>
                              </m:r>
                            </m:e>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0</m:t>
                                  </m:r>
                                </m:e>
                              </m:d>
                              <m:r>
                                <a:rPr lang="en-US" altLang="zh-CN" i="1">
                                  <a:latin typeface="Cambria Math" panose="02040503050406030204" pitchFamily="18" charset="0"/>
                                </a:rPr>
                                <m:t>,  </m:t>
                              </m:r>
                              <m:r>
                                <a:rPr lang="en-US" altLang="zh-CN" i="1">
                                  <a:latin typeface="Cambria Math" panose="02040503050406030204" pitchFamily="18" charset="0"/>
                                </a:rPr>
                                <m:t>𝑜𝑡h𝑒𝑟𝑤𝑖𝑠𝑒</m:t>
                              </m:r>
                            </m:e>
                          </m:eqArr>
                        </m:e>
                      </m:d>
                      <m:r>
                        <a:rPr lang="en-US" altLang="zh-CN" i="1">
                          <a:latin typeface="Cambria Math" panose="02040503050406030204" pitchFamily="18" charset="0"/>
                        </a:rPr>
                        <m:t> </m:t>
                      </m:r>
                    </m:oMath>
                  </m:oMathPara>
                </a14:m>
                <a:endParaRPr lang="zh-CN" altLang="zh-CN"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en-US" altLang="zh-CN" kern="100" dirty="0" err="1">
                    <a:latin typeface="宋体" panose="02010600030101010101" pitchFamily="2" charset="-122"/>
                    <a:ea typeface="宋体" panose="02010600030101010101" pitchFamily="2" charset="-122"/>
                  </a:rPr>
                  <a:t>nextset</a:t>
                </a:r>
                <a:r>
                  <a:rPr lang="zh-CN" altLang="en-US" kern="100" dirty="0">
                    <a:latin typeface="宋体" panose="02010600030101010101" pitchFamily="2" charset="-122"/>
                    <a:ea typeface="宋体" panose="02010600030101010101" pitchFamily="2" charset="-122"/>
                  </a:rPr>
                  <a:t>下标不能取到</a:t>
                </a:r>
                <a:r>
                  <a:rPr lang="en-US" altLang="zh-CN" kern="100" dirty="0" err="1">
                    <a:latin typeface="宋体" panose="02010600030101010101" pitchFamily="2" charset="-122"/>
                    <a:ea typeface="宋体" panose="02010600030101010101" pitchFamily="2" charset="-122"/>
                  </a:rPr>
                  <a:t>m+n</a:t>
                </a:r>
                <a:r>
                  <a:rPr lang="zh-CN" altLang="en-US" kern="100" dirty="0">
                    <a:latin typeface="宋体" panose="02010600030101010101" pitchFamily="2" charset="-122"/>
                    <a:ea typeface="宋体" panose="02010600030101010101" pitchFamily="2" charset="-122"/>
                  </a:rPr>
                  <a:t>，所以第二小题的不能判断</a:t>
                </a:r>
                <a14:m>
                  <m:oMath xmlns:m="http://schemas.openxmlformats.org/officeDocument/2006/math">
                    <m:r>
                      <a:rPr lang="en-US" altLang="zh-CN" i="1">
                        <a:latin typeface="Cambria Math" panose="02040503050406030204" pitchFamily="18" charset="0"/>
                      </a:rPr>
                      <m:t>𝑛𝑒𝑥𝑡𝑠𝑒𝑡</m:t>
                    </m:r>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b="0" i="0" smtClean="0">
                        <a:latin typeface="Cambria Math" panose="02040503050406030204" pitchFamily="18" charset="0"/>
                      </a:rPr>
                      <m:t>]</m:t>
                    </m:r>
                  </m:oMath>
                </a14:m>
                <a:r>
                  <a:rPr lang="zh-CN" altLang="en-US" kern="100" dirty="0">
                    <a:latin typeface="宋体" panose="02010600030101010101" pitchFamily="2" charset="-122"/>
                    <a:ea typeface="宋体" panose="02010600030101010101" pitchFamily="2" charset="-122"/>
                  </a:rPr>
                  <a:t>来判断</a:t>
                </a:r>
                <a:endParaRPr lang="en-US" altLang="zh-CN" kern="100" dirty="0">
                  <a:latin typeface="宋体" panose="02010600030101010101" pitchFamily="2" charset="-122"/>
                  <a:ea typeface="宋体" panose="02010600030101010101" pitchFamily="2" charset="-122"/>
                </a:endParaRPr>
              </a:p>
            </p:txBody>
          </p:sp>
        </mc:Choice>
        <mc:Fallback>
          <p:sp>
            <p:nvSpPr>
              <p:cNvPr id="5" name="矩形 4">
                <a:extLst>
                  <a:ext uri="{FF2B5EF4-FFF2-40B4-BE49-F238E27FC236}">
                    <a16:creationId xmlns:a16="http://schemas.microsoft.com/office/drawing/2014/main" id="{9C55367C-9351-4FD7-9248-F12D35E55DE6}"/>
                  </a:ext>
                </a:extLst>
              </p:cNvPr>
              <p:cNvSpPr>
                <a:spLocks noRot="1" noChangeAspect="1" noMove="1" noResize="1" noEditPoints="1" noAdjustHandles="1" noChangeArrowheads="1" noChangeShapeType="1" noTextEdit="1"/>
              </p:cNvSpPr>
              <p:nvPr/>
            </p:nvSpPr>
            <p:spPr>
              <a:xfrm>
                <a:off x="1024646" y="2451555"/>
                <a:ext cx="10005754" cy="3015826"/>
              </a:xfrm>
              <a:prstGeom prst="rect">
                <a:avLst/>
              </a:prstGeom>
              <a:blipFill>
                <a:blip r:embed="rId4"/>
                <a:stretch>
                  <a:fillRect l="-488" b="-22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2361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094180"/>
              </a:xfrm>
              <a:prstGeom prst="rect">
                <a:avLst/>
              </a:prstGeom>
            </p:spPr>
            <p:txBody>
              <a:bodyPr wrap="square">
                <a:spAutoFit/>
              </a:bodyPr>
              <a:lstStyle/>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有的同学将</a:t>
                </a:r>
                <a:r>
                  <a:rPr lang="en-US" altLang="zh-CN" sz="2200" kern="100" dirty="0" err="1">
                    <a:latin typeface="宋体" panose="02010600030101010101" pitchFamily="2" charset="-122"/>
                    <a:ea typeface="宋体" panose="02010600030101010101" pitchFamily="2" charset="-122"/>
                  </a:rPr>
                  <a:t>nextset</a:t>
                </a:r>
                <a:r>
                  <a:rPr lang="zh-CN" altLang="en-US" sz="2200" kern="100" dirty="0">
                    <a:latin typeface="宋体" panose="02010600030101010101" pitchFamily="2" charset="-122"/>
                    <a:ea typeface="宋体" panose="02010600030101010101" pitchFamily="2" charset="-122"/>
                  </a:rPr>
                  <a:t>当做是</a:t>
                </a:r>
                <a:r>
                  <a:rPr lang="en-US" altLang="zh-CN" sz="2200" kern="100" dirty="0">
                    <a:latin typeface="宋体" panose="02010600030101010101" pitchFamily="2" charset="-122"/>
                    <a:ea typeface="宋体" panose="02010600030101010101" pitchFamily="2" charset="-122"/>
                  </a:rPr>
                  <a:t>next</a:t>
                </a:r>
                <a:r>
                  <a:rPr lang="zh-CN" altLang="en-US" sz="2200" kern="100" dirty="0">
                    <a:latin typeface="宋体" panose="02010600030101010101" pitchFamily="2" charset="-122"/>
                    <a:ea typeface="宋体" panose="02010600030101010101" pitchFamily="2" charset="-122"/>
                  </a:rPr>
                  <a:t>数组，要是能做到判断</a:t>
                </a:r>
                <a14:m>
                  <m:oMath xmlns:m="http://schemas.openxmlformats.org/officeDocument/2006/math">
                    <m:r>
                      <a:rPr lang="en-US" altLang="zh-CN" sz="2400" i="1">
                        <a:latin typeface="Cambria Math" panose="02040503050406030204" pitchFamily="18" charset="0"/>
                      </a:rPr>
                      <m:t>𝑚</m:t>
                    </m:r>
                    <m:r>
                      <a:rPr lang="zh-CN" altLang="zh-CN" sz="2400" i="1">
                        <a:latin typeface="Cambria Math" panose="02040503050406030204" pitchFamily="18" charset="0"/>
                      </a:rPr>
                      <m:t>∈</m:t>
                    </m:r>
                    <m:r>
                      <a:rPr lang="en-US" altLang="zh-CN" sz="2400" i="1">
                        <a:latin typeface="Cambria Math" panose="02040503050406030204" pitchFamily="18" charset="0"/>
                      </a:rPr>
                      <m:t>𝑛𝑒𝑥𝑡𝑠𝑒𝑡</m:t>
                    </m:r>
                    <m:r>
                      <a:rPr lang="en-US" altLang="zh-CN" sz="2400" i="1">
                        <a:latin typeface="Cambria Math" panose="02040503050406030204" pitchFamily="18" charset="0"/>
                      </a:rPr>
                      <m:t>[</m:t>
                    </m:r>
                    <m:r>
                      <m:rPr>
                        <m:sty m:val="p"/>
                      </m:rPr>
                      <a:rPr lang="en-US" altLang="zh-CN" sz="2400" i="1">
                        <a:latin typeface="Cambria Math" panose="02040503050406030204" pitchFamily="18" charset="0"/>
                      </a:rPr>
                      <m:t>i</m:t>
                    </m:r>
                    <m:r>
                      <a:rPr lang="en-US" altLang="zh-CN" sz="2400" i="1">
                        <a:latin typeface="Cambria Math" panose="02040503050406030204" pitchFamily="18" charset="0"/>
                      </a:rPr>
                      <m:t>] </m:t>
                    </m:r>
                  </m:oMath>
                </a14:m>
                <a:r>
                  <a:rPr lang="zh-CN" altLang="en-US" sz="2200" kern="100" dirty="0">
                    <a:latin typeface="宋体" panose="02010600030101010101" pitchFamily="2" charset="-122"/>
                    <a:ea typeface="宋体" panose="02010600030101010101" pitchFamily="2" charset="-122"/>
                  </a:rPr>
                  <a:t>也可</a:t>
                </a: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一种做法是定义一个迭代过程来断</a:t>
                </a:r>
                <a:r>
                  <a:rPr lang="en-US" altLang="zh-CN" sz="2000" dirty="0"/>
                  <a:t> </a:t>
                </a:r>
                <a14:m>
                  <m:oMath xmlns:m="http://schemas.openxmlformats.org/officeDocument/2006/math">
                    <m:r>
                      <a:rPr lang="en-US" altLang="zh-CN" sz="2000" i="1">
                        <a:latin typeface="Cambria Math" panose="02040503050406030204" pitchFamily="18" charset="0"/>
                      </a:rPr>
                      <m:t>𝑛𝑒𝑥𝑡𝑠𝑒𝑡</m:t>
                    </m:r>
                    <m:r>
                      <a:rPr lang="en-US" altLang="zh-CN" sz="2000" i="1">
                        <a:latin typeface="Cambria Math" panose="02040503050406030204" pitchFamily="18" charset="0"/>
                      </a:rPr>
                      <m:t>[</m:t>
                    </m:r>
                    <m:r>
                      <m:rPr>
                        <m:sty m:val="p"/>
                      </m:rPr>
                      <a:rPr lang="en-US" altLang="zh-CN" sz="2000" i="1">
                        <a:latin typeface="Cambria Math" panose="02040503050406030204" pitchFamily="18" charset="0"/>
                      </a:rPr>
                      <m:t>i</m:t>
                    </m:r>
                    <m:r>
                      <a:rPr lang="en-US" altLang="zh-CN" sz="2000" i="1">
                        <a:latin typeface="Cambria Math" panose="02040503050406030204" pitchFamily="18" charset="0"/>
                      </a:rPr>
                      <m:t>] </m:t>
                    </m:r>
                  </m:oMath>
                </a14:m>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这种做法也行</a:t>
                </a:r>
                <a:endParaRPr lang="en-US" altLang="zh-CN" sz="2200" kern="100"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3094180"/>
              </a:xfrm>
              <a:prstGeom prst="rect">
                <a:avLst/>
              </a:prstGeom>
              <a:blipFill>
                <a:blip r:embed="rId3"/>
                <a:stretch>
                  <a:fillRect l="-781" b="-2756"/>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25758EA3-C82A-42F7-88A9-D29E56D768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5168" y="2252954"/>
            <a:ext cx="4293565" cy="1595065"/>
          </a:xfrm>
          <a:prstGeom prst="rect">
            <a:avLst/>
          </a:prstGeom>
        </p:spPr>
      </p:pic>
    </p:spTree>
    <p:extLst>
      <p:ext uri="{BB962C8B-B14F-4D97-AF65-F5344CB8AC3E}">
        <p14:creationId xmlns:p14="http://schemas.microsoft.com/office/powerpoint/2010/main" val="1391916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dirty="0">
                <a:sym typeface="Arial" panose="020B0604020202020204" pitchFamily="34" charset="0"/>
              </a:rPr>
              <a:t>&lt; </a:t>
            </a:r>
            <a:fld id="{A548B57D-AE10-4CF7-A9DF-59FEFA91B28E}" type="slidenum">
              <a:rPr lang="zh-CN" altLang="en-US" smtClean="0">
                <a:sym typeface="Arial" panose="020B0604020202020204" pitchFamily="34" charset="0"/>
              </a:rPr>
              <a:pPr/>
              <a:t>7</a:t>
            </a:fld>
            <a:r>
              <a:rPr lang="zh-CN" altLang="en-US" dirty="0">
                <a:sym typeface="Arial" panose="020B0604020202020204" pitchFamily="34" charset="0"/>
              </a:rPr>
              <a:t> </a:t>
            </a:r>
            <a:r>
              <a:rPr lang="en-US" altLang="zh-CN" dirty="0">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868236" y="1266839"/>
                <a:ext cx="10142708" cy="4444999"/>
              </a:xfrm>
              <a:prstGeom prst="rect">
                <a:avLst/>
              </a:prstGeom>
            </p:spPr>
            <p:txBody>
              <a:bodyPr wrap="square">
                <a:spAutoFit/>
              </a:bodyPr>
              <a:lstStyle/>
              <a:p>
                <a:pPr>
                  <a:lnSpc>
                    <a:spcPct val="150000"/>
                  </a:lnSpc>
                </a:pPr>
                <a:r>
                  <a:rPr lang="zh-CN" altLang="en-US" sz="2200" kern="100" dirty="0">
                    <a:latin typeface="宋体" panose="02010600030101010101" pitchFamily="2" charset="-122"/>
                    <a:ea typeface="宋体" panose="02010600030101010101" pitchFamily="2" charset="-122"/>
                  </a:rPr>
                  <a:t>很容易误解的答案：</a:t>
                </a:r>
                <a:endParaRPr lang="en-US" altLang="zh-CN" sz="2200" kern="100" dirty="0">
                  <a:latin typeface="宋体" panose="02010600030101010101" pitchFamily="2" charset="-122"/>
                  <a:ea typeface="宋体" panose="02010600030101010101" pitchFamily="2" charset="-122"/>
                </a:endParaRPr>
              </a:p>
              <a:p>
                <a:pPr>
                  <a:lnSpc>
                    <a:spcPct val="150000"/>
                  </a:lnSpc>
                </a:pPr>
                <a:r>
                  <a:rPr lang="en-US" altLang="zh-CN" sz="2200" kern="100" dirty="0">
                    <a:latin typeface="宋体" panose="02010600030101010101" pitchFamily="2" charset="-122"/>
                    <a:ea typeface="宋体" panose="02010600030101010101" pitchFamily="2" charset="-122"/>
                  </a:rPr>
                  <a:t>	</a:t>
                </a:r>
                <a:r>
                  <a:rPr lang="zh-CN" altLang="zh-CN" dirty="0"/>
                  <a:t>存在 </a:t>
                </a:r>
                <a14:m>
                  <m:oMath xmlns:m="http://schemas.openxmlformats.org/officeDocument/2006/math">
                    <m:r>
                      <a:rPr lang="en-US" altLang="zh-CN" i="1"/>
                      <m:t>2∗</m:t>
                    </m:r>
                    <m:r>
                      <a:rPr lang="en-US" altLang="zh-CN" i="1"/>
                      <m:t>𝑚</m:t>
                    </m:r>
                    <m:r>
                      <a:rPr lang="zh-CN" altLang="zh-CN" i="1"/>
                      <m:t>≤</m:t>
                    </m:r>
                    <m:r>
                      <a:rPr lang="en-US" altLang="zh-CN" i="1"/>
                      <m:t>𝑞</m:t>
                    </m:r>
                    <m:r>
                      <a:rPr lang="zh-CN" altLang="zh-CN" i="1"/>
                      <m:t>≤</m:t>
                    </m:r>
                    <m:r>
                      <a:rPr lang="en-US" altLang="zh-CN" i="1"/>
                      <m:t>𝑛</m:t>
                    </m:r>
                    <m:r>
                      <a:rPr lang="en-US" altLang="zh-CN" i="1"/>
                      <m:t>+</m:t>
                    </m:r>
                    <m:r>
                      <a:rPr lang="en-US" altLang="zh-CN" i="1"/>
                      <m:t>𝑚</m:t>
                    </m:r>
                    <m:r>
                      <a:rPr lang="zh-CN" altLang="en-US" i="1"/>
                      <m:t>−</m:t>
                    </m:r>
                    <m:r>
                      <a:rPr lang="en-US" altLang="zh-CN" i="1"/>
                      <m:t>1</m:t>
                    </m:r>
                  </m:oMath>
                </a14:m>
                <a:r>
                  <a:rPr lang="zh-CN" altLang="zh-CN" dirty="0"/>
                  <a:t>，使得</a:t>
                </a:r>
                <a14:m>
                  <m:oMath xmlns:m="http://schemas.openxmlformats.org/officeDocument/2006/math">
                    <m:r>
                      <m:rPr>
                        <m:sty m:val="p"/>
                      </m:rPr>
                      <a:rPr lang="en-US" altLang="zh-CN" i="1">
                        <a:latin typeface="Cambria Math" panose="02040503050406030204" pitchFamily="18" charset="0"/>
                      </a:rPr>
                      <m:t>nex</m:t>
                    </m:r>
                    <m:r>
                      <a:rPr lang="en-US" altLang="zh-CN" b="0" i="1" smtClean="0">
                        <a:latin typeface="Cambria Math" panose="02040503050406030204" pitchFamily="18" charset="0"/>
                      </a:rPr>
                      <m:t>𝑡</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𝑞</m:t>
                        </m:r>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𝑚</m:t>
                    </m:r>
                  </m:oMath>
                </a14:m>
                <a:endParaRPr lang="zh-CN" altLang="zh-CN" dirty="0"/>
              </a:p>
              <a:p>
                <a:pPr>
                  <a:lnSpc>
                    <a:spcPct val="150000"/>
                  </a:lnSpc>
                </a:pPr>
                <a:r>
                  <a:rPr lang="zh-CN" altLang="en-US" dirty="0">
                    <a:latin typeface="宋体" panose="02010600030101010101" pitchFamily="2" charset="-122"/>
                    <a:ea typeface="宋体" panose="02010600030101010101" pitchFamily="2" charset="-122"/>
                  </a:rPr>
                  <a:t>必要性容易证明，充分性无法证明。</a:t>
                </a:r>
                <a:endParaRPr lang="en-US" altLang="zh-CN"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反例：</a:t>
                </a:r>
                <a:endParaRPr lang="en-US" altLang="zh-CN" dirty="0">
                  <a:latin typeface="宋体" panose="02010600030101010101" pitchFamily="2" charset="-122"/>
                  <a:ea typeface="宋体" panose="02010600030101010101" pitchFamily="2" charset="-122"/>
                </a:endParaRPr>
              </a:p>
              <a:p>
                <a:pPr>
                  <a:lnSpc>
                    <a:spcPct val="150000"/>
                  </a:lnSpc>
                </a:pPr>
                <a:r>
                  <a:rPr lang="en-US" altLang="zh-CN" kern="100" dirty="0">
                    <a:latin typeface="宋体" panose="02010600030101010101" pitchFamily="2" charset="-122"/>
                    <a:ea typeface="宋体" panose="02010600030101010101" pitchFamily="2" charset="-122"/>
                  </a:rPr>
                  <a:t>	P=aba T=</a:t>
                </a:r>
                <a:r>
                  <a:rPr lang="en-US" altLang="zh-CN" kern="100" dirty="0" err="1">
                    <a:latin typeface="宋体" panose="02010600030101010101" pitchFamily="2" charset="-122"/>
                    <a:ea typeface="宋体" panose="02010600030101010101" pitchFamily="2" charset="-122"/>
                  </a:rPr>
                  <a:t>babc</a:t>
                </a:r>
                <a:endParaRPr lang="en-US" altLang="zh-CN" kern="100" dirty="0">
                  <a:latin typeface="宋体" panose="02010600030101010101" pitchFamily="2" charset="-122"/>
                  <a:ea typeface="宋体" panose="02010600030101010101" pitchFamily="2" charset="-122"/>
                </a:endParaRPr>
              </a:p>
              <a:p>
                <a:pPr>
                  <a:lnSpc>
                    <a:spcPct val="150000"/>
                  </a:lnSpc>
                </a:pPr>
                <a:r>
                  <a:rPr lang="en-US" altLang="zh-CN" kern="100" dirty="0">
                    <a:latin typeface="宋体" panose="02010600030101010101" pitchFamily="2" charset="-122"/>
                    <a:ea typeface="宋体" panose="02010600030101010101" pitchFamily="2" charset="-122"/>
                  </a:rPr>
                  <a:t>	S=      a b a b a b c</a:t>
                </a:r>
              </a:p>
              <a:p>
                <a:pPr>
                  <a:lnSpc>
                    <a:spcPct val="150000"/>
                  </a:lnSpc>
                </a:pPr>
                <a:r>
                  <a:rPr lang="en-US" altLang="zh-CN" kern="100" dirty="0">
                    <a:latin typeface="宋体" panose="02010600030101010101" pitchFamily="2" charset="-122"/>
                    <a:ea typeface="宋体" panose="02010600030101010101" pitchFamily="2" charset="-122"/>
                  </a:rPr>
                  <a:t>	next=[ -1 0 0 1 2 3 4]</a:t>
                </a:r>
              </a:p>
              <a:p>
                <a:pPr>
                  <a:lnSpc>
                    <a:spcPct val="150000"/>
                  </a:lnSpc>
                </a:pPr>
                <a:r>
                  <a:rPr lang="en-US" altLang="zh-CN" kern="100" dirty="0">
                    <a:latin typeface="宋体" panose="02010600030101010101" pitchFamily="2" charset="-122"/>
                    <a:ea typeface="宋体" panose="02010600030101010101" pitchFamily="2" charset="-122"/>
                  </a:rPr>
                  <a:t>	next[6] &gt; m </a:t>
                </a:r>
                <a:r>
                  <a:rPr lang="zh-CN" altLang="en-US" kern="100" dirty="0">
                    <a:latin typeface="宋体" panose="02010600030101010101" pitchFamily="2" charset="-122"/>
                    <a:ea typeface="宋体" panose="02010600030101010101" pitchFamily="2" charset="-122"/>
                  </a:rPr>
                  <a:t>但是 </a:t>
                </a:r>
                <a:r>
                  <a:rPr lang="en-US" altLang="zh-CN" kern="100" dirty="0">
                    <a:latin typeface="宋体" panose="02010600030101010101" pitchFamily="2" charset="-122"/>
                    <a:ea typeface="宋体" panose="02010600030101010101" pitchFamily="2" charset="-122"/>
                  </a:rPr>
                  <a:t>P</a:t>
                </a:r>
                <a:r>
                  <a:rPr lang="zh-CN" altLang="en-US" kern="100" dirty="0">
                    <a:latin typeface="宋体" panose="02010600030101010101" pitchFamily="2" charset="-122"/>
                    <a:ea typeface="宋体" panose="02010600030101010101" pitchFamily="2" charset="-122"/>
                  </a:rPr>
                  <a:t>没有出现在</a:t>
                </a:r>
                <a:r>
                  <a:rPr lang="en-US" altLang="zh-CN" kern="100" dirty="0">
                    <a:latin typeface="宋体" panose="02010600030101010101" pitchFamily="2" charset="-122"/>
                    <a:ea typeface="宋体" panose="02010600030101010101" pitchFamily="2" charset="-122"/>
                  </a:rPr>
                  <a:t>T</a:t>
                </a:r>
                <a:r>
                  <a:rPr lang="zh-CN" altLang="en-US" kern="100" dirty="0">
                    <a:latin typeface="宋体" panose="02010600030101010101" pitchFamily="2" charset="-122"/>
                    <a:ea typeface="宋体" panose="02010600030101010101" pitchFamily="2" charset="-122"/>
                  </a:rPr>
                  <a:t>中</a:t>
                </a:r>
                <a:endParaRPr lang="en-US" altLang="zh-CN" kern="100" dirty="0">
                  <a:latin typeface="宋体" panose="02010600030101010101" pitchFamily="2" charset="-122"/>
                  <a:ea typeface="宋体" panose="02010600030101010101" pitchFamily="2" charset="-122"/>
                </a:endParaRPr>
              </a:p>
              <a:p>
                <a:pPr>
                  <a:lnSpc>
                    <a:spcPct val="150000"/>
                  </a:lnSpc>
                </a:pPr>
                <a:endParaRPr lang="zh-CN" altLang="zh-CN"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868236" y="1266839"/>
                <a:ext cx="10142708" cy="4444999"/>
              </a:xfrm>
              <a:prstGeom prst="rect">
                <a:avLst/>
              </a:prstGeom>
              <a:blipFill>
                <a:blip r:embed="rId3"/>
                <a:stretch>
                  <a:fillRect l="-7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8805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3416320"/>
              </a:xfrm>
              <a:prstGeom prst="rect">
                <a:avLst/>
              </a:prstGeom>
            </p:spPr>
            <p:txBody>
              <a:bodyPr wrap="square">
                <a:spAutoFit/>
              </a:bodyPr>
              <a:lstStyle/>
              <a:p>
                <a:r>
                  <a:rPr lang="en-US" altLang="zh-CN" dirty="0">
                    <a:latin typeface="宋体" panose="02010600030101010101" pitchFamily="2" charset="-122"/>
                    <a:ea typeface="宋体" panose="02010600030101010101" pitchFamily="2" charset="-122"/>
                  </a:rPr>
                  <a:t>3. </a:t>
                </a:r>
                <a:r>
                  <a:rPr lang="zh-CN" altLang="zh-CN" dirty="0">
                    <a:latin typeface="宋体" panose="02010600030101010101" pitchFamily="2" charset="-122"/>
                    <a:ea typeface="宋体" panose="02010600030101010101" pitchFamily="2" charset="-122"/>
                  </a:rPr>
                  <a:t>若长度为</a:t>
                </a:r>
                <a:r>
                  <a:rPr lang="en-US" altLang="zh-CN" dirty="0">
                    <a:latin typeface="宋体" panose="02010600030101010101" pitchFamily="2" charset="-122"/>
                    <a:ea typeface="宋体" panose="02010600030101010101" pitchFamily="2" charset="-122"/>
                  </a:rPr>
                  <a:t>n(n&gt;1)</a:t>
                </a:r>
                <a:r>
                  <a:rPr lang="zh-CN" altLang="zh-CN" dirty="0">
                    <a:latin typeface="宋体" panose="02010600030101010101" pitchFamily="2" charset="-122"/>
                    <a:ea typeface="宋体" panose="02010600030101010101" pitchFamily="2" charset="-122"/>
                  </a:rPr>
                  <a:t>的两个字符串</a:t>
                </a:r>
                <a:r>
                  <a:rPr lang="en-US" altLang="zh-CN" dirty="0">
                    <a:latin typeface="宋体" panose="02010600030101010101" pitchFamily="2" charset="-122"/>
                    <a:ea typeface="宋体" panose="02010600030101010101" pitchFamily="2" charset="-122"/>
                  </a:rPr>
                  <a:t>A</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B</a:t>
                </a:r>
                <a:r>
                  <a:rPr lang="zh-CN" altLang="zh-CN" dirty="0">
                    <a:latin typeface="宋体" panose="02010600030101010101" pitchFamily="2" charset="-122"/>
                    <a:ea typeface="宋体" panose="02010600030101010101" pitchFamily="2" charset="-122"/>
                  </a:rPr>
                  <a:t>满足</a:t>
                </a:r>
                <a:r>
                  <a:rPr lang="en-US" altLang="zh-CN" dirty="0">
                    <a:latin typeface="宋体" panose="02010600030101010101" pitchFamily="2" charset="-122"/>
                    <a:ea typeface="宋体" panose="02010600030101010101" pitchFamily="2" charset="-122"/>
                  </a:rPr>
                  <a:t>: A=B</a:t>
                </a:r>
                <a:r>
                  <a:rPr lang="zh-CN" altLang="zh-CN" dirty="0">
                    <a:latin typeface="宋体" panose="02010600030101010101" pitchFamily="2" charset="-122"/>
                    <a:ea typeface="宋体" panose="02010600030101010101" pitchFamily="2" charset="-122"/>
                  </a:rPr>
                  <a:t>或者 存在</a:t>
                </a:r>
                <a14:m>
                  <m:oMath xmlns:m="http://schemas.openxmlformats.org/officeDocument/2006/math">
                    <m:r>
                      <a:rPr lang="en-US" altLang="zh-CN" i="1">
                        <a:latin typeface="Cambria Math" panose="02040503050406030204" pitchFamily="18" charset="0"/>
                      </a:rPr>
                      <m:t>𝑘</m:t>
                    </m:r>
                    <m:r>
                      <a:rPr lang="zh-CN"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zh-CN" dirty="0">
                    <a:latin typeface="宋体" panose="02010600030101010101" pitchFamily="2" charset="-122"/>
                    <a:ea typeface="宋体" panose="02010600030101010101" pitchFamily="2" charset="-122"/>
                  </a:rPr>
                  <a:t>使得，</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a:t>
                </a:r>
              </a:p>
              <a:p>
                <a:r>
                  <a:rPr lang="zh-CN" altLang="zh-CN" dirty="0">
                    <a:latin typeface="宋体" panose="02010600030101010101" pitchFamily="2" charset="-122"/>
                    <a:ea typeface="宋体" panose="02010600030101010101" pitchFamily="2" charset="-122"/>
                  </a:rPr>
                  <a:t>则称</a:t>
                </a:r>
                <a:r>
                  <a:rPr lang="en-US" altLang="zh-CN" dirty="0">
                    <a:latin typeface="宋体" panose="02010600030101010101" pitchFamily="2" charset="-122"/>
                    <a:ea typeface="宋体" panose="02010600030101010101" pitchFamily="2" charset="-122"/>
                  </a:rPr>
                  <a:t>A</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B</a:t>
                </a:r>
                <a:r>
                  <a:rPr lang="zh-CN" altLang="zh-CN" dirty="0">
                    <a:latin typeface="宋体" panose="02010600030101010101" pitchFamily="2" charset="-122"/>
                    <a:ea typeface="宋体" panose="02010600030101010101" pitchFamily="2" charset="-122"/>
                  </a:rPr>
                  <a:t>互相为彼此的循环旋转。例如，</a:t>
                </a:r>
                <a:r>
                  <a:rPr lang="en-US" altLang="zh-CN" dirty="0">
                    <a:latin typeface="宋体" panose="02010600030101010101" pitchFamily="2" charset="-122"/>
                    <a:ea typeface="宋体" panose="02010600030101010101" pitchFamily="2" charset="-122"/>
                  </a:rPr>
                  <a:t> arc </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 car </a:t>
                </a:r>
                <a:r>
                  <a:rPr lang="zh-CN" altLang="zh-CN" dirty="0">
                    <a:latin typeface="宋体" panose="02010600030101010101" pitchFamily="2" charset="-122"/>
                    <a:ea typeface="宋体" panose="02010600030101010101" pitchFamily="2" charset="-122"/>
                  </a:rPr>
                  <a:t>是彼此的循环旋转。请设计一个</a:t>
                </a:r>
                <a:r>
                  <a:rPr lang="zh-CN" altLang="zh-CN" b="1" dirty="0">
                    <a:latin typeface="宋体" panose="02010600030101010101" pitchFamily="2" charset="-122"/>
                    <a:ea typeface="宋体" panose="02010600030101010101" pitchFamily="2" charset="-122"/>
                  </a:rPr>
                  <a:t>线性时间</a:t>
                </a:r>
                <a:r>
                  <a:rPr lang="zh-CN" altLang="zh-CN" dirty="0">
                    <a:latin typeface="宋体" panose="02010600030101010101" pitchFamily="2" charset="-122"/>
                    <a:ea typeface="宋体" panose="02010600030101010101" pitchFamily="2" charset="-122"/>
                  </a:rPr>
                  <a:t>的算法，判断字符串</a:t>
                </a:r>
                <a:r>
                  <a:rPr lang="en-US" altLang="zh-CN" dirty="0">
                    <a:latin typeface="宋体" panose="02010600030101010101" pitchFamily="2" charset="-122"/>
                    <a:ea typeface="宋体" panose="02010600030101010101" pitchFamily="2" charset="-122"/>
                  </a:rPr>
                  <a:t>A</a:t>
                </a:r>
                <a:r>
                  <a:rPr lang="zh-CN" altLang="zh-CN" dirty="0">
                    <a:latin typeface="宋体" panose="02010600030101010101" pitchFamily="2" charset="-122"/>
                    <a:ea typeface="宋体" panose="02010600030101010101" pitchFamily="2" charset="-122"/>
                  </a:rPr>
                  <a:t>是否是另一个字符串</a:t>
                </a:r>
                <a:r>
                  <a:rPr lang="en-US" altLang="zh-CN" dirty="0">
                    <a:latin typeface="宋体" panose="02010600030101010101" pitchFamily="2" charset="-122"/>
                    <a:ea typeface="宋体" panose="02010600030101010101" pitchFamily="2" charset="-122"/>
                  </a:rPr>
                  <a:t>B</a:t>
                </a:r>
                <a:r>
                  <a:rPr lang="zh-CN" altLang="zh-CN" dirty="0">
                    <a:latin typeface="宋体" panose="02010600030101010101" pitchFamily="2" charset="-122"/>
                    <a:ea typeface="宋体" panose="02010600030101010101" pitchFamily="2" charset="-122"/>
                  </a:rPr>
                  <a:t>的循环旋转，并简要说明正确性。</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pPr algn="just">
                  <a:lnSpc>
                    <a:spcPct val="150000"/>
                  </a:lnSpc>
                  <a:spcAft>
                    <a:spcPts val="0"/>
                  </a:spcAft>
                </a:pPr>
                <a:r>
                  <a:rPr lang="zh-CN" altLang="en-US" kern="100" dirty="0">
                    <a:latin typeface="宋体" panose="02010600030101010101" pitchFamily="2" charset="-122"/>
                    <a:ea typeface="宋体" panose="02010600030101010101" pitchFamily="2" charset="-122"/>
                  </a:rPr>
                  <a:t>以下方法时间复杂度不是线性</a:t>
                </a:r>
                <a:endParaRPr lang="en-US" altLang="zh-CN"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kern="100" dirty="0">
                    <a:latin typeface="宋体" panose="02010600030101010101" pitchFamily="2" charset="-122"/>
                    <a:ea typeface="宋体" panose="02010600030101010101" pitchFamily="2" charset="-122"/>
                  </a:rPr>
                  <a:t>在</a:t>
                </a:r>
                <a:r>
                  <a:rPr lang="en-US" altLang="zh-CN" kern="100" dirty="0">
                    <a:latin typeface="宋体" panose="02010600030101010101" pitchFamily="2" charset="-122"/>
                    <a:ea typeface="宋体" panose="02010600030101010101" pitchFamily="2" charset="-122"/>
                  </a:rPr>
                  <a:t>B</a:t>
                </a:r>
                <a:r>
                  <a:rPr lang="zh-CN" altLang="en-US" kern="100" dirty="0">
                    <a:latin typeface="宋体" panose="02010600030101010101" pitchFamily="2" charset="-122"/>
                    <a:ea typeface="宋体" panose="02010600030101010101" pitchFamily="2" charset="-122"/>
                  </a:rPr>
                  <a:t>里面找到</a:t>
                </a:r>
                <a:r>
                  <a:rPr lang="en-US" altLang="zh-CN" kern="100" dirty="0">
                    <a:latin typeface="宋体" panose="02010600030101010101" pitchFamily="2" charset="-122"/>
                    <a:ea typeface="宋体" panose="02010600030101010101" pitchFamily="2" charset="-122"/>
                  </a:rPr>
                  <a:t>A[0]</a:t>
                </a:r>
                <a:r>
                  <a:rPr lang="zh-CN" altLang="en-US" kern="100" dirty="0">
                    <a:latin typeface="宋体" panose="02010600030101010101" pitchFamily="2" charset="-122"/>
                    <a:ea typeface="宋体" panose="02010600030101010101" pitchFamily="2" charset="-122"/>
                  </a:rPr>
                  <a:t>，然后从比较剩下的位置，这样的复杂度是</a:t>
                </a:r>
                <a:r>
                  <a:rPr lang="en-US" altLang="zh-CN" kern="100" dirty="0">
                    <a:latin typeface="宋体" panose="02010600030101010101" pitchFamily="2" charset="-122"/>
                    <a:ea typeface="宋体" panose="02010600030101010101" pitchFamily="2" charset="-122"/>
                  </a:rPr>
                  <a:t>O(N^2)</a:t>
                </a:r>
                <a:r>
                  <a:rPr lang="zh-CN" altLang="en-US" kern="100" dirty="0">
                    <a:latin typeface="宋体" panose="02010600030101010101" pitchFamily="2" charset="-122"/>
                    <a:ea typeface="宋体" panose="02010600030101010101" pitchFamily="2" charset="-122"/>
                  </a:rPr>
                  <a:t>的，因为</a:t>
                </a:r>
                <a:r>
                  <a:rPr lang="en-US" altLang="zh-CN" kern="100" dirty="0">
                    <a:latin typeface="宋体" panose="02010600030101010101" pitchFamily="2" charset="-122"/>
                    <a:ea typeface="宋体" panose="02010600030101010101" pitchFamily="2" charset="-122"/>
                  </a:rPr>
                  <a:t>B</a:t>
                </a:r>
                <a:r>
                  <a:rPr lang="zh-CN" altLang="en-US" kern="100" dirty="0">
                    <a:latin typeface="宋体" panose="02010600030101010101" pitchFamily="2" charset="-122"/>
                    <a:ea typeface="宋体" panose="02010600030101010101" pitchFamily="2" charset="-122"/>
                  </a:rPr>
                  <a:t>中可能有多个</a:t>
                </a:r>
                <a:r>
                  <a:rPr lang="en-US" altLang="zh-CN" kern="100" dirty="0">
                    <a:latin typeface="宋体" panose="02010600030101010101" pitchFamily="2" charset="-122"/>
                    <a:ea typeface="宋体" panose="02010600030101010101" pitchFamily="2" charset="-122"/>
                  </a:rPr>
                  <a:t>A[0]</a:t>
                </a:r>
              </a:p>
              <a:p>
                <a:endParaRPr lang="zh-CN" altLang="zh-CN" dirty="0">
                  <a:latin typeface="宋体" panose="02010600030101010101" pitchFamily="2" charset="-122"/>
                  <a:ea typeface="宋体" panose="02010600030101010101" pitchFamily="2" charset="-122"/>
                </a:endParaRPr>
              </a:p>
            </p:txBody>
          </p:sp>
        </mc:Choice>
        <mc:Fallback>
          <p:sp>
            <p:nvSpPr>
              <p:cNvPr id="6" name="矩形 5">
                <a:extLst>
                  <a:ext uri="{FF2B5EF4-FFF2-40B4-BE49-F238E27FC236}">
                    <a16:creationId xmlns:a16="http://schemas.microsoft.com/office/drawing/2014/main" id="{3C3F0337-28A5-4F58-B1B9-5F649DD54FE9}"/>
                  </a:ext>
                </a:extLst>
              </p:cNvPr>
              <p:cNvSpPr>
                <a:spLocks noRot="1" noChangeAspect="1" noMove="1" noResize="1" noEditPoints="1" noAdjustHandles="1" noChangeArrowheads="1" noChangeShapeType="1" noTextEdit="1"/>
              </p:cNvSpPr>
              <p:nvPr/>
            </p:nvSpPr>
            <p:spPr>
              <a:xfrm>
                <a:off x="1024646" y="1206681"/>
                <a:ext cx="10142708" cy="3416320"/>
              </a:xfrm>
              <a:prstGeom prst="rect">
                <a:avLst/>
              </a:prstGeom>
              <a:blipFill>
                <a:blip r:embed="rId3"/>
                <a:stretch>
                  <a:fillRect l="-481" t="-1429"/>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D0644176-F77B-4BB2-98B0-310E92A2A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5454" y="1639611"/>
            <a:ext cx="5248680" cy="988389"/>
          </a:xfrm>
          <a:prstGeom prst="rect">
            <a:avLst/>
          </a:prstGeom>
        </p:spPr>
      </p:pic>
    </p:spTree>
    <p:extLst>
      <p:ext uri="{BB962C8B-B14F-4D97-AF65-F5344CB8AC3E}">
        <p14:creationId xmlns:p14="http://schemas.microsoft.com/office/powerpoint/2010/main" val="1211675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2175596"/>
          </a:xfrm>
          <a:prstGeom prst="rect">
            <a:avLst/>
          </a:prstGeom>
        </p:spPr>
        <p:txBody>
          <a:bodyPr wrap="square">
            <a:spAutoFit/>
          </a:bodyPr>
          <a:lstStyle/>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生成新字符串</a:t>
            </a:r>
            <a:r>
              <a:rPr lang="en-US" altLang="zh-CN" sz="2200" kern="100" dirty="0">
                <a:latin typeface="宋体" panose="02010600030101010101" pitchFamily="2" charset="-122"/>
                <a:ea typeface="宋体" panose="02010600030101010101" pitchFamily="2" charset="-122"/>
              </a:rPr>
              <a:t>T=A+A</a:t>
            </a:r>
            <a:r>
              <a:rPr lang="zh-CN" altLang="en-US" sz="2200" kern="100" dirty="0">
                <a:latin typeface="宋体" panose="02010600030101010101" pitchFamily="2" charset="-122"/>
                <a:ea typeface="宋体" panose="02010600030101010101" pitchFamily="2" charset="-122"/>
              </a:rPr>
              <a:t>，在</a:t>
            </a:r>
            <a:r>
              <a:rPr lang="en-US" altLang="zh-CN" sz="2200" kern="100" dirty="0">
                <a:latin typeface="宋体" panose="02010600030101010101" pitchFamily="2" charset="-122"/>
                <a:ea typeface="宋体" panose="02010600030101010101" pitchFamily="2" charset="-122"/>
              </a:rPr>
              <a:t>T</a:t>
            </a:r>
            <a:r>
              <a:rPr lang="zh-CN" altLang="en-US" sz="2200" kern="100" dirty="0">
                <a:latin typeface="宋体" panose="02010600030101010101" pitchFamily="2" charset="-122"/>
                <a:ea typeface="宋体" panose="02010600030101010101" pitchFamily="2" charset="-122"/>
              </a:rPr>
              <a:t>中用</a:t>
            </a:r>
            <a:r>
              <a:rPr lang="en-US" altLang="zh-CN" sz="2200" kern="100" dirty="0">
                <a:latin typeface="宋体" panose="02010600030101010101" pitchFamily="2" charset="-122"/>
                <a:ea typeface="宋体" panose="02010600030101010101" pitchFamily="2" charset="-122"/>
              </a:rPr>
              <a:t>KMP</a:t>
            </a:r>
            <a:r>
              <a:rPr lang="zh-CN" altLang="en-US" sz="2200" kern="100" dirty="0">
                <a:latin typeface="宋体" panose="02010600030101010101" pitchFamily="2" charset="-122"/>
                <a:ea typeface="宋体" panose="02010600030101010101" pitchFamily="2" charset="-122"/>
              </a:rPr>
              <a:t>方法查找</a:t>
            </a:r>
            <a:r>
              <a:rPr lang="en-US" altLang="zh-CN" sz="2200" kern="100" dirty="0">
                <a:latin typeface="宋体" panose="02010600030101010101" pitchFamily="2" charset="-122"/>
                <a:ea typeface="宋体" panose="02010600030101010101" pitchFamily="2" charset="-122"/>
              </a:rPr>
              <a:t>B</a:t>
            </a:r>
            <a:r>
              <a:rPr lang="zh-CN" altLang="en-US" sz="2200" kern="100" dirty="0">
                <a:latin typeface="宋体" panose="02010600030101010101" pitchFamily="2" charset="-122"/>
                <a:ea typeface="宋体" panose="02010600030101010101" pitchFamily="2" charset="-122"/>
              </a:rPr>
              <a:t>是否存在。若存在，则</a:t>
            </a:r>
            <a:r>
              <a:rPr lang="en-US" altLang="zh-CN" sz="2200" kern="100" dirty="0">
                <a:latin typeface="宋体" panose="02010600030101010101" pitchFamily="2" charset="-122"/>
                <a:ea typeface="宋体" panose="02010600030101010101" pitchFamily="2" charset="-122"/>
              </a:rPr>
              <a:t>A</a:t>
            </a:r>
            <a:r>
              <a:rPr lang="zh-CN" altLang="en-US" sz="2200" kern="100" dirty="0">
                <a:latin typeface="宋体" panose="02010600030101010101" pitchFamily="2" charset="-122"/>
                <a:ea typeface="宋体" panose="02010600030101010101" pitchFamily="2" charset="-122"/>
              </a:rPr>
              <a:t>和</a:t>
            </a:r>
            <a:r>
              <a:rPr lang="en-US" altLang="zh-CN" sz="2200" kern="100" dirty="0">
                <a:latin typeface="宋体" panose="02010600030101010101" pitchFamily="2" charset="-122"/>
                <a:ea typeface="宋体" panose="02010600030101010101" pitchFamily="2" charset="-122"/>
              </a:rPr>
              <a:t>B</a:t>
            </a:r>
            <a:r>
              <a:rPr lang="zh-CN" altLang="en-US" sz="2200" kern="100" dirty="0">
                <a:latin typeface="宋体" panose="02010600030101010101" pitchFamily="2" charset="-122"/>
                <a:ea typeface="宋体" panose="02010600030101010101" pitchFamily="2" charset="-122"/>
              </a:rPr>
              <a:t>互相为彼此的循环旋转，若不存在，则不是。</a:t>
            </a:r>
            <a:r>
              <a:rPr lang="en-US" altLang="zh-CN" sz="2400" dirty="0">
                <a:latin typeface="宋体" panose="02010600030101010101" pitchFamily="2" charset="-122"/>
                <a:ea typeface="宋体" panose="02010600030101010101" pitchFamily="2" charset="-122"/>
              </a:rPr>
              <a:t> </a:t>
            </a:r>
          </a:p>
          <a:p>
            <a:pPr algn="just">
              <a:lnSpc>
                <a:spcPct val="150000"/>
              </a:lnSpc>
              <a:spcAft>
                <a:spcPts val="0"/>
              </a:spcAft>
            </a:pPr>
            <a:r>
              <a:rPr lang="en-US" altLang="zh-CN" sz="2400" dirty="0" err="1">
                <a:latin typeface="宋体" panose="02010600030101010101" pitchFamily="2" charset="-122"/>
                <a:ea typeface="宋体" panose="02010600030101010101" pitchFamily="2" charset="-122"/>
              </a:rPr>
              <a:t>arcarc</a:t>
            </a:r>
            <a:r>
              <a:rPr lang="zh-CN" altLang="en-US" sz="2400" dirty="0">
                <a:latin typeface="宋体" panose="02010600030101010101" pitchFamily="2" charset="-122"/>
                <a:ea typeface="宋体" panose="02010600030101010101" pitchFamily="2" charset="-122"/>
              </a:rPr>
              <a:t>中含有</a:t>
            </a:r>
            <a:r>
              <a:rPr lang="en-US" altLang="zh-CN" sz="2400" dirty="0">
                <a:latin typeface="宋体" panose="02010600030101010101" pitchFamily="2" charset="-122"/>
                <a:ea typeface="宋体" panose="02010600030101010101" pitchFamily="2" charset="-122"/>
              </a:rPr>
              <a:t>arc</a:t>
            </a:r>
            <a:r>
              <a:rPr lang="zh-CN" altLang="en-US" sz="2400" dirty="0">
                <a:latin typeface="宋体" panose="02010600030101010101" pitchFamily="2" charset="-122"/>
                <a:ea typeface="宋体" panose="02010600030101010101" pitchFamily="2" charset="-122"/>
              </a:rPr>
              <a:t>的全部循环旋转。</a:t>
            </a:r>
            <a:endParaRPr lang="en-US" altLang="zh-CN" sz="2400" dirty="0">
              <a:latin typeface="宋体" panose="02010600030101010101" pitchFamily="2" charset="-122"/>
              <a:ea typeface="宋体" panose="02010600030101010101" pitchFamily="2" charset="-122"/>
            </a:endParaRPr>
          </a:p>
          <a:p>
            <a:pPr algn="just">
              <a:lnSpc>
                <a:spcPct val="150000"/>
              </a:lnSpc>
              <a:spcAft>
                <a:spcPts val="0"/>
              </a:spcAft>
            </a:pPr>
            <a:endParaRPr lang="en-US" altLang="zh-CN" sz="24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E5D5C8BA-34FE-4FF8-ABB6-19D0BFC42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7802" y="2878997"/>
            <a:ext cx="5877989" cy="3399403"/>
          </a:xfrm>
          <a:prstGeom prst="rect">
            <a:avLst/>
          </a:prstGeom>
        </p:spPr>
      </p:pic>
    </p:spTree>
    <p:extLst>
      <p:ext uri="{BB962C8B-B14F-4D97-AF65-F5344CB8AC3E}">
        <p14:creationId xmlns:p14="http://schemas.microsoft.com/office/powerpoint/2010/main" val="3098846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801314"/>
          </a:xfrm>
          <a:prstGeom prst="rect">
            <a:avLst/>
          </a:prstGeom>
        </p:spPr>
        <p:txBody>
          <a:bodyPr wrap="square">
            <a:spAutoFit/>
          </a:bodyPr>
          <a:lstStyle/>
          <a:p>
            <a:r>
              <a:rPr lang="en-US" altLang="zh-CN" kern="100" dirty="0">
                <a:latin typeface="宋体" panose="02010600030101010101" pitchFamily="2" charset="-122"/>
                <a:ea typeface="宋体" panose="02010600030101010101" pitchFamily="2" charset="-122"/>
              </a:rPr>
              <a:t>4.</a:t>
            </a:r>
            <a:r>
              <a:rPr lang="zh-CN" altLang="en-US" kern="100" dirty="0">
                <a:latin typeface="宋体" panose="02010600030101010101" pitchFamily="2" charset="-122"/>
                <a:ea typeface="宋体" panose="02010600030101010101" pitchFamily="2" charset="-122"/>
              </a:rPr>
              <a:t>求</a:t>
            </a:r>
            <a:r>
              <a:rPr lang="zh-CN" altLang="zh-CN" dirty="0">
                <a:latin typeface="宋体" panose="02010600030101010101" pitchFamily="2" charset="-122"/>
                <a:ea typeface="宋体" panose="02010600030101010101" pitchFamily="2" charset="-122"/>
              </a:rPr>
              <a:t>给定一个长度为</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的字符串</a:t>
            </a:r>
            <a:r>
              <a:rPr lang="en-US" altLang="zh-CN" dirty="0">
                <a:latin typeface="宋体" panose="02010600030101010101" pitchFamily="2" charset="-122"/>
                <a:ea typeface="宋体" panose="02010600030101010101" pitchFamily="2" charset="-122"/>
              </a:rPr>
              <a:t>S</a:t>
            </a:r>
            <a:r>
              <a:rPr lang="zh-CN" altLang="zh-CN" dirty="0">
                <a:latin typeface="宋体" panose="02010600030101010101" pitchFamily="2" charset="-122"/>
                <a:ea typeface="宋体" panose="02010600030101010101" pitchFamily="2" charset="-122"/>
              </a:rPr>
              <a:t>和一个整数</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，要求设计一个线性时间，常数空间的算法，将</a:t>
            </a:r>
            <a:r>
              <a:rPr lang="en-US" altLang="zh-CN" dirty="0">
                <a:latin typeface="宋体" panose="02010600030101010101" pitchFamily="2" charset="-122"/>
                <a:ea typeface="宋体" panose="02010600030101010101" pitchFamily="2" charset="-122"/>
              </a:rPr>
              <a:t>S[0...</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移动到</a:t>
            </a:r>
            <a:r>
              <a:rPr lang="en-US" altLang="zh-CN" dirty="0">
                <a:latin typeface="宋体" panose="02010600030101010101" pitchFamily="2" charset="-122"/>
                <a:ea typeface="宋体" panose="02010600030101010101" pitchFamily="2" charset="-122"/>
              </a:rPr>
              <a:t>S[(n-i-1)…(n-1)]</a:t>
            </a:r>
            <a:r>
              <a:rPr lang="zh-CN" altLang="zh-CN" dirty="0">
                <a:latin typeface="宋体" panose="02010600030101010101" pitchFamily="2" charset="-122"/>
                <a:ea typeface="宋体" panose="02010600030101010101" pitchFamily="2" charset="-122"/>
              </a:rPr>
              <a:t>，将</a:t>
            </a:r>
            <a:r>
              <a:rPr lang="en-US" altLang="zh-CN" dirty="0">
                <a:latin typeface="宋体" panose="02010600030101010101" pitchFamily="2" charset="-122"/>
                <a:ea typeface="宋体" panose="02010600030101010101" pitchFamily="2" charset="-122"/>
              </a:rPr>
              <a:t>S[(i+1)..(n-1)]</a:t>
            </a:r>
            <a:r>
              <a:rPr lang="zh-CN" altLang="zh-CN" dirty="0">
                <a:latin typeface="宋体" panose="02010600030101010101" pitchFamily="2" charset="-122"/>
                <a:ea typeface="宋体" panose="02010600030101010101" pitchFamily="2" charset="-122"/>
              </a:rPr>
              <a:t>移动到</a:t>
            </a:r>
            <a:r>
              <a:rPr lang="en-US" altLang="zh-CN" dirty="0">
                <a:latin typeface="宋体" panose="02010600030101010101" pitchFamily="2" charset="-122"/>
                <a:ea typeface="宋体" panose="02010600030101010101" pitchFamily="2" charset="-122"/>
              </a:rPr>
              <a:t>S[0...(n-i-2)]</a:t>
            </a:r>
            <a:r>
              <a:rPr lang="zh-CN" altLang="zh-CN" dirty="0">
                <a:latin typeface="宋体" panose="02010600030101010101" pitchFamily="2" charset="-122"/>
                <a:ea typeface="宋体" panose="02010600030101010101" pitchFamily="2" charset="-122"/>
              </a:rPr>
              <a:t>。如输入</a:t>
            </a:r>
            <a:r>
              <a:rPr lang="en-US" altLang="zh-CN" dirty="0">
                <a:latin typeface="宋体" panose="02010600030101010101" pitchFamily="2" charset="-122"/>
                <a:ea typeface="宋体" panose="02010600030101010101" pitchFamily="2" charset="-122"/>
              </a:rPr>
              <a:t>"HELLOWORLD"</a:t>
            </a:r>
            <a:r>
              <a:rPr lang="zh-CN"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，输出“</a:t>
            </a:r>
            <a:r>
              <a:rPr lang="en-US" altLang="zh-CN" dirty="0">
                <a:latin typeface="宋体" panose="02010600030101010101" pitchFamily="2" charset="-122"/>
                <a:ea typeface="宋体" panose="02010600030101010101" pitchFamily="2" charset="-122"/>
              </a:rPr>
              <a:t>WORLDHELLO</a:t>
            </a:r>
            <a:r>
              <a:rPr lang="zh-CN"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有两种思路：</a:t>
            </a:r>
            <a:endParaRPr lang="en-US" altLang="zh-CN" dirty="0">
              <a:latin typeface="宋体" panose="02010600030101010101" pitchFamily="2" charset="-122"/>
              <a:ea typeface="宋体" panose="02010600030101010101" pitchFamily="2" charset="-122"/>
            </a:endParaRPr>
          </a:p>
          <a:p>
            <a:pPr marL="342900" indent="-342900">
              <a:buAutoNum type="arabicPeriod"/>
            </a:pPr>
            <a:r>
              <a:rPr lang="zh-CN" altLang="en-US" dirty="0">
                <a:latin typeface="宋体" panose="02010600030101010101" pitchFamily="2" charset="-122"/>
                <a:ea typeface="宋体" panose="02010600030101010101" pitchFamily="2" charset="-122"/>
              </a:rPr>
              <a:t>三次翻转</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分别局部反转</a:t>
            </a:r>
            <a:r>
              <a:rPr lang="en-US" altLang="zh-CN" dirty="0">
                <a:latin typeface="宋体" panose="02010600030101010101" pitchFamily="2" charset="-122"/>
                <a:ea typeface="宋体" panose="02010600030101010101" pitchFamily="2" charset="-122"/>
              </a:rPr>
              <a:t>S[0...</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S[(i+1)...(n-1)] "OLLEHDLROW"</a:t>
            </a:r>
          </a:p>
          <a:p>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将整体反转</a:t>
            </a:r>
            <a:r>
              <a:rPr lang="en-US" altLang="zh-CN" dirty="0">
                <a:latin typeface="宋体" panose="02010600030101010101" pitchFamily="2" charset="-122"/>
                <a:ea typeface="宋体" panose="02010600030101010101" pitchFamily="2" charset="-122"/>
              </a:rPr>
              <a:t>"WORLDHELLO"</a:t>
            </a:r>
          </a:p>
          <a:p>
            <a:r>
              <a:rPr lang="zh-CN" altLang="en-US" dirty="0">
                <a:latin typeface="宋体" panose="02010600030101010101" pitchFamily="2" charset="-122"/>
                <a:ea typeface="宋体" panose="02010600030101010101" pitchFamily="2" charset="-122"/>
              </a:rPr>
              <a:t>或</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将整体反转 “</a:t>
            </a:r>
            <a:r>
              <a:rPr lang="en-US" altLang="zh-CN" dirty="0">
                <a:latin typeface="宋体" panose="02010600030101010101" pitchFamily="2" charset="-122"/>
                <a:ea typeface="宋体" panose="02010600030101010101" pitchFamily="2" charset="-122"/>
              </a:rPr>
              <a:t>DLROWOLLEH”</a:t>
            </a:r>
          </a:p>
          <a:p>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分别局部反转</a:t>
            </a:r>
            <a:r>
              <a:rPr lang="en-US" altLang="zh-CN" dirty="0">
                <a:latin typeface="宋体" panose="02010600030101010101" pitchFamily="2" charset="-122"/>
                <a:ea typeface="宋体" panose="02010600030101010101" pitchFamily="2" charset="-122"/>
              </a:rPr>
              <a:t>S[0...(n-i-2)]</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S[(n-i-1)...(n-1)]  "WORLDHELLO"</a:t>
            </a:r>
          </a:p>
          <a:p>
            <a:r>
              <a:rPr lang="en-US" altLang="zh-CN" dirty="0">
                <a:latin typeface="宋体" panose="02010600030101010101" pitchFamily="2" charset="-122"/>
                <a:ea typeface="宋体" panose="02010600030101010101" pitchFamily="2" charset="-122"/>
              </a:rPr>
              <a:t>	</a:t>
            </a:r>
          </a:p>
          <a:p>
            <a:r>
              <a:rPr lang="zh-CN" altLang="en-US" dirty="0">
                <a:latin typeface="宋体" panose="02010600030101010101" pitchFamily="2" charset="-122"/>
                <a:ea typeface="宋体" panose="02010600030101010101" pitchFamily="2" charset="-122"/>
              </a:rPr>
              <a:t>时间复杂度</a:t>
            </a:r>
            <a:r>
              <a:rPr lang="en-US" altLang="zh-CN" dirty="0">
                <a:latin typeface="宋体" panose="02010600030101010101" pitchFamily="2" charset="-122"/>
                <a:ea typeface="宋体" panose="02010600030101010101" pitchFamily="2" charset="-122"/>
              </a:rPr>
              <a:t>O(N) </a:t>
            </a:r>
            <a:r>
              <a:rPr lang="zh-CN" altLang="en-US" dirty="0">
                <a:latin typeface="宋体" panose="02010600030101010101" pitchFamily="2" charset="-122"/>
                <a:ea typeface="宋体" panose="02010600030101010101" pitchFamily="2" charset="-122"/>
              </a:rPr>
              <a:t>，空间复杂度</a:t>
            </a:r>
            <a:r>
              <a:rPr lang="en-US" altLang="zh-CN" dirty="0">
                <a:latin typeface="宋体" panose="02010600030101010101" pitchFamily="2" charset="-122"/>
                <a:ea typeface="宋体" panose="02010600030101010101" pitchFamily="2" charset="-122"/>
              </a:rPr>
              <a:t>O(1)</a:t>
            </a:r>
          </a:p>
          <a:p>
            <a:pPr marL="342900" indent="-342900">
              <a:buAutoNum type="arabicPeriod"/>
            </a:pP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zh-CN" altLang="zh-CN"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61446276-8005-476A-A69A-43B4DBDEFC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0000" y="2192321"/>
            <a:ext cx="3126054" cy="3870354"/>
          </a:xfrm>
          <a:prstGeom prst="rect">
            <a:avLst/>
          </a:prstGeom>
        </p:spPr>
      </p:pic>
    </p:spTree>
    <p:extLst>
      <p:ext uri="{BB962C8B-B14F-4D97-AF65-F5344CB8AC3E}">
        <p14:creationId xmlns:p14="http://schemas.microsoft.com/office/powerpoint/2010/main" val="985041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第四章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6" name="矩形 5">
            <a:extLst>
              <a:ext uri="{FF2B5EF4-FFF2-40B4-BE49-F238E27FC236}">
                <a16:creationId xmlns:a16="http://schemas.microsoft.com/office/drawing/2014/main" id="{3C3F0337-28A5-4F58-B1B9-5F649DD54FE9}"/>
              </a:ext>
            </a:extLst>
          </p:cNvPr>
          <p:cNvSpPr/>
          <p:nvPr/>
        </p:nvSpPr>
        <p:spPr>
          <a:xfrm>
            <a:off x="1024646" y="1206681"/>
            <a:ext cx="10142708" cy="4524315"/>
          </a:xfrm>
          <a:prstGeom prst="rect">
            <a:avLst/>
          </a:prstGeom>
        </p:spPr>
        <p:txBody>
          <a:bodyPr wrap="square">
            <a:spAutoFit/>
          </a:bodyPr>
          <a:lstStyle/>
          <a:p>
            <a:r>
              <a:rPr lang="en-US" altLang="zh-CN" kern="100" dirty="0">
                <a:latin typeface="宋体" panose="02010600030101010101" pitchFamily="2" charset="-122"/>
                <a:ea typeface="宋体" panose="02010600030101010101" pitchFamily="2" charset="-122"/>
              </a:rPr>
              <a:t>4.</a:t>
            </a:r>
            <a:r>
              <a:rPr lang="zh-CN" altLang="en-US" kern="100" dirty="0">
                <a:latin typeface="宋体" panose="02010600030101010101" pitchFamily="2" charset="-122"/>
                <a:ea typeface="宋体" panose="02010600030101010101" pitchFamily="2" charset="-122"/>
              </a:rPr>
              <a:t>求</a:t>
            </a:r>
            <a:r>
              <a:rPr lang="zh-CN" altLang="zh-CN" dirty="0">
                <a:latin typeface="宋体" panose="02010600030101010101" pitchFamily="2" charset="-122"/>
                <a:ea typeface="宋体" panose="02010600030101010101" pitchFamily="2" charset="-122"/>
              </a:rPr>
              <a:t>给定一个长度为</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的字符串</a:t>
            </a:r>
            <a:r>
              <a:rPr lang="en-US" altLang="zh-CN" dirty="0">
                <a:latin typeface="宋体" panose="02010600030101010101" pitchFamily="2" charset="-122"/>
                <a:ea typeface="宋体" panose="02010600030101010101" pitchFamily="2" charset="-122"/>
              </a:rPr>
              <a:t>S</a:t>
            </a:r>
            <a:r>
              <a:rPr lang="zh-CN" altLang="zh-CN" dirty="0">
                <a:latin typeface="宋体" panose="02010600030101010101" pitchFamily="2" charset="-122"/>
                <a:ea typeface="宋体" panose="02010600030101010101" pitchFamily="2" charset="-122"/>
              </a:rPr>
              <a:t>和一个整数</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，要求设计一个线性时间，常数空间的算法，将</a:t>
            </a:r>
            <a:r>
              <a:rPr lang="en-US" altLang="zh-CN" dirty="0">
                <a:latin typeface="宋体" panose="02010600030101010101" pitchFamily="2" charset="-122"/>
                <a:ea typeface="宋体" panose="02010600030101010101" pitchFamily="2" charset="-122"/>
              </a:rPr>
              <a:t>S[0...</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移动到</a:t>
            </a:r>
            <a:r>
              <a:rPr lang="en-US" altLang="zh-CN" dirty="0">
                <a:latin typeface="宋体" panose="02010600030101010101" pitchFamily="2" charset="-122"/>
                <a:ea typeface="宋体" panose="02010600030101010101" pitchFamily="2" charset="-122"/>
              </a:rPr>
              <a:t>S[(n-i-1)…(n-1)]</a:t>
            </a:r>
            <a:r>
              <a:rPr lang="zh-CN" altLang="zh-CN" dirty="0">
                <a:latin typeface="宋体" panose="02010600030101010101" pitchFamily="2" charset="-122"/>
                <a:ea typeface="宋体" panose="02010600030101010101" pitchFamily="2" charset="-122"/>
              </a:rPr>
              <a:t>，将</a:t>
            </a:r>
            <a:r>
              <a:rPr lang="en-US" altLang="zh-CN" dirty="0">
                <a:latin typeface="宋体" panose="02010600030101010101" pitchFamily="2" charset="-122"/>
                <a:ea typeface="宋体" panose="02010600030101010101" pitchFamily="2" charset="-122"/>
              </a:rPr>
              <a:t>S[(i+1)..(n-1)]</a:t>
            </a:r>
            <a:r>
              <a:rPr lang="zh-CN" altLang="zh-CN" dirty="0">
                <a:latin typeface="宋体" panose="02010600030101010101" pitchFamily="2" charset="-122"/>
                <a:ea typeface="宋体" panose="02010600030101010101" pitchFamily="2" charset="-122"/>
              </a:rPr>
              <a:t>移动到</a:t>
            </a:r>
            <a:r>
              <a:rPr lang="en-US" altLang="zh-CN" dirty="0">
                <a:latin typeface="宋体" panose="02010600030101010101" pitchFamily="2" charset="-122"/>
                <a:ea typeface="宋体" panose="02010600030101010101" pitchFamily="2" charset="-122"/>
              </a:rPr>
              <a:t>S[0...(n-i-2)]</a:t>
            </a:r>
            <a:r>
              <a:rPr lang="zh-CN" altLang="zh-CN" dirty="0">
                <a:latin typeface="宋体" panose="02010600030101010101" pitchFamily="2" charset="-122"/>
                <a:ea typeface="宋体" panose="02010600030101010101" pitchFamily="2" charset="-122"/>
              </a:rPr>
              <a:t>。如输入</a:t>
            </a:r>
            <a:r>
              <a:rPr lang="en-US" altLang="zh-CN" dirty="0">
                <a:latin typeface="宋体" panose="02010600030101010101" pitchFamily="2" charset="-122"/>
                <a:ea typeface="宋体" panose="02010600030101010101" pitchFamily="2" charset="-122"/>
              </a:rPr>
              <a:t>"HELLOWORLD"</a:t>
            </a:r>
            <a:r>
              <a:rPr lang="zh-CN"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，输出“</a:t>
            </a:r>
            <a:r>
              <a:rPr lang="en-US" altLang="zh-CN" dirty="0">
                <a:latin typeface="宋体" panose="02010600030101010101" pitchFamily="2" charset="-122"/>
                <a:ea typeface="宋体" panose="02010600030101010101" pitchFamily="2" charset="-122"/>
              </a:rPr>
              <a:t>WORLDHELLO</a:t>
            </a:r>
            <a:r>
              <a:rPr lang="zh-CN"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有两种思路：</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2. </a:t>
            </a:r>
            <a:r>
              <a:rPr lang="zh-CN" altLang="en-US" dirty="0">
                <a:latin typeface="宋体" panose="02010600030101010101" pitchFamily="2" charset="-122"/>
                <a:ea typeface="宋体" panose="02010600030101010101" pitchFamily="2" charset="-122"/>
              </a:rPr>
              <a:t>递归的思路</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大概意思）</a:t>
            </a:r>
            <a:endParaRPr lang="en-US"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Fun(</a:t>
            </a:r>
            <a:r>
              <a:rPr lang="en-US" altLang="zh-CN" dirty="0" err="1">
                <a:latin typeface="宋体" panose="02010600030101010101" pitchFamily="2" charset="-122"/>
                <a:ea typeface="宋体" panose="02010600030101010101" pitchFamily="2" charset="-122"/>
              </a:rPr>
              <a:t>l,r,i</a:t>
            </a:r>
            <a:r>
              <a:rPr lang="en-US" altLang="zh-CN" dirty="0">
                <a:latin typeface="宋体" panose="02010600030101010101" pitchFamily="2" charset="-122"/>
                <a:ea typeface="宋体" panose="02010600030101010101" pitchFamily="2" charset="-122"/>
              </a:rPr>
              <a:t>)</a:t>
            </a:r>
          </a:p>
          <a:p>
            <a:r>
              <a:rPr lang="en-US" altLang="zh-CN" dirty="0">
                <a:latin typeface="宋体" panose="02010600030101010101" pitchFamily="2" charset="-122"/>
                <a:ea typeface="宋体" panose="02010600030101010101" pitchFamily="2" charset="-122"/>
              </a:rPr>
              <a:t>	</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 &gt; (r-l)/2 </a:t>
            </a:r>
            <a:r>
              <a:rPr lang="zh-CN" altLang="en-US" dirty="0">
                <a:latin typeface="宋体" panose="02010600030101010101" pitchFamily="2" charset="-122"/>
                <a:ea typeface="宋体" panose="02010600030101010101" pitchFamily="2" charset="-122"/>
              </a:rPr>
              <a:t>时，把右边串跟左边串的前部对换 </a:t>
            </a:r>
            <a:r>
              <a:rPr lang="en-US" altLang="zh-CN" dirty="0">
                <a:latin typeface="宋体" panose="02010600030101010101" pitchFamily="2" charset="-122"/>
                <a:ea typeface="宋体" panose="02010600030101010101" pitchFamily="2" charset="-122"/>
              </a:rPr>
              <a:t>S[i+1]…S[r] </a:t>
            </a:r>
            <a:r>
              <a:rPr lang="zh-CN" altLang="en-US" dirty="0">
                <a:latin typeface="宋体" panose="02010600030101010101" pitchFamily="2" charset="-122"/>
                <a:ea typeface="宋体" panose="02010600030101010101" pitchFamily="2" charset="-122"/>
              </a:rPr>
              <a:t>与 </a:t>
            </a:r>
            <a:r>
              <a:rPr lang="en-US" altLang="zh-CN" dirty="0">
                <a:latin typeface="宋体" panose="02010600030101010101" pitchFamily="2" charset="-122"/>
                <a:ea typeface="宋体" panose="02010600030101010101" pitchFamily="2" charset="-122"/>
              </a:rPr>
              <a:t>S[l]..S[</a:t>
            </a:r>
            <a:r>
              <a:rPr lang="en-US" altLang="zh-CN" dirty="0" err="1">
                <a:latin typeface="宋体" panose="02010600030101010101" pitchFamily="2" charset="-122"/>
                <a:ea typeface="宋体" panose="02010600030101010101" pitchFamily="2" charset="-122"/>
              </a:rPr>
              <a:t>l+r-i</a:t>
            </a:r>
            <a:r>
              <a:rPr lang="en-US" altLang="zh-CN" dirty="0">
                <a:latin typeface="宋体" panose="02010600030101010101" pitchFamily="2" charset="-122"/>
                <a:ea typeface="宋体" panose="02010600030101010101" pitchFamily="2" charset="-122"/>
              </a:rPr>
              <a:t>]</a:t>
            </a:r>
          </a:p>
          <a:p>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然后 </a:t>
            </a:r>
            <a:r>
              <a:rPr lang="en-US" altLang="zh-CN" dirty="0">
                <a:latin typeface="宋体" panose="02010600030101010101" pitchFamily="2" charset="-122"/>
                <a:ea typeface="宋体" panose="02010600030101010101" pitchFamily="2" charset="-122"/>
              </a:rPr>
              <a:t>Fun(l+r-i+1,r,r+l-1-2i)</a:t>
            </a:r>
          </a:p>
          <a:p>
            <a:r>
              <a:rPr lang="en-US" altLang="zh-CN" dirty="0">
                <a:latin typeface="宋体" panose="02010600030101010101" pitchFamily="2" charset="-122"/>
                <a:ea typeface="宋体" panose="02010600030101010101" pitchFamily="2" charset="-122"/>
              </a:rPr>
              <a:t>	I &lt;= (r-l)/2 </a:t>
            </a:r>
            <a:r>
              <a:rPr lang="zh-CN" altLang="en-US" dirty="0">
                <a:latin typeface="宋体" panose="02010600030101010101" pitchFamily="2" charset="-122"/>
                <a:ea typeface="宋体" panose="02010600030101010101" pitchFamily="2" charset="-122"/>
              </a:rPr>
              <a:t>时类似</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注意不要写成函数调用的形式</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（不然空间复杂度不是常数）</a:t>
            </a:r>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zh-CN" altLang="zh-CN"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2ABE6CE4-4E90-4C46-85B8-D318AA7C85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2800" y="3572929"/>
            <a:ext cx="3921000" cy="2680607"/>
          </a:xfrm>
          <a:prstGeom prst="rect">
            <a:avLst/>
          </a:prstGeom>
        </p:spPr>
      </p:pic>
    </p:spTree>
    <p:extLst>
      <p:ext uri="{BB962C8B-B14F-4D97-AF65-F5344CB8AC3E}">
        <p14:creationId xmlns:p14="http://schemas.microsoft.com/office/powerpoint/2010/main" val="227356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4075668"/>
          </a:xfrm>
          <a:prstGeom prst="rect">
            <a:avLst/>
          </a:prstGeom>
        </p:spPr>
        <p:txBody>
          <a:bodyPr wrap="square">
            <a:spAutoFit/>
          </a:bodyPr>
          <a:lstStyle/>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证明：判断以下叙述是否成立，并给出证明，若不成立，给出反例：</a:t>
            </a: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	已知先序遍历序列和后序遍历序列可以确定唯一一棵二叉树。</a:t>
            </a: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答：不成立</a:t>
            </a: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B</a:t>
            </a:r>
          </a:p>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补充：除了这种情况以外，知道前序、中序、后序的两者可以求得二叉树</a:t>
            </a: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4049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4583499"/>
          </a:xfrm>
          <a:prstGeom prst="rect">
            <a:avLst/>
          </a:prstGeom>
        </p:spPr>
        <p:txBody>
          <a:bodyPr wrap="square">
            <a:spAutoFit/>
          </a:bodyPr>
          <a:lstStyle/>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在一棵表示有序集</a:t>
            </a:r>
            <a:r>
              <a:rPr lang="en-US" altLang="zh-CN" sz="2200" kern="100" dirty="0">
                <a:latin typeface="宋体" panose="02010600030101010101" pitchFamily="2" charset="-122"/>
                <a:ea typeface="宋体" panose="02010600030101010101" pitchFamily="2" charset="-122"/>
              </a:rPr>
              <a:t>S</a:t>
            </a:r>
            <a:r>
              <a:rPr lang="zh-CN" altLang="en-US" sz="2200" kern="100" dirty="0">
                <a:latin typeface="宋体" panose="02010600030101010101" pitchFamily="2" charset="-122"/>
                <a:ea typeface="宋体" panose="02010600030101010101" pitchFamily="2" charset="-122"/>
              </a:rPr>
              <a:t>的无重复元素二叉搜索树中，任意一条从根到叶子结点的路径将</a:t>
            </a:r>
            <a:r>
              <a:rPr lang="en-US" altLang="zh-CN" sz="2200" kern="100" dirty="0">
                <a:latin typeface="宋体" panose="02010600030101010101" pitchFamily="2" charset="-122"/>
                <a:ea typeface="宋体" panose="02010600030101010101" pitchFamily="2" charset="-122"/>
              </a:rPr>
              <a:t>S</a:t>
            </a:r>
            <a:r>
              <a:rPr lang="zh-CN" altLang="en-US" sz="2200" kern="100" dirty="0">
                <a:latin typeface="宋体" panose="02010600030101010101" pitchFamily="2" charset="-122"/>
                <a:ea typeface="宋体" panose="02010600030101010101" pitchFamily="2" charset="-122"/>
              </a:rPr>
              <a:t>分为</a:t>
            </a:r>
            <a:r>
              <a:rPr lang="en-US" altLang="zh-CN" sz="2200" kern="100" dirty="0">
                <a:latin typeface="宋体" panose="02010600030101010101" pitchFamily="2" charset="-122"/>
                <a:ea typeface="宋体" panose="02010600030101010101" pitchFamily="2" charset="-122"/>
              </a:rPr>
              <a:t>3</a:t>
            </a:r>
            <a:r>
              <a:rPr lang="zh-CN" altLang="en-US" sz="2200" kern="100" dirty="0">
                <a:latin typeface="宋体" panose="02010600030101010101" pitchFamily="2" charset="-122"/>
                <a:ea typeface="宋体" panose="02010600030101010101" pitchFamily="2" charset="-122"/>
              </a:rPr>
              <a:t>个部分：在该路径左边结点中的元素组成的集合</a:t>
            </a:r>
            <a:r>
              <a:rPr lang="en-US" altLang="zh-CN" sz="2200" kern="100" dirty="0">
                <a:latin typeface="宋体" panose="02010600030101010101" pitchFamily="2" charset="-122"/>
                <a:ea typeface="宋体" panose="02010600030101010101" pitchFamily="2" charset="-122"/>
              </a:rPr>
              <a:t>S1</a:t>
            </a:r>
            <a:r>
              <a:rPr lang="zh-CN" altLang="en-US" sz="2200" kern="100" dirty="0">
                <a:latin typeface="宋体" panose="02010600030101010101" pitchFamily="2" charset="-122"/>
                <a:ea typeface="宋体" panose="02010600030101010101" pitchFamily="2" charset="-122"/>
              </a:rPr>
              <a:t>；在该路径上的结点中的元素组成的集合</a:t>
            </a:r>
            <a:r>
              <a:rPr lang="en-US" altLang="zh-CN" sz="2200" kern="100" dirty="0">
                <a:latin typeface="宋体" panose="02010600030101010101" pitchFamily="2" charset="-122"/>
                <a:ea typeface="宋体" panose="02010600030101010101" pitchFamily="2" charset="-122"/>
              </a:rPr>
              <a:t>S2</a:t>
            </a:r>
            <a:r>
              <a:rPr lang="zh-CN" altLang="en-US" sz="2200" kern="100" dirty="0">
                <a:latin typeface="宋体" panose="02010600030101010101" pitchFamily="2" charset="-122"/>
                <a:ea typeface="宋体" panose="02010600030101010101" pitchFamily="2" charset="-122"/>
              </a:rPr>
              <a:t>；在该路径右边结点中的元素组成的集合</a:t>
            </a:r>
            <a:r>
              <a:rPr lang="en-US" altLang="zh-CN" sz="2200" kern="100" dirty="0">
                <a:latin typeface="宋体" panose="02010600030101010101" pitchFamily="2" charset="-122"/>
                <a:ea typeface="宋体" panose="02010600030101010101" pitchFamily="2" charset="-122"/>
              </a:rPr>
              <a:t>S3</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S = S1∪S2∪S3</a:t>
            </a:r>
            <a:r>
              <a:rPr lang="zh-CN" altLang="en-US" sz="2200" kern="100" dirty="0">
                <a:latin typeface="宋体" panose="02010600030101010101" pitchFamily="2" charset="-122"/>
                <a:ea typeface="宋体" panose="02010600030101010101" pitchFamily="2" charset="-122"/>
              </a:rPr>
              <a:t>。若对于任意的</a:t>
            </a:r>
            <a:r>
              <a:rPr lang="en-US" altLang="zh-CN" sz="2200" kern="100" dirty="0">
                <a:latin typeface="宋体" panose="02010600030101010101" pitchFamily="2" charset="-122"/>
                <a:ea typeface="宋体" panose="02010600030101010101" pitchFamily="2" charset="-122"/>
              </a:rPr>
              <a:t>a∈S1</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b∈S2</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c∈S3</a:t>
            </a:r>
            <a:r>
              <a:rPr lang="zh-CN" altLang="en-US" sz="2200" kern="100" dirty="0">
                <a:latin typeface="宋体" panose="02010600030101010101" pitchFamily="2" charset="-122"/>
                <a:ea typeface="宋体" panose="02010600030101010101" pitchFamily="2" charset="-122"/>
              </a:rPr>
              <a:t>，判断以下表达式是否总是成立，若成立，简要叙述理由，若不成立，给出反例：</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1</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a&lt;b</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2</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b&lt;c</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3</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a&lt;c</a:t>
            </a: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71445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1028680"/>
          </a:xfrm>
          <a:prstGeom prst="rect">
            <a:avLst/>
          </a:prstGeom>
        </p:spPr>
        <p:txBody>
          <a:bodyPr wrap="square">
            <a:spAutoFit/>
          </a:bodyPr>
          <a:lstStyle/>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1</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2</a:t>
            </a:r>
            <a:r>
              <a:rPr lang="zh-CN" altLang="en-US" sz="2200" kern="100" dirty="0">
                <a:latin typeface="宋体" panose="02010600030101010101" pitchFamily="2" charset="-122"/>
                <a:ea typeface="宋体" panose="02010600030101010101" pitchFamily="2" charset="-122"/>
              </a:rPr>
              <a:t>）均不总是成立</a:t>
            </a: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D47B8243-B6EE-47A5-AD73-1F7A2B2FF0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110" y="2051434"/>
            <a:ext cx="2118490" cy="3021965"/>
          </a:xfrm>
          <a:prstGeom prst="rect">
            <a:avLst/>
          </a:prstGeom>
        </p:spPr>
      </p:pic>
    </p:spTree>
    <p:extLst>
      <p:ext uri="{BB962C8B-B14F-4D97-AF65-F5344CB8AC3E}">
        <p14:creationId xmlns:p14="http://schemas.microsoft.com/office/powerpoint/2010/main" val="1900772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4583499"/>
          </a:xfrm>
          <a:prstGeom prst="rect">
            <a:avLst/>
          </a:prstGeom>
        </p:spPr>
        <p:txBody>
          <a:bodyPr wrap="square">
            <a:spAutoFit/>
          </a:bodyPr>
          <a:lstStyle/>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3</a:t>
            </a:r>
            <a:r>
              <a:rPr lang="zh-CN" altLang="en-US" sz="2200" kern="100" dirty="0">
                <a:latin typeface="宋体" panose="02010600030101010101" pitchFamily="2" charset="-122"/>
                <a:ea typeface="宋体" panose="02010600030101010101" pitchFamily="2" charset="-122"/>
              </a:rPr>
              <a:t>）考虑</a:t>
            </a:r>
            <a:r>
              <a:rPr lang="en-US" altLang="zh-CN" sz="2200" kern="100" dirty="0">
                <a:latin typeface="宋体" panose="02010600030101010101" pitchFamily="2" charset="-122"/>
                <a:ea typeface="宋体" panose="02010600030101010101" pitchFamily="2" charset="-122"/>
              </a:rPr>
              <a:t>a</a:t>
            </a:r>
            <a:r>
              <a:rPr lang="zh-CN" altLang="en-US" sz="2200" kern="100" dirty="0">
                <a:latin typeface="宋体" panose="02010600030101010101" pitchFamily="2" charset="-122"/>
                <a:ea typeface="宋体" panose="02010600030101010101" pitchFamily="2" charset="-122"/>
              </a:rPr>
              <a:t>跟</a:t>
            </a:r>
            <a:r>
              <a:rPr lang="en-US" altLang="zh-CN" sz="2200" kern="100" dirty="0">
                <a:latin typeface="宋体" panose="02010600030101010101" pitchFamily="2" charset="-122"/>
                <a:ea typeface="宋体" panose="02010600030101010101" pitchFamily="2" charset="-122"/>
              </a:rPr>
              <a:t>c</a:t>
            </a:r>
            <a:r>
              <a:rPr lang="zh-CN" altLang="en-US" sz="2200" kern="100" dirty="0">
                <a:latin typeface="宋体" panose="02010600030101010101" pitchFamily="2" charset="-122"/>
                <a:ea typeface="宋体" panose="02010600030101010101" pitchFamily="2" charset="-122"/>
              </a:rPr>
              <a:t>在</a:t>
            </a:r>
            <a:r>
              <a:rPr lang="en-US" altLang="zh-CN" sz="2200" kern="100" dirty="0">
                <a:latin typeface="宋体" panose="02010600030101010101" pitchFamily="2" charset="-122"/>
                <a:ea typeface="宋体" panose="02010600030101010101" pitchFamily="2" charset="-122"/>
              </a:rPr>
              <a:t>S2</a:t>
            </a:r>
            <a:r>
              <a:rPr lang="zh-CN" altLang="en-US" sz="2200" kern="100" dirty="0">
                <a:latin typeface="宋体" panose="02010600030101010101" pitchFamily="2" charset="-122"/>
                <a:ea typeface="宋体" panose="02010600030101010101" pitchFamily="2" charset="-122"/>
              </a:rPr>
              <a:t>中的第一个祖先 </a:t>
            </a:r>
            <a:r>
              <a:rPr lang="en-US" altLang="zh-CN" sz="2200" kern="100" dirty="0">
                <a:latin typeface="宋体" panose="02010600030101010101" pitchFamily="2" charset="-122"/>
                <a:ea typeface="宋体" panose="02010600030101010101" pitchFamily="2" charset="-122"/>
              </a:rPr>
              <a:t>b1 </a:t>
            </a:r>
            <a:r>
              <a:rPr lang="zh-CN" altLang="en-US" sz="2200" kern="100" dirty="0">
                <a:latin typeface="宋体" panose="02010600030101010101" pitchFamily="2" charset="-122"/>
                <a:ea typeface="宋体" panose="02010600030101010101" pitchFamily="2" charset="-122"/>
              </a:rPr>
              <a:t>跟 </a:t>
            </a:r>
            <a:r>
              <a:rPr lang="en-US" altLang="zh-CN" sz="2200" kern="100" dirty="0">
                <a:latin typeface="宋体" panose="02010600030101010101" pitchFamily="2" charset="-122"/>
                <a:ea typeface="宋体" panose="02010600030101010101" pitchFamily="2" charset="-122"/>
              </a:rPr>
              <a:t>b2</a:t>
            </a:r>
          </a:p>
          <a:p>
            <a:pPr marL="457200" indent="-457200" algn="just">
              <a:lnSpc>
                <a:spcPct val="150000"/>
              </a:lnSpc>
              <a:spcAft>
                <a:spcPts val="0"/>
              </a:spcAft>
              <a:buAutoNum type="arabicPeriod"/>
            </a:pPr>
            <a:r>
              <a:rPr lang="en-US" altLang="zh-CN" sz="2200" kern="100" dirty="0">
                <a:latin typeface="宋体" panose="02010600030101010101" pitchFamily="2" charset="-122"/>
                <a:ea typeface="宋体" panose="02010600030101010101" pitchFamily="2" charset="-122"/>
              </a:rPr>
              <a:t>b1 &lt; b2</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t>
            </a:r>
            <a:r>
              <a:rPr lang="zh-CN" altLang="en-US" sz="2200" kern="100" dirty="0">
                <a:latin typeface="宋体" panose="02010600030101010101" pitchFamily="2" charset="-122"/>
                <a:ea typeface="宋体" panose="02010600030101010101" pitchFamily="2" charset="-122"/>
              </a:rPr>
              <a:t>则 </a:t>
            </a:r>
            <a:r>
              <a:rPr lang="en-US" altLang="zh-CN" sz="2200" kern="100" dirty="0">
                <a:latin typeface="宋体" panose="02010600030101010101" pitchFamily="2" charset="-122"/>
                <a:ea typeface="宋体" panose="02010600030101010101" pitchFamily="2" charset="-122"/>
              </a:rPr>
              <a:t>a &lt; b1 &lt; b2 &lt; c</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2. b1 &gt; b2</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t>
            </a:r>
            <a:r>
              <a:rPr lang="zh-CN" altLang="en-US" sz="2200" kern="100" dirty="0">
                <a:latin typeface="宋体" panose="02010600030101010101" pitchFamily="2" charset="-122"/>
                <a:ea typeface="宋体" panose="02010600030101010101" pitchFamily="2" charset="-122"/>
              </a:rPr>
              <a:t>这不可能， </a:t>
            </a:r>
            <a:r>
              <a:rPr lang="en-US" altLang="zh-CN" sz="2200" kern="100" dirty="0">
                <a:latin typeface="宋体" panose="02010600030101010101" pitchFamily="2" charset="-122"/>
                <a:ea typeface="宋体" panose="02010600030101010101" pitchFamily="2" charset="-122"/>
              </a:rPr>
              <a:t>b1 </a:t>
            </a:r>
            <a:r>
              <a:rPr lang="zh-CN" altLang="en-US" sz="2200" kern="100" dirty="0">
                <a:latin typeface="宋体" panose="02010600030101010101" pitchFamily="2" charset="-122"/>
                <a:ea typeface="宋体" panose="02010600030101010101" pitchFamily="2" charset="-122"/>
              </a:rPr>
              <a:t>要么处于 </a:t>
            </a:r>
            <a:r>
              <a:rPr lang="en-US" altLang="zh-CN" sz="2200" kern="100" dirty="0">
                <a:latin typeface="宋体" panose="02010600030101010101" pitchFamily="2" charset="-122"/>
                <a:ea typeface="宋体" panose="02010600030101010101" pitchFamily="2" charset="-122"/>
              </a:rPr>
              <a:t>b2 </a:t>
            </a:r>
            <a:r>
              <a:rPr lang="zh-CN" altLang="en-US" sz="2200" kern="100" dirty="0">
                <a:latin typeface="宋体" panose="02010600030101010101" pitchFamily="2" charset="-122"/>
                <a:ea typeface="宋体" panose="02010600030101010101" pitchFamily="2" charset="-122"/>
              </a:rPr>
              <a:t>的右子树中，要么 </a:t>
            </a:r>
            <a:r>
              <a:rPr lang="en-US" altLang="zh-CN" sz="2200" kern="100" dirty="0">
                <a:latin typeface="宋体" panose="02010600030101010101" pitchFamily="2" charset="-122"/>
                <a:ea typeface="宋体" panose="02010600030101010101" pitchFamily="2" charset="-122"/>
              </a:rPr>
              <a:t>b2 </a:t>
            </a:r>
            <a:r>
              <a:rPr lang="zh-CN" altLang="en-US" sz="2200" kern="100" dirty="0">
                <a:latin typeface="宋体" panose="02010600030101010101" pitchFamily="2" charset="-122"/>
                <a:ea typeface="宋体" panose="02010600030101010101" pitchFamily="2" charset="-122"/>
              </a:rPr>
              <a:t>处于</a:t>
            </a:r>
            <a:r>
              <a:rPr lang="en-US" altLang="zh-CN" sz="2200" kern="100" dirty="0">
                <a:latin typeface="宋体" panose="02010600030101010101" pitchFamily="2" charset="-122"/>
                <a:ea typeface="宋体" panose="02010600030101010101" pitchFamily="2" charset="-122"/>
              </a:rPr>
              <a:t>b1</a:t>
            </a:r>
            <a:r>
              <a:rPr lang="zh-CN" altLang="en-US" sz="2200" kern="100" dirty="0">
                <a:latin typeface="宋体" panose="02010600030101010101" pitchFamily="2" charset="-122"/>
                <a:ea typeface="宋体" panose="02010600030101010101" pitchFamily="2" charset="-122"/>
              </a:rPr>
              <a:t>的左子树中。</a:t>
            </a: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t>
            </a:r>
            <a:r>
              <a:rPr lang="zh-CN" altLang="en-US" sz="2200" kern="100" dirty="0">
                <a:latin typeface="宋体" panose="02010600030101010101" pitchFamily="2" charset="-122"/>
                <a:ea typeface="宋体" panose="02010600030101010101" pitchFamily="2" charset="-122"/>
              </a:rPr>
              <a:t>因为 </a:t>
            </a:r>
            <a:r>
              <a:rPr lang="en-US" altLang="zh-CN" sz="2200" kern="100" dirty="0">
                <a:latin typeface="宋体" panose="02010600030101010101" pitchFamily="2" charset="-122"/>
                <a:ea typeface="宋体" panose="02010600030101010101" pitchFamily="2" charset="-122"/>
              </a:rPr>
              <a:t>b1 </a:t>
            </a:r>
            <a:r>
              <a:rPr lang="zh-CN" altLang="en-US" sz="2200" kern="100" dirty="0">
                <a:latin typeface="宋体" panose="02010600030101010101" pitchFamily="2" charset="-122"/>
                <a:ea typeface="宋体" panose="02010600030101010101" pitchFamily="2" charset="-122"/>
              </a:rPr>
              <a:t>处于 </a:t>
            </a:r>
            <a:r>
              <a:rPr lang="en-US" altLang="zh-CN" sz="2200" kern="100" dirty="0">
                <a:latin typeface="宋体" panose="02010600030101010101" pitchFamily="2" charset="-122"/>
                <a:ea typeface="宋体" panose="02010600030101010101" pitchFamily="2" charset="-122"/>
              </a:rPr>
              <a:t>b2 </a:t>
            </a:r>
            <a:r>
              <a:rPr lang="zh-CN" altLang="en-US" sz="2200" kern="100" dirty="0">
                <a:latin typeface="宋体" panose="02010600030101010101" pitchFamily="2" charset="-122"/>
                <a:ea typeface="宋体" panose="02010600030101010101" pitchFamily="2" charset="-122"/>
              </a:rPr>
              <a:t>的右子树时，</a:t>
            </a:r>
            <a:r>
              <a:rPr lang="en-US" altLang="zh-CN" sz="2200" kern="100" dirty="0">
                <a:latin typeface="宋体" panose="02010600030101010101" pitchFamily="2" charset="-122"/>
                <a:ea typeface="宋体" panose="02010600030101010101" pitchFamily="2" charset="-122"/>
              </a:rPr>
              <a:t>S2</a:t>
            </a:r>
            <a:r>
              <a:rPr lang="zh-CN" altLang="en-US" sz="2200" kern="100" dirty="0">
                <a:latin typeface="宋体" panose="02010600030101010101" pitchFamily="2" charset="-122"/>
                <a:ea typeface="宋体" panose="02010600030101010101" pitchFamily="2" charset="-122"/>
              </a:rPr>
              <a:t>经过</a:t>
            </a:r>
            <a:r>
              <a:rPr lang="en-US" altLang="zh-CN" sz="2200" kern="100" dirty="0">
                <a:latin typeface="宋体" panose="02010600030101010101" pitchFamily="2" charset="-122"/>
                <a:ea typeface="宋体" panose="02010600030101010101" pitchFamily="2" charset="-122"/>
              </a:rPr>
              <a:t>b2</a:t>
            </a:r>
            <a:r>
              <a:rPr lang="zh-CN" altLang="en-US" sz="2200" kern="100" dirty="0">
                <a:latin typeface="宋体" panose="02010600030101010101" pitchFamily="2" charset="-122"/>
                <a:ea typeface="宋体" panose="02010600030101010101" pitchFamily="2" charset="-122"/>
              </a:rPr>
              <a:t>往右走，这样</a:t>
            </a:r>
            <a:r>
              <a:rPr lang="en-US" altLang="zh-CN" sz="2200" kern="100" dirty="0">
                <a:latin typeface="宋体" panose="02010600030101010101" pitchFamily="2" charset="-122"/>
                <a:ea typeface="宋体" panose="02010600030101010101" pitchFamily="2" charset="-122"/>
              </a:rPr>
              <a:t>c</a:t>
            </a:r>
            <a:r>
              <a:rPr lang="zh-CN" altLang="en-US" sz="2200" kern="100" dirty="0">
                <a:latin typeface="宋体" panose="02010600030101010101" pitchFamily="2" charset="-122"/>
                <a:ea typeface="宋体" panose="02010600030101010101" pitchFamily="2" charset="-122"/>
              </a:rPr>
              <a:t>的第一个祖先就不可能是</a:t>
            </a:r>
            <a:r>
              <a:rPr lang="en-US" altLang="zh-CN" sz="2200" kern="100" dirty="0">
                <a:latin typeface="宋体" panose="02010600030101010101" pitchFamily="2" charset="-122"/>
                <a:ea typeface="宋体" panose="02010600030101010101" pitchFamily="2" charset="-122"/>
              </a:rPr>
              <a:t>b2</a:t>
            </a:r>
            <a:r>
              <a:rPr lang="zh-CN" altLang="en-US" sz="2200" kern="100" dirty="0">
                <a:latin typeface="宋体" panose="02010600030101010101" pitchFamily="2" charset="-122"/>
                <a:ea typeface="宋体" panose="02010600030101010101" pitchFamily="2" charset="-122"/>
              </a:rPr>
              <a:t>，至少是</a:t>
            </a:r>
            <a:r>
              <a:rPr lang="en-US" altLang="zh-CN" sz="2200" kern="100" dirty="0">
                <a:latin typeface="宋体" panose="02010600030101010101" pitchFamily="2" charset="-122"/>
                <a:ea typeface="宋体" panose="02010600030101010101" pitchFamily="2" charset="-122"/>
              </a:rPr>
              <a:t>b2</a:t>
            </a:r>
            <a:r>
              <a:rPr lang="zh-CN" altLang="en-US" sz="2200" kern="100" dirty="0">
                <a:latin typeface="宋体" panose="02010600030101010101" pitchFamily="2" charset="-122"/>
                <a:ea typeface="宋体" panose="02010600030101010101" pitchFamily="2" charset="-122"/>
              </a:rPr>
              <a:t>的右儿子，矛盾</a:t>
            </a: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en-US" altLang="zh-CN" sz="2200" kern="100" dirty="0">
                <a:latin typeface="宋体" panose="02010600030101010101" pitchFamily="2" charset="-122"/>
                <a:ea typeface="宋体" panose="02010600030101010101" pitchFamily="2" charset="-122"/>
              </a:rPr>
              <a:t>	</a:t>
            </a:r>
            <a:r>
              <a:rPr lang="zh-CN" altLang="en-US" sz="2200" kern="100" dirty="0">
                <a:latin typeface="宋体" panose="02010600030101010101" pitchFamily="2" charset="-122"/>
                <a:ea typeface="宋体" panose="02010600030101010101" pitchFamily="2" charset="-122"/>
              </a:rPr>
              <a:t>因为</a:t>
            </a:r>
            <a:r>
              <a:rPr lang="en-US" altLang="zh-CN" sz="2200" kern="100" dirty="0">
                <a:latin typeface="宋体" panose="02010600030101010101" pitchFamily="2" charset="-122"/>
                <a:ea typeface="宋体" panose="02010600030101010101" pitchFamily="2" charset="-122"/>
              </a:rPr>
              <a:t>b2 </a:t>
            </a:r>
            <a:r>
              <a:rPr lang="zh-CN" altLang="en-US" sz="2200" kern="100" dirty="0">
                <a:latin typeface="宋体" panose="02010600030101010101" pitchFamily="2" charset="-122"/>
                <a:ea typeface="宋体" panose="02010600030101010101" pitchFamily="2" charset="-122"/>
              </a:rPr>
              <a:t>处于</a:t>
            </a:r>
            <a:r>
              <a:rPr lang="en-US" altLang="zh-CN" sz="2200" kern="100" dirty="0">
                <a:latin typeface="宋体" panose="02010600030101010101" pitchFamily="2" charset="-122"/>
                <a:ea typeface="宋体" panose="02010600030101010101" pitchFamily="2" charset="-122"/>
              </a:rPr>
              <a:t>b1</a:t>
            </a:r>
            <a:r>
              <a:rPr lang="zh-CN" altLang="en-US" sz="2200" kern="100" dirty="0">
                <a:latin typeface="宋体" panose="02010600030101010101" pitchFamily="2" charset="-122"/>
                <a:ea typeface="宋体" panose="02010600030101010101" pitchFamily="2" charset="-122"/>
              </a:rPr>
              <a:t>的左子树时，</a:t>
            </a:r>
            <a:r>
              <a:rPr lang="en-US" altLang="zh-CN" sz="2200" kern="100" dirty="0">
                <a:latin typeface="宋体" panose="02010600030101010101" pitchFamily="2" charset="-122"/>
                <a:ea typeface="宋体" panose="02010600030101010101" pitchFamily="2" charset="-122"/>
              </a:rPr>
              <a:t> S2</a:t>
            </a:r>
            <a:r>
              <a:rPr lang="zh-CN" altLang="en-US" sz="2200" kern="100" dirty="0">
                <a:latin typeface="宋体" panose="02010600030101010101" pitchFamily="2" charset="-122"/>
                <a:ea typeface="宋体" panose="02010600030101010101" pitchFamily="2" charset="-122"/>
              </a:rPr>
              <a:t>经过</a:t>
            </a:r>
            <a:r>
              <a:rPr lang="en-US" altLang="zh-CN" sz="2200" kern="100" dirty="0">
                <a:latin typeface="宋体" panose="02010600030101010101" pitchFamily="2" charset="-122"/>
                <a:ea typeface="宋体" panose="02010600030101010101" pitchFamily="2" charset="-122"/>
              </a:rPr>
              <a:t>b1</a:t>
            </a:r>
            <a:r>
              <a:rPr lang="zh-CN" altLang="en-US" sz="2200" kern="100" dirty="0">
                <a:latin typeface="宋体" panose="02010600030101010101" pitchFamily="2" charset="-122"/>
                <a:ea typeface="宋体" panose="02010600030101010101" pitchFamily="2" charset="-122"/>
              </a:rPr>
              <a:t>往左走，这样</a:t>
            </a:r>
            <a:r>
              <a:rPr lang="en-US" altLang="zh-CN" sz="2200" kern="100" dirty="0">
                <a:latin typeface="宋体" panose="02010600030101010101" pitchFamily="2" charset="-122"/>
                <a:ea typeface="宋体" panose="02010600030101010101" pitchFamily="2" charset="-122"/>
              </a:rPr>
              <a:t>a</a:t>
            </a:r>
            <a:r>
              <a:rPr lang="zh-CN" altLang="en-US" sz="2200" kern="100" dirty="0">
                <a:latin typeface="宋体" panose="02010600030101010101" pitchFamily="2" charset="-122"/>
                <a:ea typeface="宋体" panose="02010600030101010101" pitchFamily="2" charset="-122"/>
              </a:rPr>
              <a:t>的第一个</a:t>
            </a:r>
            <a:r>
              <a:rPr lang="en-US" altLang="zh-CN" sz="2200" kern="100" dirty="0">
                <a:latin typeface="宋体" panose="02010600030101010101" pitchFamily="2" charset="-122"/>
                <a:ea typeface="宋体" panose="02010600030101010101" pitchFamily="2" charset="-122"/>
              </a:rPr>
              <a:t>S2</a:t>
            </a:r>
            <a:r>
              <a:rPr lang="zh-CN" altLang="en-US" sz="2200" kern="100" dirty="0">
                <a:latin typeface="宋体" panose="02010600030101010101" pitchFamily="2" charset="-122"/>
                <a:ea typeface="宋体" panose="02010600030101010101" pitchFamily="2" charset="-122"/>
              </a:rPr>
              <a:t>祖先就不是</a:t>
            </a:r>
            <a:r>
              <a:rPr lang="en-US" altLang="zh-CN" sz="2200" kern="100" dirty="0">
                <a:latin typeface="宋体" panose="02010600030101010101" pitchFamily="2" charset="-122"/>
                <a:ea typeface="宋体" panose="02010600030101010101" pitchFamily="2" charset="-122"/>
              </a:rPr>
              <a:t>b1</a:t>
            </a:r>
            <a:r>
              <a:rPr lang="zh-CN" altLang="en-US" sz="2200" kern="100" dirty="0">
                <a:latin typeface="宋体" panose="02010600030101010101" pitchFamily="2" charset="-122"/>
                <a:ea typeface="宋体" panose="02010600030101010101" pitchFamily="2" charset="-122"/>
              </a:rPr>
              <a:t>，矛盾</a:t>
            </a:r>
            <a:endParaRPr lang="en-US" altLang="zh-CN"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781898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1536511"/>
          </a:xfrm>
          <a:prstGeom prst="rect">
            <a:avLst/>
          </a:prstGeom>
        </p:spPr>
        <p:txBody>
          <a:bodyPr wrap="square">
            <a:spAutoFit/>
          </a:bodyPr>
          <a:lstStyle/>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设计一种算法，检查一个长度为</a:t>
            </a:r>
            <a:r>
              <a:rPr lang="en-US" altLang="zh-CN" sz="2200" kern="100" dirty="0">
                <a:latin typeface="宋体" panose="02010600030101010101" pitchFamily="2" charset="-122"/>
                <a:ea typeface="宋体" panose="02010600030101010101" pitchFamily="2" charset="-122"/>
              </a:rPr>
              <a:t>m(m&gt;0)</a:t>
            </a:r>
            <a:r>
              <a:rPr lang="zh-CN" altLang="en-US" sz="2200" kern="100" dirty="0">
                <a:latin typeface="宋体" panose="02010600030101010101" pitchFamily="2" charset="-122"/>
                <a:ea typeface="宋体" panose="02010600030101010101" pitchFamily="2" charset="-122"/>
              </a:rPr>
              <a:t>的</a:t>
            </a:r>
            <a:r>
              <a:rPr lang="en-US" altLang="zh-CN" sz="2200" kern="100" dirty="0">
                <a:latin typeface="宋体" panose="02010600030101010101" pitchFamily="2" charset="-122"/>
                <a:ea typeface="宋体" panose="02010600030101010101" pitchFamily="2" charset="-122"/>
              </a:rPr>
              <a:t>int</a:t>
            </a:r>
            <a:r>
              <a:rPr lang="zh-CN" altLang="en-US" sz="2200" kern="100" dirty="0">
                <a:latin typeface="宋体" panose="02010600030101010101" pitchFamily="2" charset="-122"/>
                <a:ea typeface="宋体" panose="02010600030101010101" pitchFamily="2" charset="-122"/>
              </a:rPr>
              <a:t>数组是否为一个大顶堆。</a:t>
            </a:r>
          </a:p>
          <a:p>
            <a:pPr algn="just">
              <a:lnSpc>
                <a:spcPct val="150000"/>
              </a:lnSpc>
              <a:spcAft>
                <a:spcPts val="0"/>
              </a:spcAft>
            </a:pPr>
            <a:endParaRPr lang="en-US" altLang="zh-CN" sz="2200"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sz="2200" kern="100" dirty="0">
                <a:latin typeface="宋体" panose="02010600030101010101" pitchFamily="2" charset="-122"/>
                <a:ea typeface="宋体" panose="02010600030101010101" pitchFamily="2" charset="-122"/>
              </a:rPr>
              <a:t>从 </a:t>
            </a:r>
            <a:r>
              <a:rPr lang="en-US" altLang="zh-CN" sz="2200" kern="100" dirty="0">
                <a:latin typeface="宋体" panose="02010600030101010101" pitchFamily="2" charset="-122"/>
                <a:ea typeface="宋体" panose="02010600030101010101" pitchFamily="2" charset="-122"/>
              </a:rPr>
              <a:t>0 </a:t>
            </a:r>
            <a:r>
              <a:rPr lang="zh-CN" altLang="en-US" sz="2200" kern="100" dirty="0">
                <a:latin typeface="宋体" panose="02010600030101010101" pitchFamily="2" charset="-122"/>
                <a:ea typeface="宋体" panose="02010600030101010101" pitchFamily="2" charset="-122"/>
              </a:rPr>
              <a:t>开始遍历到 </a:t>
            </a:r>
            <a:r>
              <a:rPr lang="en-US" altLang="zh-CN" sz="2200" kern="100" dirty="0">
                <a:latin typeface="宋体" panose="02010600030101010101" pitchFamily="2" charset="-122"/>
                <a:ea typeface="宋体" panose="02010600030101010101" pitchFamily="2" charset="-122"/>
              </a:rPr>
              <a:t>m/2 ,</a:t>
            </a:r>
            <a:r>
              <a:rPr lang="zh-CN" altLang="en-US" sz="2200" kern="100" dirty="0">
                <a:latin typeface="宋体" panose="02010600030101010101" pitchFamily="2" charset="-122"/>
                <a:ea typeface="宋体" panose="02010600030101010101" pitchFamily="2" charset="-122"/>
              </a:rPr>
              <a:t>检查两个孩子是否小于等于自己即可</a:t>
            </a:r>
          </a:p>
        </p:txBody>
      </p:sp>
    </p:spTree>
    <p:extLst>
      <p:ext uri="{BB962C8B-B14F-4D97-AF65-F5344CB8AC3E}">
        <p14:creationId xmlns:p14="http://schemas.microsoft.com/office/powerpoint/2010/main" val="3769668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476F6088-871E-48F1-BA80-09EDAD0B2A31}"/>
                  </a:ext>
                </a:extLst>
              </p:cNvPr>
              <p:cNvSpPr/>
              <p:nvPr/>
            </p:nvSpPr>
            <p:spPr>
              <a:xfrm>
                <a:off x="1024646" y="1182618"/>
                <a:ext cx="10142708" cy="4524315"/>
              </a:xfrm>
              <a:prstGeom prst="rect">
                <a:avLst/>
              </a:prstGeom>
            </p:spPr>
            <p:txBody>
              <a:bodyPr wrap="square">
                <a:spAutoFit/>
              </a:bodyPr>
              <a:lstStyle/>
              <a:p>
                <a:r>
                  <a:rPr lang="zh-CN" altLang="zh-CN" dirty="0">
                    <a:latin typeface="宋体" panose="02010600030101010101" pitchFamily="2" charset="-122"/>
                    <a:ea typeface="宋体" panose="02010600030101010101" pitchFamily="2" charset="-122"/>
                  </a:rPr>
                  <a:t>对于一组权</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0</m:t>
                        </m:r>
                      </m:sub>
                    </m:sSub>
                  </m:oMath>
                </a14:m>
                <a:r>
                  <a:rPr lang="en-US" altLang="zh-CN" dirty="0">
                    <a:latin typeface="宋体" panose="02010600030101010101" pitchFamily="2" charset="-122"/>
                    <a:ea typeface="宋体" panose="02010600030101010101" pitchFamily="2" charset="-122"/>
                  </a:rPr>
                  <a:t>,</a:t>
                </a:r>
                <a14:m>
                  <m:oMath xmlns:m="http://schemas.openxmlformats.org/officeDocument/2006/math">
                    <m:r>
                      <a:rPr lang="en-US" altLang="zh-CN">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1</m:t>
                        </m:r>
                      </m:sub>
                    </m:sSub>
                  </m:oMath>
                </a14:m>
                <a:r>
                  <a:rPr lang="en-US" altLang="zh-CN" dirty="0">
                    <a:latin typeface="宋体" panose="02010600030101010101" pitchFamily="2" charset="-122"/>
                    <a:ea typeface="宋体" panose="02010600030101010101" pitchFamily="2" charset="-122"/>
                  </a:rPr>
                  <a:t>,…,</a:t>
                </a:r>
                <a14:m>
                  <m:oMath xmlns:m="http://schemas.openxmlformats.org/officeDocument/2006/math">
                    <m:r>
                      <a:rPr lang="en-US" altLang="zh-CN">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a14:m>
                <a:r>
                  <a:rPr lang="zh-CN" altLang="zh-CN" dirty="0">
                    <a:latin typeface="宋体" panose="02010600030101010101" pitchFamily="2" charset="-122"/>
                    <a:ea typeface="宋体" panose="02010600030101010101" pitchFamily="2" charset="-122"/>
                  </a:rPr>
                  <a:t>，说明怎么构造一个具有最小带权外部路径长度的扩充</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叉树。试对权集</a:t>
                </a:r>
                <a:r>
                  <a:rPr lang="en-US" altLang="zh-CN" dirty="0">
                    <a:latin typeface="宋体" panose="02010600030101010101" pitchFamily="2" charset="-122"/>
                    <a:ea typeface="宋体" panose="02010600030101010101" pitchFamily="2" charset="-122"/>
                  </a:rPr>
                  <a:t>1,4,9,16,25,36,49,64,81,100</a:t>
                </a:r>
                <a:r>
                  <a:rPr lang="zh-CN" altLang="zh-CN" dirty="0">
                    <a:latin typeface="宋体" panose="02010600030101010101" pitchFamily="2" charset="-122"/>
                    <a:ea typeface="宋体" panose="02010600030101010101" pitchFamily="2" charset="-122"/>
                  </a:rPr>
                  <a:t>来具体构造一个这样的扩充三叉树。</a:t>
                </a:r>
                <a:endParaRPr lang="en-US" altLang="zh-CN" kern="100" dirty="0">
                  <a:latin typeface="宋体" panose="02010600030101010101" pitchFamily="2" charset="-122"/>
                  <a:ea typeface="宋体" panose="02010600030101010101" pitchFamily="2" charset="-122"/>
                </a:endParaRPr>
              </a:p>
              <a:p>
                <a:endParaRPr lang="en-US" altLang="zh-CN" kern="100"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答：思想：</a:t>
                </a:r>
                <a:r>
                  <a:rPr lang="zh-CN" altLang="zh-CN" b="1" dirty="0">
                    <a:latin typeface="宋体" panose="02010600030101010101" pitchFamily="2" charset="-122"/>
                    <a:ea typeface="宋体" panose="02010600030101010101" pitchFamily="2" charset="-122"/>
                  </a:rPr>
                  <a:t>必须让权越大的叶子离根越近，同时让外部路径长度最小</a:t>
                </a:r>
                <a:r>
                  <a:rPr lang="zh-CN" altLang="zh-CN" dirty="0">
                    <a:latin typeface="宋体" panose="02010600030101010101" pitchFamily="2" charset="-122"/>
                    <a:ea typeface="宋体" panose="02010600030101010101" pitchFamily="2" charset="-122"/>
                  </a:rPr>
                  <a:t>。因此必须保证</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叉树高层节点的度数为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a:t>
                </a:r>
              </a:p>
              <a:p>
                <a:r>
                  <a:rPr lang="zh-CN" altLang="zh-CN" dirty="0">
                    <a:latin typeface="宋体" panose="02010600030101010101" pitchFamily="2" charset="-122"/>
                    <a:ea typeface="宋体" panose="02010600030101010101" pitchFamily="2" charset="-122"/>
                  </a:rPr>
                  <a:t>算法：</a:t>
                </a:r>
              </a:p>
              <a:p>
                <a:r>
                  <a:rPr lang="en-US" altLang="zh-CN" dirty="0">
                    <a:latin typeface="宋体" panose="02010600030101010101" pitchFamily="2" charset="-122"/>
                    <a:ea typeface="宋体" panose="02010600030101010101" pitchFamily="2" charset="-122"/>
                  </a:rPr>
                  <a:t>	1</a:t>
                </a:r>
                <a:r>
                  <a:rPr lang="zh-CN" altLang="zh-CN" dirty="0">
                    <a:latin typeface="宋体" panose="02010600030101010101" pitchFamily="2" charset="-122"/>
                    <a:ea typeface="宋体" panose="02010600030101010101" pitchFamily="2" charset="-122"/>
                  </a:rPr>
                  <a:t>）若</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，直接合并成一棵树。否则，将序列按从小到大的顺序排好。</a:t>
                </a:r>
              </a:p>
              <a:p>
                <a:r>
                  <a:rPr lang="en-US" altLang="zh-CN" dirty="0">
                    <a:latin typeface="宋体" panose="02010600030101010101" pitchFamily="2" charset="-122"/>
                    <a:ea typeface="宋体" panose="02010600030101010101" pitchFamily="2" charset="-122"/>
                  </a:rPr>
                  <a:t>	2</a:t>
                </a:r>
                <a:r>
                  <a:rPr lang="zh-CN" altLang="zh-CN" dirty="0">
                    <a:latin typeface="宋体" panose="02010600030101010101" pitchFamily="2" charset="-122"/>
                    <a:ea typeface="宋体" panose="02010600030101010101" pitchFamily="2" charset="-122"/>
                  </a:rPr>
                  <a:t>）计算</a:t>
                </a:r>
                <a:r>
                  <a:rPr lang="en-US" altLang="zh-CN" dirty="0">
                    <a:latin typeface="宋体" panose="02010600030101010101" pitchFamily="2" charset="-122"/>
                    <a:ea typeface="宋体" panose="02010600030101010101" pitchFamily="2" charset="-122"/>
                  </a:rPr>
                  <a:t>m</a:t>
                </a:r>
                <a:r>
                  <a:rPr lang="zh-CN" altLang="zh-CN" dirty="0">
                    <a:latin typeface="宋体" panose="02010600030101010101" pitchFamily="2" charset="-122"/>
                    <a:ea typeface="宋体" panose="02010600030101010101" pitchFamily="2" charset="-122"/>
                  </a:rPr>
                  <a:t>值，</a:t>
                </a:r>
              </a:p>
              <a:p>
                <a:r>
                  <a:rPr lang="en-US" altLang="zh-CN" dirty="0">
                    <a:latin typeface="宋体" panose="02010600030101010101" pitchFamily="2" charset="-122"/>
                    <a:ea typeface="宋体" panose="02010600030101010101" pitchFamily="2" charset="-122"/>
                  </a:rPr>
                  <a:t>		if(n%(k-1) </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 </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m=n%(k-1) + k-1</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else </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			m = n%(k-1)</a:t>
                </a:r>
                <a:endParaRPr lang="zh-CN" altLang="zh-CN" dirty="0">
                  <a:latin typeface="宋体" panose="02010600030101010101" pitchFamily="2" charset="-122"/>
                  <a:ea typeface="宋体" panose="02010600030101010101" pitchFamily="2" charset="-122"/>
                </a:endParaRPr>
              </a:p>
              <a:p>
                <a:r>
                  <a:rPr lang="en-US" altLang="zh-CN" b="1"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）取最小的</a:t>
                </a:r>
                <a:r>
                  <a:rPr lang="en-US" altLang="zh-CN" dirty="0">
                    <a:latin typeface="宋体" panose="02010600030101010101" pitchFamily="2" charset="-122"/>
                    <a:ea typeface="宋体" panose="02010600030101010101" pitchFamily="2" charset="-122"/>
                  </a:rPr>
                  <a:t>m</a:t>
                </a:r>
                <a:r>
                  <a:rPr lang="zh-CN" altLang="zh-CN" dirty="0">
                    <a:latin typeface="宋体" panose="02010600030101010101" pitchFamily="2" charset="-122"/>
                    <a:ea typeface="宋体" panose="02010600030101010101" pitchFamily="2" charset="-122"/>
                  </a:rPr>
                  <a:t>个权值合并成一个新节点，其权值为</a:t>
                </a:r>
                <a:r>
                  <a:rPr lang="en-US" altLang="zh-CN" dirty="0">
                    <a:latin typeface="宋体" panose="02010600030101010101" pitchFamily="2" charset="-122"/>
                    <a:ea typeface="宋体" panose="02010600030101010101" pitchFamily="2" charset="-122"/>
                  </a:rPr>
                  <a:t>m</a:t>
                </a:r>
                <a:r>
                  <a:rPr lang="zh-CN" altLang="zh-CN" dirty="0">
                    <a:latin typeface="宋体" panose="02010600030101010101" pitchFamily="2" charset="-122"/>
                    <a:ea typeface="宋体" panose="02010600030101010101" pitchFamily="2" charset="-122"/>
                  </a:rPr>
                  <a:t>个节点权值之和。</a:t>
                </a:r>
              </a:p>
              <a:p>
                <a:r>
                  <a:rPr lang="en-US" altLang="zh-CN" dirty="0">
                    <a:latin typeface="宋体" panose="02010600030101010101" pitchFamily="2" charset="-122"/>
                    <a:ea typeface="宋体" panose="02010600030101010101" pitchFamily="2" charset="-122"/>
                  </a:rPr>
                  <a:t>	4</a:t>
                </a:r>
                <a:r>
                  <a:rPr lang="zh-CN" altLang="zh-CN" dirty="0">
                    <a:latin typeface="宋体" panose="02010600030101010101" pitchFamily="2" charset="-122"/>
                    <a:ea typeface="宋体" panose="02010600030101010101" pitchFamily="2" charset="-122"/>
                  </a:rPr>
                  <a:t>）再将权值按从小到大的顺序排好。取前</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个权，合并成新节点，其权值为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个权之和。</a:t>
                </a:r>
              </a:p>
              <a:p>
                <a:r>
                  <a:rPr lang="en-US" altLang="zh-CN" dirty="0">
                    <a:latin typeface="宋体" panose="02010600030101010101" pitchFamily="2" charset="-122"/>
                    <a:ea typeface="宋体" panose="02010600030101010101" pitchFamily="2" charset="-122"/>
                  </a:rPr>
                  <a:t>	5</a:t>
                </a:r>
                <a:r>
                  <a:rPr lang="zh-CN" altLang="zh-CN" dirty="0">
                    <a:latin typeface="宋体" panose="02010600030101010101" pitchFamily="2" charset="-122"/>
                    <a:ea typeface="宋体" panose="02010600030101010101" pitchFamily="2" charset="-122"/>
                  </a:rPr>
                  <a:t>）不断重复</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）直到合并所有的节点。</a:t>
                </a:r>
              </a:p>
              <a:p>
                <a:endParaRPr lang="zh-CN" altLang="zh-CN" dirty="0">
                  <a:latin typeface="宋体" panose="02010600030101010101" pitchFamily="2" charset="-122"/>
                  <a:ea typeface="宋体" panose="02010600030101010101" pitchFamily="2" charset="-122"/>
                </a:endParaRPr>
              </a:p>
            </p:txBody>
          </p:sp>
        </mc:Choice>
        <mc:Fallback>
          <p:sp>
            <p:nvSpPr>
              <p:cNvPr id="5" name="矩形 4">
                <a:extLst>
                  <a:ext uri="{FF2B5EF4-FFF2-40B4-BE49-F238E27FC236}">
                    <a16:creationId xmlns:a16="http://schemas.microsoft.com/office/drawing/2014/main" id="{476F6088-871E-48F1-BA80-09EDAD0B2A31}"/>
                  </a:ext>
                </a:extLst>
              </p:cNvPr>
              <p:cNvSpPr>
                <a:spLocks noRot="1" noChangeAspect="1" noMove="1" noResize="1" noEditPoints="1" noAdjustHandles="1" noChangeArrowheads="1" noChangeShapeType="1" noTextEdit="1"/>
              </p:cNvSpPr>
              <p:nvPr/>
            </p:nvSpPr>
            <p:spPr>
              <a:xfrm>
                <a:off x="1024646" y="1182618"/>
                <a:ext cx="10142708" cy="4524315"/>
              </a:xfrm>
              <a:prstGeom prst="rect">
                <a:avLst/>
              </a:prstGeom>
              <a:blipFill>
                <a:blip r:embed="rId3"/>
                <a:stretch>
                  <a:fillRect l="-481" t="-10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66370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4</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pic>
        <p:nvPicPr>
          <p:cNvPr id="6" name="图片 5" descr="C:\Users\37584\AppData\Local\Temp\WeChat Files\64af4f3c3d58d1f5d8ef2dabf9c6c49.jpg">
            <a:extLst>
              <a:ext uri="{FF2B5EF4-FFF2-40B4-BE49-F238E27FC236}">
                <a16:creationId xmlns:a16="http://schemas.microsoft.com/office/drawing/2014/main" id="{391DABB0-4381-46F7-B602-470A5B9B249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3790800" y="-520182"/>
            <a:ext cx="4471200" cy="7876800"/>
          </a:xfrm>
          <a:prstGeom prst="rect">
            <a:avLst/>
          </a:prstGeom>
          <a:noFill/>
          <a:ln>
            <a:noFill/>
          </a:ln>
        </p:spPr>
      </p:pic>
    </p:spTree>
    <p:extLst>
      <p:ext uri="{BB962C8B-B14F-4D97-AF65-F5344CB8AC3E}">
        <p14:creationId xmlns:p14="http://schemas.microsoft.com/office/powerpoint/2010/main" val="4023216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5</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583200" y="861087"/>
            <a:ext cx="10584154" cy="5428858"/>
          </a:xfrm>
          <a:prstGeom prst="rect">
            <a:avLst/>
          </a:prstGeom>
        </p:spPr>
        <p:txBody>
          <a:bodyPr wrap="square">
            <a:spAutoFit/>
          </a:bodyPr>
          <a:lstStyle/>
          <a:p>
            <a:pPr algn="just">
              <a:lnSpc>
                <a:spcPct val="150000"/>
              </a:lnSpc>
              <a:spcAft>
                <a:spcPts val="0"/>
              </a:spcAft>
            </a:pPr>
            <a:r>
              <a:rPr lang="zh-CN" altLang="en-US" kern="100" dirty="0">
                <a:latin typeface="宋体" panose="02010600030101010101" pitchFamily="2" charset="-122"/>
                <a:ea typeface="宋体" panose="02010600030101010101" pitchFamily="2" charset="-122"/>
              </a:rPr>
              <a:t>证明：左偏树（</a:t>
            </a:r>
            <a:r>
              <a:rPr lang="en-US" altLang="zh-CN" kern="100" dirty="0">
                <a:latin typeface="宋体" panose="02010600030101010101" pitchFamily="2" charset="-122"/>
                <a:ea typeface="宋体" panose="02010600030101010101" pitchFamily="2" charset="-122"/>
              </a:rPr>
              <a:t>leftist tree</a:t>
            </a:r>
            <a:r>
              <a:rPr lang="zh-CN" altLang="en-US" kern="100" dirty="0">
                <a:latin typeface="宋体" panose="02010600030101010101" pitchFamily="2" charset="-122"/>
                <a:ea typeface="宋体" panose="02010600030101010101" pitchFamily="2" charset="-122"/>
              </a:rPr>
              <a:t>），也可称为左偏堆，是一种优先队列实现方式。它的节点除了和二叉树的节点一样具有左右子树指针（</a:t>
            </a:r>
            <a:r>
              <a:rPr lang="en-US" altLang="zh-CN" kern="100" dirty="0">
                <a:latin typeface="宋体" panose="02010600030101010101" pitchFamily="2" charset="-122"/>
                <a:ea typeface="宋体" panose="02010600030101010101" pitchFamily="2" charset="-122"/>
              </a:rPr>
              <a:t>left, right</a:t>
            </a:r>
            <a:r>
              <a:rPr lang="zh-CN" altLang="en-US" kern="100" dirty="0">
                <a:latin typeface="宋体" panose="02010600030101010101" pitchFamily="2" charset="-122"/>
                <a:ea typeface="宋体" panose="02010600030101010101" pitchFamily="2" charset="-122"/>
              </a:rPr>
              <a:t>）外，还有两个属性</a:t>
            </a:r>
            <a:r>
              <a:rPr lang="en-US" altLang="zh-CN" kern="100" dirty="0">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键值和距离。键值用于比较节点的大小。距离的定义如下：</a:t>
            </a:r>
          </a:p>
          <a:p>
            <a:pPr algn="just">
              <a:lnSpc>
                <a:spcPct val="150000"/>
              </a:lnSpc>
              <a:spcAft>
                <a:spcPts val="0"/>
              </a:spcAft>
            </a:pPr>
            <a:r>
              <a:rPr lang="zh-CN" altLang="en-US" kern="100" dirty="0">
                <a:latin typeface="宋体" panose="02010600030101010101" pitchFamily="2" charset="-122"/>
                <a:ea typeface="宋体" panose="02010600030101010101" pitchFamily="2" charset="-122"/>
              </a:rPr>
              <a:t>当且仅当节点</a:t>
            </a:r>
            <a:r>
              <a:rPr lang="en-US" altLang="zh-CN" kern="100" dirty="0" err="1">
                <a:latin typeface="宋体" panose="02010600030101010101" pitchFamily="2" charset="-122"/>
                <a:ea typeface="宋体" panose="02010600030101010101" pitchFamily="2" charset="-122"/>
              </a:rPr>
              <a:t>i</a:t>
            </a:r>
            <a:r>
              <a:rPr lang="zh-CN" altLang="en-US" kern="100" dirty="0">
                <a:latin typeface="宋体" panose="02010600030101010101" pitchFamily="2" charset="-122"/>
                <a:ea typeface="宋体" panose="02010600030101010101" pitchFamily="2" charset="-122"/>
              </a:rPr>
              <a:t>的左子树或右子树为空时，节点被称作外节点。节点</a:t>
            </a:r>
            <a:r>
              <a:rPr lang="en-US" altLang="zh-CN" kern="100" dirty="0" err="1">
                <a:latin typeface="宋体" panose="02010600030101010101" pitchFamily="2" charset="-122"/>
                <a:ea typeface="宋体" panose="02010600030101010101" pitchFamily="2" charset="-122"/>
              </a:rPr>
              <a:t>i</a:t>
            </a:r>
            <a:r>
              <a:rPr lang="zh-CN" altLang="en-US" kern="100" dirty="0">
                <a:latin typeface="宋体" panose="02010600030101010101" pitchFamily="2" charset="-122"/>
                <a:ea typeface="宋体" panose="02010600030101010101" pitchFamily="2" charset="-122"/>
              </a:rPr>
              <a:t>的距离是节点 </a:t>
            </a:r>
            <a:r>
              <a:rPr lang="en-US" altLang="zh-CN" kern="100" dirty="0" err="1">
                <a:latin typeface="宋体" panose="02010600030101010101" pitchFamily="2" charset="-122"/>
                <a:ea typeface="宋体" panose="02010600030101010101" pitchFamily="2" charset="-122"/>
              </a:rPr>
              <a:t>i</a:t>
            </a:r>
            <a:r>
              <a:rPr lang="en-US" altLang="zh-CN" kern="100" dirty="0">
                <a:latin typeface="宋体" panose="02010600030101010101" pitchFamily="2" charset="-122"/>
                <a:ea typeface="宋体" panose="02010600030101010101" pitchFamily="2" charset="-122"/>
              </a:rPr>
              <a:t> </a:t>
            </a:r>
            <a:r>
              <a:rPr lang="zh-CN" altLang="en-US" kern="100" dirty="0">
                <a:latin typeface="宋体" panose="02010600030101010101" pitchFamily="2" charset="-122"/>
                <a:ea typeface="宋体" panose="02010600030101010101" pitchFamily="2" charset="-122"/>
              </a:rPr>
              <a:t>到它的后代中的最近的外节点所经过的边数。特别的，如果节点 </a:t>
            </a:r>
            <a:r>
              <a:rPr lang="en-US" altLang="zh-CN" kern="100" dirty="0" err="1">
                <a:latin typeface="宋体" panose="02010600030101010101" pitchFamily="2" charset="-122"/>
                <a:ea typeface="宋体" panose="02010600030101010101" pitchFamily="2" charset="-122"/>
              </a:rPr>
              <a:t>i</a:t>
            </a:r>
            <a:r>
              <a:rPr lang="en-US" altLang="zh-CN" kern="100" dirty="0">
                <a:latin typeface="宋体" panose="02010600030101010101" pitchFamily="2" charset="-122"/>
                <a:ea typeface="宋体" panose="02010600030101010101" pitchFamily="2" charset="-122"/>
              </a:rPr>
              <a:t> </a:t>
            </a:r>
            <a:r>
              <a:rPr lang="zh-CN" altLang="en-US" kern="100" dirty="0">
                <a:latin typeface="宋体" panose="02010600030101010101" pitchFamily="2" charset="-122"/>
                <a:ea typeface="宋体" panose="02010600030101010101" pitchFamily="2" charset="-122"/>
              </a:rPr>
              <a:t>本身是外节点，则它的距离为</a:t>
            </a:r>
            <a:r>
              <a:rPr lang="en-US" altLang="zh-CN" kern="100" dirty="0">
                <a:latin typeface="宋体" panose="02010600030101010101" pitchFamily="2" charset="-122"/>
                <a:ea typeface="宋体" panose="02010600030101010101" pitchFamily="2" charset="-122"/>
              </a:rPr>
              <a:t>0</a:t>
            </a:r>
            <a:r>
              <a:rPr lang="zh-CN" altLang="en-US" kern="100" dirty="0">
                <a:latin typeface="宋体" panose="02010600030101010101" pitchFamily="2" charset="-122"/>
                <a:ea typeface="宋体" panose="02010600030101010101" pitchFamily="2" charset="-122"/>
              </a:rPr>
              <a:t>。空节点的距离定义成</a:t>
            </a:r>
            <a:r>
              <a:rPr lang="en-US" altLang="zh-CN" kern="100" dirty="0">
                <a:latin typeface="宋体" panose="02010600030101010101" pitchFamily="2" charset="-122"/>
                <a:ea typeface="宋体" panose="02010600030101010101" pitchFamily="2" charset="-122"/>
              </a:rPr>
              <a:t>-1</a:t>
            </a:r>
            <a:r>
              <a:rPr lang="zh-CN" altLang="en-US" kern="100" dirty="0">
                <a:latin typeface="宋体" panose="02010600030101010101" pitchFamily="2" charset="-122"/>
                <a:ea typeface="宋体" panose="02010600030101010101" pitchFamily="2" charset="-122"/>
              </a:rPr>
              <a:t>。</a:t>
            </a:r>
          </a:p>
          <a:p>
            <a:pPr algn="just">
              <a:lnSpc>
                <a:spcPct val="150000"/>
              </a:lnSpc>
              <a:spcAft>
                <a:spcPts val="0"/>
              </a:spcAft>
            </a:pPr>
            <a:r>
              <a:rPr lang="en-US" altLang="zh-CN" kern="100" dirty="0">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性质</a:t>
            </a:r>
            <a:r>
              <a:rPr lang="en-US" altLang="zh-CN" kern="100" dirty="0">
                <a:latin typeface="宋体" panose="02010600030101010101" pitchFamily="2" charset="-122"/>
                <a:ea typeface="宋体" panose="02010600030101010101" pitchFamily="2" charset="-122"/>
              </a:rPr>
              <a:t>1] </a:t>
            </a:r>
            <a:r>
              <a:rPr lang="zh-CN" altLang="en-US" kern="100" dirty="0">
                <a:latin typeface="宋体" panose="02010600030101010101" pitchFamily="2" charset="-122"/>
                <a:ea typeface="宋体" panose="02010600030101010101" pitchFamily="2" charset="-122"/>
              </a:rPr>
              <a:t>节点的键值小于或等于它的左右子节点的键值。</a:t>
            </a:r>
          </a:p>
          <a:p>
            <a:pPr algn="just">
              <a:lnSpc>
                <a:spcPct val="150000"/>
              </a:lnSpc>
              <a:spcAft>
                <a:spcPts val="0"/>
              </a:spcAft>
            </a:pPr>
            <a:r>
              <a:rPr lang="en-US" altLang="zh-CN" kern="100" dirty="0">
                <a:latin typeface="宋体" panose="02010600030101010101" pitchFamily="2" charset="-122"/>
                <a:ea typeface="宋体" panose="02010600030101010101" pitchFamily="2" charset="-122"/>
              </a:rPr>
              <a:t>[</a:t>
            </a:r>
            <a:r>
              <a:rPr lang="zh-CN" altLang="en-US" kern="100" dirty="0">
                <a:latin typeface="宋体" panose="02010600030101010101" pitchFamily="2" charset="-122"/>
                <a:ea typeface="宋体" panose="02010600030101010101" pitchFamily="2" charset="-122"/>
              </a:rPr>
              <a:t>性质</a:t>
            </a:r>
            <a:r>
              <a:rPr lang="en-US" altLang="zh-CN" kern="100" dirty="0">
                <a:latin typeface="宋体" panose="02010600030101010101" pitchFamily="2" charset="-122"/>
                <a:ea typeface="宋体" panose="02010600030101010101" pitchFamily="2" charset="-122"/>
              </a:rPr>
              <a:t>2] </a:t>
            </a:r>
            <a:r>
              <a:rPr lang="zh-CN" altLang="en-US" kern="100" dirty="0">
                <a:latin typeface="宋体" panose="02010600030101010101" pitchFamily="2" charset="-122"/>
                <a:ea typeface="宋体" panose="02010600030101010101" pitchFamily="2" charset="-122"/>
              </a:rPr>
              <a:t>节点的左子节点的距离不小于右子节点的距离。</a:t>
            </a:r>
          </a:p>
          <a:p>
            <a:pPr algn="just">
              <a:lnSpc>
                <a:spcPct val="150000"/>
              </a:lnSpc>
              <a:spcAft>
                <a:spcPts val="0"/>
              </a:spcAft>
            </a:pPr>
            <a:r>
              <a:rPr lang="zh-CN" altLang="en-US" kern="100" dirty="0">
                <a:latin typeface="宋体" panose="02010600030101010101" pitchFamily="2" charset="-122"/>
                <a:ea typeface="宋体" panose="02010600030101010101" pitchFamily="2" charset="-122"/>
              </a:rPr>
              <a:t>求证：</a:t>
            </a:r>
          </a:p>
          <a:p>
            <a:pPr marL="342900" indent="-342900" algn="just">
              <a:lnSpc>
                <a:spcPct val="150000"/>
              </a:lnSpc>
              <a:spcAft>
                <a:spcPts val="0"/>
              </a:spcAft>
              <a:buFont typeface="Arial" panose="020B0604020202020204" pitchFamily="34" charset="0"/>
              <a:buChar char="•"/>
            </a:pPr>
            <a:r>
              <a:rPr lang="en-US" altLang="zh-CN" kern="100" dirty="0">
                <a:latin typeface="宋体" panose="02010600030101010101" pitchFamily="2" charset="-122"/>
                <a:ea typeface="宋体" panose="02010600030101010101" pitchFamily="2" charset="-122"/>
              </a:rPr>
              <a:t>1</a:t>
            </a:r>
            <a:r>
              <a:rPr lang="zh-CN" altLang="en-US" kern="100" dirty="0">
                <a:latin typeface="宋体" panose="02010600030101010101" pitchFamily="2" charset="-122"/>
                <a:ea typeface="宋体" panose="02010600030101010101" pitchFamily="2" charset="-122"/>
              </a:rPr>
              <a:t>）若一棵左偏树的根节点距离为</a:t>
            </a:r>
            <a:r>
              <a:rPr lang="en-US" altLang="zh-CN" kern="100" dirty="0">
                <a:latin typeface="宋体" panose="02010600030101010101" pitchFamily="2" charset="-122"/>
                <a:ea typeface="宋体" panose="02010600030101010101" pitchFamily="2" charset="-122"/>
              </a:rPr>
              <a:t>k</a:t>
            </a:r>
            <a:r>
              <a:rPr lang="zh-CN" altLang="en-US" kern="100" dirty="0">
                <a:latin typeface="宋体" panose="02010600030101010101" pitchFamily="2" charset="-122"/>
                <a:ea typeface="宋体" panose="02010600030101010101" pitchFamily="2" charset="-122"/>
              </a:rPr>
              <a:t>，则这棵左偏树至少有</a:t>
            </a:r>
            <a:r>
              <a:rPr lang="en-US" altLang="zh-CN" kern="100" dirty="0">
                <a:latin typeface="宋体" panose="02010600030101010101" pitchFamily="2" charset="-122"/>
                <a:ea typeface="宋体" panose="02010600030101010101" pitchFamily="2" charset="-122"/>
              </a:rPr>
              <a:t>2^(k+1)-1</a:t>
            </a:r>
            <a:r>
              <a:rPr lang="zh-CN" altLang="en-US" kern="100" dirty="0">
                <a:latin typeface="宋体" panose="02010600030101010101" pitchFamily="2" charset="-122"/>
                <a:ea typeface="宋体" panose="02010600030101010101" pitchFamily="2" charset="-122"/>
              </a:rPr>
              <a:t>个节点</a:t>
            </a:r>
            <a:r>
              <a:rPr lang="en-US" altLang="zh-CN" kern="100" dirty="0">
                <a:latin typeface="宋体" panose="02010600030101010101" pitchFamily="2" charset="-122"/>
                <a:ea typeface="宋体" panose="02010600030101010101" pitchFamily="2" charset="-122"/>
              </a:rPr>
              <a:t>.</a:t>
            </a:r>
          </a:p>
          <a:p>
            <a:pPr marL="342900" indent="-342900" algn="just">
              <a:lnSpc>
                <a:spcPct val="150000"/>
              </a:lnSpc>
              <a:spcAft>
                <a:spcPts val="0"/>
              </a:spcAft>
              <a:buFont typeface="Arial" panose="020B0604020202020204" pitchFamily="34" charset="0"/>
              <a:buChar char="•"/>
            </a:pPr>
            <a:r>
              <a:rPr lang="en-US" altLang="zh-CN" kern="100" dirty="0">
                <a:latin typeface="宋体" panose="02010600030101010101" pitchFamily="2" charset="-122"/>
                <a:ea typeface="宋体" panose="02010600030101010101" pitchFamily="2" charset="-122"/>
              </a:rPr>
              <a:t>2</a:t>
            </a:r>
            <a:r>
              <a:rPr lang="zh-CN" altLang="en-US" kern="100" dirty="0">
                <a:latin typeface="宋体" panose="02010600030101010101" pitchFamily="2" charset="-122"/>
                <a:ea typeface="宋体" panose="02010600030101010101" pitchFamily="2" charset="-122"/>
              </a:rPr>
              <a:t>）若一棵左偏树有</a:t>
            </a:r>
            <a:r>
              <a:rPr lang="en-US" altLang="zh-CN" kern="100" dirty="0">
                <a:latin typeface="宋体" panose="02010600030101010101" pitchFamily="2" charset="-122"/>
                <a:ea typeface="宋体" panose="02010600030101010101" pitchFamily="2" charset="-122"/>
              </a:rPr>
              <a:t>n</a:t>
            </a:r>
            <a:r>
              <a:rPr lang="zh-CN" altLang="en-US" kern="100" dirty="0">
                <a:latin typeface="宋体" panose="02010600030101010101" pitchFamily="2" charset="-122"/>
                <a:ea typeface="宋体" panose="02010600030101010101" pitchFamily="2" charset="-122"/>
              </a:rPr>
              <a:t>个节点，则其根节点的距离取值为 </a:t>
            </a:r>
            <a:r>
              <a:rPr lang="en-US" altLang="zh-CN" kern="100" dirty="0">
                <a:latin typeface="宋体" panose="02010600030101010101" pitchFamily="2" charset="-122"/>
                <a:ea typeface="宋体" panose="02010600030101010101" pitchFamily="2" charset="-122"/>
              </a:rPr>
              <a:t>[0,〖log〗_2 (n+1)-1]</a:t>
            </a:r>
            <a:r>
              <a:rPr lang="zh-CN" altLang="en-US" kern="100" dirty="0">
                <a:latin typeface="宋体" panose="02010600030101010101" pitchFamily="2" charset="-122"/>
                <a:ea typeface="宋体" panose="02010600030101010101" pitchFamily="2" charset="-122"/>
              </a:rPr>
              <a:t>。</a:t>
            </a:r>
          </a:p>
          <a:p>
            <a:pPr marL="342900" indent="-342900" algn="just">
              <a:lnSpc>
                <a:spcPct val="150000"/>
              </a:lnSpc>
              <a:spcAft>
                <a:spcPts val="0"/>
              </a:spcAft>
              <a:buFont typeface="Arial" panose="020B0604020202020204" pitchFamily="34" charset="0"/>
              <a:buChar char="•"/>
            </a:pPr>
            <a:endParaRPr lang="zh-CN" altLang="en-US"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89929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5</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3A87D377-3595-42E8-AD2D-924ECB22BDBE}"/>
                  </a:ext>
                </a:extLst>
              </p:cNvPr>
              <p:cNvSpPr/>
              <p:nvPr/>
            </p:nvSpPr>
            <p:spPr>
              <a:xfrm>
                <a:off x="861742" y="1166608"/>
                <a:ext cx="10142708" cy="2977097"/>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答：</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）由性质</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可知，当且仅当对于一棵左偏树中的每个节点</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，都有</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的左右孩子距离相等时，该左偏树的节点数最少。显然具有这样性质的二叉树是完全二叉树。所以</a:t>
                </a:r>
                <a:r>
                  <a:rPr lang="zh-CN" altLang="zh-CN" b="1" dirty="0">
                    <a:latin typeface="宋体" panose="02010600030101010101" pitchFamily="2" charset="-122"/>
                    <a:ea typeface="宋体" panose="02010600030101010101" pitchFamily="2" charset="-122"/>
                  </a:rPr>
                  <a:t>当固定根节点距离的左偏树节点数最少的时候，是一棵完全二叉树</a:t>
                </a:r>
                <a:r>
                  <a:rPr lang="zh-CN" altLang="zh-CN" dirty="0">
                    <a:latin typeface="宋体" panose="02010600030101010101" pitchFamily="2" charset="-122"/>
                    <a:ea typeface="宋体" panose="02010600030101010101" pitchFamily="2" charset="-122"/>
                  </a:rPr>
                  <a:t>。距离为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的完全二叉树深度也为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，节点数为</a:t>
                </a:r>
                <a14:m>
                  <m:oMath xmlns:m="http://schemas.openxmlformats.org/officeDocument/2006/math">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，所以距离为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的左偏树至少有</a:t>
                </a:r>
                <a14:m>
                  <m:oMath xmlns:m="http://schemas.openxmlformats.org/officeDocument/2006/math">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个节点。</a:t>
                </a:r>
              </a:p>
              <a:p>
                <a:pPr>
                  <a:lnSpc>
                    <a:spcPct val="150000"/>
                  </a:lnSpc>
                </a:pP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）设一棵</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个节点的左偏树距离为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，由</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）可知，</a:t>
                </a:r>
                <a:r>
                  <a:rPr lang="zh-CN" altLang="zh-CN" i="1" dirty="0">
                    <a:latin typeface="宋体" panose="02010600030101010101" pitchFamily="2" charset="-122"/>
                    <a:ea typeface="宋体" panose="02010600030101010101" pitchFamily="2" charset="-122"/>
                  </a:rPr>
                  <a:t> </a:t>
                </a:r>
                <a14:m>
                  <m:oMath xmlns:m="http://schemas.openxmlformats.org/officeDocument/2006/math">
                    <m:r>
                      <a:rPr lang="en-US" altLang="zh-CN" i="1"/>
                      <m:t>𝑛</m:t>
                    </m:r>
                    <m:r>
                      <a:rPr lang="en-US" altLang="zh-CN" i="1"/>
                      <m:t> ≥</m:t>
                    </m:r>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，因此</a:t>
                </a:r>
                <a14:m>
                  <m:oMath xmlns:m="http://schemas.openxmlformats.org/officeDocument/2006/math">
                    <m:r>
                      <a:rPr lang="en-US" altLang="zh-CN" i="1"/>
                      <m:t>𝑘</m:t>
                    </m:r>
                    <m:r>
                      <a:rPr lang="zh-CN" altLang="zh-CN" i="1"/>
                      <m:t>≤</m:t>
                    </m:r>
                    <m:sSub>
                      <m:sSubPr>
                        <m:ctrlPr>
                          <a:rPr lang="zh-CN" altLang="zh-CN" i="1"/>
                        </m:ctrlPr>
                      </m:sSubPr>
                      <m:e>
                        <m:r>
                          <a:rPr lang="en-US" altLang="zh-CN" i="1"/>
                          <m:t>𝑙𝑜𝑔</m:t>
                        </m:r>
                      </m:e>
                      <m:sub>
                        <m:r>
                          <a:rPr lang="en-US" altLang="zh-CN" i="1"/>
                          <m:t>2</m:t>
                        </m:r>
                      </m:sub>
                    </m:sSub>
                    <m:d>
                      <m:dPr>
                        <m:ctrlPr>
                          <a:rPr lang="zh-CN" altLang="zh-CN" i="1"/>
                        </m:ctrlPr>
                      </m:dPr>
                      <m:e>
                        <m:r>
                          <a:rPr lang="en-US" altLang="zh-CN" i="1"/>
                          <m:t>𝑛</m:t>
                        </m:r>
                        <m:r>
                          <a:rPr lang="en-US" altLang="zh-CN" i="1"/>
                          <m:t>+1</m:t>
                        </m:r>
                      </m:e>
                    </m:d>
                    <m:r>
                      <a:rPr lang="en-US" altLang="zh-CN" i="1"/>
                      <m:t>−1</m:t>
                    </m:r>
                  </m:oMath>
                </a14:m>
                <a:r>
                  <a:rPr lang="zh-CN" altLang="zh-CN" dirty="0">
                    <a:latin typeface="宋体" panose="02010600030101010101" pitchFamily="2" charset="-122"/>
                    <a:ea typeface="宋体" panose="02010600030101010101" pitchFamily="2" charset="-122"/>
                  </a:rPr>
                  <a:t>。根节点本身为外节点时距离最小，为</a:t>
                </a:r>
                <a:r>
                  <a:rPr lang="en-US" altLang="zh-CN" dirty="0">
                    <a:latin typeface="宋体" panose="02010600030101010101" pitchFamily="2" charset="-122"/>
                    <a:ea typeface="宋体" panose="02010600030101010101" pitchFamily="2" charset="-122"/>
                  </a:rPr>
                  <a:t>0</a:t>
                </a:r>
                <a:r>
                  <a:rPr lang="zh-CN" altLang="zh-CN" dirty="0">
                    <a:latin typeface="宋体" panose="02010600030101010101" pitchFamily="2" charset="-122"/>
                    <a:ea typeface="宋体" panose="02010600030101010101" pitchFamily="2" charset="-122"/>
                  </a:rPr>
                  <a:t>，故根节点的距离取值为</a:t>
                </a:r>
                <a14:m>
                  <m:oMath xmlns:m="http://schemas.openxmlformats.org/officeDocument/2006/math">
                    <m:r>
                      <a:rPr lang="en-US" altLang="zh-CN" i="1"/>
                      <m:t>[0, </m:t>
                    </m:r>
                    <m:sSub>
                      <m:sSubPr>
                        <m:ctrlPr>
                          <a:rPr lang="zh-CN" altLang="zh-CN" i="1"/>
                        </m:ctrlPr>
                      </m:sSubPr>
                      <m:e>
                        <m:r>
                          <a:rPr lang="en-US" altLang="zh-CN" i="1"/>
                          <m:t>𝑙𝑜𝑔</m:t>
                        </m:r>
                      </m:e>
                      <m:sub>
                        <m:r>
                          <a:rPr lang="en-US" altLang="zh-CN" i="1"/>
                          <m:t>2</m:t>
                        </m:r>
                      </m:sub>
                    </m:sSub>
                    <m:d>
                      <m:dPr>
                        <m:ctrlPr>
                          <a:rPr lang="zh-CN" altLang="zh-CN" i="1"/>
                        </m:ctrlPr>
                      </m:dPr>
                      <m:e>
                        <m:r>
                          <a:rPr lang="en-US" altLang="zh-CN" i="1"/>
                          <m:t>𝑛</m:t>
                        </m:r>
                        <m:r>
                          <a:rPr lang="en-US" altLang="zh-CN" i="1"/>
                          <m:t>+1</m:t>
                        </m:r>
                      </m:e>
                    </m:d>
                    <m:r>
                      <a:rPr lang="en-US" altLang="zh-CN" i="1"/>
                      <m:t>−1]</m:t>
                    </m:r>
                  </m:oMath>
                </a14:m>
                <a:r>
                  <a:rPr lang="zh-CN" altLang="zh-CN" dirty="0">
                    <a:latin typeface="宋体" panose="02010600030101010101" pitchFamily="2" charset="-122"/>
                    <a:ea typeface="宋体" panose="02010600030101010101" pitchFamily="2" charset="-122"/>
                  </a:rPr>
                  <a:t>。</a:t>
                </a:r>
              </a:p>
            </p:txBody>
          </p:sp>
        </mc:Choice>
        <mc:Fallback>
          <p:sp>
            <p:nvSpPr>
              <p:cNvPr id="7" name="矩形 6">
                <a:extLst>
                  <a:ext uri="{FF2B5EF4-FFF2-40B4-BE49-F238E27FC236}">
                    <a16:creationId xmlns:a16="http://schemas.microsoft.com/office/drawing/2014/main" id="{3A87D377-3595-42E8-AD2D-924ECB22BDBE}"/>
                  </a:ext>
                </a:extLst>
              </p:cNvPr>
              <p:cNvSpPr>
                <a:spLocks noRot="1" noChangeAspect="1" noMove="1" noResize="1" noEditPoints="1" noAdjustHandles="1" noChangeArrowheads="1" noChangeShapeType="1" noTextEdit="1"/>
              </p:cNvSpPr>
              <p:nvPr/>
            </p:nvSpPr>
            <p:spPr>
              <a:xfrm>
                <a:off x="861742" y="1166608"/>
                <a:ext cx="10142708" cy="2977097"/>
              </a:xfrm>
              <a:prstGeom prst="rect">
                <a:avLst/>
              </a:prstGeom>
              <a:blipFill>
                <a:blip r:embed="rId3"/>
                <a:stretch>
                  <a:fillRect l="-481" b="-22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0758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第五章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5</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3A87D377-3595-42E8-AD2D-924ECB22BDBE}"/>
                  </a:ext>
                </a:extLst>
              </p:cNvPr>
              <p:cNvSpPr/>
              <p:nvPr/>
            </p:nvSpPr>
            <p:spPr>
              <a:xfrm>
                <a:off x="861742" y="1166608"/>
                <a:ext cx="10142708" cy="2977097"/>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答：</a:t>
                </a: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）由性质</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可知，当且仅当对于一棵左偏树中的每个节点</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，都有</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的左右孩子距离相等时，该左偏树的节点数最少。显然具有这样性质的二叉树是完全二叉树。所以</a:t>
                </a:r>
                <a:r>
                  <a:rPr lang="zh-CN" altLang="zh-CN" b="1" dirty="0">
                    <a:latin typeface="宋体" panose="02010600030101010101" pitchFamily="2" charset="-122"/>
                    <a:ea typeface="宋体" panose="02010600030101010101" pitchFamily="2" charset="-122"/>
                  </a:rPr>
                  <a:t>当固定根节点距离的左偏树节点数最少的时候，是一棵完全二叉树</a:t>
                </a:r>
                <a:r>
                  <a:rPr lang="zh-CN" altLang="zh-CN" dirty="0">
                    <a:latin typeface="宋体" panose="02010600030101010101" pitchFamily="2" charset="-122"/>
                    <a:ea typeface="宋体" panose="02010600030101010101" pitchFamily="2" charset="-122"/>
                  </a:rPr>
                  <a:t>。距离为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的完全二叉树深度也为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，节点数为</a:t>
                </a:r>
                <a14:m>
                  <m:oMath xmlns:m="http://schemas.openxmlformats.org/officeDocument/2006/math">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，所以距离为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的左偏树至少有</a:t>
                </a:r>
                <a14:m>
                  <m:oMath xmlns:m="http://schemas.openxmlformats.org/officeDocument/2006/math">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个节点。</a:t>
                </a:r>
              </a:p>
              <a:p>
                <a:pPr>
                  <a:lnSpc>
                    <a:spcPct val="150000"/>
                  </a:lnSpc>
                </a:pP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）设一棵</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个节点的左偏树距离为</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，由</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）可知，</a:t>
                </a:r>
                <a:r>
                  <a:rPr lang="zh-CN" altLang="zh-CN" i="1" dirty="0">
                    <a:latin typeface="宋体" panose="02010600030101010101" pitchFamily="2" charset="-122"/>
                    <a:ea typeface="宋体" panose="02010600030101010101" pitchFamily="2" charset="-122"/>
                  </a:rPr>
                  <a:t> </a:t>
                </a:r>
                <a14:m>
                  <m:oMath xmlns:m="http://schemas.openxmlformats.org/officeDocument/2006/math">
                    <m:r>
                      <a:rPr lang="en-US" altLang="zh-CN" i="1"/>
                      <m:t>𝑛</m:t>
                    </m:r>
                    <m:r>
                      <a:rPr lang="en-US" altLang="zh-CN" i="1"/>
                      <m:t> ≥</m:t>
                    </m:r>
                    <m:sSup>
                      <m:sSupPr>
                        <m:ctrlPr>
                          <a:rPr lang="zh-CN" altLang="zh-CN" i="1"/>
                        </m:ctrlPr>
                      </m:sSupPr>
                      <m:e>
                        <m:r>
                          <a:rPr lang="en-US" altLang="zh-CN" i="1"/>
                          <m:t>2</m:t>
                        </m:r>
                      </m:e>
                      <m:sup>
                        <m:r>
                          <a:rPr lang="en-US" altLang="zh-CN" i="1"/>
                          <m:t>𝑘</m:t>
                        </m:r>
                        <m:r>
                          <a:rPr lang="en-US" altLang="zh-CN" i="1"/>
                          <m:t>+1</m:t>
                        </m:r>
                      </m:sup>
                    </m:sSup>
                    <m:r>
                      <a:rPr lang="en-US" altLang="zh-CN" i="1"/>
                      <m:t>−1</m:t>
                    </m:r>
                  </m:oMath>
                </a14:m>
                <a:r>
                  <a:rPr lang="zh-CN" altLang="zh-CN" dirty="0">
                    <a:latin typeface="宋体" panose="02010600030101010101" pitchFamily="2" charset="-122"/>
                    <a:ea typeface="宋体" panose="02010600030101010101" pitchFamily="2" charset="-122"/>
                  </a:rPr>
                  <a:t>，因此</a:t>
                </a:r>
                <a14:m>
                  <m:oMath xmlns:m="http://schemas.openxmlformats.org/officeDocument/2006/math">
                    <m:r>
                      <a:rPr lang="en-US" altLang="zh-CN" i="1"/>
                      <m:t>𝑘</m:t>
                    </m:r>
                    <m:r>
                      <a:rPr lang="zh-CN" altLang="zh-CN" i="1"/>
                      <m:t>≤</m:t>
                    </m:r>
                    <m:sSub>
                      <m:sSubPr>
                        <m:ctrlPr>
                          <a:rPr lang="zh-CN" altLang="zh-CN" i="1"/>
                        </m:ctrlPr>
                      </m:sSubPr>
                      <m:e>
                        <m:r>
                          <a:rPr lang="en-US" altLang="zh-CN" i="1"/>
                          <m:t>𝑙𝑜𝑔</m:t>
                        </m:r>
                      </m:e>
                      <m:sub>
                        <m:r>
                          <a:rPr lang="en-US" altLang="zh-CN" i="1"/>
                          <m:t>2</m:t>
                        </m:r>
                      </m:sub>
                    </m:sSub>
                    <m:d>
                      <m:dPr>
                        <m:ctrlPr>
                          <a:rPr lang="zh-CN" altLang="zh-CN" i="1"/>
                        </m:ctrlPr>
                      </m:dPr>
                      <m:e>
                        <m:r>
                          <a:rPr lang="en-US" altLang="zh-CN" i="1"/>
                          <m:t>𝑛</m:t>
                        </m:r>
                        <m:r>
                          <a:rPr lang="en-US" altLang="zh-CN" i="1"/>
                          <m:t>+1</m:t>
                        </m:r>
                      </m:e>
                    </m:d>
                    <m:r>
                      <a:rPr lang="en-US" altLang="zh-CN" i="1"/>
                      <m:t>−1</m:t>
                    </m:r>
                  </m:oMath>
                </a14:m>
                <a:r>
                  <a:rPr lang="zh-CN" altLang="zh-CN" dirty="0">
                    <a:latin typeface="宋体" panose="02010600030101010101" pitchFamily="2" charset="-122"/>
                    <a:ea typeface="宋体" panose="02010600030101010101" pitchFamily="2" charset="-122"/>
                  </a:rPr>
                  <a:t>。根节点本身为外节点时距离最小，为</a:t>
                </a:r>
                <a:r>
                  <a:rPr lang="en-US" altLang="zh-CN" dirty="0">
                    <a:latin typeface="宋体" panose="02010600030101010101" pitchFamily="2" charset="-122"/>
                    <a:ea typeface="宋体" panose="02010600030101010101" pitchFamily="2" charset="-122"/>
                  </a:rPr>
                  <a:t>0</a:t>
                </a:r>
                <a:r>
                  <a:rPr lang="zh-CN" altLang="zh-CN" dirty="0">
                    <a:latin typeface="宋体" panose="02010600030101010101" pitchFamily="2" charset="-122"/>
                    <a:ea typeface="宋体" panose="02010600030101010101" pitchFamily="2" charset="-122"/>
                  </a:rPr>
                  <a:t>，故根节点的距离取值为</a:t>
                </a:r>
                <a14:m>
                  <m:oMath xmlns:m="http://schemas.openxmlformats.org/officeDocument/2006/math">
                    <m:r>
                      <a:rPr lang="en-US" altLang="zh-CN" i="1"/>
                      <m:t>[0, </m:t>
                    </m:r>
                    <m:sSub>
                      <m:sSubPr>
                        <m:ctrlPr>
                          <a:rPr lang="zh-CN" altLang="zh-CN" i="1"/>
                        </m:ctrlPr>
                      </m:sSubPr>
                      <m:e>
                        <m:r>
                          <a:rPr lang="en-US" altLang="zh-CN" i="1"/>
                          <m:t>𝑙𝑜𝑔</m:t>
                        </m:r>
                      </m:e>
                      <m:sub>
                        <m:r>
                          <a:rPr lang="en-US" altLang="zh-CN" i="1"/>
                          <m:t>2</m:t>
                        </m:r>
                      </m:sub>
                    </m:sSub>
                    <m:d>
                      <m:dPr>
                        <m:ctrlPr>
                          <a:rPr lang="zh-CN" altLang="zh-CN" i="1"/>
                        </m:ctrlPr>
                      </m:dPr>
                      <m:e>
                        <m:r>
                          <a:rPr lang="en-US" altLang="zh-CN" i="1"/>
                          <m:t>𝑛</m:t>
                        </m:r>
                        <m:r>
                          <a:rPr lang="en-US" altLang="zh-CN" i="1"/>
                          <m:t>+1</m:t>
                        </m:r>
                      </m:e>
                    </m:d>
                    <m:r>
                      <a:rPr lang="en-US" altLang="zh-CN" i="1"/>
                      <m:t>−1]</m:t>
                    </m:r>
                  </m:oMath>
                </a14:m>
                <a:r>
                  <a:rPr lang="zh-CN" altLang="zh-CN" dirty="0">
                    <a:latin typeface="宋体" panose="02010600030101010101" pitchFamily="2" charset="-122"/>
                    <a:ea typeface="宋体" panose="02010600030101010101" pitchFamily="2" charset="-122"/>
                  </a:rPr>
                  <a:t>。</a:t>
                </a:r>
              </a:p>
            </p:txBody>
          </p:sp>
        </mc:Choice>
        <mc:Fallback>
          <p:sp>
            <p:nvSpPr>
              <p:cNvPr id="7" name="矩形 6">
                <a:extLst>
                  <a:ext uri="{FF2B5EF4-FFF2-40B4-BE49-F238E27FC236}">
                    <a16:creationId xmlns:a16="http://schemas.microsoft.com/office/drawing/2014/main" id="{3A87D377-3595-42E8-AD2D-924ECB22BDBE}"/>
                  </a:ext>
                </a:extLst>
              </p:cNvPr>
              <p:cNvSpPr>
                <a:spLocks noRot="1" noChangeAspect="1" noMove="1" noResize="1" noEditPoints="1" noAdjustHandles="1" noChangeArrowheads="1" noChangeShapeType="1" noTextEdit="1"/>
              </p:cNvSpPr>
              <p:nvPr/>
            </p:nvSpPr>
            <p:spPr>
              <a:xfrm>
                <a:off x="861742" y="1166608"/>
                <a:ext cx="10142708" cy="2977097"/>
              </a:xfrm>
              <a:prstGeom prst="rect">
                <a:avLst/>
              </a:prstGeom>
              <a:blipFill>
                <a:blip r:embed="rId3"/>
                <a:stretch>
                  <a:fillRect l="-481" b="-22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027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4608121"/>
              </a:xfrm>
              <a:prstGeom prst="rect">
                <a:avLst/>
              </a:prstGeom>
            </p:spPr>
            <p:txBody>
              <a:bodyPr wrap="square">
                <a:spAutoFit/>
              </a:bodyPr>
              <a:lstStyle/>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一棵高度为</a:t>
                </a:r>
                <a:r>
                  <a:rPr lang="en-US" altLang="zh-CN" dirty="0">
                    <a:latin typeface="宋体" panose="02010600030101010101" pitchFamily="2" charset="-122"/>
                    <a:ea typeface="宋体" panose="02010600030101010101" pitchFamily="2" charset="-122"/>
                  </a:rPr>
                  <a:t>h</a:t>
                </a:r>
                <a:r>
                  <a:rPr lang="zh-CN" altLang="zh-CN" dirty="0">
                    <a:latin typeface="宋体" panose="02010600030101010101" pitchFamily="2" charset="-122"/>
                    <a:ea typeface="宋体" panose="02010600030101010101" pitchFamily="2" charset="-122"/>
                  </a:rPr>
                  <a:t>的满</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叉树有如下性质：根结点所在层次为</a:t>
                </a:r>
                <a:r>
                  <a:rPr lang="en-US" altLang="zh-CN" dirty="0">
                    <a:latin typeface="宋体" panose="02010600030101010101" pitchFamily="2" charset="-122"/>
                    <a:ea typeface="宋体" panose="02010600030101010101" pitchFamily="2" charset="-122"/>
                  </a:rPr>
                  <a:t>0</a:t>
                </a:r>
                <a:r>
                  <a:rPr lang="zh-CN" altLang="zh-CN" dirty="0">
                    <a:latin typeface="宋体" panose="02010600030101010101" pitchFamily="2" charset="-122"/>
                    <a:ea typeface="宋体" panose="02010600030101010101" pitchFamily="2" charset="-122"/>
                  </a:rPr>
                  <a:t>；第</a:t>
                </a:r>
                <a:r>
                  <a:rPr lang="en-US" altLang="zh-CN" dirty="0">
                    <a:latin typeface="宋体" panose="02010600030101010101" pitchFamily="2" charset="-122"/>
                    <a:ea typeface="宋体" panose="02010600030101010101" pitchFamily="2" charset="-122"/>
                  </a:rPr>
                  <a:t>h</a:t>
                </a:r>
                <a:r>
                  <a:rPr lang="zh-CN" altLang="zh-CN" dirty="0">
                    <a:latin typeface="宋体" panose="02010600030101010101" pitchFamily="2" charset="-122"/>
                    <a:ea typeface="宋体" panose="02010600030101010101" pitchFamily="2" charset="-122"/>
                  </a:rPr>
                  <a:t>层上的结点都是叶子结点；其余各层上每个结点都有</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棵非空子树，如果按层次自顶向下，同一层自左向右，顺序从</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开始对全部结点进行编号，试问：</a:t>
                </a:r>
              </a:p>
              <a:p>
                <a:r>
                  <a:rPr lang="en-US" altLang="zh-CN" dirty="0">
                    <a:latin typeface="宋体" panose="02010600030101010101" pitchFamily="2" charset="-122"/>
                    <a:ea typeface="宋体" panose="02010600030101010101" pitchFamily="2" charset="-122"/>
                  </a:rPr>
                  <a:t>(1) </a:t>
                </a:r>
                <a:r>
                  <a:rPr lang="zh-CN" altLang="zh-CN" dirty="0">
                    <a:latin typeface="宋体" panose="02010600030101010101" pitchFamily="2" charset="-122"/>
                    <a:ea typeface="宋体" panose="02010600030101010101" pitchFamily="2" charset="-122"/>
                  </a:rPr>
                  <a:t>各层的结点个数是多少</a:t>
                </a:r>
                <a:r>
                  <a:rPr lang="en-US" altLang="zh-CN" dirty="0">
                    <a:latin typeface="宋体" panose="02010600030101010101" pitchFamily="2" charset="-122"/>
                    <a:ea typeface="宋体" panose="02010600030101010101" pitchFamily="2" charset="-122"/>
                  </a:rPr>
                  <a:t>?   </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(2) </a:t>
                </a:r>
                <a:r>
                  <a:rPr lang="zh-CN" altLang="zh-CN" dirty="0">
                    <a:latin typeface="宋体" panose="02010600030101010101" pitchFamily="2" charset="-122"/>
                    <a:ea typeface="宋体" panose="02010600030101010101" pitchFamily="2" charset="-122"/>
                  </a:rPr>
                  <a:t>编号为</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的结点的第</a:t>
                </a:r>
                <a:r>
                  <a:rPr lang="en-US" altLang="zh-CN" dirty="0">
                    <a:latin typeface="宋体" panose="02010600030101010101" pitchFamily="2" charset="-122"/>
                    <a:ea typeface="宋体" panose="02010600030101010101" pitchFamily="2" charset="-122"/>
                  </a:rPr>
                  <a:t>m</a:t>
                </a:r>
                <a:r>
                  <a:rPr lang="zh-CN" altLang="zh-CN" dirty="0">
                    <a:latin typeface="宋体" panose="02010600030101010101" pitchFamily="2" charset="-122"/>
                    <a:ea typeface="宋体" panose="02010600030101010101" pitchFamily="2" charset="-122"/>
                  </a:rPr>
                  <a:t>个孩子结点（若存在）的编号是多少？</a:t>
                </a:r>
              </a:p>
              <a:p>
                <a:r>
                  <a:rPr lang="en-US" altLang="zh-CN" dirty="0">
                    <a:latin typeface="宋体" panose="02010600030101010101" pitchFamily="2" charset="-122"/>
                    <a:ea typeface="宋体" panose="02010600030101010101" pitchFamily="2" charset="-122"/>
                  </a:rPr>
                  <a:t>(3) </a:t>
                </a:r>
                <a:r>
                  <a:rPr lang="zh-CN" altLang="zh-CN" dirty="0">
                    <a:latin typeface="宋体" panose="02010600030101010101" pitchFamily="2" charset="-122"/>
                    <a:ea typeface="宋体" panose="02010600030101010101" pitchFamily="2" charset="-122"/>
                  </a:rPr>
                  <a:t>编号为</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的结点有右兄弟的条件是什么？其右兄弟结点的编号是多少？</a:t>
                </a:r>
              </a:p>
              <a:p>
                <a:r>
                  <a:rPr lang="zh-CN" altLang="zh-CN" dirty="0">
                    <a:latin typeface="宋体" panose="02010600030101010101" pitchFamily="2" charset="-122"/>
                    <a:ea typeface="宋体" panose="02010600030101010101" pitchFamily="2" charset="-122"/>
                  </a:rPr>
                  <a:t>请简要写出推算过程。</a:t>
                </a:r>
                <a:endParaRPr lang="en-US" altLang="zh-CN" dirty="0">
                  <a:latin typeface="宋体" panose="02010600030101010101" pitchFamily="2" charset="-122"/>
                  <a:ea typeface="宋体" panose="02010600030101010101" pitchFamily="2" charset="-122"/>
                </a:endParaRPr>
              </a:p>
              <a:p>
                <a:endParaRPr lang="zh-CN" altLang="zh-CN" dirty="0">
                  <a:latin typeface="宋体" panose="02010600030101010101" pitchFamily="2" charset="-122"/>
                  <a:ea typeface="宋体" panose="02010600030101010101" pitchFamily="2" charset="-122"/>
                </a:endParaRPr>
              </a:p>
              <a:p>
                <a:r>
                  <a:rPr lang="zh-CN" altLang="zh-CN" dirty="0">
                    <a:latin typeface="宋体" panose="02010600030101010101" pitchFamily="2" charset="-122"/>
                    <a:ea typeface="宋体" panose="02010600030101010101" pitchFamily="2" charset="-122"/>
                  </a:rPr>
                  <a:t>答：</a:t>
                </a:r>
              </a:p>
              <a:p>
                <a:r>
                  <a:rPr lang="en-US" altLang="zh-CN" dirty="0">
                    <a:latin typeface="宋体" panose="02010600030101010101" pitchFamily="2" charset="-122"/>
                    <a:ea typeface="宋体" panose="02010600030101010101" pitchFamily="2" charset="-122"/>
                  </a:rPr>
                  <a:t>(1) </a:t>
                </a:r>
                <a14:m>
                  <m:oMath xmlns:m="http://schemas.openxmlformats.org/officeDocument/2006/math">
                    <m:sSup>
                      <m:sSupPr>
                        <m:ctrlPr>
                          <a:rPr lang="zh-CN" altLang="zh-CN" i="1"/>
                        </m:ctrlPr>
                      </m:sSupPr>
                      <m:e>
                        <m:r>
                          <a:rPr lang="en-US" altLang="zh-CN" i="1"/>
                          <m:t>𝑘</m:t>
                        </m:r>
                      </m:e>
                      <m:sup>
                        <m:r>
                          <a:rPr lang="en-US" altLang="zh-CN" i="1"/>
                          <m:t>𝑙</m:t>
                        </m:r>
                      </m:sup>
                    </m:sSup>
                  </m:oMath>
                </a14:m>
                <a:r>
                  <a:rPr lang="en-US" altLang="zh-CN" dirty="0">
                    <a:latin typeface="宋体" panose="02010600030101010101" pitchFamily="2" charset="-122"/>
                    <a:ea typeface="宋体" panose="02010600030101010101" pitchFamily="2" charset="-122"/>
                  </a:rPr>
                  <a:t>(l</a:t>
                </a:r>
                <a:r>
                  <a:rPr lang="zh-CN" altLang="zh-CN" dirty="0">
                    <a:latin typeface="宋体" panose="02010600030101010101" pitchFamily="2" charset="-122"/>
                    <a:ea typeface="宋体" panose="02010600030101010101" pitchFamily="2" charset="-122"/>
                  </a:rPr>
                  <a:t>为层数，按题意，根结点为</a:t>
                </a:r>
                <a:r>
                  <a:rPr lang="en-US" altLang="zh-CN" dirty="0">
                    <a:latin typeface="宋体" panose="02010600030101010101" pitchFamily="2" charset="-122"/>
                    <a:ea typeface="宋体" panose="02010600030101010101" pitchFamily="2" charset="-122"/>
                  </a:rPr>
                  <a:t>0</a:t>
                </a:r>
                <a:r>
                  <a:rPr lang="zh-CN" altLang="zh-CN" dirty="0">
                    <a:latin typeface="宋体" panose="02010600030101010101" pitchFamily="2" charset="-122"/>
                    <a:ea typeface="宋体" panose="02010600030101010101" pitchFamily="2" charset="-122"/>
                  </a:rPr>
                  <a:t>层</a:t>
                </a:r>
                <a:r>
                  <a:rPr lang="en-US" altLang="zh-CN" dirty="0">
                    <a:latin typeface="宋体" panose="02010600030101010101" pitchFamily="2" charset="-122"/>
                    <a:ea typeface="宋体" panose="02010600030101010101" pitchFamily="2" charset="-122"/>
                  </a:rPr>
                  <a:t>) </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(2) </a:t>
                </a:r>
                <a:r>
                  <a:rPr lang="zh-CN" altLang="zh-CN" dirty="0">
                    <a:latin typeface="宋体" panose="02010600030101010101" pitchFamily="2" charset="-122"/>
                    <a:ea typeface="宋体" panose="02010600030101010101" pitchFamily="2" charset="-122"/>
                  </a:rPr>
                  <a:t>结点</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&gt;1)</a:t>
                </a:r>
                <a:r>
                  <a:rPr lang="zh-CN" altLang="zh-CN" dirty="0">
                    <a:latin typeface="宋体" panose="02010600030101010101" pitchFamily="2" charset="-122"/>
                    <a:ea typeface="宋体" panose="02010600030101010101" pitchFamily="2" charset="-122"/>
                  </a:rPr>
                  <a:t>的前一结点编号为</a:t>
                </a:r>
                <a:r>
                  <a:rPr lang="en-US" altLang="zh-CN" dirty="0">
                    <a:latin typeface="宋体" panose="02010600030101010101" pitchFamily="2" charset="-122"/>
                    <a:ea typeface="宋体" panose="02010600030101010101" pitchFamily="2" charset="-122"/>
                  </a:rPr>
                  <a:t>i-1</a:t>
                </a:r>
                <a:r>
                  <a:rPr lang="zh-CN" altLang="zh-CN" dirty="0">
                    <a:latin typeface="宋体" panose="02010600030101010101" pitchFamily="2" charset="-122"/>
                    <a:ea typeface="宋体" panose="02010600030101010101" pitchFamily="2" charset="-122"/>
                  </a:rPr>
                  <a:t>（其最右边子女编号是</a:t>
                </a:r>
                <a:r>
                  <a:rPr lang="en-US" altLang="zh-CN" dirty="0">
                    <a:latin typeface="宋体" panose="02010600030101010101" pitchFamily="2" charset="-122"/>
                    <a:ea typeface="宋体" panose="02010600030101010101" pitchFamily="2" charset="-122"/>
                  </a:rPr>
                  <a:t>(i-1)*k+1</a:t>
                </a:r>
                <a:r>
                  <a:rPr lang="zh-CN" altLang="zh-CN" dirty="0">
                    <a:latin typeface="宋体" panose="02010600030101010101" pitchFamily="2" charset="-122"/>
                    <a:ea typeface="宋体" panose="02010600030101010101" pitchFamily="2" charset="-122"/>
                  </a:rPr>
                  <a:t>），故结点</a:t>
                </a:r>
                <a:r>
                  <a:rPr lang="en-US" altLang="zh-CN" dirty="0">
                    <a:latin typeface="宋体" panose="02010600030101010101" pitchFamily="2" charset="-122"/>
                    <a:ea typeface="宋体" panose="02010600030101010101" pitchFamily="2" charset="-122"/>
                  </a:rPr>
                  <a:t> </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的第</a:t>
                </a:r>
                <a:r>
                  <a:rPr lang="en-US" altLang="zh-CN" dirty="0">
                    <a:latin typeface="宋体" panose="02010600030101010101" pitchFamily="2" charset="-122"/>
                    <a:ea typeface="宋体" panose="02010600030101010101" pitchFamily="2" charset="-122"/>
                  </a:rPr>
                  <a:t> m</a:t>
                </a:r>
                <a:r>
                  <a:rPr lang="zh-CN" altLang="zh-CN" dirty="0">
                    <a:latin typeface="宋体" panose="02010600030101010101" pitchFamily="2" charset="-122"/>
                    <a:ea typeface="宋体" panose="02010600030101010101" pitchFamily="2" charset="-122"/>
                  </a:rPr>
                  <a:t>个孩子的编号是</a:t>
                </a:r>
                <a:r>
                  <a:rPr lang="en-US" altLang="zh-CN" dirty="0">
                    <a:latin typeface="宋体" panose="02010600030101010101" pitchFamily="2" charset="-122"/>
                    <a:ea typeface="宋体" panose="02010600030101010101" pitchFamily="2" charset="-122"/>
                  </a:rPr>
                  <a:t>(i-1)*k+1+m</a:t>
                </a:r>
                <a:r>
                  <a:rPr lang="zh-CN" altLang="zh-CN" dirty="0">
                    <a:latin typeface="宋体" panose="02010600030101010101" pitchFamily="2" charset="-122"/>
                    <a:ea typeface="宋体" panose="02010600030101010101" pitchFamily="2" charset="-122"/>
                  </a:rPr>
                  <a:t>。 </a:t>
                </a:r>
              </a:p>
              <a:p>
                <a:r>
                  <a:rPr lang="en-US" altLang="zh-CN" dirty="0">
                    <a:latin typeface="宋体" panose="02010600030101010101" pitchFamily="2" charset="-122"/>
                    <a:ea typeface="宋体" panose="02010600030101010101" pitchFamily="2" charset="-122"/>
                  </a:rPr>
                  <a:t>(3) </a:t>
                </a:r>
                <a:r>
                  <a:rPr lang="zh-CN" altLang="zh-CN" dirty="0">
                    <a:latin typeface="宋体" panose="02010600030101010101" pitchFamily="2" charset="-122"/>
                    <a:ea typeface="宋体" panose="02010600030101010101" pitchFamily="2" charset="-122"/>
                  </a:rPr>
                  <a:t>根据以上分析，结点</a:t>
                </a:r>
                <a:r>
                  <a:rPr lang="en-US" altLang="zh-CN" dirty="0" err="1">
                    <a:latin typeface="宋体" panose="02010600030101010101" pitchFamily="2" charset="-122"/>
                    <a:ea typeface="宋体" panose="02010600030101010101" pitchFamily="2" charset="-122"/>
                  </a:rPr>
                  <a:t>i</a:t>
                </a:r>
                <a:r>
                  <a:rPr lang="zh-CN" altLang="zh-CN" dirty="0">
                    <a:latin typeface="宋体" panose="02010600030101010101" pitchFamily="2" charset="-122"/>
                    <a:ea typeface="宋体" panose="02010600030101010101" pitchFamily="2" charset="-122"/>
                  </a:rPr>
                  <a:t>有右兄弟的条件是，它不是双亲的第</a:t>
                </a:r>
                <a:r>
                  <a:rPr lang="en-US" altLang="zh-CN" dirty="0">
                    <a:latin typeface="宋体" panose="02010600030101010101" pitchFamily="2" charset="-122"/>
                    <a:ea typeface="宋体" panose="02010600030101010101" pitchFamily="2" charset="-122"/>
                  </a:rPr>
                  <a:t>k</a:t>
                </a:r>
                <a:r>
                  <a:rPr lang="zh-CN" altLang="zh-CN" dirty="0">
                    <a:latin typeface="宋体" panose="02010600030101010101" pitchFamily="2" charset="-122"/>
                    <a:ea typeface="宋体" panose="02010600030101010101" pitchFamily="2" charset="-122"/>
                  </a:rPr>
                  <a:t>子女，即</a:t>
                </a:r>
                <a:r>
                  <a:rPr lang="en-US" altLang="zh-CN" dirty="0">
                    <a:latin typeface="宋体" panose="02010600030101010101" pitchFamily="2" charset="-122"/>
                    <a:ea typeface="宋体" panose="02010600030101010101" pitchFamily="2" charset="-122"/>
                  </a:rPr>
                  <a:t> (i-1)%k!=0</a:t>
                </a:r>
                <a:r>
                  <a:rPr lang="zh-CN" altLang="zh-CN" dirty="0">
                    <a:latin typeface="宋体" panose="02010600030101010101" pitchFamily="2" charset="-122"/>
                    <a:ea typeface="宋体" panose="02010600030101010101" pitchFamily="2" charset="-122"/>
                  </a:rPr>
                  <a:t>，其右兄弟编号是</a:t>
                </a:r>
                <a:r>
                  <a:rPr lang="en-US" altLang="zh-CN" dirty="0">
                    <a:latin typeface="宋体" panose="02010600030101010101" pitchFamily="2" charset="-122"/>
                    <a:ea typeface="宋体" panose="02010600030101010101" pitchFamily="2" charset="-122"/>
                  </a:rPr>
                  <a:t>i+1</a:t>
                </a:r>
                <a:endParaRPr lang="zh-CN" altLang="zh-CN" dirty="0">
                  <a:latin typeface="宋体" panose="02010600030101010101" pitchFamily="2" charset="-122"/>
                  <a:ea typeface="宋体" panose="02010600030101010101" pitchFamily="2" charset="-122"/>
                </a:endParaRPr>
              </a:p>
              <a:p>
                <a:r>
                  <a:rPr lang="en-US" altLang="zh-CN" dirty="0"/>
                  <a:t> </a:t>
                </a:r>
                <a:endParaRPr lang="zh-CN" altLang="zh-CN" dirty="0"/>
              </a:p>
              <a:p>
                <a:pPr>
                  <a:lnSpc>
                    <a:spcPct val="150000"/>
                  </a:lnSpc>
                </a:pPr>
                <a:endParaRPr lang="zh-CN" altLang="zh-CN" dirty="0">
                  <a:latin typeface="宋体" panose="02010600030101010101" pitchFamily="2" charset="-122"/>
                  <a:ea typeface="宋体" panose="02010600030101010101" pitchFamily="2" charset="-122"/>
                </a:endParaRPr>
              </a:p>
            </p:txBody>
          </p:sp>
        </mc:Choice>
        <mc:Fallback>
          <p:sp>
            <p:nvSpPr>
              <p:cNvPr id="7" name="矩形 6">
                <a:extLst>
                  <a:ext uri="{FF2B5EF4-FFF2-40B4-BE49-F238E27FC236}">
                    <a16:creationId xmlns:a16="http://schemas.microsoft.com/office/drawing/2014/main" id="{CED7884D-C05B-42AA-9FCF-B90AD75328AB}"/>
                  </a:ext>
                </a:extLst>
              </p:cNvPr>
              <p:cNvSpPr>
                <a:spLocks noRot="1" noChangeAspect="1" noMove="1" noResize="1" noEditPoints="1" noAdjustHandles="1" noChangeArrowheads="1" noChangeShapeType="1" noTextEdit="1"/>
              </p:cNvSpPr>
              <p:nvPr/>
            </p:nvSpPr>
            <p:spPr>
              <a:xfrm>
                <a:off x="737839" y="1056051"/>
                <a:ext cx="10142708" cy="4608121"/>
              </a:xfrm>
              <a:prstGeom prst="rect">
                <a:avLst/>
              </a:prstGeom>
              <a:blipFill>
                <a:blip r:embed="rId3"/>
                <a:stretch>
                  <a:fillRect l="-481" t="-661" r="-5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0624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455894"/>
          </a:xfrm>
          <a:prstGeom prst="rect">
            <a:avLst/>
          </a:prstGeom>
        </p:spPr>
        <p:txBody>
          <a:bodyPr wrap="square">
            <a:spAutoFit/>
          </a:bodyPr>
          <a:lstStyle/>
          <a:p>
            <a:pPr>
              <a:lnSpc>
                <a:spcPct val="150000"/>
              </a:lnSpc>
            </a:pPr>
            <a:r>
              <a:rPr lang="zh-CN" altLang="zh-CN" dirty="0">
                <a:latin typeface="宋体" panose="02010600030101010101" pitchFamily="2" charset="-122"/>
                <a:ea typeface="宋体" panose="02010600030101010101" pitchFamily="2" charset="-122"/>
              </a:rPr>
              <a:t>给出下图二叉树（对应的森林）的带右链的先根次序存储表示和带度数的后根次序存储表示。</a:t>
            </a:r>
          </a:p>
        </p:txBody>
      </p:sp>
      <p:pic>
        <p:nvPicPr>
          <p:cNvPr id="6" name="图片 5">
            <a:extLst>
              <a:ext uri="{FF2B5EF4-FFF2-40B4-BE49-F238E27FC236}">
                <a16:creationId xmlns:a16="http://schemas.microsoft.com/office/drawing/2014/main" id="{FD02186B-57EB-4C92-98C3-0749C0DFB2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116692" y="1955108"/>
            <a:ext cx="2533015" cy="1680210"/>
          </a:xfrm>
          <a:prstGeom prst="rect">
            <a:avLst/>
          </a:prstGeom>
        </p:spPr>
      </p:pic>
    </p:spTree>
    <p:extLst>
      <p:ext uri="{BB962C8B-B14F-4D97-AF65-F5344CB8AC3E}">
        <p14:creationId xmlns:p14="http://schemas.microsoft.com/office/powerpoint/2010/main" val="544837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455894"/>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先转化为森林</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带右链的先根次序存储</a:t>
            </a:r>
            <a:r>
              <a:rPr lang="zh-CN" altLang="en-US" dirty="0">
                <a:latin typeface="宋体" panose="02010600030101010101" pitchFamily="2" charset="-122"/>
                <a:ea typeface="宋体" panose="02010600030101010101" pitchFamily="2" charset="-122"/>
              </a:rPr>
              <a:t>如下</a:t>
            </a:r>
            <a:endParaRPr lang="zh-CN" altLang="zh-CN" dirty="0">
              <a:latin typeface="宋体" panose="02010600030101010101" pitchFamily="2" charset="-122"/>
              <a:ea typeface="宋体" panose="02010600030101010101" pitchFamily="2" charset="-122"/>
            </a:endParaRPr>
          </a:p>
        </p:txBody>
      </p:sp>
      <p:pic>
        <p:nvPicPr>
          <p:cNvPr id="6" name="图片 5">
            <a:extLst>
              <a:ext uri="{FF2B5EF4-FFF2-40B4-BE49-F238E27FC236}">
                <a16:creationId xmlns:a16="http://schemas.microsoft.com/office/drawing/2014/main" id="{FD02186B-57EB-4C92-98C3-0749C0DFB2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560692" y="1803908"/>
            <a:ext cx="2533015" cy="1680210"/>
          </a:xfrm>
          <a:prstGeom prst="rect">
            <a:avLst/>
          </a:prstGeom>
        </p:spPr>
      </p:pic>
      <p:pic>
        <p:nvPicPr>
          <p:cNvPr id="8" name="图片 7">
            <a:extLst>
              <a:ext uri="{FF2B5EF4-FFF2-40B4-BE49-F238E27FC236}">
                <a16:creationId xmlns:a16="http://schemas.microsoft.com/office/drawing/2014/main" id="{C38ABDB5-632C-48D0-B4E4-E1CD56691E0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809193" y="1859028"/>
            <a:ext cx="2664460" cy="1583690"/>
          </a:xfrm>
          <a:prstGeom prst="rect">
            <a:avLst/>
          </a:prstGeom>
        </p:spPr>
      </p:pic>
      <p:graphicFrame>
        <p:nvGraphicFramePr>
          <p:cNvPr id="10" name="表格 9">
            <a:extLst>
              <a:ext uri="{FF2B5EF4-FFF2-40B4-BE49-F238E27FC236}">
                <a16:creationId xmlns:a16="http://schemas.microsoft.com/office/drawing/2014/main" id="{79DA65DE-8147-45CF-97B9-526A7E3A6EF0}"/>
              </a:ext>
            </a:extLst>
          </p:cNvPr>
          <p:cNvGraphicFramePr>
            <a:graphicFrameLocks noGrp="1"/>
          </p:cNvGraphicFramePr>
          <p:nvPr>
            <p:extLst>
              <p:ext uri="{D42A27DB-BD31-4B8C-83A1-F6EECF244321}">
                <p14:modId xmlns:p14="http://schemas.microsoft.com/office/powerpoint/2010/main" val="2432004625"/>
              </p:ext>
            </p:extLst>
          </p:nvPr>
        </p:nvGraphicFramePr>
        <p:xfrm>
          <a:off x="1186207" y="4275332"/>
          <a:ext cx="9631200" cy="1483360"/>
        </p:xfrm>
        <a:graphic>
          <a:graphicData uri="http://schemas.openxmlformats.org/drawingml/2006/table">
            <a:tbl>
              <a:tblPr firstRow="1" bandRow="1">
                <a:tableStyleId>{5C22544A-7EE6-4342-B048-85BDC9FD1C3A}</a:tableStyleId>
              </a:tblPr>
              <a:tblGrid>
                <a:gridCol w="802600">
                  <a:extLst>
                    <a:ext uri="{9D8B030D-6E8A-4147-A177-3AD203B41FA5}">
                      <a16:colId xmlns:a16="http://schemas.microsoft.com/office/drawing/2014/main" val="892467404"/>
                    </a:ext>
                  </a:extLst>
                </a:gridCol>
                <a:gridCol w="802600">
                  <a:extLst>
                    <a:ext uri="{9D8B030D-6E8A-4147-A177-3AD203B41FA5}">
                      <a16:colId xmlns:a16="http://schemas.microsoft.com/office/drawing/2014/main" val="1864708290"/>
                    </a:ext>
                  </a:extLst>
                </a:gridCol>
                <a:gridCol w="802600">
                  <a:extLst>
                    <a:ext uri="{9D8B030D-6E8A-4147-A177-3AD203B41FA5}">
                      <a16:colId xmlns:a16="http://schemas.microsoft.com/office/drawing/2014/main" val="779002052"/>
                    </a:ext>
                  </a:extLst>
                </a:gridCol>
                <a:gridCol w="802600">
                  <a:extLst>
                    <a:ext uri="{9D8B030D-6E8A-4147-A177-3AD203B41FA5}">
                      <a16:colId xmlns:a16="http://schemas.microsoft.com/office/drawing/2014/main" val="4162265492"/>
                    </a:ext>
                  </a:extLst>
                </a:gridCol>
                <a:gridCol w="802600">
                  <a:extLst>
                    <a:ext uri="{9D8B030D-6E8A-4147-A177-3AD203B41FA5}">
                      <a16:colId xmlns:a16="http://schemas.microsoft.com/office/drawing/2014/main" val="2619769626"/>
                    </a:ext>
                  </a:extLst>
                </a:gridCol>
                <a:gridCol w="802600">
                  <a:extLst>
                    <a:ext uri="{9D8B030D-6E8A-4147-A177-3AD203B41FA5}">
                      <a16:colId xmlns:a16="http://schemas.microsoft.com/office/drawing/2014/main" val="3531919846"/>
                    </a:ext>
                  </a:extLst>
                </a:gridCol>
                <a:gridCol w="802600">
                  <a:extLst>
                    <a:ext uri="{9D8B030D-6E8A-4147-A177-3AD203B41FA5}">
                      <a16:colId xmlns:a16="http://schemas.microsoft.com/office/drawing/2014/main" val="1364660515"/>
                    </a:ext>
                  </a:extLst>
                </a:gridCol>
                <a:gridCol w="802600">
                  <a:extLst>
                    <a:ext uri="{9D8B030D-6E8A-4147-A177-3AD203B41FA5}">
                      <a16:colId xmlns:a16="http://schemas.microsoft.com/office/drawing/2014/main" val="2165982897"/>
                    </a:ext>
                  </a:extLst>
                </a:gridCol>
                <a:gridCol w="802600">
                  <a:extLst>
                    <a:ext uri="{9D8B030D-6E8A-4147-A177-3AD203B41FA5}">
                      <a16:colId xmlns:a16="http://schemas.microsoft.com/office/drawing/2014/main" val="3463963426"/>
                    </a:ext>
                  </a:extLst>
                </a:gridCol>
                <a:gridCol w="802600">
                  <a:extLst>
                    <a:ext uri="{9D8B030D-6E8A-4147-A177-3AD203B41FA5}">
                      <a16:colId xmlns:a16="http://schemas.microsoft.com/office/drawing/2014/main" val="2628237866"/>
                    </a:ext>
                  </a:extLst>
                </a:gridCol>
                <a:gridCol w="802600">
                  <a:extLst>
                    <a:ext uri="{9D8B030D-6E8A-4147-A177-3AD203B41FA5}">
                      <a16:colId xmlns:a16="http://schemas.microsoft.com/office/drawing/2014/main" val="1036863976"/>
                    </a:ext>
                  </a:extLst>
                </a:gridCol>
                <a:gridCol w="802600">
                  <a:extLst>
                    <a:ext uri="{9D8B030D-6E8A-4147-A177-3AD203B41FA5}">
                      <a16:colId xmlns:a16="http://schemas.microsoft.com/office/drawing/2014/main" val="4202085578"/>
                    </a:ext>
                  </a:extLst>
                </a:gridCol>
              </a:tblGrid>
              <a:tr h="370840">
                <a:tc>
                  <a:txBody>
                    <a:bodyPr/>
                    <a:lstStyle/>
                    <a:p>
                      <a:r>
                        <a:rPr lang="en-US" altLang="zh-CN" dirty="0"/>
                        <a:t>index</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extLst>
                  <a:ext uri="{0D108BD9-81ED-4DB2-BD59-A6C34878D82A}">
                    <a16:rowId xmlns:a16="http://schemas.microsoft.com/office/drawing/2014/main" val="4043050698"/>
                  </a:ext>
                </a:extLst>
              </a:tr>
              <a:tr h="370840">
                <a:tc>
                  <a:txBody>
                    <a:bodyPr/>
                    <a:lstStyle/>
                    <a:p>
                      <a:r>
                        <a:rPr lang="en-US" altLang="zh-CN" dirty="0" err="1"/>
                        <a:t>Rlink</a:t>
                      </a:r>
                      <a:endParaRPr lang="zh-CN" altLang="en-US" dirty="0"/>
                    </a:p>
                  </a:txBody>
                  <a:tcPr/>
                </a:tc>
                <a:tc>
                  <a:txBody>
                    <a:bodyPr/>
                    <a:lstStyle/>
                    <a:p>
                      <a:r>
                        <a:rPr lang="en-US" altLang="zh-CN" dirty="0"/>
                        <a:t>7</a:t>
                      </a:r>
                      <a:endParaRPr lang="zh-CN" altLang="en-US" dirty="0"/>
                    </a:p>
                  </a:txBody>
                  <a:tcPr/>
                </a:tc>
                <a:tc>
                  <a:txBody>
                    <a:bodyPr/>
                    <a:lstStyle/>
                    <a:p>
                      <a:r>
                        <a:rPr lang="en-US" altLang="zh-CN" dirty="0"/>
                        <a:t>5</a:t>
                      </a:r>
                      <a:endParaRPr lang="zh-CN" altLang="en-US" dirty="0"/>
                    </a:p>
                  </a:txBody>
                  <a:tcPr/>
                </a:tc>
                <a:tc>
                  <a:txBody>
                    <a:bodyPr/>
                    <a:lstStyle/>
                    <a:p>
                      <a:r>
                        <a:rPr lang="en-US" altLang="zh-CN" dirty="0"/>
                        <a:t>4</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6</a:t>
                      </a:r>
                      <a:endParaRPr lang="zh-CN" altLang="en-US" dirty="0"/>
                    </a:p>
                  </a:txBody>
                  <a:tcPr/>
                </a:tc>
                <a:tc>
                  <a:txBody>
                    <a:bodyPr/>
                    <a:lstStyle/>
                    <a:p>
                      <a:r>
                        <a:rPr lang="en-US" altLang="zh-CN" dirty="0"/>
                        <a:t>-1</a:t>
                      </a:r>
                      <a:endParaRPr lang="zh-CN" altLang="en-US" dirty="0"/>
                    </a:p>
                  </a:txBody>
                  <a:tcPr/>
                </a:tc>
                <a:tc>
                  <a:txBody>
                    <a:bodyPr/>
                    <a:lstStyle/>
                    <a:p>
                      <a:r>
                        <a:rPr lang="en-US" altLang="zh-CN" dirty="0"/>
                        <a:t>10</a:t>
                      </a:r>
                      <a:endParaRPr lang="zh-CN" altLang="en-US" dirty="0"/>
                    </a:p>
                  </a:txBody>
                  <a:tcPr/>
                </a:tc>
                <a:tc>
                  <a:txBody>
                    <a:bodyPr/>
                    <a:lstStyle/>
                    <a:p>
                      <a:r>
                        <a:rPr lang="en-US" altLang="zh-CN" dirty="0"/>
                        <a:t>9</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1953915575"/>
                  </a:ext>
                </a:extLst>
              </a:tr>
              <a:tr h="370840">
                <a:tc>
                  <a:txBody>
                    <a:bodyPr/>
                    <a:lstStyle/>
                    <a:p>
                      <a:r>
                        <a:rPr lang="en-US" altLang="zh-CN" dirty="0"/>
                        <a:t>Node</a:t>
                      </a:r>
                      <a:endParaRPr lang="zh-CN" altLang="en-US" dirty="0"/>
                    </a:p>
                  </a:txBody>
                  <a:tcPr/>
                </a:tc>
                <a:tc>
                  <a:txBody>
                    <a:bodyPr/>
                    <a:lstStyle/>
                    <a:p>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D</a:t>
                      </a:r>
                      <a:endParaRPr lang="zh-CN" altLang="en-US" dirty="0"/>
                    </a:p>
                  </a:txBody>
                  <a:tcPr/>
                </a:tc>
                <a:tc>
                  <a:txBody>
                    <a:bodyPr/>
                    <a:lstStyle/>
                    <a:p>
                      <a:r>
                        <a:rPr lang="en-US" altLang="zh-CN" dirty="0"/>
                        <a:t>H</a:t>
                      </a:r>
                      <a:endParaRPr lang="zh-CN" altLang="en-US" dirty="0"/>
                    </a:p>
                  </a:txBody>
                  <a:tcPr/>
                </a:tc>
                <a:tc>
                  <a:txBody>
                    <a:bodyPr/>
                    <a:lstStyle/>
                    <a:p>
                      <a:r>
                        <a:rPr lang="en-US" altLang="zh-CN" dirty="0"/>
                        <a:t>I</a:t>
                      </a:r>
                      <a:endParaRPr lang="zh-CN" altLang="en-US" dirty="0"/>
                    </a:p>
                  </a:txBody>
                  <a:tcPr/>
                </a:tc>
                <a:tc>
                  <a:txBody>
                    <a:bodyPr/>
                    <a:lstStyle/>
                    <a:p>
                      <a:r>
                        <a:rPr lang="en-US" altLang="zh-CN" dirty="0"/>
                        <a:t>E</a:t>
                      </a:r>
                      <a:endParaRPr lang="zh-CN" altLang="en-US" dirty="0"/>
                    </a:p>
                  </a:txBody>
                  <a:tcPr/>
                </a:tc>
                <a:tc>
                  <a:txBody>
                    <a:bodyPr/>
                    <a:lstStyle/>
                    <a:p>
                      <a:r>
                        <a:rPr lang="en-US" altLang="zh-CN" dirty="0"/>
                        <a:t>J</a:t>
                      </a:r>
                      <a:endParaRPr lang="zh-CN" altLang="en-US" dirty="0"/>
                    </a:p>
                  </a:txBody>
                  <a:tcPr/>
                </a:tc>
                <a:tc>
                  <a:txBody>
                    <a:bodyPr/>
                    <a:lstStyle/>
                    <a:p>
                      <a:r>
                        <a:rPr lang="en-US" altLang="zh-CN" dirty="0"/>
                        <a:t>C</a:t>
                      </a:r>
                      <a:endParaRPr lang="zh-CN" altLang="en-US" dirty="0"/>
                    </a:p>
                  </a:txBody>
                  <a:tcPr/>
                </a:tc>
                <a:tc>
                  <a:txBody>
                    <a:bodyPr/>
                    <a:lstStyle/>
                    <a:p>
                      <a:r>
                        <a:rPr lang="en-US" altLang="zh-CN" dirty="0"/>
                        <a:t>F</a:t>
                      </a:r>
                      <a:endParaRPr lang="zh-CN" altLang="en-US" dirty="0"/>
                    </a:p>
                  </a:txBody>
                  <a:tcPr/>
                </a:tc>
                <a:tc>
                  <a:txBody>
                    <a:bodyPr/>
                    <a:lstStyle/>
                    <a:p>
                      <a:r>
                        <a:rPr lang="en-US" altLang="zh-CN" dirty="0"/>
                        <a:t>K</a:t>
                      </a:r>
                      <a:endParaRPr lang="zh-CN" altLang="en-US" dirty="0"/>
                    </a:p>
                  </a:txBody>
                  <a:tcPr/>
                </a:tc>
                <a:tc>
                  <a:txBody>
                    <a:bodyPr/>
                    <a:lstStyle/>
                    <a:p>
                      <a:r>
                        <a:rPr lang="en-US" altLang="zh-CN" dirty="0"/>
                        <a:t>G</a:t>
                      </a:r>
                      <a:endParaRPr lang="zh-CN" altLang="en-US" dirty="0"/>
                    </a:p>
                  </a:txBody>
                  <a:tcPr/>
                </a:tc>
                <a:extLst>
                  <a:ext uri="{0D108BD9-81ED-4DB2-BD59-A6C34878D82A}">
                    <a16:rowId xmlns:a16="http://schemas.microsoft.com/office/drawing/2014/main" val="3397339298"/>
                  </a:ext>
                </a:extLst>
              </a:tr>
              <a:tr h="370840">
                <a:tc>
                  <a:txBody>
                    <a:bodyPr/>
                    <a:lstStyle/>
                    <a:p>
                      <a:r>
                        <a:rPr lang="en-US" altLang="zh-CN" dirty="0" err="1"/>
                        <a:t>Itag</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3556634316"/>
                  </a:ext>
                </a:extLst>
              </a:tr>
            </a:tbl>
          </a:graphicData>
        </a:graphic>
      </p:graphicFrame>
    </p:spTree>
    <p:extLst>
      <p:ext uri="{BB962C8B-B14F-4D97-AF65-F5344CB8AC3E}">
        <p14:creationId xmlns:p14="http://schemas.microsoft.com/office/powerpoint/2010/main" val="1269253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455894"/>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先转化为森林</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带度数的后根次序存储如下</a:t>
            </a:r>
            <a:endParaRPr lang="zh-CN" altLang="zh-CN" dirty="0">
              <a:latin typeface="宋体" panose="02010600030101010101" pitchFamily="2" charset="-122"/>
              <a:ea typeface="宋体" panose="02010600030101010101" pitchFamily="2" charset="-122"/>
            </a:endParaRPr>
          </a:p>
        </p:txBody>
      </p:sp>
      <p:pic>
        <p:nvPicPr>
          <p:cNvPr id="6" name="图片 5">
            <a:extLst>
              <a:ext uri="{FF2B5EF4-FFF2-40B4-BE49-F238E27FC236}">
                <a16:creationId xmlns:a16="http://schemas.microsoft.com/office/drawing/2014/main" id="{FD02186B-57EB-4C92-98C3-0749C0DFB2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560692" y="1803908"/>
            <a:ext cx="2533015" cy="1680210"/>
          </a:xfrm>
          <a:prstGeom prst="rect">
            <a:avLst/>
          </a:prstGeom>
        </p:spPr>
      </p:pic>
      <p:pic>
        <p:nvPicPr>
          <p:cNvPr id="8" name="图片 7">
            <a:extLst>
              <a:ext uri="{FF2B5EF4-FFF2-40B4-BE49-F238E27FC236}">
                <a16:creationId xmlns:a16="http://schemas.microsoft.com/office/drawing/2014/main" id="{C38ABDB5-632C-48D0-B4E4-E1CD56691E0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809193" y="1859028"/>
            <a:ext cx="2664460" cy="1583690"/>
          </a:xfrm>
          <a:prstGeom prst="rect">
            <a:avLst/>
          </a:prstGeom>
        </p:spPr>
      </p:pic>
      <p:graphicFrame>
        <p:nvGraphicFramePr>
          <p:cNvPr id="5" name="表格 4">
            <a:extLst>
              <a:ext uri="{FF2B5EF4-FFF2-40B4-BE49-F238E27FC236}">
                <a16:creationId xmlns:a16="http://schemas.microsoft.com/office/drawing/2014/main" id="{143E0804-FAEB-4AD5-8B22-CDCDEF6B1DA5}"/>
              </a:ext>
            </a:extLst>
          </p:cNvPr>
          <p:cNvGraphicFramePr>
            <a:graphicFrameLocks noGrp="1"/>
          </p:cNvGraphicFramePr>
          <p:nvPr>
            <p:extLst>
              <p:ext uri="{D42A27DB-BD31-4B8C-83A1-F6EECF244321}">
                <p14:modId xmlns:p14="http://schemas.microsoft.com/office/powerpoint/2010/main" val="2293722201"/>
              </p:ext>
            </p:extLst>
          </p:nvPr>
        </p:nvGraphicFramePr>
        <p:xfrm>
          <a:off x="1782742" y="3786519"/>
          <a:ext cx="9097806" cy="1001482"/>
        </p:xfrm>
        <a:graphic>
          <a:graphicData uri="http://schemas.openxmlformats.org/drawingml/2006/table">
            <a:tbl>
              <a:tblPr firstRow="1" firstCol="1" bandRow="1">
                <a:tableStyleId>{5C22544A-7EE6-4342-B048-85BDC9FD1C3A}</a:tableStyleId>
              </a:tblPr>
              <a:tblGrid>
                <a:gridCol w="1009290">
                  <a:extLst>
                    <a:ext uri="{9D8B030D-6E8A-4147-A177-3AD203B41FA5}">
                      <a16:colId xmlns:a16="http://schemas.microsoft.com/office/drawing/2014/main" val="2663241800"/>
                    </a:ext>
                  </a:extLst>
                </a:gridCol>
                <a:gridCol w="735965">
                  <a:extLst>
                    <a:ext uri="{9D8B030D-6E8A-4147-A177-3AD203B41FA5}">
                      <a16:colId xmlns:a16="http://schemas.microsoft.com/office/drawing/2014/main" val="3310142905"/>
                    </a:ext>
                  </a:extLst>
                </a:gridCol>
                <a:gridCol w="731232">
                  <a:extLst>
                    <a:ext uri="{9D8B030D-6E8A-4147-A177-3AD203B41FA5}">
                      <a16:colId xmlns:a16="http://schemas.microsoft.com/office/drawing/2014/main" val="2726136140"/>
                    </a:ext>
                  </a:extLst>
                </a:gridCol>
                <a:gridCol w="733599">
                  <a:extLst>
                    <a:ext uri="{9D8B030D-6E8A-4147-A177-3AD203B41FA5}">
                      <a16:colId xmlns:a16="http://schemas.microsoft.com/office/drawing/2014/main" val="233577903"/>
                    </a:ext>
                  </a:extLst>
                </a:gridCol>
                <a:gridCol w="737148">
                  <a:extLst>
                    <a:ext uri="{9D8B030D-6E8A-4147-A177-3AD203B41FA5}">
                      <a16:colId xmlns:a16="http://schemas.microsoft.com/office/drawing/2014/main" val="1988431203"/>
                    </a:ext>
                  </a:extLst>
                </a:gridCol>
                <a:gridCol w="728866">
                  <a:extLst>
                    <a:ext uri="{9D8B030D-6E8A-4147-A177-3AD203B41FA5}">
                      <a16:colId xmlns:a16="http://schemas.microsoft.com/office/drawing/2014/main" val="2510132536"/>
                    </a:ext>
                  </a:extLst>
                </a:gridCol>
                <a:gridCol w="728866">
                  <a:extLst>
                    <a:ext uri="{9D8B030D-6E8A-4147-A177-3AD203B41FA5}">
                      <a16:colId xmlns:a16="http://schemas.microsoft.com/office/drawing/2014/main" val="2095556316"/>
                    </a:ext>
                  </a:extLst>
                </a:gridCol>
                <a:gridCol w="737148">
                  <a:extLst>
                    <a:ext uri="{9D8B030D-6E8A-4147-A177-3AD203B41FA5}">
                      <a16:colId xmlns:a16="http://schemas.microsoft.com/office/drawing/2014/main" val="451026300"/>
                    </a:ext>
                  </a:extLst>
                </a:gridCol>
                <a:gridCol w="738331">
                  <a:extLst>
                    <a:ext uri="{9D8B030D-6E8A-4147-A177-3AD203B41FA5}">
                      <a16:colId xmlns:a16="http://schemas.microsoft.com/office/drawing/2014/main" val="597049281"/>
                    </a:ext>
                  </a:extLst>
                </a:gridCol>
                <a:gridCol w="730049">
                  <a:extLst>
                    <a:ext uri="{9D8B030D-6E8A-4147-A177-3AD203B41FA5}">
                      <a16:colId xmlns:a16="http://schemas.microsoft.com/office/drawing/2014/main" val="3713739450"/>
                    </a:ext>
                  </a:extLst>
                </a:gridCol>
                <a:gridCol w="730049">
                  <a:extLst>
                    <a:ext uri="{9D8B030D-6E8A-4147-A177-3AD203B41FA5}">
                      <a16:colId xmlns:a16="http://schemas.microsoft.com/office/drawing/2014/main" val="395916373"/>
                    </a:ext>
                  </a:extLst>
                </a:gridCol>
                <a:gridCol w="757263">
                  <a:extLst>
                    <a:ext uri="{9D8B030D-6E8A-4147-A177-3AD203B41FA5}">
                      <a16:colId xmlns:a16="http://schemas.microsoft.com/office/drawing/2014/main" val="830616493"/>
                    </a:ext>
                  </a:extLst>
                </a:gridCol>
              </a:tblGrid>
              <a:tr h="333827">
                <a:tc>
                  <a:txBody>
                    <a:bodyPr/>
                    <a:lstStyle/>
                    <a:p>
                      <a:pPr algn="just">
                        <a:spcAft>
                          <a:spcPts val="0"/>
                        </a:spcAft>
                      </a:pPr>
                      <a:r>
                        <a:rPr lang="en-US" sz="1800" kern="100">
                          <a:effectLst/>
                        </a:rPr>
                        <a:t>Info</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H</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D</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I</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B</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E</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J</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A</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F</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K</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C</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G</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905188"/>
                  </a:ext>
                </a:extLst>
              </a:tr>
              <a:tr h="667655">
                <a:tc>
                  <a:txBody>
                    <a:bodyPr/>
                    <a:lstStyle/>
                    <a:p>
                      <a:pPr algn="just">
                        <a:spcAft>
                          <a:spcPts val="0"/>
                        </a:spcAft>
                      </a:pPr>
                      <a:r>
                        <a:rPr lang="en-US" sz="1800" kern="100">
                          <a:effectLst/>
                        </a:rPr>
                        <a:t>degree</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3</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a:effectLst/>
                        </a:rPr>
                        <a:t>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5332825"/>
                  </a:ext>
                </a:extLst>
              </a:tr>
            </a:tbl>
          </a:graphicData>
        </a:graphic>
      </p:graphicFrame>
    </p:spTree>
    <p:extLst>
      <p:ext uri="{BB962C8B-B14F-4D97-AF65-F5344CB8AC3E}">
        <p14:creationId xmlns:p14="http://schemas.microsoft.com/office/powerpoint/2010/main" val="3315952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2308324"/>
          </a:xfrm>
          <a:prstGeom prst="rect">
            <a:avLst/>
          </a:prstGeom>
        </p:spPr>
        <p:txBody>
          <a:bodyPr wrap="square">
            <a:spAutoFit/>
          </a:bodyPr>
          <a:lstStyle/>
          <a:p>
            <a:pPr>
              <a:lnSpc>
                <a:spcPct val="150000"/>
              </a:lnSpc>
            </a:pP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给定</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个表示变量之间关系的方程，每个方程</a:t>
            </a:r>
            <a:r>
              <a:rPr lang="en-US" altLang="zh-CN" dirty="0">
                <a:latin typeface="宋体" panose="02010600030101010101" pitchFamily="2" charset="-122"/>
                <a:ea typeface="宋体" panose="02010600030101010101" pitchFamily="2" charset="-122"/>
              </a:rPr>
              <a:t> equations[</a:t>
            </a:r>
            <a:r>
              <a:rPr lang="en-US" altLang="zh-CN" dirty="0" err="1">
                <a:latin typeface="宋体" panose="02010600030101010101" pitchFamily="2" charset="-122"/>
                <a:ea typeface="宋体" panose="02010600030101010101" pitchFamily="2" charset="-122"/>
              </a:rPr>
              <a:t>i</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的采用两种不同的形式之一：</a:t>
            </a:r>
            <a:r>
              <a:rPr lang="en-US" altLang="zh-CN" dirty="0">
                <a:latin typeface="宋体" panose="02010600030101010101" pitchFamily="2" charset="-122"/>
                <a:ea typeface="宋体" panose="02010600030101010101" pitchFamily="2" charset="-122"/>
              </a:rPr>
              <a:t>“a==b” </a:t>
            </a:r>
            <a:r>
              <a:rPr lang="zh-CN" altLang="zh-CN" dirty="0">
                <a:latin typeface="宋体" panose="02010600030101010101" pitchFamily="2" charset="-122"/>
                <a:ea typeface="宋体" panose="02010600030101010101" pitchFamily="2" charset="-122"/>
              </a:rPr>
              <a:t>或</a:t>
            </a:r>
            <a:r>
              <a:rPr lang="en-US" altLang="zh-CN" dirty="0">
                <a:latin typeface="宋体" panose="02010600030101010101" pitchFamily="2" charset="-122"/>
                <a:ea typeface="宋体" panose="02010600030101010101" pitchFamily="2" charset="-122"/>
              </a:rPr>
              <a:t> “a!=b”</a:t>
            </a:r>
            <a:r>
              <a:rPr lang="zh-CN" altLang="zh-CN" dirty="0">
                <a:latin typeface="宋体" panose="02010600030101010101" pitchFamily="2" charset="-122"/>
                <a:ea typeface="宋体" panose="02010600030101010101" pitchFamily="2" charset="-122"/>
              </a:rPr>
              <a:t>。在这里，</a:t>
            </a:r>
            <a:r>
              <a:rPr lang="en-US" altLang="zh-CN" dirty="0">
                <a:latin typeface="宋体" panose="02010600030101010101" pitchFamily="2" charset="-122"/>
                <a:ea typeface="宋体" panose="02010600030101010101" pitchFamily="2" charset="-122"/>
              </a:rPr>
              <a:t>a </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 b </a:t>
            </a:r>
            <a:r>
              <a:rPr lang="zh-CN" altLang="zh-CN" dirty="0">
                <a:latin typeface="宋体" panose="02010600030101010101" pitchFamily="2" charset="-122"/>
                <a:ea typeface="宋体" panose="02010600030101010101" pitchFamily="2" charset="-122"/>
              </a:rPr>
              <a:t>表示变量名。</a:t>
            </a:r>
          </a:p>
          <a:p>
            <a:r>
              <a:rPr lang="zh-CN" altLang="zh-CN" dirty="0">
                <a:latin typeface="宋体" panose="02010600030101010101" pitchFamily="2" charset="-122"/>
                <a:ea typeface="宋体" panose="02010600030101010101" pitchFamily="2" charset="-122"/>
              </a:rPr>
              <a:t>要求设计一个使用并查集的算法，使得只有当方程组有解时返回</a:t>
            </a:r>
            <a:r>
              <a:rPr lang="en-US" altLang="zh-CN" dirty="0">
                <a:latin typeface="宋体" panose="02010600030101010101" pitchFamily="2" charset="-122"/>
                <a:ea typeface="宋体" panose="02010600030101010101" pitchFamily="2" charset="-122"/>
              </a:rPr>
              <a:t> true</a:t>
            </a:r>
            <a:r>
              <a:rPr lang="zh-CN" altLang="zh-CN" dirty="0">
                <a:latin typeface="宋体" panose="02010600030101010101" pitchFamily="2" charset="-122"/>
                <a:ea typeface="宋体" panose="02010600030101010101" pitchFamily="2" charset="-122"/>
              </a:rPr>
              <a:t>，否则返回</a:t>
            </a:r>
            <a:r>
              <a:rPr lang="en-US" altLang="zh-CN" dirty="0">
                <a:latin typeface="宋体" panose="02010600030101010101" pitchFamily="2" charset="-122"/>
                <a:ea typeface="宋体" panose="02010600030101010101" pitchFamily="2" charset="-122"/>
              </a:rPr>
              <a:t> false</a:t>
            </a:r>
            <a:r>
              <a:rPr lang="zh-CN" altLang="zh-CN" dirty="0">
                <a:latin typeface="宋体" panose="02010600030101010101" pitchFamily="2" charset="-122"/>
                <a:ea typeface="宋体" panose="02010600030101010101" pitchFamily="2" charset="-122"/>
              </a:rPr>
              <a:t>。</a:t>
            </a:r>
          </a:p>
          <a:p>
            <a:r>
              <a:rPr lang="zh-CN" altLang="zh-CN" dirty="0">
                <a:latin typeface="宋体" panose="02010600030101010101" pitchFamily="2" charset="-122"/>
                <a:ea typeface="宋体" panose="02010600030101010101" pitchFamily="2" charset="-122"/>
              </a:rPr>
              <a:t>并且要求说明，在</a:t>
            </a:r>
            <a:r>
              <a:rPr lang="en-US" altLang="zh-CN" dirty="0">
                <a:latin typeface="宋体" panose="02010600030101010101" pitchFamily="2" charset="-122"/>
                <a:ea typeface="宋体" panose="02010600030101010101" pitchFamily="2" charset="-122"/>
              </a:rPr>
              <a:t>find</a:t>
            </a:r>
            <a:r>
              <a:rPr lang="zh-CN" altLang="zh-CN" dirty="0">
                <a:latin typeface="宋体" panose="02010600030101010101" pitchFamily="2" charset="-122"/>
                <a:ea typeface="宋体" panose="02010600030101010101" pitchFamily="2" charset="-122"/>
              </a:rPr>
              <a:t>操作中</a:t>
            </a:r>
          </a:p>
          <a:p>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不使用优化，</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次</a:t>
            </a:r>
            <a:r>
              <a:rPr lang="en-US" altLang="zh-CN" dirty="0">
                <a:latin typeface="宋体" panose="02010600030101010101" pitchFamily="2" charset="-122"/>
                <a:ea typeface="宋体" panose="02010600030101010101" pitchFamily="2" charset="-122"/>
              </a:rPr>
              <a:t>find</a:t>
            </a:r>
            <a:r>
              <a:rPr lang="zh-CN" altLang="zh-CN" dirty="0">
                <a:latin typeface="宋体" panose="02010600030101010101" pitchFamily="2" charset="-122"/>
                <a:ea typeface="宋体" panose="02010600030101010101" pitchFamily="2" charset="-122"/>
              </a:rPr>
              <a:t>的操作时间代价。</a:t>
            </a:r>
          </a:p>
          <a:p>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使用“重量权衡合并规则”，</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次</a:t>
            </a:r>
            <a:r>
              <a:rPr lang="en-US" altLang="zh-CN" dirty="0">
                <a:latin typeface="宋体" panose="02010600030101010101" pitchFamily="2" charset="-122"/>
                <a:ea typeface="宋体" panose="02010600030101010101" pitchFamily="2" charset="-122"/>
              </a:rPr>
              <a:t>find</a:t>
            </a:r>
            <a:r>
              <a:rPr lang="zh-CN" altLang="zh-CN" dirty="0">
                <a:latin typeface="宋体" panose="02010600030101010101" pitchFamily="2" charset="-122"/>
                <a:ea typeface="宋体" panose="02010600030101010101" pitchFamily="2" charset="-122"/>
              </a:rPr>
              <a:t>的操作时间代价。</a:t>
            </a:r>
          </a:p>
          <a:p>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使用“路径压缩”后，</a:t>
            </a:r>
            <a:r>
              <a:rPr lang="en-US" altLang="zh-CN" dirty="0">
                <a:latin typeface="宋体" panose="02010600030101010101" pitchFamily="2" charset="-122"/>
                <a:ea typeface="宋体" panose="02010600030101010101" pitchFamily="2" charset="-122"/>
              </a:rPr>
              <a:t>n</a:t>
            </a:r>
            <a:r>
              <a:rPr lang="zh-CN" altLang="zh-CN" dirty="0">
                <a:latin typeface="宋体" panose="02010600030101010101" pitchFamily="2" charset="-122"/>
                <a:ea typeface="宋体" panose="02010600030101010101" pitchFamily="2" charset="-122"/>
              </a:rPr>
              <a:t>次</a:t>
            </a:r>
            <a:r>
              <a:rPr lang="en-US" altLang="zh-CN" dirty="0">
                <a:latin typeface="宋体" panose="02010600030101010101" pitchFamily="2" charset="-122"/>
                <a:ea typeface="宋体" panose="02010600030101010101" pitchFamily="2" charset="-122"/>
              </a:rPr>
              <a:t>find</a:t>
            </a:r>
            <a:r>
              <a:rPr lang="zh-CN" altLang="zh-CN" dirty="0">
                <a:latin typeface="宋体" panose="02010600030101010101" pitchFamily="2" charset="-122"/>
                <a:ea typeface="宋体" panose="02010600030101010101" pitchFamily="2" charset="-122"/>
              </a:rPr>
              <a:t>的操作时间代价。</a:t>
            </a:r>
          </a:p>
        </p:txBody>
      </p:sp>
    </p:spTree>
    <p:extLst>
      <p:ext uri="{BB962C8B-B14F-4D97-AF65-F5344CB8AC3E}">
        <p14:creationId xmlns:p14="http://schemas.microsoft.com/office/powerpoint/2010/main" val="4116441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第六章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401377" y="6409550"/>
            <a:ext cx="156966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数算四到六章习题课</a:t>
            </a:r>
          </a:p>
        </p:txBody>
      </p:sp>
      <p:sp>
        <p:nvSpPr>
          <p:cNvPr id="7" name="矩形 6">
            <a:extLst>
              <a:ext uri="{FF2B5EF4-FFF2-40B4-BE49-F238E27FC236}">
                <a16:creationId xmlns:a16="http://schemas.microsoft.com/office/drawing/2014/main" id="{CED7884D-C05B-42AA-9FCF-B90AD75328AB}"/>
              </a:ext>
            </a:extLst>
          </p:cNvPr>
          <p:cNvSpPr/>
          <p:nvPr/>
        </p:nvSpPr>
        <p:spPr>
          <a:xfrm>
            <a:off x="737839" y="1056051"/>
            <a:ext cx="10142708" cy="4597862"/>
          </a:xfrm>
          <a:prstGeom prst="rect">
            <a:avLst/>
          </a:prstGeom>
        </p:spPr>
        <p:txBody>
          <a:bodyPr wrap="square">
            <a:spAutoFit/>
          </a:bodyPr>
          <a:lstStyle/>
          <a:p>
            <a:pPr>
              <a:lnSpc>
                <a:spcPct val="150000"/>
              </a:lnSpc>
            </a:pPr>
            <a:r>
              <a:rPr lang="zh-CN" altLang="en-US" dirty="0">
                <a:latin typeface="宋体" panose="02010600030101010101" pitchFamily="2" charset="-122"/>
                <a:ea typeface="宋体" panose="02010600030101010101" pitchFamily="2" charset="-122"/>
              </a:rPr>
              <a:t>答：采用并查集来解。</a:t>
            </a:r>
          </a:p>
          <a:p>
            <a:pPr>
              <a:lnSpc>
                <a:spcPct val="150000"/>
              </a:lnSpc>
            </a:pPr>
            <a:r>
              <a:rPr lang="zh-CN" altLang="en-US" dirty="0">
                <a:latin typeface="宋体" panose="02010600030101010101" pitchFamily="2" charset="-122"/>
                <a:ea typeface="宋体" panose="02010600030101010101" pitchFamily="2" charset="-122"/>
              </a:rPr>
              <a:t>将相等的变量放置在一起，如果没有与之矛盾的不等式语句，就说明该方程是可以满足的。</a:t>
            </a:r>
          </a:p>
          <a:p>
            <a:pPr>
              <a:lnSpc>
                <a:spcPct val="150000"/>
              </a:lnSpc>
            </a:pPr>
            <a:r>
              <a:rPr lang="zh-CN" altLang="en-US" dirty="0">
                <a:latin typeface="宋体" panose="02010600030101010101" pitchFamily="2" charset="-122"/>
                <a:ea typeface="宋体" panose="02010600030101010101" pitchFamily="2" charset="-122"/>
              </a:rPr>
              <a:t>	两次遍历全部式子</a:t>
            </a:r>
            <a:r>
              <a:rPr lang="en-US" altLang="zh-CN" dirty="0">
                <a:latin typeface="宋体" panose="02010600030101010101" pitchFamily="2" charset="-122"/>
                <a:ea typeface="宋体" panose="02010600030101010101" pitchFamily="2" charset="-122"/>
              </a:rPr>
              <a:t>:</a:t>
            </a:r>
          </a:p>
          <a:p>
            <a:pPr>
              <a:lnSpc>
                <a:spcPct val="150000"/>
              </a:lnSpc>
            </a:pPr>
            <a:r>
              <a:rPr lang="zh-CN" altLang="en-US" dirty="0">
                <a:latin typeface="宋体" panose="02010600030101010101" pitchFamily="2" charset="-122"/>
                <a:ea typeface="宋体" panose="02010600030101010101" pitchFamily="2" charset="-122"/>
              </a:rPr>
              <a:t>第一次遍历：将相等的变量归为一类 </a:t>
            </a:r>
          </a:p>
          <a:p>
            <a:pPr>
              <a:lnSpc>
                <a:spcPct val="150000"/>
              </a:lnSpc>
            </a:pPr>
            <a:r>
              <a:rPr lang="zh-CN" altLang="en-US" dirty="0">
                <a:latin typeface="宋体" panose="02010600030101010101" pitchFamily="2" charset="-122"/>
                <a:ea typeface="宋体" panose="02010600030101010101" pitchFamily="2" charset="-122"/>
              </a:rPr>
              <a:t>第二次遍历：只看不等式，如果不等式两端的两个变量是一类的，则返回</a:t>
            </a:r>
            <a:r>
              <a:rPr lang="en-US" altLang="zh-CN" dirty="0">
                <a:latin typeface="宋体" panose="02010600030101010101" pitchFamily="2" charset="-122"/>
                <a:ea typeface="宋体" panose="02010600030101010101" pitchFamily="2" charset="-122"/>
              </a:rPr>
              <a:t>false</a:t>
            </a:r>
          </a:p>
          <a:p>
            <a:pPr>
              <a:lnSpc>
                <a:spcPct val="150000"/>
              </a:lnSpc>
            </a:pPr>
            <a:r>
              <a:rPr lang="zh-CN" altLang="en-US" dirty="0">
                <a:latin typeface="宋体" panose="02010600030101010101" pitchFamily="2" charset="-122"/>
                <a:ea typeface="宋体" panose="02010600030101010101" pitchFamily="2" charset="-122"/>
              </a:rPr>
              <a:t>若第二次遍历没有发现矛盾，则返回</a:t>
            </a:r>
            <a:r>
              <a:rPr lang="en-US" altLang="zh-CN" dirty="0">
                <a:latin typeface="宋体" panose="02010600030101010101" pitchFamily="2" charset="-122"/>
                <a:ea typeface="宋体" panose="02010600030101010101" pitchFamily="2" charset="-122"/>
              </a:rPr>
              <a:t>true</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不使用优化 </a:t>
            </a:r>
            <a:r>
              <a:rPr lang="en-US" altLang="zh-CN" dirty="0">
                <a:latin typeface="宋体" panose="02010600030101010101" pitchFamily="2" charset="-122"/>
                <a:ea typeface="宋体" panose="02010600030101010101" pitchFamily="2" charset="-122"/>
              </a:rPr>
              <a:t>O(n)</a:t>
            </a:r>
          </a:p>
          <a:p>
            <a:pPr>
              <a:lnSpc>
                <a:spcPct val="150000"/>
              </a:lnSpc>
            </a:pP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使用“重量权衡合并规则” </a:t>
            </a:r>
            <a:r>
              <a:rPr lang="en-US" altLang="zh-CN" dirty="0">
                <a:latin typeface="宋体" panose="02010600030101010101" pitchFamily="2" charset="-122"/>
                <a:ea typeface="宋体" panose="02010600030101010101" pitchFamily="2" charset="-122"/>
              </a:rPr>
              <a:t>O(log n)</a:t>
            </a:r>
          </a:p>
          <a:p>
            <a:pPr>
              <a:lnSpc>
                <a:spcPct val="150000"/>
              </a:lnSpc>
            </a:pP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重量权衡合并和路径压缩后，</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次</a:t>
            </a:r>
            <a:r>
              <a:rPr lang="en-US" altLang="zh-CN" dirty="0">
                <a:latin typeface="宋体" panose="02010600030101010101" pitchFamily="2" charset="-122"/>
                <a:ea typeface="宋体" panose="02010600030101010101" pitchFamily="2" charset="-122"/>
              </a:rPr>
              <a:t>find</a:t>
            </a:r>
            <a:r>
              <a:rPr lang="zh-CN" altLang="en-US" dirty="0">
                <a:latin typeface="宋体" panose="02010600030101010101" pitchFamily="2" charset="-122"/>
                <a:ea typeface="宋体" panose="02010600030101010101" pitchFamily="2" charset="-122"/>
              </a:rPr>
              <a:t>的操作时间代价 </a:t>
            </a:r>
            <a:r>
              <a:rPr lang="en-US" altLang="zh-CN" dirty="0">
                <a:latin typeface="宋体" panose="02010600030101010101" pitchFamily="2" charset="-122"/>
                <a:ea typeface="宋体" panose="02010600030101010101" pitchFamily="2" charset="-122"/>
              </a:rPr>
              <a:t>O(n</a:t>
            </a:r>
            <a:r>
              <a:rPr lang="el-GR" altLang="zh-CN" dirty="0">
                <a:latin typeface="宋体" panose="02010600030101010101" pitchFamily="2" charset="-122"/>
                <a:ea typeface="宋体" panose="02010600030101010101" pitchFamily="2" charset="-122"/>
              </a:rPr>
              <a:t>α(</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，其中</a:t>
            </a:r>
            <a:r>
              <a:rPr lang="el-GR" altLang="zh-CN" dirty="0">
                <a:latin typeface="宋体" panose="02010600030101010101" pitchFamily="2" charset="-122"/>
                <a:ea typeface="宋体" panose="02010600030101010101" pitchFamily="2" charset="-122"/>
              </a:rPr>
              <a:t>α(</a:t>
            </a:r>
            <a:r>
              <a:rPr lang="en-US" altLang="zh-CN" dirty="0">
                <a:latin typeface="宋体" panose="02010600030101010101" pitchFamily="2" charset="-122"/>
                <a:ea typeface="宋体" panose="02010600030101010101" pitchFamily="2" charset="-122"/>
              </a:rPr>
              <a:t>n)</a:t>
            </a:r>
            <a:r>
              <a:rPr lang="zh-CN" altLang="en-US" dirty="0">
                <a:latin typeface="宋体" panose="02010600030101010101" pitchFamily="2" charset="-122"/>
                <a:ea typeface="宋体" panose="02010600030101010101" pitchFamily="2" charset="-122"/>
              </a:rPr>
              <a:t>是单变量</a:t>
            </a:r>
            <a:r>
              <a:rPr lang="en-US" altLang="zh-CN" dirty="0">
                <a:latin typeface="宋体" panose="02010600030101010101" pitchFamily="2" charset="-122"/>
                <a:ea typeface="宋体" panose="02010600030101010101" pitchFamily="2" charset="-122"/>
              </a:rPr>
              <a:t>Ackermann()</a:t>
            </a:r>
            <a:r>
              <a:rPr lang="zh-CN" altLang="en-US" dirty="0">
                <a:latin typeface="宋体" panose="02010600030101010101" pitchFamily="2" charset="-122"/>
                <a:ea typeface="宋体" panose="02010600030101010101" pitchFamily="2" charset="-122"/>
              </a:rPr>
              <a:t>函数的逆。</a:t>
            </a:r>
          </a:p>
        </p:txBody>
      </p:sp>
    </p:spTree>
    <p:extLst>
      <p:ext uri="{BB962C8B-B14F-4D97-AF65-F5344CB8AC3E}">
        <p14:creationId xmlns:p14="http://schemas.microsoft.com/office/powerpoint/2010/main" val="327647905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2839</TotalTime>
  <Words>3489</Words>
  <Application>Microsoft Office PowerPoint</Application>
  <PresentationFormat>宽屏</PresentationFormat>
  <Paragraphs>422</Paragraphs>
  <Slides>27</Slides>
  <Notes>27</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27</vt:i4>
      </vt:variant>
    </vt:vector>
  </HeadingPairs>
  <TitlesOfParts>
    <vt:vector size="39" baseType="lpstr">
      <vt:lpstr>等线</vt:lpstr>
      <vt:lpstr>等线 Light</vt:lpstr>
      <vt:lpstr>经典圆体简</vt:lpstr>
      <vt:lpstr>宋体</vt:lpstr>
      <vt:lpstr>宋体</vt:lpstr>
      <vt:lpstr>微软雅黑</vt:lpstr>
      <vt:lpstr>微软雅黑</vt:lpstr>
      <vt:lpstr>Arial</vt:lpstr>
      <vt:lpstr>Cambria Math</vt:lpstr>
      <vt:lpstr>Times New Roman</vt:lpstr>
      <vt:lpstr>Office 主题​​</vt:lpstr>
      <vt:lpstr>自定义设计方案</vt:lpstr>
      <vt:lpstr>PowerPoint 演示文稿</vt:lpstr>
      <vt:lpstr>第四章-作业1</vt:lpstr>
      <vt:lpstr>第四章-作业2</vt:lpstr>
      <vt:lpstr>第四章-作业2</vt:lpstr>
      <vt:lpstr>第四章-作业2</vt:lpstr>
      <vt:lpstr>第四章-作业2</vt:lpstr>
      <vt:lpstr>第四章-作业2</vt:lpstr>
      <vt:lpstr>第四章-作业3</vt:lpstr>
      <vt:lpstr>第四章-作业3</vt:lpstr>
      <vt:lpstr>第四章-作业4</vt:lpstr>
      <vt:lpstr>第四章-作业4</vt:lpstr>
      <vt:lpstr>第五章-作业1</vt:lpstr>
      <vt:lpstr>第五章-作业2</vt:lpstr>
      <vt:lpstr>第五章-作业2</vt:lpstr>
      <vt:lpstr>第五章-作业2</vt:lpstr>
      <vt:lpstr>第五章-作业3</vt:lpstr>
      <vt:lpstr>第五章-作业4</vt:lpstr>
      <vt:lpstr>第五章-作业4</vt:lpstr>
      <vt:lpstr>第五章-作业5</vt:lpstr>
      <vt:lpstr>第五章-作业5</vt:lpstr>
      <vt:lpstr>第五章-作业5</vt:lpstr>
      <vt:lpstr>第六章-作业1</vt:lpstr>
      <vt:lpstr>第六章-作业2</vt:lpstr>
      <vt:lpstr>第六章-作业2</vt:lpstr>
      <vt:lpstr>第六章-作业2</vt:lpstr>
      <vt:lpstr>第六章-作业3</vt:lpstr>
      <vt:lpstr>第六章-作业3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 T</dc:creator>
  <cp:lastModifiedBy>周雨奇</cp:lastModifiedBy>
  <cp:revision>179</cp:revision>
  <dcterms:created xsi:type="dcterms:W3CDTF">2020-05-26T03:03:48Z</dcterms:created>
  <dcterms:modified xsi:type="dcterms:W3CDTF">2021-11-02T12:09:47Z</dcterms:modified>
</cp:coreProperties>
</file>