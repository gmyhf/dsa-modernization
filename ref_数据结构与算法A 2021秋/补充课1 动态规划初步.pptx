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4" r:id="rId2"/>
    <p:sldMasterId id="2147483700" r:id="rId3"/>
  </p:sldMasterIdLst>
  <p:notesMasterIdLst>
    <p:notesMasterId r:id="rId48"/>
  </p:notesMasterIdLst>
  <p:sldIdLst>
    <p:sldId id="257" r:id="rId4"/>
    <p:sldId id="258" r:id="rId5"/>
    <p:sldId id="259" r:id="rId6"/>
    <p:sldId id="261" r:id="rId7"/>
    <p:sldId id="263" r:id="rId8"/>
    <p:sldId id="267" r:id="rId9"/>
    <p:sldId id="264" r:id="rId10"/>
    <p:sldId id="266" r:id="rId11"/>
    <p:sldId id="268" r:id="rId12"/>
    <p:sldId id="269" r:id="rId13"/>
    <p:sldId id="270" r:id="rId14"/>
    <p:sldId id="271" r:id="rId15"/>
    <p:sldId id="272" r:id="rId16"/>
    <p:sldId id="273" r:id="rId17"/>
    <p:sldId id="274" r:id="rId18"/>
    <p:sldId id="275" r:id="rId19"/>
    <p:sldId id="277" r:id="rId20"/>
    <p:sldId id="278" r:id="rId21"/>
    <p:sldId id="279" r:id="rId22"/>
    <p:sldId id="281" r:id="rId23"/>
    <p:sldId id="280" r:id="rId24"/>
    <p:sldId id="282" r:id="rId25"/>
    <p:sldId id="284" r:id="rId26"/>
    <p:sldId id="285" r:id="rId27"/>
    <p:sldId id="286" r:id="rId28"/>
    <p:sldId id="287" r:id="rId29"/>
    <p:sldId id="288" r:id="rId30"/>
    <p:sldId id="289" r:id="rId31"/>
    <p:sldId id="290" r:id="rId32"/>
    <p:sldId id="291" r:id="rId33"/>
    <p:sldId id="292" r:id="rId34"/>
    <p:sldId id="306" r:id="rId35"/>
    <p:sldId id="293" r:id="rId36"/>
    <p:sldId id="294" r:id="rId37"/>
    <p:sldId id="296" r:id="rId38"/>
    <p:sldId id="295" r:id="rId39"/>
    <p:sldId id="297" r:id="rId40"/>
    <p:sldId id="298" r:id="rId41"/>
    <p:sldId id="299" r:id="rId42"/>
    <p:sldId id="300" r:id="rId43"/>
    <p:sldId id="301" r:id="rId44"/>
    <p:sldId id="302" r:id="rId45"/>
    <p:sldId id="304" r:id="rId46"/>
    <p:sldId id="305"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52" autoAdjust="0"/>
    <p:restoredTop sz="86357"/>
  </p:normalViewPr>
  <p:slideViewPr>
    <p:cSldViewPr snapToGrid="0">
      <p:cViewPr varScale="1">
        <p:scale>
          <a:sx n="97" d="100"/>
          <a:sy n="97" d="100"/>
        </p:scale>
        <p:origin x="11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A7E66-DFC4-407B-9792-6660103099A4}" type="datetimeFigureOut">
              <a:rPr lang="zh-CN" altLang="en-US" smtClean="0"/>
              <a:t>2021/9/25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7BA15-C233-4953-9CDA-57148FC48742}" type="slidenum">
              <a:rPr lang="zh-CN" altLang="en-US" smtClean="0"/>
              <a:t>‹#›</a:t>
            </a:fld>
            <a:endParaRPr lang="zh-CN" altLang="en-US"/>
          </a:p>
        </p:txBody>
      </p:sp>
    </p:spTree>
    <p:extLst>
      <p:ext uri="{BB962C8B-B14F-4D97-AF65-F5344CB8AC3E}">
        <p14:creationId xmlns:p14="http://schemas.microsoft.com/office/powerpoint/2010/main" val="2304366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pitchFamily="49" charset="-122"/>
              </a:defRPr>
            </a:lvl1pPr>
            <a:lvl2pPr marL="742950" indent="-285750" defTabSz="990600">
              <a:defRPr sz="2400">
                <a:solidFill>
                  <a:schemeClr val="tx1"/>
                </a:solidFill>
                <a:latin typeface="Arial" panose="020B0604020202020204" pitchFamily="34" charset="0"/>
                <a:ea typeface="楷体_GB2312" pitchFamily="49" charset="-122"/>
              </a:defRPr>
            </a:lvl2pPr>
            <a:lvl3pPr marL="1143000" indent="-228600" defTabSz="990600">
              <a:defRPr sz="2400">
                <a:solidFill>
                  <a:schemeClr val="tx1"/>
                </a:solidFill>
                <a:latin typeface="Arial" panose="020B0604020202020204" pitchFamily="34" charset="0"/>
                <a:ea typeface="楷体_GB2312" pitchFamily="49" charset="-122"/>
              </a:defRPr>
            </a:lvl3pPr>
            <a:lvl4pPr marL="1600200" indent="-228600" defTabSz="990600">
              <a:defRPr sz="2400">
                <a:solidFill>
                  <a:schemeClr val="tx1"/>
                </a:solidFill>
                <a:latin typeface="Arial" panose="020B0604020202020204" pitchFamily="34" charset="0"/>
                <a:ea typeface="楷体_GB2312" pitchFamily="49" charset="-122"/>
              </a:defRPr>
            </a:lvl4pPr>
            <a:lvl5pPr marL="2057400" indent="-228600" defTabSz="990600">
              <a:defRPr sz="2400">
                <a:solidFill>
                  <a:schemeClr val="tx1"/>
                </a:solidFill>
                <a:latin typeface="Arial" panose="020B0604020202020204" pitchFamily="34" charset="0"/>
                <a:ea typeface="楷体_GB2312" pitchFamily="49"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1CD5BC7-F3EA-4289-A5F6-650C957B278C}" type="slidenum">
              <a:rPr lang="ar-SA" altLang="zh-CN" sz="1300">
                <a:solidFill>
                  <a:srgbClr val="000000"/>
                </a:solidFill>
                <a:latin typeface="Times New Roman" panose="02020603050405020304" pitchFamily="18" charset="0"/>
              </a:rPr>
              <a:pPr/>
              <a:t>1</a:t>
            </a:fld>
            <a:endParaRPr lang="zh-CN" altLang="en-US" sz="1300">
              <a:solidFill>
                <a:srgbClr val="000000"/>
              </a:solidFill>
              <a:latin typeface="Times New Roman" panose="02020603050405020304" pitchFamily="18" charset="0"/>
              <a:ea typeface="宋体" panose="02010600030101010101" pitchFamily="2" charset="-122"/>
            </a:endParaRPr>
          </a:p>
        </p:txBody>
      </p:sp>
      <p:sp>
        <p:nvSpPr>
          <p:cNvPr id="18434" name="Rectangle 2"/>
          <p:cNvSpPr>
            <a:spLocks noGrp="1" noRot="1" noChangeAspect="1" noChangeArrowheads="1" noTextEdit="1"/>
          </p:cNvSpPr>
          <p:nvPr>
            <p:ph type="sldImg"/>
          </p:nvPr>
        </p:nvSpPr>
        <p:spPr>
          <a:xfrm>
            <a:off x="139700" y="768350"/>
            <a:ext cx="6819900" cy="3836988"/>
          </a:xfrm>
          <a:ln/>
        </p:spPr>
      </p:sp>
      <p:sp>
        <p:nvSpPr>
          <p:cNvPr id="18435"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1137037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59946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42394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604887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85059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1602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3054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365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84496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7655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09334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66085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15"/>
          <p:cNvSpPr>
            <a:spLocks noGrp="1" noChangeArrowheads="1"/>
          </p:cNvSpPr>
          <p:nvPr>
            <p:ph type="sldNum" sz="quarter" idx="10"/>
          </p:nvPr>
        </p:nvSpPr>
        <p:spPr>
          <a:ln/>
        </p:spPr>
        <p:txBody>
          <a:bodyPr/>
          <a:lstStyle>
            <a:lvl1pPr>
              <a:defRPr/>
            </a:lvl1pPr>
          </a:lstStyle>
          <a:p>
            <a:fld id="{664D1596-51E0-42C3-B5AA-080CD65E570C}"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3426467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sldNum" sz="quarter" idx="10"/>
          </p:nvPr>
        </p:nvSpPr>
        <p:spPr>
          <a:ln/>
        </p:spPr>
        <p:txBody>
          <a:bodyPr/>
          <a:lstStyle>
            <a:lvl1pPr>
              <a:defRPr/>
            </a:lvl1pPr>
          </a:lstStyle>
          <a:p>
            <a:fld id="{F8D2D15B-F992-401A-8242-2D64191D16B1}"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3433061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5"/>
          <p:cNvSpPr>
            <a:spLocks noGrp="1" noChangeArrowheads="1"/>
          </p:cNvSpPr>
          <p:nvPr>
            <p:ph type="sldNum" sz="quarter" idx="10"/>
          </p:nvPr>
        </p:nvSpPr>
        <p:spPr>
          <a:ln/>
        </p:spPr>
        <p:txBody>
          <a:bodyPr/>
          <a:lstStyle>
            <a:lvl1pPr>
              <a:defRPr/>
            </a:lvl1pPr>
          </a:lstStyle>
          <a:p>
            <a:fld id="{571EBA0D-F023-49AA-B7C4-64AFF041C969}"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3642327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39184" y="908050"/>
            <a:ext cx="5755216" cy="5545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908050"/>
            <a:ext cx="5755217" cy="5545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sldNum" sz="quarter" idx="10"/>
          </p:nvPr>
        </p:nvSpPr>
        <p:spPr>
          <a:ln/>
        </p:spPr>
        <p:txBody>
          <a:bodyPr/>
          <a:lstStyle>
            <a:lvl1pPr>
              <a:defRPr/>
            </a:lvl1pPr>
          </a:lstStyle>
          <a:p>
            <a:fld id="{9703E7FC-603B-41B4-BC93-C04B6257D36B}"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11719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5"/>
          <p:cNvSpPr>
            <a:spLocks noGrp="1" noChangeArrowheads="1"/>
          </p:cNvSpPr>
          <p:nvPr>
            <p:ph type="sldNum" sz="quarter" idx="10"/>
          </p:nvPr>
        </p:nvSpPr>
        <p:spPr>
          <a:ln/>
        </p:spPr>
        <p:txBody>
          <a:bodyPr/>
          <a:lstStyle>
            <a:lvl1pPr>
              <a:defRPr/>
            </a:lvl1pPr>
          </a:lstStyle>
          <a:p>
            <a:fld id="{EE99BAF6-8806-4062-AF3A-59B0ACCB33F7}"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1904954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5"/>
          <p:cNvSpPr>
            <a:spLocks noGrp="1" noChangeArrowheads="1"/>
          </p:cNvSpPr>
          <p:nvPr>
            <p:ph type="sldNum" sz="quarter" idx="10"/>
          </p:nvPr>
        </p:nvSpPr>
        <p:spPr>
          <a:ln/>
        </p:spPr>
        <p:txBody>
          <a:bodyPr/>
          <a:lstStyle>
            <a:lvl1pPr>
              <a:defRPr/>
            </a:lvl1pPr>
          </a:lstStyle>
          <a:p>
            <a:fld id="{B665E821-A70B-4A39-B6C9-47977FB3CB93}"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3675009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5"/>
          <p:cNvSpPr>
            <a:spLocks noGrp="1" noChangeArrowheads="1"/>
          </p:cNvSpPr>
          <p:nvPr>
            <p:ph type="sldNum" sz="quarter" idx="10"/>
          </p:nvPr>
        </p:nvSpPr>
        <p:spPr>
          <a:ln/>
        </p:spPr>
        <p:txBody>
          <a:bodyPr/>
          <a:lstStyle>
            <a:lvl1pPr>
              <a:defRPr/>
            </a:lvl1pPr>
          </a:lstStyle>
          <a:p>
            <a:fld id="{F88EC886-323D-4168-9B89-52335F8F1B8E}"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9040042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sldNum" sz="quarter" idx="10"/>
          </p:nvPr>
        </p:nvSpPr>
        <p:spPr>
          <a:ln/>
        </p:spPr>
        <p:txBody>
          <a:bodyPr/>
          <a:lstStyle>
            <a:lvl1pPr>
              <a:defRPr/>
            </a:lvl1pPr>
          </a:lstStyle>
          <a:p>
            <a:fld id="{14AA355A-318A-4671-9F6C-7900682283C8}"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124890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sldNum" sz="quarter" idx="10"/>
          </p:nvPr>
        </p:nvSpPr>
        <p:spPr>
          <a:ln/>
        </p:spPr>
        <p:txBody>
          <a:bodyPr/>
          <a:lstStyle>
            <a:lvl1pPr>
              <a:defRPr/>
            </a:lvl1pPr>
          </a:lstStyle>
          <a:p>
            <a:fld id="{4E5B18CB-F14E-4F01-B558-F4E73A707E70}"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556098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sldNum" sz="quarter" idx="10"/>
          </p:nvPr>
        </p:nvSpPr>
        <p:spPr>
          <a:ln/>
        </p:spPr>
        <p:txBody>
          <a:bodyPr/>
          <a:lstStyle>
            <a:lvl1pPr>
              <a:defRPr/>
            </a:lvl1pPr>
          </a:lstStyle>
          <a:p>
            <a:fld id="{BDCE0E3A-1023-479B-870D-6645E3EAF6DC}"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3703921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0"/>
            <a:ext cx="3048000" cy="64531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8940800" cy="64531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sldNum" sz="quarter" idx="10"/>
          </p:nvPr>
        </p:nvSpPr>
        <p:spPr>
          <a:ln/>
        </p:spPr>
        <p:txBody>
          <a:bodyPr/>
          <a:lstStyle>
            <a:lvl1pPr>
              <a:defRPr/>
            </a:lvl1pPr>
          </a:lstStyle>
          <a:p>
            <a:fld id="{C1A4174C-4B79-4E5B-B576-09C47588427A}"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35998944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192000" cy="836613"/>
          </a:xfrm>
        </p:spPr>
        <p:txBody>
          <a:bodyPr/>
          <a:lstStyle/>
          <a:p>
            <a:r>
              <a:rPr lang="zh-CN" altLang="en-US"/>
              <a:t>单击此处编辑母版标题样式</a:t>
            </a:r>
          </a:p>
        </p:txBody>
      </p:sp>
      <p:sp>
        <p:nvSpPr>
          <p:cNvPr id="3" name="文本占位符 2"/>
          <p:cNvSpPr>
            <a:spLocks noGrp="1"/>
          </p:cNvSpPr>
          <p:nvPr>
            <p:ph type="body" sz="half" idx="1"/>
          </p:nvPr>
        </p:nvSpPr>
        <p:spPr>
          <a:xfrm>
            <a:off x="239184" y="908050"/>
            <a:ext cx="5755216" cy="5545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908050"/>
            <a:ext cx="5755217" cy="5545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sldNum" sz="quarter" idx="10"/>
          </p:nvPr>
        </p:nvSpPr>
        <p:spPr>
          <a:ln/>
        </p:spPr>
        <p:txBody>
          <a:bodyPr/>
          <a:lstStyle>
            <a:lvl1pPr>
              <a:defRPr/>
            </a:lvl1pPr>
          </a:lstStyle>
          <a:p>
            <a:fld id="{6F1A4AB8-6D01-4CF9-8770-91B390826B04}"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0255537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15"/>
          <p:cNvSpPr>
            <a:spLocks noGrp="1" noChangeArrowheads="1"/>
          </p:cNvSpPr>
          <p:nvPr>
            <p:ph type="sldNum" sz="quarter" idx="10"/>
          </p:nvPr>
        </p:nvSpPr>
        <p:spPr>
          <a:ln/>
        </p:spPr>
        <p:txBody>
          <a:bodyPr/>
          <a:lstStyle>
            <a:lvl1pPr>
              <a:defRPr/>
            </a:lvl1pPr>
          </a:lstStyle>
          <a:p>
            <a:fld id="{664D1596-51E0-42C3-B5AA-080CD65E570C}"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41396885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sldNum" sz="quarter" idx="10"/>
          </p:nvPr>
        </p:nvSpPr>
        <p:spPr>
          <a:ln/>
        </p:spPr>
        <p:txBody>
          <a:bodyPr/>
          <a:lstStyle>
            <a:lvl1pPr>
              <a:defRPr/>
            </a:lvl1pPr>
          </a:lstStyle>
          <a:p>
            <a:fld id="{F8D2D15B-F992-401A-8242-2D64191D16B1}"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4894398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5"/>
          <p:cNvSpPr>
            <a:spLocks noGrp="1" noChangeArrowheads="1"/>
          </p:cNvSpPr>
          <p:nvPr>
            <p:ph type="sldNum" sz="quarter" idx="10"/>
          </p:nvPr>
        </p:nvSpPr>
        <p:spPr>
          <a:ln/>
        </p:spPr>
        <p:txBody>
          <a:bodyPr/>
          <a:lstStyle>
            <a:lvl1pPr>
              <a:defRPr/>
            </a:lvl1pPr>
          </a:lstStyle>
          <a:p>
            <a:fld id="{571EBA0D-F023-49AA-B7C4-64AFF041C969}"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18216163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39184" y="908050"/>
            <a:ext cx="5755216" cy="5545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908050"/>
            <a:ext cx="5755217" cy="5545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sldNum" sz="quarter" idx="10"/>
          </p:nvPr>
        </p:nvSpPr>
        <p:spPr>
          <a:ln/>
        </p:spPr>
        <p:txBody>
          <a:bodyPr/>
          <a:lstStyle>
            <a:lvl1pPr>
              <a:defRPr/>
            </a:lvl1pPr>
          </a:lstStyle>
          <a:p>
            <a:fld id="{9703E7FC-603B-41B4-BC93-C04B6257D36B}"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11584049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5"/>
          <p:cNvSpPr>
            <a:spLocks noGrp="1" noChangeArrowheads="1"/>
          </p:cNvSpPr>
          <p:nvPr>
            <p:ph type="sldNum" sz="quarter" idx="10"/>
          </p:nvPr>
        </p:nvSpPr>
        <p:spPr>
          <a:ln/>
        </p:spPr>
        <p:txBody>
          <a:bodyPr/>
          <a:lstStyle>
            <a:lvl1pPr>
              <a:defRPr/>
            </a:lvl1pPr>
          </a:lstStyle>
          <a:p>
            <a:fld id="{EE99BAF6-8806-4062-AF3A-59B0ACCB33F7}"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13344182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5"/>
          <p:cNvSpPr>
            <a:spLocks noGrp="1" noChangeArrowheads="1"/>
          </p:cNvSpPr>
          <p:nvPr>
            <p:ph type="sldNum" sz="quarter" idx="10"/>
          </p:nvPr>
        </p:nvSpPr>
        <p:spPr>
          <a:ln/>
        </p:spPr>
        <p:txBody>
          <a:bodyPr/>
          <a:lstStyle>
            <a:lvl1pPr>
              <a:defRPr/>
            </a:lvl1pPr>
          </a:lstStyle>
          <a:p>
            <a:fld id="{B665E821-A70B-4A39-B6C9-47977FB3CB93}"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6296995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5"/>
          <p:cNvSpPr>
            <a:spLocks noGrp="1" noChangeArrowheads="1"/>
          </p:cNvSpPr>
          <p:nvPr>
            <p:ph type="sldNum" sz="quarter" idx="10"/>
          </p:nvPr>
        </p:nvSpPr>
        <p:spPr>
          <a:ln/>
        </p:spPr>
        <p:txBody>
          <a:bodyPr/>
          <a:lstStyle>
            <a:lvl1pPr>
              <a:defRPr/>
            </a:lvl1pPr>
          </a:lstStyle>
          <a:p>
            <a:fld id="{F88EC886-323D-4168-9B89-52335F8F1B8E}"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13006674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sldNum" sz="quarter" idx="10"/>
          </p:nvPr>
        </p:nvSpPr>
        <p:spPr>
          <a:ln/>
        </p:spPr>
        <p:txBody>
          <a:bodyPr/>
          <a:lstStyle>
            <a:lvl1pPr>
              <a:defRPr/>
            </a:lvl1pPr>
          </a:lstStyle>
          <a:p>
            <a:fld id="{14AA355A-318A-4671-9F6C-7900682283C8}"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2212266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5"/>
          <p:cNvSpPr>
            <a:spLocks noGrp="1" noChangeArrowheads="1"/>
          </p:cNvSpPr>
          <p:nvPr>
            <p:ph type="sldNum" sz="quarter" idx="10"/>
          </p:nvPr>
        </p:nvSpPr>
        <p:spPr>
          <a:ln/>
        </p:spPr>
        <p:txBody>
          <a:bodyPr/>
          <a:lstStyle>
            <a:lvl1pPr>
              <a:defRPr/>
            </a:lvl1pPr>
          </a:lstStyle>
          <a:p>
            <a:fld id="{4E5B18CB-F14E-4F01-B558-F4E73A707E70}"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10550159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sldNum" sz="quarter" idx="10"/>
          </p:nvPr>
        </p:nvSpPr>
        <p:spPr>
          <a:ln/>
        </p:spPr>
        <p:txBody>
          <a:bodyPr/>
          <a:lstStyle>
            <a:lvl1pPr>
              <a:defRPr/>
            </a:lvl1pPr>
          </a:lstStyle>
          <a:p>
            <a:fld id="{BDCE0E3A-1023-479B-870D-6645E3EAF6DC}"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2748800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0"/>
            <a:ext cx="3048000" cy="64531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8940800" cy="64531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5"/>
          <p:cNvSpPr>
            <a:spLocks noGrp="1" noChangeArrowheads="1"/>
          </p:cNvSpPr>
          <p:nvPr>
            <p:ph type="sldNum" sz="quarter" idx="10"/>
          </p:nvPr>
        </p:nvSpPr>
        <p:spPr>
          <a:ln/>
        </p:spPr>
        <p:txBody>
          <a:bodyPr/>
          <a:lstStyle>
            <a:lvl1pPr>
              <a:defRPr/>
            </a:lvl1pPr>
          </a:lstStyle>
          <a:p>
            <a:fld id="{C1A4174C-4B79-4E5B-B576-09C47588427A}"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220492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192000" cy="836613"/>
          </a:xfrm>
        </p:spPr>
        <p:txBody>
          <a:bodyPr/>
          <a:lstStyle/>
          <a:p>
            <a:r>
              <a:rPr lang="zh-CN" altLang="en-US"/>
              <a:t>单击此处编辑母版标题样式</a:t>
            </a:r>
          </a:p>
        </p:txBody>
      </p:sp>
      <p:sp>
        <p:nvSpPr>
          <p:cNvPr id="3" name="文本占位符 2"/>
          <p:cNvSpPr>
            <a:spLocks noGrp="1"/>
          </p:cNvSpPr>
          <p:nvPr>
            <p:ph type="body" sz="half" idx="1"/>
          </p:nvPr>
        </p:nvSpPr>
        <p:spPr>
          <a:xfrm>
            <a:off x="239184" y="908050"/>
            <a:ext cx="5755216" cy="5545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908050"/>
            <a:ext cx="5755217" cy="5545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sldNum" sz="quarter" idx="10"/>
          </p:nvPr>
        </p:nvSpPr>
        <p:spPr>
          <a:ln/>
        </p:spPr>
        <p:txBody>
          <a:bodyPr/>
          <a:lstStyle>
            <a:lvl1pPr>
              <a:defRPr/>
            </a:lvl1pPr>
          </a:lstStyle>
          <a:p>
            <a:fld id="{6F1A4AB8-6D01-4CF9-8770-91B390826B04}" type="slidenum">
              <a:rPr lang="ar-SA" altLang="zh-CN">
                <a:solidFill>
                  <a:srgbClr val="FFFFFF"/>
                </a:solidFill>
              </a:rPr>
              <a:pPr/>
              <a:t>‹#›</a:t>
            </a:fld>
            <a:endParaRPr lang="zh-CN" altLang="en-US">
              <a:solidFill>
                <a:srgbClr val="FFFFFF"/>
              </a:solidFill>
              <a:ea typeface="宋体" panose="02010600030101010101" pitchFamily="2" charset="-122"/>
            </a:endParaRPr>
          </a:p>
        </p:txBody>
      </p:sp>
    </p:spTree>
    <p:extLst>
      <p:ext uri="{BB962C8B-B14F-4D97-AF65-F5344CB8AC3E}">
        <p14:creationId xmlns:p14="http://schemas.microsoft.com/office/powerpoint/2010/main" val="721012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oleObject" Target="../embeddings/oleObject1.bin"/><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vmlDrawing" Target="../drawings/vmlDrawing1.v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image" Target="../media/image2.png"/><Relationship Id="rId2" Type="http://schemas.openxmlformats.org/officeDocument/2006/relationships/slideLayout" Target="../slideLayouts/slideLayout25.xml"/><Relationship Id="rId16" Type="http://schemas.openxmlformats.org/officeDocument/2006/relationships/image" Target="../media/image1.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oleObject" Target="../embeddings/oleObject2.bin"/><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vmlDrawing" Target="../drawings/vmlDrawing2.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66474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39185" y="908050"/>
            <a:ext cx="11713633"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endParaRPr lang="zh-CN" altLang="en-US"/>
          </a:p>
        </p:txBody>
      </p:sp>
      <p:sp>
        <p:nvSpPr>
          <p:cNvPr id="1027" name="Rectangle 2"/>
          <p:cNvSpPr>
            <a:spLocks noGrp="1" noChangeArrowheads="1"/>
          </p:cNvSpPr>
          <p:nvPr>
            <p:ph type="title"/>
          </p:nvPr>
        </p:nvSpPr>
        <p:spPr bwMode="auto">
          <a:xfrm>
            <a:off x="0" y="1"/>
            <a:ext cx="121920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45720" rIns="274320" bIns="45720" numCol="1" anchor="ctr" anchorCtr="0" compatLnSpc="1">
            <a:prstTxWarp prst="textNoShape">
              <a:avLst/>
            </a:prstTxWarp>
          </a:bodyPr>
          <a:lstStyle/>
          <a:p>
            <a:pPr lvl="0"/>
            <a:r>
              <a:rPr lang="en-US" altLang="zh-CN"/>
              <a:t>Click to edit Master title style</a:t>
            </a:r>
          </a:p>
        </p:txBody>
      </p:sp>
      <p:sp>
        <p:nvSpPr>
          <p:cNvPr id="1032" name="Rectangle 8"/>
          <p:cNvSpPr>
            <a:spLocks noChangeArrowheads="1"/>
          </p:cNvSpPr>
          <p:nvPr userDrawn="1"/>
        </p:nvSpPr>
        <p:spPr bwMode="auto">
          <a:xfrm>
            <a:off x="0" y="6597650"/>
            <a:ext cx="12192000" cy="260350"/>
          </a:xfrm>
          <a:prstGeom prst="rect">
            <a:avLst/>
          </a:prstGeom>
          <a:solidFill>
            <a:srgbClr val="333399"/>
          </a:solidFill>
          <a:ln w="9525">
            <a:noFill/>
            <a:miter lim="800000"/>
            <a:headEnd/>
            <a:tailEnd/>
          </a:ln>
          <a:effectLst/>
        </p:spPr>
        <p:txBody>
          <a:bodyPr wrap="none" anchor="ctr"/>
          <a:lstStyle/>
          <a:p>
            <a:pPr algn="ctr" rtl="1" fontAlgn="base">
              <a:spcBef>
                <a:spcPct val="0"/>
              </a:spcBef>
              <a:spcAft>
                <a:spcPct val="0"/>
              </a:spcAft>
              <a:defRPr/>
            </a:pPr>
            <a:endParaRPr lang="zh-CN" altLang="en-US" sz="1600" b="1">
              <a:solidFill>
                <a:srgbClr val="FFFFFF"/>
              </a:solidFill>
              <a:effectLst>
                <a:outerShdw blurRad="38100" dist="38100" dir="2700000" algn="tl">
                  <a:srgbClr val="000000"/>
                </a:outerShdw>
              </a:effectLst>
              <a:cs typeface="Times New Roman" charset="0"/>
            </a:endParaRPr>
          </a:p>
        </p:txBody>
      </p:sp>
      <p:sp>
        <p:nvSpPr>
          <p:cNvPr id="1029" name="Text Box 10"/>
          <p:cNvSpPr txBox="1">
            <a:spLocks noChangeArrowheads="1"/>
          </p:cNvSpPr>
          <p:nvPr userDrawn="1"/>
        </p:nvSpPr>
        <p:spPr bwMode="auto">
          <a:xfrm>
            <a:off x="65618" y="6564313"/>
            <a:ext cx="224676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rtl="1" fontAlgn="base">
              <a:spcBef>
                <a:spcPct val="0"/>
              </a:spcBef>
              <a:spcAft>
                <a:spcPct val="0"/>
              </a:spcAft>
            </a:pPr>
            <a:r>
              <a:rPr lang="zh-CN" altLang="en-US" sz="1400" b="1">
                <a:solidFill>
                  <a:srgbClr val="FFFFFF"/>
                </a:solidFill>
              </a:rPr>
              <a:t>北京大学信息科学技术学院</a:t>
            </a:r>
          </a:p>
        </p:txBody>
      </p:sp>
      <p:sp>
        <p:nvSpPr>
          <p:cNvPr id="1039" name="Rectangle 15"/>
          <p:cNvSpPr>
            <a:spLocks noGrp="1" noChangeArrowheads="1"/>
          </p:cNvSpPr>
          <p:nvPr>
            <p:ph type="sldNum" sz="quarter" idx="4"/>
          </p:nvPr>
        </p:nvSpPr>
        <p:spPr bwMode="auto">
          <a:xfrm>
            <a:off x="9359900" y="6596063"/>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eaLnBrk="1" hangingPunct="1">
              <a:defRPr sz="1400">
                <a:solidFill>
                  <a:schemeClr val="bg1"/>
                </a:solidFill>
              </a:defRPr>
            </a:lvl1pPr>
          </a:lstStyle>
          <a:p>
            <a:pPr fontAlgn="base">
              <a:spcBef>
                <a:spcPct val="0"/>
              </a:spcBef>
              <a:spcAft>
                <a:spcPct val="0"/>
              </a:spcAft>
            </a:pPr>
            <a:fld id="{010BD993-9467-4DA6-AB06-C11F473C5998}" type="slidenum">
              <a:rPr lang="ar-SA" altLang="zh-CN">
                <a:solidFill>
                  <a:srgbClr val="FFFFFF"/>
                </a:solidFill>
                <a:latin typeface="Arial" panose="020B0604020202020204" pitchFamily="34" charset="0"/>
              </a:rPr>
              <a:pPr fontAlgn="base">
                <a:spcBef>
                  <a:spcPct val="0"/>
                </a:spcBef>
                <a:spcAft>
                  <a:spcPct val="0"/>
                </a:spcAft>
              </a:pPr>
              <a:t>‹#›</a:t>
            </a:fld>
            <a:endParaRPr lang="zh-CN" altLang="en-US">
              <a:solidFill>
                <a:srgbClr val="FFFFFF"/>
              </a:solidFill>
              <a:latin typeface="Arial" panose="020B0604020202020204" pitchFamily="34" charset="0"/>
              <a:ea typeface="宋体" panose="02010600030101010101" pitchFamily="2" charset="-122"/>
            </a:endParaRPr>
          </a:p>
        </p:txBody>
      </p:sp>
      <p:sp>
        <p:nvSpPr>
          <p:cNvPr id="1031" name="Text Box 1024"/>
          <p:cNvSpPr txBox="1">
            <a:spLocks noChangeArrowheads="1"/>
          </p:cNvSpPr>
          <p:nvPr userDrawn="1"/>
        </p:nvSpPr>
        <p:spPr bwMode="auto">
          <a:xfrm>
            <a:off x="5274734" y="6567488"/>
            <a:ext cx="134908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rtl="1" fontAlgn="base">
              <a:spcBef>
                <a:spcPct val="0"/>
              </a:spcBef>
              <a:spcAft>
                <a:spcPct val="0"/>
              </a:spcAft>
            </a:pPr>
            <a:r>
              <a:rPr lang="zh-CN" altLang="en-US" sz="1400" b="1">
                <a:solidFill>
                  <a:srgbClr val="FFFFFF"/>
                </a:solidFill>
              </a:rPr>
              <a:t>数据结构与算法</a:t>
            </a:r>
          </a:p>
        </p:txBody>
      </p:sp>
      <p:graphicFrame>
        <p:nvGraphicFramePr>
          <p:cNvPr id="2" name="Object 2048"/>
          <p:cNvGraphicFramePr>
            <a:graphicFrameLocks/>
          </p:cNvGraphicFramePr>
          <p:nvPr userDrawn="1"/>
        </p:nvGraphicFramePr>
        <p:xfrm>
          <a:off x="431800" y="746125"/>
          <a:ext cx="11379200" cy="76200"/>
        </p:xfrm>
        <a:graphic>
          <a:graphicData uri="http://schemas.openxmlformats.org/presentationml/2006/ole">
            <mc:AlternateContent xmlns:mc="http://schemas.openxmlformats.org/markup-compatibility/2006">
              <mc:Choice xmlns:v="urn:schemas-microsoft-com:vml" Requires="v">
                <p:oleObj spid="_x0000_s1174" name="Clip" r:id="rId15" imgW="6857143" imgH="48963" progId="MS_ClipArt_Gallery.2">
                  <p:embed/>
                </p:oleObj>
              </mc:Choice>
              <mc:Fallback>
                <p:oleObj name="Clip" r:id="rId15" imgW="6857143" imgH="48963" progId="MS_ClipArt_Gallery.2">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1800" y="746125"/>
                        <a:ext cx="11379200" cy="7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61704525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ctr" rtl="0" eaLnBrk="0" fontAlgn="base" hangingPunct="0">
        <a:spcBef>
          <a:spcPct val="0"/>
        </a:spcBef>
        <a:spcAft>
          <a:spcPct val="0"/>
        </a:spcAft>
        <a:defRPr sz="4400" b="1">
          <a:solidFill>
            <a:srgbClr val="000099"/>
          </a:solidFill>
          <a:latin typeface="+mj-lt"/>
          <a:ea typeface="+mj-ea"/>
          <a:cs typeface="+mj-cs"/>
        </a:defRPr>
      </a:lvl1pPr>
      <a:lvl2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2pPr>
      <a:lvl3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3pPr>
      <a:lvl4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4pPr>
      <a:lvl5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5pPr>
      <a:lvl6pPr marL="4572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6pPr>
      <a:lvl7pPr marL="9144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7pPr>
      <a:lvl8pPr marL="13716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8pPr>
      <a:lvl9pPr marL="18288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9pPr>
    </p:titleStyle>
    <p:body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17"/>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39185" y="908050"/>
            <a:ext cx="11713633"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endParaRPr lang="zh-CN" altLang="en-US"/>
          </a:p>
        </p:txBody>
      </p:sp>
      <p:sp>
        <p:nvSpPr>
          <p:cNvPr id="1027" name="Rectangle 2"/>
          <p:cNvSpPr>
            <a:spLocks noGrp="1" noChangeArrowheads="1"/>
          </p:cNvSpPr>
          <p:nvPr>
            <p:ph type="title"/>
          </p:nvPr>
        </p:nvSpPr>
        <p:spPr bwMode="auto">
          <a:xfrm>
            <a:off x="0" y="1"/>
            <a:ext cx="121920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45720" rIns="274320" bIns="45720" numCol="1" anchor="ctr" anchorCtr="0" compatLnSpc="1">
            <a:prstTxWarp prst="textNoShape">
              <a:avLst/>
            </a:prstTxWarp>
          </a:bodyPr>
          <a:lstStyle/>
          <a:p>
            <a:pPr lvl="0"/>
            <a:r>
              <a:rPr lang="en-US" altLang="zh-CN"/>
              <a:t>Click to edit Master title style</a:t>
            </a:r>
          </a:p>
        </p:txBody>
      </p:sp>
      <p:sp>
        <p:nvSpPr>
          <p:cNvPr id="1032" name="Rectangle 8"/>
          <p:cNvSpPr>
            <a:spLocks noChangeArrowheads="1"/>
          </p:cNvSpPr>
          <p:nvPr userDrawn="1"/>
        </p:nvSpPr>
        <p:spPr bwMode="auto">
          <a:xfrm>
            <a:off x="0" y="6597650"/>
            <a:ext cx="12192000" cy="260350"/>
          </a:xfrm>
          <a:prstGeom prst="rect">
            <a:avLst/>
          </a:prstGeom>
          <a:solidFill>
            <a:srgbClr val="333399"/>
          </a:solidFill>
          <a:ln w="9525">
            <a:noFill/>
            <a:miter lim="800000"/>
            <a:headEnd/>
            <a:tailEnd/>
          </a:ln>
          <a:effectLst/>
        </p:spPr>
        <p:txBody>
          <a:bodyPr wrap="none" anchor="ctr"/>
          <a:lstStyle/>
          <a:p>
            <a:pPr algn="ctr" rtl="1" fontAlgn="base">
              <a:spcBef>
                <a:spcPct val="0"/>
              </a:spcBef>
              <a:spcAft>
                <a:spcPct val="0"/>
              </a:spcAft>
              <a:defRPr/>
            </a:pPr>
            <a:endParaRPr lang="zh-CN" altLang="en-US" sz="1600" b="1">
              <a:solidFill>
                <a:srgbClr val="FFFFFF"/>
              </a:solidFill>
              <a:effectLst>
                <a:outerShdw blurRad="38100" dist="38100" dir="2700000" algn="tl">
                  <a:srgbClr val="000000"/>
                </a:outerShdw>
              </a:effectLst>
              <a:cs typeface="Times New Roman" charset="0"/>
            </a:endParaRPr>
          </a:p>
        </p:txBody>
      </p:sp>
      <p:sp>
        <p:nvSpPr>
          <p:cNvPr id="1029" name="Text Box 10"/>
          <p:cNvSpPr txBox="1">
            <a:spLocks noChangeArrowheads="1"/>
          </p:cNvSpPr>
          <p:nvPr userDrawn="1"/>
        </p:nvSpPr>
        <p:spPr bwMode="auto">
          <a:xfrm>
            <a:off x="65618" y="6564313"/>
            <a:ext cx="224676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rtl="1" fontAlgn="base">
              <a:spcBef>
                <a:spcPct val="0"/>
              </a:spcBef>
              <a:spcAft>
                <a:spcPct val="0"/>
              </a:spcAft>
            </a:pPr>
            <a:r>
              <a:rPr lang="zh-CN" altLang="en-US" sz="1400" b="1">
                <a:solidFill>
                  <a:srgbClr val="FFFFFF"/>
                </a:solidFill>
              </a:rPr>
              <a:t>北京大学信息科学技术学院</a:t>
            </a:r>
          </a:p>
        </p:txBody>
      </p:sp>
      <p:sp>
        <p:nvSpPr>
          <p:cNvPr id="1039" name="Rectangle 15"/>
          <p:cNvSpPr>
            <a:spLocks noGrp="1" noChangeArrowheads="1"/>
          </p:cNvSpPr>
          <p:nvPr>
            <p:ph type="sldNum" sz="quarter" idx="4"/>
          </p:nvPr>
        </p:nvSpPr>
        <p:spPr bwMode="auto">
          <a:xfrm>
            <a:off x="9359900" y="6596063"/>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eaLnBrk="1" hangingPunct="1">
              <a:defRPr sz="1400">
                <a:solidFill>
                  <a:schemeClr val="bg1"/>
                </a:solidFill>
              </a:defRPr>
            </a:lvl1pPr>
          </a:lstStyle>
          <a:p>
            <a:pPr fontAlgn="base">
              <a:spcBef>
                <a:spcPct val="0"/>
              </a:spcBef>
              <a:spcAft>
                <a:spcPct val="0"/>
              </a:spcAft>
            </a:pPr>
            <a:fld id="{010BD993-9467-4DA6-AB06-C11F473C5998}" type="slidenum">
              <a:rPr lang="ar-SA" altLang="zh-CN">
                <a:solidFill>
                  <a:srgbClr val="FFFFFF"/>
                </a:solidFill>
                <a:latin typeface="Arial" panose="020B0604020202020204" pitchFamily="34" charset="0"/>
              </a:rPr>
              <a:pPr fontAlgn="base">
                <a:spcBef>
                  <a:spcPct val="0"/>
                </a:spcBef>
                <a:spcAft>
                  <a:spcPct val="0"/>
                </a:spcAft>
              </a:pPr>
              <a:t>‹#›</a:t>
            </a:fld>
            <a:endParaRPr lang="zh-CN" altLang="en-US">
              <a:solidFill>
                <a:srgbClr val="FFFFFF"/>
              </a:solidFill>
              <a:latin typeface="Arial" panose="020B0604020202020204" pitchFamily="34" charset="0"/>
              <a:ea typeface="宋体" panose="02010600030101010101" pitchFamily="2" charset="-122"/>
            </a:endParaRPr>
          </a:p>
        </p:txBody>
      </p:sp>
      <p:sp>
        <p:nvSpPr>
          <p:cNvPr id="1031" name="Text Box 1024"/>
          <p:cNvSpPr txBox="1">
            <a:spLocks noChangeArrowheads="1"/>
          </p:cNvSpPr>
          <p:nvPr userDrawn="1"/>
        </p:nvSpPr>
        <p:spPr bwMode="auto">
          <a:xfrm>
            <a:off x="5274734" y="6567488"/>
            <a:ext cx="134908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rtl="1" fontAlgn="base">
              <a:spcBef>
                <a:spcPct val="0"/>
              </a:spcBef>
              <a:spcAft>
                <a:spcPct val="0"/>
              </a:spcAft>
            </a:pPr>
            <a:r>
              <a:rPr lang="zh-CN" altLang="en-US" sz="1400" b="1">
                <a:solidFill>
                  <a:srgbClr val="FFFFFF"/>
                </a:solidFill>
              </a:rPr>
              <a:t>数据结构与算法</a:t>
            </a:r>
          </a:p>
        </p:txBody>
      </p:sp>
      <p:graphicFrame>
        <p:nvGraphicFramePr>
          <p:cNvPr id="2" name="Object 2048"/>
          <p:cNvGraphicFramePr>
            <a:graphicFrameLocks/>
          </p:cNvGraphicFramePr>
          <p:nvPr userDrawn="1"/>
        </p:nvGraphicFramePr>
        <p:xfrm>
          <a:off x="431800" y="746125"/>
          <a:ext cx="11379200" cy="76200"/>
        </p:xfrm>
        <a:graphic>
          <a:graphicData uri="http://schemas.openxmlformats.org/presentationml/2006/ole">
            <mc:AlternateContent xmlns:mc="http://schemas.openxmlformats.org/markup-compatibility/2006">
              <mc:Choice xmlns:v="urn:schemas-microsoft-com:vml" Requires="v">
                <p:oleObj spid="_x0000_s3211" name="Clip" r:id="rId15" imgW="6857143" imgH="48963" progId="MS_ClipArt_Gallery.2">
                  <p:embed/>
                </p:oleObj>
              </mc:Choice>
              <mc:Fallback>
                <p:oleObj name="Clip" r:id="rId15" imgW="6857143" imgH="48963" progId="MS_ClipArt_Gallery.2">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1800" y="746125"/>
                        <a:ext cx="11379200" cy="7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064561421"/>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hdr="0" ftr="0" dt="0"/>
  <p:txStyles>
    <p:titleStyle>
      <a:lvl1pPr algn="ctr" rtl="0" eaLnBrk="0" fontAlgn="base" hangingPunct="0">
        <a:spcBef>
          <a:spcPct val="0"/>
        </a:spcBef>
        <a:spcAft>
          <a:spcPct val="0"/>
        </a:spcAft>
        <a:defRPr sz="4400" b="1">
          <a:solidFill>
            <a:srgbClr val="000099"/>
          </a:solidFill>
          <a:latin typeface="+mj-lt"/>
          <a:ea typeface="+mj-ea"/>
          <a:cs typeface="+mj-cs"/>
        </a:defRPr>
      </a:lvl1pPr>
      <a:lvl2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2pPr>
      <a:lvl3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3pPr>
      <a:lvl4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4pPr>
      <a:lvl5pPr algn="ctr" rtl="0" eaLnBrk="0" fontAlgn="base" hangingPunct="0">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5pPr>
      <a:lvl6pPr marL="4572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6pPr>
      <a:lvl7pPr marL="9144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7pPr>
      <a:lvl8pPr marL="13716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8pPr>
      <a:lvl9pPr marL="1828800" algn="ctr" rtl="0" fontAlgn="base">
        <a:spcBef>
          <a:spcPct val="0"/>
        </a:spcBef>
        <a:spcAft>
          <a:spcPct val="0"/>
        </a:spcAft>
        <a:defRPr sz="4400" b="1">
          <a:solidFill>
            <a:srgbClr val="000099"/>
          </a:solidFill>
          <a:latin typeface="华文中宋" pitchFamily="2" charset="-122"/>
          <a:ea typeface="华文中宋" pitchFamily="2" charset="-122"/>
          <a:cs typeface="Times New Roman" pitchFamily="18" charset="0"/>
        </a:defRPr>
      </a:lvl9pPr>
    </p:titleStyle>
    <p:body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17"/>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oulei@pk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hyperlink" Target="mailto:hanshuo@pk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hyperlink" Target="mailto:hanshuo@pku.edu.cn" TargetMode="Externa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ctrTitle"/>
          </p:nvPr>
        </p:nvSpPr>
        <p:spPr bwMode="auto">
          <a:xfrm>
            <a:off x="2370138" y="1958976"/>
            <a:ext cx="7632700" cy="936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eaLnBrk="1" hangingPunct="1"/>
            <a:r>
              <a:rPr lang="zh-CN" altLang="en-US" sz="5400" b="1" dirty="0">
                <a:solidFill>
                  <a:schemeClr val="accent2"/>
                </a:solidFill>
                <a:latin typeface="微软雅黑" panose="020B0503020204020204" pitchFamily="34" charset="-122"/>
                <a:ea typeface="微软雅黑" panose="020B0503020204020204" pitchFamily="34" charset="-122"/>
              </a:rPr>
              <a:t>补充课</a:t>
            </a:r>
            <a:r>
              <a:rPr lang="zh-CN" altLang="en-GB" sz="5400" b="1" dirty="0">
                <a:solidFill>
                  <a:schemeClr val="accent2"/>
                </a:solidFill>
                <a:latin typeface="微软雅黑" panose="020B0503020204020204" pitchFamily="34" charset="-122"/>
                <a:ea typeface="微软雅黑" panose="020B0503020204020204" pitchFamily="34" charset="-122"/>
              </a:rPr>
              <a:t>  </a:t>
            </a:r>
            <a:r>
              <a:rPr lang="zh-CN" altLang="en-US" sz="5400" b="1" dirty="0">
                <a:solidFill>
                  <a:schemeClr val="accent2"/>
                </a:solidFill>
                <a:latin typeface="微软雅黑" panose="020B0503020204020204" pitchFamily="34" charset="-122"/>
                <a:ea typeface="微软雅黑" panose="020B0503020204020204" pitchFamily="34" charset="-122"/>
              </a:rPr>
              <a:t>动态规划初步</a:t>
            </a:r>
          </a:p>
        </p:txBody>
      </p:sp>
      <p:grpSp>
        <p:nvGrpSpPr>
          <p:cNvPr id="17410" name="Group 4"/>
          <p:cNvGrpSpPr>
            <a:grpSpLocks/>
          </p:cNvGrpSpPr>
          <p:nvPr/>
        </p:nvGrpSpPr>
        <p:grpSpPr bwMode="auto">
          <a:xfrm>
            <a:off x="1524001" y="2438401"/>
            <a:ext cx="9009063" cy="1052513"/>
            <a:chOff x="0" y="1536"/>
            <a:chExt cx="5675" cy="663"/>
          </a:xfrm>
        </p:grpSpPr>
        <p:grpSp>
          <p:nvGrpSpPr>
            <p:cNvPr id="17413" name="Group 5"/>
            <p:cNvGrpSpPr>
              <a:grpSpLocks/>
            </p:cNvGrpSpPr>
            <p:nvPr/>
          </p:nvGrpSpPr>
          <p:grpSpPr bwMode="auto">
            <a:xfrm>
              <a:off x="183" y="1604"/>
              <a:ext cx="448" cy="299"/>
              <a:chOff x="720" y="336"/>
              <a:chExt cx="624" cy="432"/>
            </a:xfrm>
          </p:grpSpPr>
          <p:sp>
            <p:nvSpPr>
              <p:cNvPr id="17420" name="Rectangle 6"/>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sp>
            <p:nvSpPr>
              <p:cNvPr id="17421" name="Rectangle 7"/>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grpSp>
        <p:grpSp>
          <p:nvGrpSpPr>
            <p:cNvPr id="17414" name="Group 8"/>
            <p:cNvGrpSpPr>
              <a:grpSpLocks/>
            </p:cNvGrpSpPr>
            <p:nvPr/>
          </p:nvGrpSpPr>
          <p:grpSpPr bwMode="auto">
            <a:xfrm>
              <a:off x="261" y="1870"/>
              <a:ext cx="465" cy="299"/>
              <a:chOff x="912" y="2640"/>
              <a:chExt cx="672" cy="432"/>
            </a:xfrm>
          </p:grpSpPr>
          <p:sp>
            <p:nvSpPr>
              <p:cNvPr id="17418" name="Rectangle 9"/>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sp>
            <p:nvSpPr>
              <p:cNvPr id="17419" name="Rectangle 10"/>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grpSp>
        <p:sp>
          <p:nvSpPr>
            <p:cNvPr id="17415" name="Rectangle 11"/>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sp>
          <p:nvSpPr>
            <p:cNvPr id="17416" name="Rectangle 12"/>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sp>
          <p:nvSpPr>
            <p:cNvPr id="17417" name="Rectangle 13"/>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spcBef>
                  <a:spcPct val="50000"/>
                </a:spcBef>
                <a:spcAft>
                  <a:spcPct val="0"/>
                </a:spcAft>
              </a:pPr>
              <a:endParaRPr lang="zh-CN" altLang="en-US">
                <a:solidFill>
                  <a:srgbClr val="000000"/>
                </a:solidFill>
              </a:endParaRPr>
            </a:p>
          </p:txBody>
        </p:sp>
      </p:grpSp>
      <p:sp>
        <p:nvSpPr>
          <p:cNvPr id="17411" name="Text Box 14"/>
          <p:cNvSpPr txBox="1">
            <a:spLocks noChangeArrowheads="1"/>
          </p:cNvSpPr>
          <p:nvPr/>
        </p:nvSpPr>
        <p:spPr bwMode="auto">
          <a:xfrm>
            <a:off x="3642376" y="3775076"/>
            <a:ext cx="4592924" cy="3083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fontAlgn="base">
              <a:lnSpc>
                <a:spcPct val="140000"/>
              </a:lnSpc>
              <a:spcBef>
                <a:spcPct val="50000"/>
              </a:spcBef>
              <a:spcAft>
                <a:spcPct val="0"/>
              </a:spcAft>
            </a:pPr>
            <a:r>
              <a:rPr lang="zh-CN" altLang="en-US" sz="3600" b="1">
                <a:solidFill>
                  <a:srgbClr val="000000"/>
                </a:solidFill>
                <a:latin typeface="Times New Roman" panose="02020603050405020304" pitchFamily="18" charset="0"/>
                <a:ea typeface="华文中宋" panose="02010600040101010101" pitchFamily="2" charset="-122"/>
              </a:rPr>
              <a:t>邹磊，韩硕（助教）</a:t>
            </a:r>
            <a:endParaRPr lang="zh-CN" altLang="en-US" sz="3600" b="1" dirty="0">
              <a:solidFill>
                <a:srgbClr val="000000"/>
              </a:solidFill>
              <a:latin typeface="Times New Roman" panose="02020603050405020304" pitchFamily="18" charset="0"/>
              <a:ea typeface="华文中宋" panose="02010600040101010101" pitchFamily="2" charset="-122"/>
            </a:endParaRPr>
          </a:p>
          <a:p>
            <a:pPr algn="ctr" fontAlgn="base">
              <a:spcBef>
                <a:spcPct val="50000"/>
              </a:spcBef>
              <a:spcAft>
                <a:spcPct val="0"/>
              </a:spcAft>
            </a:pPr>
            <a:r>
              <a:rPr lang="zh-CN" altLang="en-US" b="1" dirty="0">
                <a:solidFill>
                  <a:srgbClr val="000000"/>
                </a:solidFill>
                <a:latin typeface="Times New Roman" panose="02020603050405020304" pitchFamily="18" charset="0"/>
              </a:rPr>
              <a:t>北京大学 计算机科学技术研究所</a:t>
            </a:r>
            <a:endParaRPr lang="en-US" altLang="zh-CN" b="1" dirty="0">
              <a:solidFill>
                <a:srgbClr val="000000"/>
              </a:solidFill>
              <a:latin typeface="Times New Roman" panose="02020603050405020304" pitchFamily="18" charset="0"/>
            </a:endParaRPr>
          </a:p>
          <a:p>
            <a:pPr algn="ctr" fontAlgn="base">
              <a:spcBef>
                <a:spcPct val="50000"/>
              </a:spcBef>
              <a:spcAft>
                <a:spcPct val="0"/>
              </a:spcAft>
            </a:pPr>
            <a:r>
              <a:rPr lang="en-US" altLang="zh-CN" b="1" dirty="0">
                <a:solidFill>
                  <a:srgbClr val="000000"/>
                </a:solidFill>
                <a:latin typeface="Times New Roman" panose="02020603050405020304" pitchFamily="18" charset="0"/>
                <a:hlinkClick r:id="rId3"/>
              </a:rPr>
              <a:t>zoulei@pku.edu.cn</a:t>
            </a:r>
            <a:endParaRPr lang="en-US" altLang="zh-CN" b="1" dirty="0">
              <a:solidFill>
                <a:srgbClr val="000000"/>
              </a:solidFill>
              <a:latin typeface="Times New Roman" panose="02020603050405020304" pitchFamily="18" charset="0"/>
            </a:endParaRPr>
          </a:p>
          <a:p>
            <a:pPr algn="ctr" fontAlgn="base">
              <a:spcBef>
                <a:spcPct val="50000"/>
              </a:spcBef>
              <a:spcAft>
                <a:spcPct val="0"/>
              </a:spcAft>
            </a:pPr>
            <a:r>
              <a:rPr lang="en-US" altLang="zh-CN" b="1" dirty="0">
                <a:solidFill>
                  <a:srgbClr val="000000"/>
                </a:solidFill>
                <a:latin typeface="Times New Roman" panose="02020603050405020304" pitchFamily="18" charset="0"/>
                <a:hlinkClick r:id="rId4"/>
              </a:rPr>
              <a:t>hanshuo@pku.edu.cn</a:t>
            </a:r>
            <a:endParaRPr lang="zh-CN" altLang="en-US" b="1" dirty="0">
              <a:solidFill>
                <a:srgbClr val="000000"/>
              </a:solidFill>
              <a:latin typeface="Times New Roman" panose="02020603050405020304" pitchFamily="18" charset="0"/>
            </a:endParaRPr>
          </a:p>
          <a:p>
            <a:pPr algn="ctr" fontAlgn="base">
              <a:spcBef>
                <a:spcPct val="50000"/>
              </a:spcBef>
              <a:spcAft>
                <a:spcPct val="0"/>
              </a:spcAft>
            </a:pPr>
            <a:endParaRPr lang="zh-CN" altLang="en-US" b="1" dirty="0">
              <a:solidFill>
                <a:srgbClr val="000000"/>
              </a:solidFill>
              <a:latin typeface="Times New Roman" panose="02020603050405020304" pitchFamily="18" charset="0"/>
            </a:endParaRPr>
          </a:p>
        </p:txBody>
      </p:sp>
      <p:pic>
        <p:nvPicPr>
          <p:cNvPr id="17412" name="Picture 15" descr="title-ne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6139" y="260351"/>
            <a:ext cx="255587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5932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D961CB5B-45C7-4428-B01A-08EB24A5E06A}" type="slidenum">
              <a:rPr lang="ar-SA" altLang="zh-CN" sz="1400">
                <a:solidFill>
                  <a:srgbClr val="FFFFFF"/>
                </a:solidFill>
              </a:rPr>
              <a:pPr/>
              <a:t>2</a:t>
            </a:fld>
            <a:endParaRPr lang="zh-CN" altLang="en-US" sz="1400">
              <a:solidFill>
                <a:srgbClr val="FFFFFF"/>
              </a:solidFill>
              <a:ea typeface="宋体" panose="02010600030101010101" pitchFamily="2" charset="-122"/>
            </a:endParaRPr>
          </a:p>
        </p:txBody>
      </p:sp>
      <p:sp>
        <p:nvSpPr>
          <p:cNvPr id="19458" name="Rectangle 2"/>
          <p:cNvSpPr>
            <a:spLocks noGrp="1" noChangeArrowheads="1"/>
          </p:cNvSpPr>
          <p:nvPr>
            <p:ph type="title"/>
          </p:nvPr>
        </p:nvSpPr>
        <p:spPr/>
        <p:txBody>
          <a:bodyPr/>
          <a:lstStyle/>
          <a:p>
            <a:pPr eaLnBrk="1" hangingPunct="1"/>
            <a:r>
              <a:rPr lang="zh-CN" altLang="en-US" dirty="0"/>
              <a:t>课程内容</a:t>
            </a:r>
          </a:p>
        </p:txBody>
      </p:sp>
      <p:sp>
        <p:nvSpPr>
          <p:cNvPr id="19459" name="Rectangle 3"/>
          <p:cNvSpPr>
            <a:spLocks noGrp="1" noChangeArrowheads="1"/>
          </p:cNvSpPr>
          <p:nvPr>
            <p:ph type="body" idx="1"/>
          </p:nvPr>
        </p:nvSpPr>
        <p:spPr/>
        <p:txBody>
          <a:bodyPr/>
          <a:lstStyle/>
          <a:p>
            <a:pPr eaLnBrk="1" hangingPunct="1"/>
            <a:r>
              <a:rPr lang="zh-CN" altLang="en-US" sz="3600" dirty="0"/>
              <a:t>从“数字三角形”谈起</a:t>
            </a:r>
          </a:p>
          <a:p>
            <a:pPr eaLnBrk="1" hangingPunct="1"/>
            <a:r>
              <a:rPr lang="zh-CN" altLang="en-US" sz="3600" dirty="0"/>
              <a:t>动态规划基本概念</a:t>
            </a:r>
          </a:p>
          <a:p>
            <a:pPr eaLnBrk="1" hangingPunct="1"/>
            <a:r>
              <a:rPr lang="zh-CN" altLang="en-US" sz="3600" dirty="0"/>
              <a:t>经典问题</a:t>
            </a:r>
            <a:endParaRPr lang="en-US" altLang="zh-CN" sz="3600" dirty="0"/>
          </a:p>
          <a:p>
            <a:pPr lvl="1" eaLnBrk="1" hangingPunct="1"/>
            <a:r>
              <a:rPr lang="en-US" altLang="zh-CN" sz="3200" dirty="0"/>
              <a:t>0-1</a:t>
            </a:r>
            <a:r>
              <a:rPr lang="zh-CN" altLang="en-US" sz="3200" dirty="0"/>
              <a:t>背包</a:t>
            </a:r>
            <a:endParaRPr lang="en-US" altLang="zh-CN" sz="3200" dirty="0"/>
          </a:p>
          <a:p>
            <a:pPr lvl="1" eaLnBrk="1" hangingPunct="1"/>
            <a:r>
              <a:rPr lang="zh-CN" altLang="en-US" sz="3200" dirty="0"/>
              <a:t>字符串编辑距离</a:t>
            </a:r>
            <a:endParaRPr lang="en-US" altLang="zh-CN" sz="3200" dirty="0"/>
          </a:p>
        </p:txBody>
      </p:sp>
    </p:spTree>
    <p:extLst>
      <p:ext uri="{BB962C8B-B14F-4D97-AF65-F5344CB8AC3E}">
        <p14:creationId xmlns:p14="http://schemas.microsoft.com/office/powerpoint/2010/main" val="264964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a:t>
            </a:r>
            <a:endParaRPr lang="en-US" altLang="zh-CN" dirty="0"/>
          </a:p>
        </p:txBody>
      </p:sp>
      <p:sp>
        <p:nvSpPr>
          <p:cNvPr id="22531" name="Rectangle 3"/>
          <p:cNvSpPr>
            <a:spLocks noGrp="1" noChangeArrowheads="1"/>
          </p:cNvSpPr>
          <p:nvPr>
            <p:ph type="body" idx="1"/>
          </p:nvPr>
        </p:nvSpPr>
        <p:spPr>
          <a:xfrm>
            <a:off x="839755" y="979489"/>
            <a:ext cx="10720874" cy="956403"/>
          </a:xfrm>
          <a:noFill/>
        </p:spPr>
        <p:txBody>
          <a:bodyPr/>
          <a:lstStyle/>
          <a:p>
            <a:pPr eaLnBrk="1" hangingPunct="1">
              <a:lnSpc>
                <a:spcPct val="140000"/>
              </a:lnSpc>
              <a:spcBef>
                <a:spcPct val="30000"/>
              </a:spcBef>
              <a:buNone/>
            </a:pPr>
            <a:r>
              <a:rPr kumimoji="1" lang="en-US" altLang="zh-CN" sz="2400" dirty="0">
                <a:latin typeface="Garamond" panose="02020404030301010803" pitchFamily="18" charset="0"/>
              </a:rPr>
              <a:t>[POJ 1163] </a:t>
            </a:r>
            <a:r>
              <a:rPr kumimoji="1" lang="zh-CN" altLang="en-US" sz="2400" dirty="0">
                <a:latin typeface="Garamond" panose="02020404030301010803" pitchFamily="18" charset="0"/>
              </a:rPr>
              <a:t>给定一个由</a:t>
            </a:r>
            <a:r>
              <a:rPr kumimoji="1" lang="en-US" altLang="zh-CN" sz="2400" dirty="0">
                <a:latin typeface="Garamond" panose="02020404030301010803" pitchFamily="18" charset="0"/>
              </a:rPr>
              <a:t>n</a:t>
            </a:r>
            <a:r>
              <a:rPr kumimoji="1" lang="zh-CN" altLang="en-US" sz="2400" dirty="0">
                <a:latin typeface="Garamond" panose="02020404030301010803" pitchFamily="18" charset="0"/>
              </a:rPr>
              <a:t>行非负数字组成的数字三角形，如下图所示。试设计一个算法，计算从三角形的顶至底的一条路径，使该路径经过的数字总和最大。</a:t>
            </a:r>
            <a:endParaRPr kumimoji="1" lang="en-US" altLang="zh-CN" sz="2400" dirty="0">
              <a:latin typeface="Garamond" panose="02020404030301010803" pitchFamily="18" charset="0"/>
            </a:endParaRPr>
          </a:p>
        </p:txBody>
      </p:sp>
      <p:sp>
        <p:nvSpPr>
          <p:cNvPr id="4" name="椭圆 3"/>
          <p:cNvSpPr/>
          <p:nvPr/>
        </p:nvSpPr>
        <p:spPr bwMode="auto">
          <a:xfrm>
            <a:off x="5935273" y="262927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7</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8" name="椭圆 7"/>
          <p:cNvSpPr/>
          <p:nvPr/>
        </p:nvSpPr>
        <p:spPr bwMode="auto">
          <a:xfrm>
            <a:off x="5503273" y="3204152"/>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3</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9" name="椭圆 8"/>
          <p:cNvSpPr/>
          <p:nvPr/>
        </p:nvSpPr>
        <p:spPr bwMode="auto">
          <a:xfrm>
            <a:off x="6367273" y="3204152"/>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8</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0" name="椭圆 9"/>
          <p:cNvSpPr/>
          <p:nvPr/>
        </p:nvSpPr>
        <p:spPr bwMode="auto">
          <a:xfrm>
            <a:off x="5935273" y="377902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1</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1" name="椭圆 10"/>
          <p:cNvSpPr/>
          <p:nvPr/>
        </p:nvSpPr>
        <p:spPr bwMode="auto">
          <a:xfrm>
            <a:off x="5071273" y="377902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8</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2" name="椭圆 11"/>
          <p:cNvSpPr/>
          <p:nvPr/>
        </p:nvSpPr>
        <p:spPr bwMode="auto">
          <a:xfrm>
            <a:off x="6799273" y="377902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8</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3" name="椭圆 12"/>
          <p:cNvSpPr/>
          <p:nvPr/>
        </p:nvSpPr>
        <p:spPr bwMode="auto">
          <a:xfrm>
            <a:off x="5503273" y="4353902"/>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7</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4" name="椭圆 13"/>
          <p:cNvSpPr/>
          <p:nvPr/>
        </p:nvSpPr>
        <p:spPr bwMode="auto">
          <a:xfrm>
            <a:off x="4639273" y="4353902"/>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2</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5" name="椭圆 14"/>
          <p:cNvSpPr/>
          <p:nvPr/>
        </p:nvSpPr>
        <p:spPr bwMode="auto">
          <a:xfrm>
            <a:off x="6367273" y="4353902"/>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4</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6" name="椭圆 15"/>
          <p:cNvSpPr/>
          <p:nvPr/>
        </p:nvSpPr>
        <p:spPr bwMode="auto">
          <a:xfrm>
            <a:off x="7231273" y="4353902"/>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4</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7" name="椭圆 16"/>
          <p:cNvSpPr/>
          <p:nvPr/>
        </p:nvSpPr>
        <p:spPr bwMode="auto">
          <a:xfrm>
            <a:off x="5935273" y="492877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2</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8" name="椭圆 17"/>
          <p:cNvSpPr/>
          <p:nvPr/>
        </p:nvSpPr>
        <p:spPr bwMode="auto">
          <a:xfrm>
            <a:off x="5071273" y="492877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5</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19" name="椭圆 18"/>
          <p:cNvSpPr/>
          <p:nvPr/>
        </p:nvSpPr>
        <p:spPr bwMode="auto">
          <a:xfrm>
            <a:off x="4207273" y="492877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4</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20" name="椭圆 19"/>
          <p:cNvSpPr/>
          <p:nvPr/>
        </p:nvSpPr>
        <p:spPr bwMode="auto">
          <a:xfrm>
            <a:off x="6799273" y="492877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6</a:t>
            </a:r>
            <a:endParaRPr kumimoji="0" lang="zh-CN" altLang="en-US" sz="2400" b="0" i="0" u="none" strike="noStrike" cap="none" normalizeH="0" baseline="0" dirty="0">
              <a:ln>
                <a:noFill/>
              </a:ln>
              <a:solidFill>
                <a:schemeClr val="tx1"/>
              </a:solidFill>
              <a:effectLst/>
              <a:latin typeface="Arial" charset="0"/>
              <a:cs typeface="Arial" charset="0"/>
            </a:endParaRPr>
          </a:p>
        </p:txBody>
      </p:sp>
      <p:sp>
        <p:nvSpPr>
          <p:cNvPr id="21" name="椭圆 20"/>
          <p:cNvSpPr/>
          <p:nvPr/>
        </p:nvSpPr>
        <p:spPr bwMode="auto">
          <a:xfrm>
            <a:off x="7663273" y="4928777"/>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chemeClr val="tx1"/>
                </a:solidFill>
                <a:effectLst/>
                <a:latin typeface="Arial" charset="0"/>
                <a:cs typeface="Arial" charset="0"/>
              </a:rPr>
              <a:t>5</a:t>
            </a:r>
            <a:endParaRPr kumimoji="0" lang="zh-CN" altLang="en-US" sz="2400" b="0" i="0" u="none" strike="noStrike" cap="none" normalizeH="0" baseline="0" dirty="0">
              <a:ln>
                <a:noFill/>
              </a:ln>
              <a:solidFill>
                <a:schemeClr val="tx1"/>
              </a:solidFill>
              <a:effectLst/>
              <a:latin typeface="Arial" charset="0"/>
              <a:cs typeface="Arial" charset="0"/>
            </a:endParaRPr>
          </a:p>
        </p:txBody>
      </p:sp>
      <p:cxnSp>
        <p:nvCxnSpPr>
          <p:cNvPr id="22" name="直接连接符 21"/>
          <p:cNvCxnSpPr>
            <a:stCxn id="4" idx="3"/>
            <a:endCxn id="8" idx="7"/>
          </p:cNvCxnSpPr>
          <p:nvPr/>
        </p:nvCxnSpPr>
        <p:spPr bwMode="auto">
          <a:xfrm flipH="1">
            <a:off x="5872008" y="299801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6" name="直接连接符 25"/>
          <p:cNvCxnSpPr>
            <a:stCxn id="4" idx="5"/>
            <a:endCxn id="9" idx="1"/>
          </p:cNvCxnSpPr>
          <p:nvPr/>
        </p:nvCxnSpPr>
        <p:spPr bwMode="auto">
          <a:xfrm>
            <a:off x="6304008" y="299801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9" name="直接连接符 28"/>
          <p:cNvCxnSpPr>
            <a:stCxn id="8" idx="5"/>
            <a:endCxn id="10" idx="1"/>
          </p:cNvCxnSpPr>
          <p:nvPr/>
        </p:nvCxnSpPr>
        <p:spPr bwMode="auto">
          <a:xfrm>
            <a:off x="5872008" y="357288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2" name="直接连接符 31"/>
          <p:cNvCxnSpPr>
            <a:stCxn id="8" idx="3"/>
            <a:endCxn id="11" idx="7"/>
          </p:cNvCxnSpPr>
          <p:nvPr/>
        </p:nvCxnSpPr>
        <p:spPr bwMode="auto">
          <a:xfrm flipH="1">
            <a:off x="5440008" y="357288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5" name="直接连接符 34"/>
          <p:cNvCxnSpPr>
            <a:stCxn id="9" idx="5"/>
            <a:endCxn id="12" idx="1"/>
          </p:cNvCxnSpPr>
          <p:nvPr/>
        </p:nvCxnSpPr>
        <p:spPr bwMode="auto">
          <a:xfrm>
            <a:off x="6736008" y="357288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8" name="直接连接符 37"/>
          <p:cNvCxnSpPr>
            <a:stCxn id="9" idx="3"/>
            <a:endCxn id="10" idx="7"/>
          </p:cNvCxnSpPr>
          <p:nvPr/>
        </p:nvCxnSpPr>
        <p:spPr bwMode="auto">
          <a:xfrm flipH="1">
            <a:off x="6304008" y="357288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41" name="直接连接符 40"/>
          <p:cNvCxnSpPr>
            <a:stCxn id="10" idx="3"/>
            <a:endCxn id="13" idx="7"/>
          </p:cNvCxnSpPr>
          <p:nvPr/>
        </p:nvCxnSpPr>
        <p:spPr bwMode="auto">
          <a:xfrm flipH="1">
            <a:off x="5872008" y="414776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44" name="直接连接符 43"/>
          <p:cNvCxnSpPr>
            <a:stCxn id="10" idx="5"/>
            <a:endCxn id="15" idx="1"/>
          </p:cNvCxnSpPr>
          <p:nvPr/>
        </p:nvCxnSpPr>
        <p:spPr bwMode="auto">
          <a:xfrm>
            <a:off x="6304008" y="414776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47" name="直接连接符 46"/>
          <p:cNvCxnSpPr>
            <a:stCxn id="11" idx="5"/>
            <a:endCxn id="13" idx="1"/>
          </p:cNvCxnSpPr>
          <p:nvPr/>
        </p:nvCxnSpPr>
        <p:spPr bwMode="auto">
          <a:xfrm>
            <a:off x="5440008" y="414776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0" name="直接连接符 49"/>
          <p:cNvCxnSpPr>
            <a:stCxn id="11" idx="3"/>
            <a:endCxn id="14" idx="7"/>
          </p:cNvCxnSpPr>
          <p:nvPr/>
        </p:nvCxnSpPr>
        <p:spPr bwMode="auto">
          <a:xfrm flipH="1">
            <a:off x="5008008" y="414776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3" name="直接连接符 52"/>
          <p:cNvCxnSpPr>
            <a:stCxn id="12" idx="3"/>
            <a:endCxn id="15" idx="7"/>
          </p:cNvCxnSpPr>
          <p:nvPr/>
        </p:nvCxnSpPr>
        <p:spPr bwMode="auto">
          <a:xfrm flipH="1">
            <a:off x="6736008" y="414776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6" name="直接连接符 55"/>
          <p:cNvCxnSpPr>
            <a:stCxn id="12" idx="5"/>
            <a:endCxn id="16" idx="1"/>
          </p:cNvCxnSpPr>
          <p:nvPr/>
        </p:nvCxnSpPr>
        <p:spPr bwMode="auto">
          <a:xfrm>
            <a:off x="7168008" y="4147762"/>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9" name="直接连接符 58"/>
          <p:cNvCxnSpPr>
            <a:stCxn id="13" idx="3"/>
            <a:endCxn id="18" idx="7"/>
          </p:cNvCxnSpPr>
          <p:nvPr/>
        </p:nvCxnSpPr>
        <p:spPr bwMode="auto">
          <a:xfrm flipH="1">
            <a:off x="5440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4" name="直接连接符 63"/>
          <p:cNvCxnSpPr>
            <a:stCxn id="13" idx="5"/>
            <a:endCxn id="17" idx="1"/>
          </p:cNvCxnSpPr>
          <p:nvPr/>
        </p:nvCxnSpPr>
        <p:spPr bwMode="auto">
          <a:xfrm>
            <a:off x="5872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7" name="直接连接符 66"/>
          <p:cNvCxnSpPr>
            <a:stCxn id="15" idx="3"/>
            <a:endCxn id="17" idx="7"/>
          </p:cNvCxnSpPr>
          <p:nvPr/>
        </p:nvCxnSpPr>
        <p:spPr bwMode="auto">
          <a:xfrm flipH="1">
            <a:off x="6304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0" name="直接连接符 69"/>
          <p:cNvCxnSpPr>
            <a:stCxn id="15" idx="5"/>
            <a:endCxn id="20" idx="1"/>
          </p:cNvCxnSpPr>
          <p:nvPr/>
        </p:nvCxnSpPr>
        <p:spPr bwMode="auto">
          <a:xfrm>
            <a:off x="6736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3" name="直接连接符 72"/>
          <p:cNvCxnSpPr>
            <a:stCxn id="16" idx="3"/>
            <a:endCxn id="20" idx="7"/>
          </p:cNvCxnSpPr>
          <p:nvPr/>
        </p:nvCxnSpPr>
        <p:spPr bwMode="auto">
          <a:xfrm flipH="1">
            <a:off x="7168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6" name="直接连接符 75"/>
          <p:cNvCxnSpPr>
            <a:stCxn id="16" idx="5"/>
            <a:endCxn id="21" idx="1"/>
          </p:cNvCxnSpPr>
          <p:nvPr/>
        </p:nvCxnSpPr>
        <p:spPr bwMode="auto">
          <a:xfrm>
            <a:off x="7600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9" name="直接连接符 78"/>
          <p:cNvCxnSpPr>
            <a:stCxn id="14" idx="5"/>
            <a:endCxn id="18" idx="1"/>
          </p:cNvCxnSpPr>
          <p:nvPr/>
        </p:nvCxnSpPr>
        <p:spPr bwMode="auto">
          <a:xfrm>
            <a:off x="5008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2" name="直接连接符 81"/>
          <p:cNvCxnSpPr>
            <a:stCxn id="14" idx="3"/>
            <a:endCxn id="19" idx="7"/>
          </p:cNvCxnSpPr>
          <p:nvPr/>
        </p:nvCxnSpPr>
        <p:spPr bwMode="auto">
          <a:xfrm flipH="1">
            <a:off x="4576008" y="4722637"/>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Tree>
    <p:extLst>
      <p:ext uri="{BB962C8B-B14F-4D97-AF65-F5344CB8AC3E}">
        <p14:creationId xmlns:p14="http://schemas.microsoft.com/office/powerpoint/2010/main" val="2759589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4</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递归 </a:t>
            </a:r>
          </a:p>
        </p:txBody>
      </p:sp>
      <p:sp>
        <p:nvSpPr>
          <p:cNvPr id="31747" name="Rectangle 3"/>
          <p:cNvSpPr>
            <a:spLocks noGrp="1" noChangeArrowheads="1"/>
          </p:cNvSpPr>
          <p:nvPr>
            <p:ph type="body" idx="1"/>
          </p:nvPr>
        </p:nvSpPr>
        <p:spPr>
          <a:xfrm>
            <a:off x="1847851" y="981076"/>
            <a:ext cx="9652171" cy="5256213"/>
          </a:xfrm>
        </p:spPr>
        <p:txBody>
          <a:bodyPr/>
          <a:lstStyle/>
          <a:p>
            <a:pPr marL="469900" indent="-469900" eaLnBrk="1" hangingPunct="1">
              <a:lnSpc>
                <a:spcPct val="140000"/>
              </a:lnSpc>
              <a:spcBef>
                <a:spcPct val="30000"/>
              </a:spcBef>
            </a:pPr>
            <a:r>
              <a:rPr lang="zh-CN" altLang="en-US" sz="3200" dirty="0">
                <a:latin typeface="华文中宋" panose="02010600040101010101" pitchFamily="2" charset="-122"/>
                <a:ea typeface="华文中宋" panose="02010600040101010101" pitchFamily="2" charset="-122"/>
              </a:rPr>
              <a:t>递归？</a:t>
            </a:r>
          </a:p>
          <a:p>
            <a:pPr marL="908050" lvl="1" indent="-436563" eaLnBrk="1" hangingPunct="1">
              <a:lnSpc>
                <a:spcPct val="140000"/>
              </a:lnSpc>
              <a:spcBef>
                <a:spcPct val="30000"/>
              </a:spcBef>
            </a:pPr>
            <a:r>
              <a:rPr lang="en-US" altLang="zh-CN" sz="2800" dirty="0" err="1"/>
              <a:t>num</a:t>
            </a:r>
            <a:r>
              <a:rPr lang="en-US" altLang="zh-CN" sz="2800" dirty="0"/>
              <a:t>[</a:t>
            </a:r>
            <a:r>
              <a:rPr lang="en-US" altLang="zh-CN" sz="2800" dirty="0" err="1"/>
              <a:t>i</a:t>
            </a:r>
            <a:r>
              <a:rPr lang="en-US" altLang="zh-CN" sz="2800" dirty="0"/>
              <a:t>][j]</a:t>
            </a:r>
            <a:r>
              <a:rPr lang="zh-CN" altLang="en-US" sz="2800" dirty="0"/>
              <a:t>：表示第</a:t>
            </a:r>
            <a:r>
              <a:rPr lang="en-US" altLang="zh-CN" sz="2800" dirty="0" err="1"/>
              <a:t>i</a:t>
            </a:r>
            <a:r>
              <a:rPr lang="zh-CN" altLang="en-US" sz="2800" dirty="0"/>
              <a:t>行的第</a:t>
            </a:r>
            <a:r>
              <a:rPr lang="en-US" altLang="zh-CN" sz="2800" dirty="0"/>
              <a:t>j</a:t>
            </a:r>
            <a:r>
              <a:rPr lang="zh-CN" altLang="en-US" sz="2800" dirty="0"/>
              <a:t>个数字</a:t>
            </a:r>
            <a:endParaRPr lang="en-US" altLang="zh-CN" sz="2800" dirty="0"/>
          </a:p>
          <a:p>
            <a:pPr marL="908050" lvl="1" indent="-436563" eaLnBrk="1" hangingPunct="1">
              <a:lnSpc>
                <a:spcPct val="140000"/>
              </a:lnSpc>
              <a:spcBef>
                <a:spcPct val="30000"/>
              </a:spcBef>
            </a:pPr>
            <a:r>
              <a:rPr lang="en-US" altLang="zh-CN" sz="2800" dirty="0" err="1"/>
              <a:t>maxSum</a:t>
            </a:r>
            <a:r>
              <a:rPr lang="en-US" altLang="zh-CN" sz="2800" dirty="0"/>
              <a:t>[</a:t>
            </a:r>
            <a:r>
              <a:rPr lang="en-US" altLang="zh-CN" sz="2800" dirty="0" err="1"/>
              <a:t>i</a:t>
            </a:r>
            <a:r>
              <a:rPr lang="en-US" altLang="zh-CN" sz="2800" dirty="0"/>
              <a:t>][j]: </a:t>
            </a:r>
            <a:r>
              <a:rPr lang="zh-CN" altLang="en-US" sz="2800" dirty="0"/>
              <a:t>表示从位置</a:t>
            </a:r>
            <a:r>
              <a:rPr lang="en-US" altLang="zh-CN" sz="2800" dirty="0"/>
              <a:t>(</a:t>
            </a:r>
            <a:r>
              <a:rPr lang="en-US" altLang="zh-CN" sz="2800" dirty="0" err="1"/>
              <a:t>i</a:t>
            </a:r>
            <a:r>
              <a:rPr lang="en-US" altLang="zh-CN" sz="2800" dirty="0"/>
              <a:t>, j)</a:t>
            </a:r>
            <a:r>
              <a:rPr lang="zh-CN" altLang="en-US" sz="2800" dirty="0"/>
              <a:t>到底边的各条路径中，最佳路径的数字之和</a:t>
            </a:r>
            <a:endParaRPr lang="en-US" altLang="zh-CN" sz="2800" dirty="0"/>
          </a:p>
          <a:p>
            <a:pPr marL="908050" lvl="1" indent="-436563" eaLnBrk="1" hangingPunct="1">
              <a:lnSpc>
                <a:spcPct val="140000"/>
              </a:lnSpc>
              <a:spcBef>
                <a:spcPct val="30000"/>
              </a:spcBef>
            </a:pPr>
            <a:r>
              <a:rPr lang="en-US" altLang="zh-CN" sz="2800" dirty="0" err="1"/>
              <a:t>maxSum</a:t>
            </a:r>
            <a:r>
              <a:rPr lang="en-US" altLang="zh-CN" sz="2800" dirty="0"/>
              <a:t>[</a:t>
            </a:r>
            <a:r>
              <a:rPr lang="en-US" altLang="zh-CN" sz="2800" dirty="0" err="1"/>
              <a:t>i</a:t>
            </a:r>
            <a:r>
              <a:rPr lang="en-US" altLang="zh-CN" sz="2800" dirty="0"/>
              <a:t>][j] = MAX{</a:t>
            </a:r>
            <a:r>
              <a:rPr lang="en-US" altLang="zh-CN" sz="2800" dirty="0" err="1"/>
              <a:t>maxSum</a:t>
            </a:r>
            <a:r>
              <a:rPr lang="en-US" altLang="zh-CN" sz="2800" dirty="0"/>
              <a:t>[i+1][j], </a:t>
            </a:r>
            <a:r>
              <a:rPr lang="en-US" altLang="zh-CN" sz="2800" dirty="0" err="1"/>
              <a:t>maxSum</a:t>
            </a:r>
            <a:r>
              <a:rPr lang="en-US" altLang="zh-CN" sz="2800" dirty="0"/>
              <a:t>[i+1][j+1]} + </a:t>
            </a:r>
            <a:r>
              <a:rPr lang="en-US" altLang="zh-CN" sz="2800" dirty="0" err="1"/>
              <a:t>num</a:t>
            </a:r>
            <a:r>
              <a:rPr lang="en-US" altLang="zh-CN" sz="2800" dirty="0"/>
              <a:t>[</a:t>
            </a:r>
            <a:r>
              <a:rPr lang="en-US" altLang="zh-CN" sz="2800" dirty="0" err="1"/>
              <a:t>i</a:t>
            </a:r>
            <a:r>
              <a:rPr lang="en-US" altLang="zh-CN" sz="2800" dirty="0"/>
              <a:t>][j]</a:t>
            </a:r>
          </a:p>
          <a:p>
            <a:pPr marL="908050" lvl="1" indent="-436563" eaLnBrk="1" hangingPunct="1">
              <a:lnSpc>
                <a:spcPct val="140000"/>
              </a:lnSpc>
              <a:spcBef>
                <a:spcPct val="30000"/>
              </a:spcBef>
            </a:pPr>
            <a:endParaRPr lang="zh-CN" altLang="en-US" sz="2800" dirty="0"/>
          </a:p>
        </p:txBody>
      </p:sp>
    </p:spTree>
    <p:extLst>
      <p:ext uri="{BB962C8B-B14F-4D97-AF65-F5344CB8AC3E}">
        <p14:creationId xmlns:p14="http://schemas.microsoft.com/office/powerpoint/2010/main" val="1877655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5</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递归 </a:t>
            </a:r>
            <a:endParaRPr lang="en-US" altLang="zh-CN" dirty="0"/>
          </a:p>
        </p:txBody>
      </p:sp>
      <p:sp>
        <p:nvSpPr>
          <p:cNvPr id="22531" name="Rectangle 3"/>
          <p:cNvSpPr>
            <a:spLocks noGrp="1" noChangeArrowheads="1"/>
          </p:cNvSpPr>
          <p:nvPr>
            <p:ph type="body" idx="1"/>
          </p:nvPr>
        </p:nvSpPr>
        <p:spPr>
          <a:xfrm>
            <a:off x="1703389" y="979489"/>
            <a:ext cx="8785225" cy="5329237"/>
          </a:xfrm>
          <a:noFill/>
        </p:spPr>
        <p:txBody>
          <a:bodyPr/>
          <a:lstStyle/>
          <a:p>
            <a:pPr eaLnBrk="1" hangingPunct="1">
              <a:lnSpc>
                <a:spcPct val="140000"/>
              </a:lnSpc>
              <a:spcBef>
                <a:spcPct val="30000"/>
              </a:spcBef>
              <a:buNone/>
            </a:pP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maxSum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j)</a:t>
            </a:r>
          </a:p>
          <a:p>
            <a:pPr eaLnBrk="1" hangingPunct="1">
              <a:lnSpc>
                <a:spcPct val="140000"/>
              </a:lnSpc>
              <a:spcBef>
                <a:spcPct val="30000"/>
              </a:spcBef>
              <a:buNone/>
            </a:pP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if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 n - 1)</a:t>
            </a:r>
          </a:p>
          <a:p>
            <a:pPr eaLnBrk="1" hangingPunct="1">
              <a:lnSpc>
                <a:spcPct val="140000"/>
              </a:lnSpc>
              <a:spcBef>
                <a:spcPct val="30000"/>
              </a:spcBef>
              <a:buNone/>
            </a:pPr>
            <a:r>
              <a:rPr kumimoji="1" lang="en-US" altLang="zh-CN" sz="2000" dirty="0">
                <a:latin typeface="Garamond" panose="02020404030301010803" pitchFamily="18" charset="0"/>
              </a:rPr>
              <a:t>        return </a:t>
            </a:r>
            <a:r>
              <a:rPr kumimoji="1" lang="en-US" altLang="zh-CN" sz="2000" dirty="0" err="1">
                <a:latin typeface="Garamond" panose="02020404030301010803" pitchFamily="18" charset="0"/>
              </a:rPr>
              <a:t>num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][j];</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x = </a:t>
            </a:r>
            <a:r>
              <a:rPr kumimoji="1" lang="en-US" altLang="zh-CN" sz="2000" dirty="0" err="1">
                <a:latin typeface="Garamond" panose="02020404030301010803" pitchFamily="18" charset="0"/>
              </a:rPr>
              <a:t>maxSum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+ 1,  j);</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y = </a:t>
            </a:r>
            <a:r>
              <a:rPr kumimoji="1" lang="en-US" altLang="zh-CN" sz="2000" dirty="0" err="1">
                <a:latin typeface="Garamond" panose="02020404030301010803" pitchFamily="18" charset="0"/>
              </a:rPr>
              <a:t>maxSum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+ 1, j + 1);</a:t>
            </a:r>
          </a:p>
          <a:p>
            <a:pPr eaLnBrk="1" hangingPunct="1">
              <a:lnSpc>
                <a:spcPct val="140000"/>
              </a:lnSpc>
              <a:spcBef>
                <a:spcPct val="30000"/>
              </a:spcBef>
              <a:buNone/>
            </a:pPr>
            <a:r>
              <a:rPr kumimoji="1" lang="en-US" altLang="zh-CN" sz="2000" dirty="0">
                <a:latin typeface="Garamond" panose="02020404030301010803" pitchFamily="18" charset="0"/>
              </a:rPr>
              <a:t>    return max(x, y) + </a:t>
            </a:r>
            <a:r>
              <a:rPr kumimoji="1" lang="en-US" altLang="zh-CN" sz="2000" dirty="0" err="1">
                <a:latin typeface="Garamond" panose="02020404030301010803" pitchFamily="18" charset="0"/>
              </a:rPr>
              <a:t>num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][j];</a:t>
            </a:r>
          </a:p>
          <a:p>
            <a:pPr eaLnBrk="1" hangingPunct="1">
              <a:lnSpc>
                <a:spcPct val="140000"/>
              </a:lnSpc>
              <a:spcBef>
                <a:spcPct val="30000"/>
              </a:spcBef>
              <a:buNone/>
            </a:pPr>
            <a:r>
              <a:rPr kumimoji="1" lang="en-US" altLang="zh-CN" sz="2000" dirty="0">
                <a:latin typeface="Garamond" panose="02020404030301010803" pitchFamily="18" charset="0"/>
              </a:rPr>
              <a:t>}</a:t>
            </a:r>
          </a:p>
        </p:txBody>
      </p:sp>
    </p:spTree>
    <p:extLst>
      <p:ext uri="{BB962C8B-B14F-4D97-AF65-F5344CB8AC3E}">
        <p14:creationId xmlns:p14="http://schemas.microsoft.com/office/powerpoint/2010/main" val="2790373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6</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递归 </a:t>
            </a:r>
            <a:endParaRPr lang="en-US" altLang="zh-CN" dirty="0"/>
          </a:p>
        </p:txBody>
      </p:sp>
      <p:sp>
        <p:nvSpPr>
          <p:cNvPr id="22531" name="Rectangle 3"/>
          <p:cNvSpPr>
            <a:spLocks noGrp="1" noChangeArrowheads="1"/>
          </p:cNvSpPr>
          <p:nvPr>
            <p:ph type="body" idx="1"/>
          </p:nvPr>
        </p:nvSpPr>
        <p:spPr>
          <a:xfrm>
            <a:off x="1703389" y="979489"/>
            <a:ext cx="8785225" cy="5329237"/>
          </a:xfrm>
          <a:noFill/>
        </p:spPr>
        <p:txBody>
          <a:bodyPr/>
          <a:lstStyle/>
          <a:p>
            <a:pPr eaLnBrk="1" hangingPunct="1">
              <a:lnSpc>
                <a:spcPct val="140000"/>
              </a:lnSpc>
              <a:spcBef>
                <a:spcPct val="30000"/>
              </a:spcBef>
              <a:buNone/>
            </a:pP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main()</a:t>
            </a:r>
          </a:p>
          <a:p>
            <a:pPr eaLnBrk="1" hangingPunct="1">
              <a:lnSpc>
                <a:spcPct val="140000"/>
              </a:lnSpc>
              <a:spcBef>
                <a:spcPct val="30000"/>
              </a:spcBef>
              <a:buNone/>
            </a:pP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n;</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cin</a:t>
            </a:r>
            <a:r>
              <a:rPr kumimoji="1" lang="en-US" altLang="zh-CN" sz="2000" dirty="0">
                <a:latin typeface="Garamond" panose="02020404030301010803" pitchFamily="18" charset="0"/>
              </a:rPr>
              <a:t> &gt;&gt; n;</a:t>
            </a:r>
          </a:p>
          <a:p>
            <a:pPr eaLnBrk="1" hangingPunct="1">
              <a:lnSpc>
                <a:spcPct val="140000"/>
              </a:lnSpc>
              <a:spcBef>
                <a:spcPct val="30000"/>
              </a:spcBef>
              <a:buNone/>
            </a:pPr>
            <a:r>
              <a:rPr kumimoji="1" lang="en-US" altLang="zh-CN" sz="2000" dirty="0">
                <a:latin typeface="Garamond" panose="02020404030301010803" pitchFamily="18" charset="0"/>
              </a:rPr>
              <a:t>    for(</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 0;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&lt; n;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a:t>
            </a:r>
          </a:p>
          <a:p>
            <a:pPr eaLnBrk="1" hangingPunct="1">
              <a:lnSpc>
                <a:spcPct val="140000"/>
              </a:lnSpc>
              <a:spcBef>
                <a:spcPct val="30000"/>
              </a:spcBef>
              <a:buNone/>
            </a:pPr>
            <a:r>
              <a:rPr kumimoji="1" lang="en-US" altLang="zh-CN" sz="2000" dirty="0">
                <a:latin typeface="Garamond" panose="02020404030301010803" pitchFamily="18" charset="0"/>
              </a:rPr>
              <a:t>        for(</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j = 0; j &lt;=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j ++)</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cin</a:t>
            </a:r>
            <a:r>
              <a:rPr kumimoji="1" lang="en-US" altLang="zh-CN" sz="2000" dirty="0">
                <a:latin typeface="Garamond" panose="02020404030301010803" pitchFamily="18" charset="0"/>
              </a:rPr>
              <a:t> &gt;&gt; </a:t>
            </a:r>
            <a:r>
              <a:rPr kumimoji="1" lang="en-US" altLang="zh-CN" sz="2000" dirty="0" err="1">
                <a:latin typeface="Garamond" panose="02020404030301010803" pitchFamily="18" charset="0"/>
              </a:rPr>
              <a:t>num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][j];</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cout</a:t>
            </a:r>
            <a:r>
              <a:rPr kumimoji="1" lang="en-US" altLang="zh-CN" sz="2000" dirty="0">
                <a:latin typeface="Garamond" panose="02020404030301010803" pitchFamily="18" charset="0"/>
              </a:rPr>
              <a:t> &lt;&lt; </a:t>
            </a:r>
            <a:r>
              <a:rPr kumimoji="1" lang="en-US" altLang="zh-CN" sz="2000" dirty="0" err="1">
                <a:latin typeface="Garamond" panose="02020404030301010803" pitchFamily="18" charset="0"/>
              </a:rPr>
              <a:t>maxSum</a:t>
            </a:r>
            <a:r>
              <a:rPr kumimoji="1" lang="en-US" altLang="zh-CN" sz="2000" dirty="0">
                <a:latin typeface="Garamond" panose="02020404030301010803" pitchFamily="18" charset="0"/>
              </a:rPr>
              <a:t>(0, 0) &lt;&lt; </a:t>
            </a:r>
            <a:r>
              <a:rPr kumimoji="1" lang="en-US" altLang="zh-CN" sz="2000" dirty="0" err="1">
                <a:latin typeface="Garamond" panose="02020404030301010803" pitchFamily="18" charset="0"/>
              </a:rPr>
              <a:t>endl</a:t>
            </a: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return 0;</a:t>
            </a:r>
          </a:p>
          <a:p>
            <a:pPr eaLnBrk="1" hangingPunct="1">
              <a:lnSpc>
                <a:spcPct val="140000"/>
              </a:lnSpc>
              <a:spcBef>
                <a:spcPct val="30000"/>
              </a:spcBef>
              <a:buNone/>
            </a:pPr>
            <a:r>
              <a:rPr kumimoji="1" lang="en-US" altLang="zh-CN" sz="2000" dirty="0">
                <a:latin typeface="Garamond" panose="02020404030301010803" pitchFamily="18" charset="0"/>
              </a:rPr>
              <a:t>}</a:t>
            </a:r>
          </a:p>
        </p:txBody>
      </p:sp>
    </p:spTree>
    <p:extLst>
      <p:ext uri="{BB962C8B-B14F-4D97-AF65-F5344CB8AC3E}">
        <p14:creationId xmlns:p14="http://schemas.microsoft.com/office/powerpoint/2010/main" val="4048385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7</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递归 </a:t>
            </a:r>
          </a:p>
        </p:txBody>
      </p:sp>
      <mc:AlternateContent xmlns:mc="http://schemas.openxmlformats.org/markup-compatibility/2006" xmlns:a14="http://schemas.microsoft.com/office/drawing/2010/main">
        <mc:Choice Requires="a14">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zh-CN" altLang="en-US" sz="3200" dirty="0">
                    <a:latin typeface="华文中宋" panose="02010600040101010101" pitchFamily="2" charset="-122"/>
                    <a:ea typeface="华文中宋" panose="02010600040101010101" pitchFamily="2" charset="-122"/>
                  </a:rPr>
                  <a:t>递归？</a:t>
                </a:r>
              </a:p>
              <a:p>
                <a:pPr marL="908050" lvl="1" indent="-436563" eaLnBrk="1" hangingPunct="1">
                  <a:lnSpc>
                    <a:spcPct val="140000"/>
                  </a:lnSpc>
                  <a:spcBef>
                    <a:spcPct val="30000"/>
                  </a:spcBef>
                </a:pPr>
                <a:r>
                  <a:rPr lang="zh-CN" altLang="en-US" sz="2800" dirty="0"/>
                  <a:t>时间复杂度：</a:t>
                </a:r>
                <a14:m>
                  <m:oMath xmlns:m="http://schemas.openxmlformats.org/officeDocument/2006/math">
                    <m:r>
                      <a:rPr lang="en-US" altLang="zh-CN" sz="2800" b="1" i="1" smtClean="0">
                        <a:latin typeface="Cambria Math" panose="02040503050406030204" pitchFamily="18" charset="0"/>
                      </a:rPr>
                      <m:t>𝑶</m:t>
                    </m:r>
                    <m:d>
                      <m:dPr>
                        <m:ctrlPr>
                          <a:rPr lang="en-US" altLang="zh-CN" sz="2800" b="1" i="1" smtClean="0">
                            <a:latin typeface="Cambria Math" panose="02040503050406030204" pitchFamily="18" charset="0"/>
                          </a:rPr>
                        </m:ctrlPr>
                      </m:dPr>
                      <m:e>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𝟐</m:t>
                            </m:r>
                          </m:e>
                          <m:sup>
                            <m:r>
                              <a:rPr lang="en-US" altLang="zh-CN" sz="2800" b="1" i="1" smtClean="0">
                                <a:latin typeface="Cambria Math" panose="02040503050406030204" pitchFamily="18" charset="0"/>
                              </a:rPr>
                              <m:t>𝒏</m:t>
                            </m:r>
                          </m:sup>
                        </m:sSup>
                      </m:e>
                    </m:d>
                  </m:oMath>
                </a14:m>
                <a:endParaRPr lang="en-US" altLang="zh-CN" sz="2800" dirty="0"/>
              </a:p>
              <a:p>
                <a:pPr marL="908050" lvl="1" indent="-436563" eaLnBrk="1" hangingPunct="1">
                  <a:lnSpc>
                    <a:spcPct val="140000"/>
                  </a:lnSpc>
                  <a:spcBef>
                    <a:spcPct val="30000"/>
                  </a:spcBef>
                </a:pPr>
                <a:r>
                  <a:rPr lang="zh-CN" altLang="en-US" sz="2800" dirty="0"/>
                  <a:t>大量重复计算</a:t>
                </a:r>
              </a:p>
            </p:txBody>
          </p:sp>
        </mc:Choice>
        <mc:Fallback xmlns="">
          <p:sp>
            <p:nvSpPr>
              <p:cNvPr id="31747" name="Rectangle 3"/>
              <p:cNvSpPr>
                <a:spLocks noGrp="1" noRot="1" noChangeAspect="1" noMove="1" noResize="1" noEditPoints="1" noAdjustHandles="1" noChangeArrowheads="1" noChangeShapeType="1" noTextEdit="1"/>
              </p:cNvSpPr>
              <p:nvPr>
                <p:ph type="body" idx="1"/>
              </p:nvPr>
            </p:nvSpPr>
            <p:spPr>
              <a:xfrm>
                <a:off x="1847851" y="981076"/>
                <a:ext cx="9656794" cy="5256213"/>
              </a:xfrm>
              <a:blipFill rotWithShape="0">
                <a:blip r:embed="rId2"/>
                <a:stretch>
                  <a:fillRect l="-1389"/>
                </a:stretch>
              </a:blipFill>
            </p:spPr>
            <p:txBody>
              <a:bodyPr/>
              <a:lstStyle/>
              <a:p>
                <a:r>
                  <a:rPr lang="zh-CN" altLang="en-US">
                    <a:noFill/>
                  </a:rPr>
                  <a:t> </a:t>
                </a:r>
              </a:p>
            </p:txBody>
          </p:sp>
        </mc:Fallback>
      </mc:AlternateContent>
      <p:sp>
        <p:nvSpPr>
          <p:cNvPr id="40" name="椭圆 39"/>
          <p:cNvSpPr/>
          <p:nvPr/>
        </p:nvSpPr>
        <p:spPr bwMode="auto">
          <a:xfrm>
            <a:off x="7456165" y="30771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1" name="椭圆 40"/>
          <p:cNvSpPr/>
          <p:nvPr/>
        </p:nvSpPr>
        <p:spPr bwMode="auto">
          <a:xfrm>
            <a:off x="7024165" y="36520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algn="ctr" fontAlgn="base">
              <a:spcBef>
                <a:spcPct val="50000"/>
              </a:spcBef>
              <a:spcAft>
                <a:spcPct val="0"/>
              </a:spcAft>
            </a:pPr>
            <a:r>
              <a:rPr lang="en-US" altLang="zh-CN" sz="2400" dirty="0">
                <a:solidFill>
                  <a:srgbClr val="0070C0"/>
                </a:solidFill>
                <a:latin typeface="Arial" charset="0"/>
                <a:cs typeface="Arial" charset="0"/>
              </a:rPr>
              <a:t>1</a:t>
            </a:r>
            <a:endParaRPr lang="zh-CN" altLang="en-US" sz="2400" dirty="0">
              <a:solidFill>
                <a:srgbClr val="0070C0"/>
              </a:solidFill>
              <a:latin typeface="Arial" charset="0"/>
              <a:cs typeface="Arial" charset="0"/>
            </a:endParaRPr>
          </a:p>
        </p:txBody>
      </p:sp>
      <p:sp>
        <p:nvSpPr>
          <p:cNvPr id="42" name="椭圆 41"/>
          <p:cNvSpPr/>
          <p:nvPr/>
        </p:nvSpPr>
        <p:spPr bwMode="auto">
          <a:xfrm>
            <a:off x="7888165" y="36520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3" name="椭圆 42"/>
          <p:cNvSpPr/>
          <p:nvPr/>
        </p:nvSpPr>
        <p:spPr bwMode="auto">
          <a:xfrm>
            <a:off x="7456165" y="42268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2</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4" name="椭圆 43"/>
          <p:cNvSpPr/>
          <p:nvPr/>
        </p:nvSpPr>
        <p:spPr bwMode="auto">
          <a:xfrm>
            <a:off x="6592165" y="42268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5" name="椭圆 44"/>
          <p:cNvSpPr/>
          <p:nvPr/>
        </p:nvSpPr>
        <p:spPr bwMode="auto">
          <a:xfrm>
            <a:off x="8320165" y="42268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6" name="椭圆 45"/>
          <p:cNvSpPr/>
          <p:nvPr/>
        </p:nvSpPr>
        <p:spPr bwMode="auto">
          <a:xfrm>
            <a:off x="7024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3</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7" name="椭圆 46"/>
          <p:cNvSpPr/>
          <p:nvPr/>
        </p:nvSpPr>
        <p:spPr bwMode="auto">
          <a:xfrm>
            <a:off x="6160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8" name="椭圆 47"/>
          <p:cNvSpPr/>
          <p:nvPr/>
        </p:nvSpPr>
        <p:spPr bwMode="auto">
          <a:xfrm>
            <a:off x="7888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3</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9" name="椭圆 48"/>
          <p:cNvSpPr/>
          <p:nvPr/>
        </p:nvSpPr>
        <p:spPr bwMode="auto">
          <a:xfrm>
            <a:off x="8752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0" name="椭圆 49"/>
          <p:cNvSpPr/>
          <p:nvPr/>
        </p:nvSpPr>
        <p:spPr bwMode="auto">
          <a:xfrm>
            <a:off x="7456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6</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1" name="椭圆 50"/>
          <p:cNvSpPr/>
          <p:nvPr/>
        </p:nvSpPr>
        <p:spPr bwMode="auto">
          <a:xfrm>
            <a:off x="6592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4</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2" name="椭圆 51"/>
          <p:cNvSpPr/>
          <p:nvPr/>
        </p:nvSpPr>
        <p:spPr bwMode="auto">
          <a:xfrm>
            <a:off x="5728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3" name="椭圆 52"/>
          <p:cNvSpPr/>
          <p:nvPr/>
        </p:nvSpPr>
        <p:spPr bwMode="auto">
          <a:xfrm>
            <a:off x="8320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4</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4" name="椭圆 53"/>
          <p:cNvSpPr/>
          <p:nvPr/>
        </p:nvSpPr>
        <p:spPr bwMode="auto">
          <a:xfrm>
            <a:off x="9184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cxnSp>
        <p:nvCxnSpPr>
          <p:cNvPr id="55" name="直接连接符 54"/>
          <p:cNvCxnSpPr>
            <a:stCxn id="40" idx="3"/>
            <a:endCxn id="41" idx="7"/>
          </p:cNvCxnSpPr>
          <p:nvPr/>
        </p:nvCxnSpPr>
        <p:spPr bwMode="auto">
          <a:xfrm flipH="1">
            <a:off x="7392900" y="34458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6" name="直接连接符 55"/>
          <p:cNvCxnSpPr>
            <a:stCxn id="40" idx="5"/>
            <a:endCxn id="42" idx="1"/>
          </p:cNvCxnSpPr>
          <p:nvPr/>
        </p:nvCxnSpPr>
        <p:spPr bwMode="auto">
          <a:xfrm>
            <a:off x="7824900" y="34458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7" name="直接连接符 56"/>
          <p:cNvCxnSpPr>
            <a:stCxn id="41" idx="5"/>
            <a:endCxn id="43" idx="1"/>
          </p:cNvCxnSpPr>
          <p:nvPr/>
        </p:nvCxnSpPr>
        <p:spPr bwMode="auto">
          <a:xfrm>
            <a:off x="7392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8" name="直接连接符 57"/>
          <p:cNvCxnSpPr>
            <a:stCxn id="41" idx="3"/>
            <a:endCxn id="44" idx="7"/>
          </p:cNvCxnSpPr>
          <p:nvPr/>
        </p:nvCxnSpPr>
        <p:spPr bwMode="auto">
          <a:xfrm flipH="1">
            <a:off x="6960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9" name="直接连接符 58"/>
          <p:cNvCxnSpPr>
            <a:stCxn id="42" idx="5"/>
            <a:endCxn id="45" idx="1"/>
          </p:cNvCxnSpPr>
          <p:nvPr/>
        </p:nvCxnSpPr>
        <p:spPr bwMode="auto">
          <a:xfrm>
            <a:off x="8256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0" name="直接连接符 59"/>
          <p:cNvCxnSpPr>
            <a:stCxn id="42" idx="3"/>
            <a:endCxn id="43" idx="7"/>
          </p:cNvCxnSpPr>
          <p:nvPr/>
        </p:nvCxnSpPr>
        <p:spPr bwMode="auto">
          <a:xfrm flipH="1">
            <a:off x="7824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1" name="直接连接符 60"/>
          <p:cNvCxnSpPr>
            <a:stCxn id="43" idx="3"/>
            <a:endCxn id="46" idx="7"/>
          </p:cNvCxnSpPr>
          <p:nvPr/>
        </p:nvCxnSpPr>
        <p:spPr bwMode="auto">
          <a:xfrm flipH="1">
            <a:off x="7392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2" name="直接连接符 61"/>
          <p:cNvCxnSpPr>
            <a:stCxn id="43" idx="5"/>
            <a:endCxn id="48" idx="1"/>
          </p:cNvCxnSpPr>
          <p:nvPr/>
        </p:nvCxnSpPr>
        <p:spPr bwMode="auto">
          <a:xfrm>
            <a:off x="7824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3" name="直接连接符 62"/>
          <p:cNvCxnSpPr>
            <a:stCxn id="44" idx="5"/>
            <a:endCxn id="46" idx="1"/>
          </p:cNvCxnSpPr>
          <p:nvPr/>
        </p:nvCxnSpPr>
        <p:spPr bwMode="auto">
          <a:xfrm>
            <a:off x="6960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4" name="直接连接符 63"/>
          <p:cNvCxnSpPr>
            <a:stCxn id="44" idx="3"/>
            <a:endCxn id="47" idx="7"/>
          </p:cNvCxnSpPr>
          <p:nvPr/>
        </p:nvCxnSpPr>
        <p:spPr bwMode="auto">
          <a:xfrm flipH="1">
            <a:off x="6528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5" name="直接连接符 64"/>
          <p:cNvCxnSpPr>
            <a:stCxn id="45" idx="3"/>
            <a:endCxn id="48" idx="7"/>
          </p:cNvCxnSpPr>
          <p:nvPr/>
        </p:nvCxnSpPr>
        <p:spPr bwMode="auto">
          <a:xfrm flipH="1">
            <a:off x="8256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6" name="直接连接符 65"/>
          <p:cNvCxnSpPr>
            <a:stCxn id="45" idx="5"/>
            <a:endCxn id="49" idx="1"/>
          </p:cNvCxnSpPr>
          <p:nvPr/>
        </p:nvCxnSpPr>
        <p:spPr bwMode="auto">
          <a:xfrm>
            <a:off x="8688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7" name="直接连接符 66"/>
          <p:cNvCxnSpPr>
            <a:stCxn id="46" idx="3"/>
            <a:endCxn id="51" idx="7"/>
          </p:cNvCxnSpPr>
          <p:nvPr/>
        </p:nvCxnSpPr>
        <p:spPr bwMode="auto">
          <a:xfrm flipH="1">
            <a:off x="6960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8" name="直接连接符 67"/>
          <p:cNvCxnSpPr>
            <a:stCxn id="46" idx="5"/>
            <a:endCxn id="50" idx="1"/>
          </p:cNvCxnSpPr>
          <p:nvPr/>
        </p:nvCxnSpPr>
        <p:spPr bwMode="auto">
          <a:xfrm>
            <a:off x="7392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9" name="直接连接符 68"/>
          <p:cNvCxnSpPr>
            <a:stCxn id="48" idx="3"/>
            <a:endCxn id="50" idx="7"/>
          </p:cNvCxnSpPr>
          <p:nvPr/>
        </p:nvCxnSpPr>
        <p:spPr bwMode="auto">
          <a:xfrm flipH="1">
            <a:off x="7824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0" name="直接连接符 69"/>
          <p:cNvCxnSpPr>
            <a:stCxn id="48" idx="5"/>
            <a:endCxn id="53" idx="1"/>
          </p:cNvCxnSpPr>
          <p:nvPr/>
        </p:nvCxnSpPr>
        <p:spPr bwMode="auto">
          <a:xfrm>
            <a:off x="8256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1" name="直接连接符 70"/>
          <p:cNvCxnSpPr>
            <a:stCxn id="49" idx="3"/>
            <a:endCxn id="53" idx="7"/>
          </p:cNvCxnSpPr>
          <p:nvPr/>
        </p:nvCxnSpPr>
        <p:spPr bwMode="auto">
          <a:xfrm flipH="1">
            <a:off x="8688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2" name="直接连接符 71"/>
          <p:cNvCxnSpPr>
            <a:stCxn id="49" idx="5"/>
            <a:endCxn id="54" idx="1"/>
          </p:cNvCxnSpPr>
          <p:nvPr/>
        </p:nvCxnSpPr>
        <p:spPr bwMode="auto">
          <a:xfrm>
            <a:off x="9120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3" name="直接连接符 72"/>
          <p:cNvCxnSpPr>
            <a:stCxn id="47" idx="5"/>
            <a:endCxn id="51" idx="1"/>
          </p:cNvCxnSpPr>
          <p:nvPr/>
        </p:nvCxnSpPr>
        <p:spPr bwMode="auto">
          <a:xfrm>
            <a:off x="6528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4" name="直接连接符 73"/>
          <p:cNvCxnSpPr>
            <a:stCxn id="47" idx="3"/>
            <a:endCxn id="52" idx="7"/>
          </p:cNvCxnSpPr>
          <p:nvPr/>
        </p:nvCxnSpPr>
        <p:spPr bwMode="auto">
          <a:xfrm flipH="1">
            <a:off x="6096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
        <p:nvSpPr>
          <p:cNvPr id="3" name="文本框 2"/>
          <p:cNvSpPr txBox="1"/>
          <p:nvPr/>
        </p:nvSpPr>
        <p:spPr>
          <a:xfrm>
            <a:off x="6376165" y="5995425"/>
            <a:ext cx="2589645" cy="369332"/>
          </a:xfrm>
          <a:prstGeom prst="rect">
            <a:avLst/>
          </a:prstGeom>
          <a:noFill/>
        </p:spPr>
        <p:txBody>
          <a:bodyPr wrap="square" rtlCol="0">
            <a:spAutoFit/>
          </a:bodyPr>
          <a:lstStyle/>
          <a:p>
            <a:r>
              <a:rPr lang="zh-CN" altLang="en-US" b="1" dirty="0">
                <a:solidFill>
                  <a:srgbClr val="0070C0"/>
                </a:solidFill>
              </a:rPr>
              <a:t>每个子问题的计算次数</a:t>
            </a:r>
          </a:p>
        </p:txBody>
      </p:sp>
    </p:spTree>
    <p:extLst>
      <p:ext uri="{BB962C8B-B14F-4D97-AF65-F5344CB8AC3E}">
        <p14:creationId xmlns:p14="http://schemas.microsoft.com/office/powerpoint/2010/main" val="861401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8</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“记忆化” </a:t>
            </a:r>
          </a:p>
        </p:txBody>
      </p:sp>
      <mc:AlternateContent xmlns:mc="http://schemas.openxmlformats.org/markup-compatibility/2006" xmlns:a14="http://schemas.microsoft.com/office/drawing/2010/main">
        <mc:Choice Requires="a14">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zh-CN" altLang="en-US" sz="3200" dirty="0">
                    <a:latin typeface="华文中宋" panose="02010600040101010101" pitchFamily="2" charset="-122"/>
                    <a:ea typeface="华文中宋" panose="02010600040101010101" pitchFamily="2" charset="-122"/>
                  </a:rPr>
                  <a:t>递归 </a:t>
                </a:r>
                <a:r>
                  <a:rPr lang="en-US" altLang="zh-CN" sz="3200" dirty="0">
                    <a:latin typeface="华文中宋" panose="02010600040101010101" pitchFamily="2" charset="-122"/>
                    <a:ea typeface="华文中宋" panose="02010600040101010101" pitchFamily="2" charset="-122"/>
                    <a:sym typeface="Wingdings" panose="05000000000000000000" pitchFamily="2" charset="2"/>
                  </a:rPr>
                  <a:t> “</a:t>
                </a:r>
                <a:r>
                  <a:rPr lang="zh-CN" altLang="en-US" sz="3200" dirty="0">
                    <a:latin typeface="华文中宋" panose="02010600040101010101" pitchFamily="2" charset="-122"/>
                    <a:ea typeface="华文中宋" panose="02010600040101010101" pitchFamily="2" charset="-122"/>
                    <a:sym typeface="Wingdings" panose="05000000000000000000" pitchFamily="2" charset="2"/>
                  </a:rPr>
                  <a:t>记忆化”</a:t>
                </a:r>
                <a:endParaRPr lang="zh-CN" altLang="en-US" sz="3200"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dirty="0"/>
                  <a:t>避免重复计算，保证每个</a:t>
                </a:r>
                <a:r>
                  <a:rPr lang="en-US" altLang="zh-CN" sz="2800" dirty="0" err="1"/>
                  <a:t>maxSum</a:t>
                </a:r>
                <a:r>
                  <a:rPr lang="zh-CN" altLang="en-US" sz="2800" dirty="0"/>
                  <a:t>值只计算一次</a:t>
                </a:r>
                <a:endParaRPr lang="en-US" altLang="zh-CN" sz="2800" dirty="0"/>
              </a:p>
              <a:p>
                <a:pPr marL="908050" lvl="1" indent="-436563" eaLnBrk="1" hangingPunct="1">
                  <a:lnSpc>
                    <a:spcPct val="140000"/>
                  </a:lnSpc>
                  <a:spcBef>
                    <a:spcPct val="30000"/>
                  </a:spcBef>
                </a:pPr>
                <a:r>
                  <a:rPr lang="zh-CN" altLang="en-US" sz="2800" dirty="0"/>
                  <a:t>时间复杂度：</a:t>
                </a:r>
                <a14:m>
                  <m:oMath xmlns:m="http://schemas.openxmlformats.org/officeDocument/2006/math">
                    <m:r>
                      <a:rPr lang="en-US" altLang="zh-CN" sz="2800" i="1">
                        <a:latin typeface="Cambria Math" panose="02040503050406030204" pitchFamily="18" charset="0"/>
                      </a:rPr>
                      <m:t>𝑶</m:t>
                    </m:r>
                    <m:d>
                      <m:dPr>
                        <m:ctrlPr>
                          <a:rPr lang="en-US" altLang="zh-CN" sz="2800" i="1">
                            <a:latin typeface="Cambria Math" panose="02040503050406030204" pitchFamily="18" charset="0"/>
                          </a:rPr>
                        </m:ctrlPr>
                      </m:dPr>
                      <m:e>
                        <m:sSup>
                          <m:sSupPr>
                            <m:ctrlPr>
                              <a:rPr lang="en-US" altLang="zh-CN" sz="2800" i="1">
                                <a:latin typeface="Cambria Math" panose="02040503050406030204" pitchFamily="18" charset="0"/>
                              </a:rPr>
                            </m:ctrlPr>
                          </m:sSupPr>
                          <m:e>
                            <m:r>
                              <a:rPr lang="en-US" altLang="zh-CN" sz="2800" b="1" i="1" smtClean="0">
                                <a:latin typeface="Cambria Math" panose="02040503050406030204" pitchFamily="18" charset="0"/>
                              </a:rPr>
                              <m:t>𝒏</m:t>
                            </m:r>
                          </m:e>
                          <m:sup>
                            <m:r>
                              <a:rPr lang="en-US" altLang="zh-CN" sz="2800" b="1" i="1" smtClean="0">
                                <a:latin typeface="Cambria Math" panose="02040503050406030204" pitchFamily="18" charset="0"/>
                              </a:rPr>
                              <m:t>𝟐</m:t>
                            </m:r>
                          </m:sup>
                        </m:sSup>
                      </m:e>
                    </m:d>
                  </m:oMath>
                </a14:m>
                <a:endParaRPr lang="zh-CN" altLang="en-US" sz="2800" dirty="0"/>
              </a:p>
            </p:txBody>
          </p:sp>
        </mc:Choice>
        <mc:Fallback xmlns="">
          <p:sp>
            <p:nvSpPr>
              <p:cNvPr id="31747" name="Rectangle 3"/>
              <p:cNvSpPr>
                <a:spLocks noGrp="1" noRot="1" noChangeAspect="1" noMove="1" noResize="1" noEditPoints="1" noAdjustHandles="1" noChangeArrowheads="1" noChangeShapeType="1" noTextEdit="1"/>
              </p:cNvSpPr>
              <p:nvPr>
                <p:ph type="body" idx="1"/>
              </p:nvPr>
            </p:nvSpPr>
            <p:spPr>
              <a:xfrm>
                <a:off x="1847851" y="981076"/>
                <a:ext cx="9656794" cy="5256213"/>
              </a:xfrm>
              <a:blipFill rotWithShape="0">
                <a:blip r:embed="rId2"/>
                <a:stretch>
                  <a:fillRect l="-1389"/>
                </a:stretch>
              </a:blipFill>
            </p:spPr>
            <p:txBody>
              <a:bodyPr/>
              <a:lstStyle/>
              <a:p>
                <a:r>
                  <a:rPr lang="zh-CN" altLang="en-US">
                    <a:noFill/>
                  </a:rPr>
                  <a:t> </a:t>
                </a:r>
              </a:p>
            </p:txBody>
          </p:sp>
        </mc:Fallback>
      </mc:AlternateContent>
      <p:sp>
        <p:nvSpPr>
          <p:cNvPr id="40" name="椭圆 39"/>
          <p:cNvSpPr/>
          <p:nvPr/>
        </p:nvSpPr>
        <p:spPr bwMode="auto">
          <a:xfrm>
            <a:off x="7456165" y="30771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1" name="椭圆 40"/>
          <p:cNvSpPr/>
          <p:nvPr/>
        </p:nvSpPr>
        <p:spPr bwMode="auto">
          <a:xfrm>
            <a:off x="7024165" y="36520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algn="ctr" fontAlgn="base">
              <a:spcBef>
                <a:spcPct val="50000"/>
              </a:spcBef>
              <a:spcAft>
                <a:spcPct val="0"/>
              </a:spcAft>
            </a:pPr>
            <a:r>
              <a:rPr lang="en-US" altLang="zh-CN" sz="2400" dirty="0">
                <a:solidFill>
                  <a:srgbClr val="0070C0"/>
                </a:solidFill>
                <a:latin typeface="Arial" charset="0"/>
                <a:cs typeface="Arial" charset="0"/>
              </a:rPr>
              <a:t>1</a:t>
            </a:r>
            <a:endParaRPr lang="zh-CN" altLang="en-US" sz="2400" dirty="0">
              <a:solidFill>
                <a:srgbClr val="0070C0"/>
              </a:solidFill>
              <a:latin typeface="Arial" charset="0"/>
              <a:cs typeface="Arial" charset="0"/>
            </a:endParaRPr>
          </a:p>
        </p:txBody>
      </p:sp>
      <p:sp>
        <p:nvSpPr>
          <p:cNvPr id="42" name="椭圆 41"/>
          <p:cNvSpPr/>
          <p:nvPr/>
        </p:nvSpPr>
        <p:spPr bwMode="auto">
          <a:xfrm>
            <a:off x="7888165" y="36520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3" name="椭圆 42"/>
          <p:cNvSpPr/>
          <p:nvPr/>
        </p:nvSpPr>
        <p:spPr bwMode="auto">
          <a:xfrm>
            <a:off x="7456165" y="42268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4" name="椭圆 43"/>
          <p:cNvSpPr/>
          <p:nvPr/>
        </p:nvSpPr>
        <p:spPr bwMode="auto">
          <a:xfrm>
            <a:off x="6592165" y="42268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5" name="椭圆 44"/>
          <p:cNvSpPr/>
          <p:nvPr/>
        </p:nvSpPr>
        <p:spPr bwMode="auto">
          <a:xfrm>
            <a:off x="8320165" y="42268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6" name="椭圆 45"/>
          <p:cNvSpPr/>
          <p:nvPr/>
        </p:nvSpPr>
        <p:spPr bwMode="auto">
          <a:xfrm>
            <a:off x="7024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7" name="椭圆 46"/>
          <p:cNvSpPr/>
          <p:nvPr/>
        </p:nvSpPr>
        <p:spPr bwMode="auto">
          <a:xfrm>
            <a:off x="6160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8" name="椭圆 47"/>
          <p:cNvSpPr/>
          <p:nvPr/>
        </p:nvSpPr>
        <p:spPr bwMode="auto">
          <a:xfrm>
            <a:off x="7888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9" name="椭圆 48"/>
          <p:cNvSpPr/>
          <p:nvPr/>
        </p:nvSpPr>
        <p:spPr bwMode="auto">
          <a:xfrm>
            <a:off x="8752165" y="48017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0" name="椭圆 49"/>
          <p:cNvSpPr/>
          <p:nvPr/>
        </p:nvSpPr>
        <p:spPr bwMode="auto">
          <a:xfrm>
            <a:off x="7456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1" name="椭圆 50"/>
          <p:cNvSpPr/>
          <p:nvPr/>
        </p:nvSpPr>
        <p:spPr bwMode="auto">
          <a:xfrm>
            <a:off x="6592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2" name="椭圆 51"/>
          <p:cNvSpPr/>
          <p:nvPr/>
        </p:nvSpPr>
        <p:spPr bwMode="auto">
          <a:xfrm>
            <a:off x="5728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3" name="椭圆 52"/>
          <p:cNvSpPr/>
          <p:nvPr/>
        </p:nvSpPr>
        <p:spPr bwMode="auto">
          <a:xfrm>
            <a:off x="8320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4" name="椭圆 53"/>
          <p:cNvSpPr/>
          <p:nvPr/>
        </p:nvSpPr>
        <p:spPr bwMode="auto">
          <a:xfrm>
            <a:off x="9184165" y="53766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cxnSp>
        <p:nvCxnSpPr>
          <p:cNvPr id="55" name="直接连接符 54"/>
          <p:cNvCxnSpPr>
            <a:stCxn id="40" idx="3"/>
            <a:endCxn id="41" idx="7"/>
          </p:cNvCxnSpPr>
          <p:nvPr/>
        </p:nvCxnSpPr>
        <p:spPr bwMode="auto">
          <a:xfrm flipH="1">
            <a:off x="7392900" y="34458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6" name="直接连接符 55"/>
          <p:cNvCxnSpPr>
            <a:stCxn id="40" idx="5"/>
            <a:endCxn id="42" idx="1"/>
          </p:cNvCxnSpPr>
          <p:nvPr/>
        </p:nvCxnSpPr>
        <p:spPr bwMode="auto">
          <a:xfrm>
            <a:off x="7824900" y="34458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7" name="直接连接符 56"/>
          <p:cNvCxnSpPr>
            <a:stCxn id="41" idx="5"/>
            <a:endCxn id="43" idx="1"/>
          </p:cNvCxnSpPr>
          <p:nvPr/>
        </p:nvCxnSpPr>
        <p:spPr bwMode="auto">
          <a:xfrm>
            <a:off x="7392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8" name="直接连接符 57"/>
          <p:cNvCxnSpPr>
            <a:stCxn id="41" idx="3"/>
            <a:endCxn id="44" idx="7"/>
          </p:cNvCxnSpPr>
          <p:nvPr/>
        </p:nvCxnSpPr>
        <p:spPr bwMode="auto">
          <a:xfrm flipH="1">
            <a:off x="6960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9" name="直接连接符 58"/>
          <p:cNvCxnSpPr>
            <a:stCxn id="42" idx="5"/>
            <a:endCxn id="45" idx="1"/>
          </p:cNvCxnSpPr>
          <p:nvPr/>
        </p:nvCxnSpPr>
        <p:spPr bwMode="auto">
          <a:xfrm>
            <a:off x="8256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0" name="直接连接符 59"/>
          <p:cNvCxnSpPr>
            <a:stCxn id="42" idx="3"/>
            <a:endCxn id="43" idx="7"/>
          </p:cNvCxnSpPr>
          <p:nvPr/>
        </p:nvCxnSpPr>
        <p:spPr bwMode="auto">
          <a:xfrm flipH="1">
            <a:off x="7824900" y="40207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1" name="直接连接符 60"/>
          <p:cNvCxnSpPr>
            <a:stCxn id="43" idx="3"/>
            <a:endCxn id="46" idx="7"/>
          </p:cNvCxnSpPr>
          <p:nvPr/>
        </p:nvCxnSpPr>
        <p:spPr bwMode="auto">
          <a:xfrm flipH="1">
            <a:off x="7392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2" name="直接连接符 61"/>
          <p:cNvCxnSpPr>
            <a:stCxn id="43" idx="5"/>
            <a:endCxn id="48" idx="1"/>
          </p:cNvCxnSpPr>
          <p:nvPr/>
        </p:nvCxnSpPr>
        <p:spPr bwMode="auto">
          <a:xfrm>
            <a:off x="7824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3" name="直接连接符 62"/>
          <p:cNvCxnSpPr>
            <a:stCxn id="44" idx="5"/>
            <a:endCxn id="46" idx="1"/>
          </p:cNvCxnSpPr>
          <p:nvPr/>
        </p:nvCxnSpPr>
        <p:spPr bwMode="auto">
          <a:xfrm>
            <a:off x="6960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4" name="直接连接符 63"/>
          <p:cNvCxnSpPr>
            <a:stCxn id="44" idx="3"/>
            <a:endCxn id="47" idx="7"/>
          </p:cNvCxnSpPr>
          <p:nvPr/>
        </p:nvCxnSpPr>
        <p:spPr bwMode="auto">
          <a:xfrm flipH="1">
            <a:off x="6528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5" name="直接连接符 64"/>
          <p:cNvCxnSpPr>
            <a:stCxn id="45" idx="3"/>
            <a:endCxn id="48" idx="7"/>
          </p:cNvCxnSpPr>
          <p:nvPr/>
        </p:nvCxnSpPr>
        <p:spPr bwMode="auto">
          <a:xfrm flipH="1">
            <a:off x="8256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6" name="直接连接符 65"/>
          <p:cNvCxnSpPr>
            <a:stCxn id="45" idx="5"/>
            <a:endCxn id="49" idx="1"/>
          </p:cNvCxnSpPr>
          <p:nvPr/>
        </p:nvCxnSpPr>
        <p:spPr bwMode="auto">
          <a:xfrm>
            <a:off x="8688900" y="45956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7" name="直接连接符 66"/>
          <p:cNvCxnSpPr>
            <a:stCxn id="46" idx="3"/>
            <a:endCxn id="51" idx="7"/>
          </p:cNvCxnSpPr>
          <p:nvPr/>
        </p:nvCxnSpPr>
        <p:spPr bwMode="auto">
          <a:xfrm flipH="1">
            <a:off x="6960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8" name="直接连接符 67"/>
          <p:cNvCxnSpPr>
            <a:stCxn id="46" idx="5"/>
            <a:endCxn id="50" idx="1"/>
          </p:cNvCxnSpPr>
          <p:nvPr/>
        </p:nvCxnSpPr>
        <p:spPr bwMode="auto">
          <a:xfrm>
            <a:off x="7392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9" name="直接连接符 68"/>
          <p:cNvCxnSpPr>
            <a:stCxn id="48" idx="3"/>
            <a:endCxn id="50" idx="7"/>
          </p:cNvCxnSpPr>
          <p:nvPr/>
        </p:nvCxnSpPr>
        <p:spPr bwMode="auto">
          <a:xfrm flipH="1">
            <a:off x="7824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0" name="直接连接符 69"/>
          <p:cNvCxnSpPr>
            <a:stCxn id="48" idx="5"/>
            <a:endCxn id="53" idx="1"/>
          </p:cNvCxnSpPr>
          <p:nvPr/>
        </p:nvCxnSpPr>
        <p:spPr bwMode="auto">
          <a:xfrm>
            <a:off x="8256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1" name="直接连接符 70"/>
          <p:cNvCxnSpPr>
            <a:stCxn id="49" idx="3"/>
            <a:endCxn id="53" idx="7"/>
          </p:cNvCxnSpPr>
          <p:nvPr/>
        </p:nvCxnSpPr>
        <p:spPr bwMode="auto">
          <a:xfrm flipH="1">
            <a:off x="8688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2" name="直接连接符 71"/>
          <p:cNvCxnSpPr>
            <a:stCxn id="49" idx="5"/>
            <a:endCxn id="54" idx="1"/>
          </p:cNvCxnSpPr>
          <p:nvPr/>
        </p:nvCxnSpPr>
        <p:spPr bwMode="auto">
          <a:xfrm>
            <a:off x="9120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3" name="直接连接符 72"/>
          <p:cNvCxnSpPr>
            <a:stCxn id="47" idx="5"/>
            <a:endCxn id="51" idx="1"/>
          </p:cNvCxnSpPr>
          <p:nvPr/>
        </p:nvCxnSpPr>
        <p:spPr bwMode="auto">
          <a:xfrm>
            <a:off x="6528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4" name="直接连接符 73"/>
          <p:cNvCxnSpPr>
            <a:stCxn id="47" idx="3"/>
            <a:endCxn id="52" idx="7"/>
          </p:cNvCxnSpPr>
          <p:nvPr/>
        </p:nvCxnSpPr>
        <p:spPr bwMode="auto">
          <a:xfrm flipH="1">
            <a:off x="6096900" y="51705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
        <p:nvSpPr>
          <p:cNvPr id="75" name="文本框 74"/>
          <p:cNvSpPr txBox="1"/>
          <p:nvPr/>
        </p:nvSpPr>
        <p:spPr>
          <a:xfrm>
            <a:off x="6378520" y="5995425"/>
            <a:ext cx="2589645" cy="369332"/>
          </a:xfrm>
          <a:prstGeom prst="rect">
            <a:avLst/>
          </a:prstGeom>
          <a:noFill/>
        </p:spPr>
        <p:txBody>
          <a:bodyPr wrap="square" rtlCol="0">
            <a:spAutoFit/>
          </a:bodyPr>
          <a:lstStyle/>
          <a:p>
            <a:r>
              <a:rPr lang="zh-CN" altLang="en-US" b="1" dirty="0">
                <a:solidFill>
                  <a:srgbClr val="0070C0"/>
                </a:solidFill>
              </a:rPr>
              <a:t>每个子问题的计算次数</a:t>
            </a:r>
          </a:p>
        </p:txBody>
      </p:sp>
    </p:spTree>
    <p:extLst>
      <p:ext uri="{BB962C8B-B14F-4D97-AF65-F5344CB8AC3E}">
        <p14:creationId xmlns:p14="http://schemas.microsoft.com/office/powerpoint/2010/main" val="225147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9</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“记忆化” </a:t>
            </a:r>
            <a:endParaRPr lang="en-US" altLang="zh-CN" dirty="0"/>
          </a:p>
        </p:txBody>
      </p:sp>
      <p:sp>
        <p:nvSpPr>
          <p:cNvPr id="22531" name="Rectangle 3"/>
          <p:cNvSpPr>
            <a:spLocks noGrp="1" noChangeArrowheads="1"/>
          </p:cNvSpPr>
          <p:nvPr>
            <p:ph type="body" idx="1"/>
          </p:nvPr>
        </p:nvSpPr>
        <p:spPr>
          <a:xfrm>
            <a:off x="1703389" y="979489"/>
            <a:ext cx="8785225" cy="5616574"/>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maxSum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a:solidFill>
                  <a:srgbClr val="C00000"/>
                </a:solidFill>
                <a:latin typeface="Garamond" panose="02020404030301010803" pitchFamily="18" charset="0"/>
              </a:rPr>
              <a:t>if(</a:t>
            </a:r>
            <a:r>
              <a:rPr kumimoji="1" lang="en-US" altLang="zh-CN" sz="1800" dirty="0" err="1">
                <a:solidFill>
                  <a:srgbClr val="C00000"/>
                </a:solidFill>
                <a:latin typeface="Garamond" panose="02020404030301010803" pitchFamily="18" charset="0"/>
              </a:rPr>
              <a:t>max_sum</a:t>
            </a:r>
            <a:r>
              <a:rPr kumimoji="1" lang="en-US" altLang="zh-CN" sz="1800" dirty="0">
                <a:solidFill>
                  <a:srgbClr val="C00000"/>
                </a:solidFill>
                <a:latin typeface="Garamond" panose="02020404030301010803" pitchFamily="18" charset="0"/>
              </a:rPr>
              <a:t>[</a:t>
            </a:r>
            <a:r>
              <a:rPr kumimoji="1" lang="en-US" altLang="zh-CN" sz="1800" dirty="0" err="1">
                <a:solidFill>
                  <a:srgbClr val="C00000"/>
                </a:solidFill>
                <a:latin typeface="Garamond" panose="02020404030301010803" pitchFamily="18" charset="0"/>
              </a:rPr>
              <a:t>i</a:t>
            </a:r>
            <a:r>
              <a:rPr kumimoji="1" lang="en-US" altLang="zh-CN" sz="1800" dirty="0">
                <a:solidFill>
                  <a:srgbClr val="C00000"/>
                </a:solidFill>
                <a:latin typeface="Garamond" panose="02020404030301010803" pitchFamily="18" charset="0"/>
              </a:rPr>
              <a:t>][j] != -1)        // </a:t>
            </a:r>
            <a:r>
              <a:rPr kumimoji="1" lang="zh-CN" altLang="en-US" sz="1800" dirty="0">
                <a:solidFill>
                  <a:srgbClr val="C00000"/>
                </a:solidFill>
                <a:latin typeface="Garamond" panose="02020404030301010803" pitchFamily="18" charset="0"/>
              </a:rPr>
              <a:t>“记忆化”，保证只计算一次</a:t>
            </a:r>
            <a:endParaRPr kumimoji="1" lang="en-US" altLang="zh-CN" sz="1800" dirty="0">
              <a:solidFill>
                <a:srgbClr val="C00000"/>
              </a:solidFill>
              <a:latin typeface="Garamond" panose="02020404030301010803" pitchFamily="18" charset="0"/>
            </a:endParaRPr>
          </a:p>
          <a:p>
            <a:pPr eaLnBrk="1" hangingPunct="1">
              <a:lnSpc>
                <a:spcPct val="140000"/>
              </a:lnSpc>
              <a:spcBef>
                <a:spcPct val="30000"/>
              </a:spcBef>
              <a:buNone/>
            </a:pPr>
            <a:r>
              <a:rPr kumimoji="1" lang="en-US" altLang="zh-CN" sz="1800" dirty="0">
                <a:solidFill>
                  <a:srgbClr val="C00000"/>
                </a:solidFill>
                <a:latin typeface="Garamond" panose="02020404030301010803" pitchFamily="18" charset="0"/>
              </a:rPr>
              <a:t>        return </a:t>
            </a:r>
            <a:r>
              <a:rPr kumimoji="1" lang="en-US" altLang="zh-CN" sz="1800" dirty="0" err="1">
                <a:solidFill>
                  <a:srgbClr val="C00000"/>
                </a:solidFill>
                <a:latin typeface="Garamond" panose="02020404030301010803" pitchFamily="18" charset="0"/>
              </a:rPr>
              <a:t>max_sum</a:t>
            </a:r>
            <a:r>
              <a:rPr kumimoji="1" lang="en-US" altLang="zh-CN" sz="1800" dirty="0">
                <a:solidFill>
                  <a:srgbClr val="C00000"/>
                </a:solidFill>
                <a:latin typeface="Garamond" panose="02020404030301010803" pitchFamily="18" charset="0"/>
              </a:rPr>
              <a:t>[</a:t>
            </a:r>
            <a:r>
              <a:rPr kumimoji="1" lang="en-US" altLang="zh-CN" sz="1800" dirty="0" err="1">
                <a:solidFill>
                  <a:srgbClr val="C00000"/>
                </a:solidFill>
                <a:latin typeface="Garamond" panose="02020404030301010803" pitchFamily="18" charset="0"/>
              </a:rPr>
              <a:t>i</a:t>
            </a:r>
            <a:r>
              <a:rPr kumimoji="1" lang="en-US" altLang="zh-CN" sz="1800" dirty="0">
                <a:solidFill>
                  <a:srgbClr val="C00000"/>
                </a:solidFill>
                <a:latin typeface="Garamond" panose="02020404030301010803" pitchFamily="18" charset="0"/>
              </a:rPr>
              <a:t>][j];</a:t>
            </a:r>
          </a:p>
          <a:p>
            <a:pPr eaLnBrk="1" hangingPunct="1">
              <a:lnSpc>
                <a:spcPct val="140000"/>
              </a:lnSpc>
              <a:spcBef>
                <a:spcPct val="30000"/>
              </a:spcBef>
              <a:buNone/>
            </a:pPr>
            <a:r>
              <a:rPr kumimoji="1" lang="en-US" altLang="zh-CN" sz="1800" dirty="0">
                <a:latin typeface="Garamond" panose="02020404030301010803" pitchFamily="18" charset="0"/>
              </a:rPr>
              <a:t>    if(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n - 1)</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a:t>
            </a:r>
            <a:r>
              <a:rPr kumimoji="1" lang="en-US" altLang="zh-CN" sz="1800" dirty="0" err="1">
                <a:latin typeface="Garamond" panose="02020404030301010803" pitchFamily="18" charset="0"/>
              </a:rPr>
              <a:t>num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a:t>
            </a:r>
          </a:p>
          <a:p>
            <a:pPr eaLnBrk="1" hangingPunct="1">
              <a:lnSpc>
                <a:spcPct val="140000"/>
              </a:lnSpc>
              <a:spcBef>
                <a:spcPct val="30000"/>
              </a:spcBef>
              <a:buNone/>
            </a:pPr>
            <a:r>
              <a:rPr kumimoji="1" lang="en-US" altLang="zh-CN" sz="1800" dirty="0">
                <a:latin typeface="Garamond" panose="02020404030301010803" pitchFamily="18" charset="0"/>
              </a:rPr>
              <a:t>    else {</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x = </a:t>
            </a:r>
            <a:r>
              <a:rPr kumimoji="1" lang="en-US" altLang="zh-CN" sz="1800" dirty="0" err="1">
                <a:latin typeface="Garamond" panose="02020404030301010803" pitchFamily="18" charset="0"/>
              </a:rPr>
              <a:t>maxSum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+ 1, j);</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y = </a:t>
            </a:r>
            <a:r>
              <a:rPr kumimoji="1" lang="en-US" altLang="zh-CN" sz="1800" dirty="0" err="1">
                <a:latin typeface="Garamond" panose="02020404030301010803" pitchFamily="18" charset="0"/>
              </a:rPr>
              <a:t>maxSum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+ 1, j + 1);</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max(x, y) + </a:t>
            </a:r>
            <a:r>
              <a:rPr kumimoji="1" lang="en-US" altLang="zh-CN" sz="1800" dirty="0" err="1">
                <a:latin typeface="Garamond" panose="02020404030301010803" pitchFamily="18" charset="0"/>
              </a:rPr>
              <a:t>num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a:t>
            </a:r>
          </a:p>
          <a:p>
            <a:pPr eaLnBrk="1" hangingPunct="1">
              <a:lnSpc>
                <a:spcPct val="140000"/>
              </a:lnSpc>
              <a:spcBef>
                <a:spcPct val="30000"/>
              </a:spcBef>
              <a:buNone/>
            </a:pP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return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2594805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10</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 </a:t>
            </a:r>
            <a:r>
              <a:rPr lang="en-US" altLang="zh-CN" dirty="0"/>
              <a:t>– </a:t>
            </a:r>
            <a:r>
              <a:rPr lang="zh-CN" altLang="en-US" dirty="0"/>
              <a:t>“记忆化” </a:t>
            </a:r>
            <a:endParaRPr lang="en-US" altLang="zh-CN" dirty="0"/>
          </a:p>
        </p:txBody>
      </p:sp>
      <p:sp>
        <p:nvSpPr>
          <p:cNvPr id="22531" name="Rectangle 3"/>
          <p:cNvSpPr>
            <a:spLocks noGrp="1" noChangeArrowheads="1"/>
          </p:cNvSpPr>
          <p:nvPr>
            <p:ph type="body" idx="1"/>
          </p:nvPr>
        </p:nvSpPr>
        <p:spPr>
          <a:xfrm>
            <a:off x="1703389" y="979489"/>
            <a:ext cx="8785225" cy="5329237"/>
          </a:xfrm>
          <a:noFill/>
        </p:spPr>
        <p:txBody>
          <a:bodyPr/>
          <a:lstStyle/>
          <a:p>
            <a:pPr eaLnBrk="1" hangingPunct="1">
              <a:lnSpc>
                <a:spcPct val="140000"/>
              </a:lnSpc>
              <a:spcBef>
                <a:spcPct val="30000"/>
              </a:spcBef>
              <a:buNone/>
            </a:pP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main()</a:t>
            </a:r>
          </a:p>
          <a:p>
            <a:pPr eaLnBrk="1" hangingPunct="1">
              <a:lnSpc>
                <a:spcPct val="140000"/>
              </a:lnSpc>
              <a:spcBef>
                <a:spcPct val="30000"/>
              </a:spcBef>
              <a:buNone/>
            </a:pP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 load </a:t>
            </a:r>
            <a:r>
              <a:rPr kumimoji="1" lang="en-US" altLang="zh-CN" sz="2000" dirty="0" err="1">
                <a:latin typeface="Garamond" panose="02020404030301010803" pitchFamily="18" charset="0"/>
              </a:rPr>
              <a:t>num</a:t>
            </a:r>
            <a:r>
              <a:rPr kumimoji="1" lang="en-US" altLang="zh-CN" sz="2000" dirty="0">
                <a:latin typeface="Garamond" panose="02020404030301010803" pitchFamily="18" charset="0"/>
              </a:rPr>
              <a:t>[][] …</a:t>
            </a:r>
          </a:p>
          <a:p>
            <a:pPr eaLnBrk="1" hangingPunct="1">
              <a:lnSpc>
                <a:spcPct val="140000"/>
              </a:lnSpc>
              <a:spcBef>
                <a:spcPct val="30000"/>
              </a:spcBef>
              <a:buNone/>
            </a:pPr>
            <a:r>
              <a:rPr kumimoji="1" lang="en-US" altLang="zh-CN" sz="2000" dirty="0">
                <a:latin typeface="Garamond" panose="02020404030301010803" pitchFamily="18" charset="0"/>
              </a:rPr>
              <a:t>    for (</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 0;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&lt; n;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for (</a:t>
            </a: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j = 0; j &lt;= </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j++</a:t>
            </a: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max_sum</a:t>
            </a:r>
            <a:r>
              <a:rPr kumimoji="1" lang="en-US" altLang="zh-CN" sz="2000" dirty="0">
                <a:latin typeface="Garamond" panose="02020404030301010803" pitchFamily="18" charset="0"/>
              </a:rPr>
              <a:t>[</a:t>
            </a:r>
            <a:r>
              <a:rPr kumimoji="1" lang="en-US" altLang="zh-CN" sz="2000" dirty="0" err="1">
                <a:latin typeface="Garamond" panose="02020404030301010803" pitchFamily="18" charset="0"/>
              </a:rPr>
              <a:t>i</a:t>
            </a:r>
            <a:r>
              <a:rPr kumimoji="1" lang="en-US" altLang="zh-CN" sz="2000" dirty="0">
                <a:latin typeface="Garamond" panose="02020404030301010803" pitchFamily="18" charset="0"/>
              </a:rPr>
              <a:t>][j] = -1;      // -1 </a:t>
            </a:r>
            <a:r>
              <a:rPr kumimoji="1" lang="zh-CN" altLang="en-US" sz="2000" dirty="0">
                <a:latin typeface="Garamond" panose="02020404030301010803" pitchFamily="18" charset="0"/>
              </a:rPr>
              <a:t>表示未计算</a:t>
            </a:r>
            <a:endParaRPr kumimoji="1" lang="en-US" altLang="zh-CN" sz="2000" dirty="0">
              <a:latin typeface="Garamond" panose="02020404030301010803" pitchFamily="18" charset="0"/>
            </a:endParaRP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cout</a:t>
            </a:r>
            <a:r>
              <a:rPr kumimoji="1" lang="en-US" altLang="zh-CN" sz="2000" dirty="0">
                <a:latin typeface="Garamond" panose="02020404030301010803" pitchFamily="18" charset="0"/>
              </a:rPr>
              <a:t> &lt;&lt; </a:t>
            </a:r>
            <a:r>
              <a:rPr kumimoji="1" lang="en-US" altLang="zh-CN" sz="2000" dirty="0" err="1">
                <a:latin typeface="Garamond" panose="02020404030301010803" pitchFamily="18" charset="0"/>
              </a:rPr>
              <a:t>maxSum</a:t>
            </a:r>
            <a:r>
              <a:rPr kumimoji="1" lang="en-US" altLang="zh-CN" sz="2000" dirty="0">
                <a:latin typeface="Garamond" panose="02020404030301010803" pitchFamily="18" charset="0"/>
              </a:rPr>
              <a:t>(0, 0) &lt;&lt; </a:t>
            </a:r>
            <a:r>
              <a:rPr kumimoji="1" lang="en-US" altLang="zh-CN" sz="2000" dirty="0" err="1">
                <a:latin typeface="Garamond" panose="02020404030301010803" pitchFamily="18" charset="0"/>
              </a:rPr>
              <a:t>endl</a:t>
            </a: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return 0;</a:t>
            </a:r>
          </a:p>
          <a:p>
            <a:pPr eaLnBrk="1" hangingPunct="1">
              <a:lnSpc>
                <a:spcPct val="140000"/>
              </a:lnSpc>
              <a:spcBef>
                <a:spcPct val="30000"/>
              </a:spcBef>
              <a:buNone/>
            </a:pPr>
            <a:r>
              <a:rPr kumimoji="1" lang="en-US" altLang="zh-CN" sz="2000" dirty="0">
                <a:latin typeface="Garamond" panose="02020404030301010803" pitchFamily="18" charset="0"/>
              </a:rPr>
              <a:t>}</a:t>
            </a:r>
          </a:p>
        </p:txBody>
      </p:sp>
    </p:spTree>
    <p:extLst>
      <p:ext uri="{BB962C8B-B14F-4D97-AF65-F5344CB8AC3E}">
        <p14:creationId xmlns:p14="http://schemas.microsoft.com/office/powerpoint/2010/main" val="189517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11</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数字三角形 </a:t>
            </a:r>
            <a:r>
              <a:rPr lang="en-US" altLang="zh-CN" dirty="0"/>
              <a:t>–</a:t>
            </a:r>
            <a:r>
              <a:rPr lang="zh-CN" altLang="en-US" dirty="0"/>
              <a:t>递推形式 </a:t>
            </a:r>
          </a:p>
        </p:txBody>
      </p:sp>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en-US" altLang="zh-CN" sz="3200" dirty="0">
                <a:latin typeface="华文中宋" panose="02010600040101010101" pitchFamily="2" charset="-122"/>
                <a:ea typeface="华文中宋" panose="02010600040101010101" pitchFamily="2" charset="-122"/>
                <a:sym typeface="Wingdings" panose="05000000000000000000" pitchFamily="2" charset="2"/>
              </a:rPr>
              <a:t>“</a:t>
            </a:r>
            <a:r>
              <a:rPr lang="zh-CN" altLang="en-US" sz="3200" dirty="0">
                <a:latin typeface="华文中宋" panose="02010600040101010101" pitchFamily="2" charset="-122"/>
                <a:ea typeface="华文中宋" panose="02010600040101010101" pitchFamily="2" charset="-122"/>
                <a:sym typeface="Wingdings" panose="05000000000000000000" pitchFamily="2" charset="2"/>
              </a:rPr>
              <a:t>记忆化”</a:t>
            </a:r>
            <a:r>
              <a:rPr lang="zh-CN" altLang="en-US" sz="3200" dirty="0">
                <a:latin typeface="华文中宋" panose="02010600040101010101" pitchFamily="2" charset="-122"/>
                <a:ea typeface="华文中宋" panose="02010600040101010101" pitchFamily="2" charset="-122"/>
              </a:rPr>
              <a:t>递归 </a:t>
            </a:r>
            <a:r>
              <a:rPr lang="en-US" altLang="zh-CN" sz="3200" dirty="0">
                <a:latin typeface="华文中宋" panose="02010600040101010101" pitchFamily="2" charset="-122"/>
                <a:ea typeface="华文中宋" panose="02010600040101010101" pitchFamily="2" charset="-122"/>
                <a:sym typeface="Wingdings" panose="05000000000000000000" pitchFamily="2" charset="2"/>
              </a:rPr>
              <a:t> </a:t>
            </a:r>
            <a:r>
              <a:rPr lang="zh-CN" altLang="en-US" sz="3200" dirty="0">
                <a:latin typeface="华文中宋" panose="02010600040101010101" pitchFamily="2" charset="-122"/>
                <a:ea typeface="华文中宋" panose="02010600040101010101" pitchFamily="2" charset="-122"/>
                <a:sym typeface="Wingdings" panose="05000000000000000000" pitchFamily="2" charset="2"/>
              </a:rPr>
              <a:t>递推形式</a:t>
            </a:r>
            <a:endParaRPr lang="zh-CN" altLang="en-US" sz="3200"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dirty="0"/>
              <a:t>避免递归带来的函数调用开销</a:t>
            </a:r>
            <a:endParaRPr lang="en-US" altLang="zh-CN" sz="2800" dirty="0"/>
          </a:p>
          <a:p>
            <a:pPr marL="908050" lvl="1" indent="-436563" eaLnBrk="1" hangingPunct="1">
              <a:lnSpc>
                <a:spcPct val="140000"/>
              </a:lnSpc>
              <a:spcBef>
                <a:spcPct val="30000"/>
              </a:spcBef>
            </a:pPr>
            <a:r>
              <a:rPr lang="zh-CN" altLang="en-US" sz="2800" dirty="0"/>
              <a:t>“自下而上”依次计算：</a:t>
            </a:r>
            <a:r>
              <a:rPr lang="en-US" altLang="zh-CN" sz="2800" dirty="0" err="1"/>
              <a:t>max_sum</a:t>
            </a:r>
            <a:r>
              <a:rPr lang="en-US" altLang="zh-CN" sz="2800" dirty="0"/>
              <a:t>[</a:t>
            </a:r>
            <a:r>
              <a:rPr lang="en-US" altLang="zh-CN" sz="2800" dirty="0" err="1"/>
              <a:t>i</a:t>
            </a:r>
            <a:r>
              <a:rPr lang="en-US" altLang="zh-CN" sz="2800" dirty="0"/>
              <a:t>][j]</a:t>
            </a:r>
            <a:r>
              <a:rPr lang="zh-CN" altLang="en-US" sz="2800" dirty="0"/>
              <a:t>只与</a:t>
            </a:r>
            <a:r>
              <a:rPr lang="en-US" altLang="zh-CN" sz="2800" dirty="0" err="1"/>
              <a:t>max_sum</a:t>
            </a:r>
            <a:r>
              <a:rPr lang="en-US" altLang="zh-CN" sz="2800" dirty="0"/>
              <a:t>[i+1][j], </a:t>
            </a:r>
            <a:r>
              <a:rPr lang="en-US" altLang="zh-CN" sz="2800" dirty="0" err="1"/>
              <a:t>max_sum</a:t>
            </a:r>
            <a:r>
              <a:rPr lang="en-US" altLang="zh-CN" sz="2800" dirty="0"/>
              <a:t>[i+1][j+1] </a:t>
            </a:r>
            <a:r>
              <a:rPr lang="zh-CN" altLang="en-US" sz="2800" dirty="0"/>
              <a:t>相关</a:t>
            </a:r>
            <a:endParaRPr lang="en-US" altLang="zh-CN" sz="2800" dirty="0"/>
          </a:p>
          <a:p>
            <a:pPr marL="908050" lvl="1" indent="-436563" eaLnBrk="1" hangingPunct="1">
              <a:lnSpc>
                <a:spcPct val="140000"/>
              </a:lnSpc>
              <a:spcBef>
                <a:spcPct val="30000"/>
              </a:spcBef>
            </a:pPr>
            <a:endParaRPr lang="zh-CN" altLang="en-US" sz="2800" dirty="0"/>
          </a:p>
        </p:txBody>
      </p:sp>
    </p:spTree>
    <p:extLst>
      <p:ext uri="{BB962C8B-B14F-4D97-AF65-F5344CB8AC3E}">
        <p14:creationId xmlns:p14="http://schemas.microsoft.com/office/powerpoint/2010/main" val="2446705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12</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 </a:t>
            </a:r>
            <a:r>
              <a:rPr lang="en-US" altLang="zh-CN" dirty="0"/>
              <a:t>–</a:t>
            </a:r>
            <a:r>
              <a:rPr lang="zh-CN" altLang="en-US" dirty="0"/>
              <a:t>递推形式 </a:t>
            </a:r>
            <a:endParaRPr lang="en-US" altLang="zh-CN" dirty="0"/>
          </a:p>
        </p:txBody>
      </p:sp>
      <p:sp>
        <p:nvSpPr>
          <p:cNvPr id="22531" name="Rectangle 3"/>
          <p:cNvSpPr>
            <a:spLocks noGrp="1" noChangeArrowheads="1"/>
          </p:cNvSpPr>
          <p:nvPr>
            <p:ph type="body" idx="1"/>
          </p:nvPr>
        </p:nvSpPr>
        <p:spPr>
          <a:xfrm>
            <a:off x="1703389" y="979489"/>
            <a:ext cx="8785225" cy="5616574"/>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maxSum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 {</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0; j &lt;= n; </a:t>
            </a:r>
            <a:r>
              <a:rPr kumimoji="1" lang="en-US" altLang="zh-CN" sz="1800" dirty="0" err="1">
                <a:latin typeface="Garamond" panose="02020404030301010803" pitchFamily="18" charset="0"/>
              </a:rPr>
              <a:t>j++</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[n][j] = 0;</a:t>
            </a:r>
          </a:p>
          <a:p>
            <a:pPr eaLnBrk="1" hangingPunct="1">
              <a:lnSpc>
                <a:spcPct val="140000"/>
              </a:lnSpc>
              <a:spcBef>
                <a:spcPct val="30000"/>
              </a:spcBef>
              <a:buNone/>
            </a:pPr>
            <a:r>
              <a:rPr kumimoji="1" lang="en-US" altLang="zh-CN" sz="1800" dirty="0">
                <a:latin typeface="Garamond" panose="02020404030301010803" pitchFamily="18" charset="0"/>
              </a:rPr>
              <a:t>     for(</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n - 1;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&gt; = 0;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for(</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0; j &lt;=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j ++){</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max(</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[i+1][j],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[i+1][j+1]) + </a:t>
            </a:r>
            <a:r>
              <a:rPr kumimoji="1" lang="en-US" altLang="zh-CN" sz="1800" dirty="0" err="1">
                <a:latin typeface="Garamond" panose="02020404030301010803" pitchFamily="18" charset="0"/>
              </a:rPr>
              <a:t>num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a:t>
            </a:r>
          </a:p>
          <a:p>
            <a:pPr eaLnBrk="1" hangingPunct="1">
              <a:lnSpc>
                <a:spcPct val="140000"/>
              </a:lnSpc>
              <a:spcBef>
                <a:spcPct val="30000"/>
              </a:spcBef>
              <a:buNone/>
            </a:pP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return </a:t>
            </a:r>
            <a:r>
              <a:rPr kumimoji="1" lang="en-US" altLang="zh-CN" sz="1800" dirty="0" err="1">
                <a:latin typeface="Garamond" panose="02020404030301010803" pitchFamily="18" charset="0"/>
              </a:rPr>
              <a:t>max_sum</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4234194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13</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数字三角形 </a:t>
            </a:r>
            <a:r>
              <a:rPr lang="en-US" altLang="zh-CN" dirty="0"/>
              <a:t>–</a:t>
            </a:r>
            <a:r>
              <a:rPr lang="zh-CN" altLang="en-US" dirty="0"/>
              <a:t>递推形式  </a:t>
            </a:r>
            <a:endParaRPr lang="en-US" altLang="zh-CN" dirty="0"/>
          </a:p>
        </p:txBody>
      </p:sp>
      <p:sp>
        <p:nvSpPr>
          <p:cNvPr id="22531" name="Rectangle 3"/>
          <p:cNvSpPr>
            <a:spLocks noGrp="1" noChangeArrowheads="1"/>
          </p:cNvSpPr>
          <p:nvPr>
            <p:ph type="body" idx="1"/>
          </p:nvPr>
        </p:nvSpPr>
        <p:spPr>
          <a:xfrm>
            <a:off x="1703389" y="979489"/>
            <a:ext cx="8785225" cy="5329237"/>
          </a:xfrm>
          <a:noFill/>
        </p:spPr>
        <p:txBody>
          <a:bodyPr/>
          <a:lstStyle/>
          <a:p>
            <a:pPr eaLnBrk="1" hangingPunct="1">
              <a:lnSpc>
                <a:spcPct val="140000"/>
              </a:lnSpc>
              <a:spcBef>
                <a:spcPct val="30000"/>
              </a:spcBef>
              <a:buNone/>
            </a:pPr>
            <a:r>
              <a:rPr kumimoji="1" lang="en-US" altLang="zh-CN" sz="2000" dirty="0" err="1">
                <a:latin typeface="Garamond" panose="02020404030301010803" pitchFamily="18" charset="0"/>
              </a:rPr>
              <a:t>int</a:t>
            </a:r>
            <a:r>
              <a:rPr kumimoji="1" lang="en-US" altLang="zh-CN" sz="2000" dirty="0">
                <a:latin typeface="Garamond" panose="02020404030301010803" pitchFamily="18" charset="0"/>
              </a:rPr>
              <a:t> main()</a:t>
            </a:r>
          </a:p>
          <a:p>
            <a:pPr eaLnBrk="1" hangingPunct="1">
              <a:lnSpc>
                <a:spcPct val="140000"/>
              </a:lnSpc>
              <a:spcBef>
                <a:spcPct val="30000"/>
              </a:spcBef>
              <a:buNone/>
            </a:pP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 load </a:t>
            </a:r>
            <a:r>
              <a:rPr kumimoji="1" lang="en-US" altLang="zh-CN" sz="2000" dirty="0" err="1">
                <a:latin typeface="Garamond" panose="02020404030301010803" pitchFamily="18" charset="0"/>
              </a:rPr>
              <a:t>num</a:t>
            </a:r>
            <a:r>
              <a:rPr kumimoji="1" lang="en-US" altLang="zh-CN" sz="2000" dirty="0">
                <a:latin typeface="Garamond" panose="02020404030301010803" pitchFamily="18" charset="0"/>
              </a:rPr>
              <a:t>[][] …</a:t>
            </a:r>
          </a:p>
          <a:p>
            <a:pPr eaLnBrk="1" hangingPunct="1">
              <a:lnSpc>
                <a:spcPct val="140000"/>
              </a:lnSpc>
              <a:spcBef>
                <a:spcPct val="30000"/>
              </a:spcBef>
              <a:buNone/>
            </a:pPr>
            <a:r>
              <a:rPr kumimoji="1" lang="en-US" altLang="zh-CN" sz="2000" dirty="0">
                <a:latin typeface="Garamond" panose="02020404030301010803" pitchFamily="18" charset="0"/>
              </a:rPr>
              <a:t>    </a:t>
            </a:r>
            <a:r>
              <a:rPr kumimoji="1" lang="en-US" altLang="zh-CN" sz="2000" dirty="0" err="1">
                <a:latin typeface="Garamond" panose="02020404030301010803" pitchFamily="18" charset="0"/>
              </a:rPr>
              <a:t>cout</a:t>
            </a:r>
            <a:r>
              <a:rPr kumimoji="1" lang="en-US" altLang="zh-CN" sz="2000" dirty="0">
                <a:latin typeface="Garamond" panose="02020404030301010803" pitchFamily="18" charset="0"/>
              </a:rPr>
              <a:t> &lt;&lt; </a:t>
            </a:r>
            <a:r>
              <a:rPr kumimoji="1" lang="en-US" altLang="zh-CN" sz="2000" dirty="0" err="1">
                <a:latin typeface="Garamond" panose="02020404030301010803" pitchFamily="18" charset="0"/>
              </a:rPr>
              <a:t>maxSum</a:t>
            </a:r>
            <a:r>
              <a:rPr kumimoji="1" lang="en-US" altLang="zh-CN" sz="2000" dirty="0">
                <a:latin typeface="Garamond" panose="02020404030301010803" pitchFamily="18" charset="0"/>
              </a:rPr>
              <a:t>(n) &lt;&lt; </a:t>
            </a:r>
            <a:r>
              <a:rPr kumimoji="1" lang="en-US" altLang="zh-CN" sz="2000" dirty="0" err="1">
                <a:latin typeface="Garamond" panose="02020404030301010803" pitchFamily="18" charset="0"/>
              </a:rPr>
              <a:t>endl</a:t>
            </a:r>
            <a:r>
              <a:rPr kumimoji="1" lang="en-US" altLang="zh-CN" sz="2000" dirty="0">
                <a:latin typeface="Garamond" panose="02020404030301010803" pitchFamily="18" charset="0"/>
              </a:rPr>
              <a:t>;</a:t>
            </a:r>
          </a:p>
          <a:p>
            <a:pPr eaLnBrk="1" hangingPunct="1">
              <a:lnSpc>
                <a:spcPct val="140000"/>
              </a:lnSpc>
              <a:spcBef>
                <a:spcPct val="30000"/>
              </a:spcBef>
              <a:buNone/>
            </a:pPr>
            <a:r>
              <a:rPr kumimoji="1" lang="en-US" altLang="zh-CN" sz="2000" dirty="0">
                <a:latin typeface="Garamond" panose="02020404030301010803" pitchFamily="18" charset="0"/>
              </a:rPr>
              <a:t>    return 0;</a:t>
            </a:r>
          </a:p>
          <a:p>
            <a:pPr eaLnBrk="1" hangingPunct="1">
              <a:lnSpc>
                <a:spcPct val="140000"/>
              </a:lnSpc>
              <a:spcBef>
                <a:spcPct val="30000"/>
              </a:spcBef>
              <a:buNone/>
            </a:pPr>
            <a:r>
              <a:rPr kumimoji="1" lang="en-US" altLang="zh-CN" sz="2000" dirty="0">
                <a:latin typeface="Garamond" panose="02020404030301010803" pitchFamily="18" charset="0"/>
              </a:rPr>
              <a:t>}</a:t>
            </a:r>
          </a:p>
        </p:txBody>
      </p:sp>
    </p:spTree>
    <p:extLst>
      <p:ext uri="{BB962C8B-B14F-4D97-AF65-F5344CB8AC3E}">
        <p14:creationId xmlns:p14="http://schemas.microsoft.com/office/powerpoint/2010/main" val="134561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14</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动态规划</a:t>
            </a:r>
            <a:r>
              <a:rPr lang="en-US" altLang="zh-CN" dirty="0"/>
              <a:t>– </a:t>
            </a:r>
            <a:r>
              <a:rPr lang="zh-CN" altLang="en-US" dirty="0"/>
              <a:t>基本概念 </a:t>
            </a:r>
          </a:p>
        </p:txBody>
      </p:sp>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zh-CN" altLang="en-US" sz="3200" dirty="0">
                <a:latin typeface="华文中宋" panose="02010600040101010101" pitchFamily="2" charset="-122"/>
                <a:ea typeface="华文中宋" panose="02010600040101010101" pitchFamily="2" charset="-122"/>
              </a:rPr>
              <a:t>动态规划是一类将原问题分解为相对简单的子问题的方式来求解复杂问题的方法，适用于：</a:t>
            </a:r>
            <a:endParaRPr lang="zh-CN" altLang="en-US"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dirty="0"/>
              <a:t>重叠子问题</a:t>
            </a:r>
            <a:endParaRPr lang="en-US" altLang="zh-CN" sz="2800" dirty="0"/>
          </a:p>
          <a:p>
            <a:pPr marL="908050" lvl="1" indent="-436563" eaLnBrk="1" hangingPunct="1">
              <a:lnSpc>
                <a:spcPct val="140000"/>
              </a:lnSpc>
              <a:spcBef>
                <a:spcPct val="30000"/>
              </a:spcBef>
            </a:pPr>
            <a:r>
              <a:rPr lang="zh-CN" altLang="en-US" sz="2800" dirty="0"/>
              <a:t>最优子结构</a:t>
            </a:r>
          </a:p>
        </p:txBody>
      </p:sp>
    </p:spTree>
    <p:extLst>
      <p:ext uri="{BB962C8B-B14F-4D97-AF65-F5344CB8AC3E}">
        <p14:creationId xmlns:p14="http://schemas.microsoft.com/office/powerpoint/2010/main" val="2792174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15</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动态规划</a:t>
            </a:r>
            <a:r>
              <a:rPr lang="en-US" altLang="zh-CN" dirty="0"/>
              <a:t>– </a:t>
            </a:r>
            <a:r>
              <a:rPr lang="zh-CN" altLang="en-US" dirty="0"/>
              <a:t>基本概念 </a:t>
            </a:r>
          </a:p>
        </p:txBody>
      </p:sp>
      <p:sp>
        <p:nvSpPr>
          <p:cNvPr id="31747" name="Rectangle 3"/>
          <p:cNvSpPr>
            <a:spLocks noGrp="1" noChangeArrowheads="1"/>
          </p:cNvSpPr>
          <p:nvPr>
            <p:ph type="body" idx="1"/>
          </p:nvPr>
        </p:nvSpPr>
        <p:spPr>
          <a:xfrm>
            <a:off x="1847851" y="981076"/>
            <a:ext cx="9656794" cy="2731053"/>
          </a:xfrm>
        </p:spPr>
        <p:txBody>
          <a:body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dirty="0">
                <a:latin typeface="华文中宋" panose="02010600040101010101" pitchFamily="2" charset="-122"/>
                <a:ea typeface="华文中宋" panose="02010600040101010101" pitchFamily="2" charset="-122"/>
              </a:rPr>
              <a:t>重叠子问题</a:t>
            </a:r>
            <a:endParaRPr lang="en-US" altLang="zh-CN" sz="3200" dirty="0">
              <a:latin typeface="华文中宋" panose="02010600040101010101" pitchFamily="2" charset="-122"/>
              <a:ea typeface="华文中宋" panose="02010600040101010101" pitchFamily="2" charset="-122"/>
            </a:endParaRPr>
          </a:p>
          <a:p>
            <a:pPr marL="869950" lvl="1" indent="-469900" eaLnBrk="1" hangingPunct="1">
              <a:lnSpc>
                <a:spcPct val="140000"/>
              </a:lnSpc>
              <a:spcBef>
                <a:spcPct val="30000"/>
              </a:spcBef>
            </a:pPr>
            <a:r>
              <a:rPr lang="zh-CN" altLang="en-US" dirty="0"/>
              <a:t>把原问题分解为若干个子问题，子问题和原问题形式相同或类似，只不过规模变小</a:t>
            </a:r>
            <a:endParaRPr lang="en-US" altLang="zh-CN" dirty="0"/>
          </a:p>
          <a:p>
            <a:pPr marL="869950" lvl="1" indent="-469900" eaLnBrk="1" hangingPunct="1">
              <a:lnSpc>
                <a:spcPct val="140000"/>
              </a:lnSpc>
              <a:spcBef>
                <a:spcPct val="30000"/>
              </a:spcBef>
            </a:pPr>
            <a:r>
              <a:rPr lang="zh-CN" altLang="en-US" dirty="0"/>
              <a:t>每个子问题只需求解一次，避免重复计算</a:t>
            </a:r>
            <a:endParaRPr lang="zh-CN" altLang="en-US" sz="2400" dirty="0"/>
          </a:p>
        </p:txBody>
      </p:sp>
      <p:sp>
        <p:nvSpPr>
          <p:cNvPr id="5" name="椭圆 4"/>
          <p:cNvSpPr/>
          <p:nvPr/>
        </p:nvSpPr>
        <p:spPr bwMode="auto">
          <a:xfrm>
            <a:off x="9257256" y="37883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6" name="椭圆 5"/>
          <p:cNvSpPr/>
          <p:nvPr/>
        </p:nvSpPr>
        <p:spPr bwMode="auto">
          <a:xfrm>
            <a:off x="8825256" y="43632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algn="ctr" fontAlgn="base">
              <a:spcBef>
                <a:spcPct val="50000"/>
              </a:spcBef>
              <a:spcAft>
                <a:spcPct val="0"/>
              </a:spcAft>
            </a:pPr>
            <a:r>
              <a:rPr lang="en-US" altLang="zh-CN" sz="2400" dirty="0">
                <a:solidFill>
                  <a:srgbClr val="0070C0"/>
                </a:solidFill>
                <a:latin typeface="Arial" charset="0"/>
                <a:cs typeface="Arial" charset="0"/>
              </a:rPr>
              <a:t>1</a:t>
            </a:r>
            <a:endParaRPr lang="zh-CN" altLang="en-US" sz="2400" dirty="0">
              <a:solidFill>
                <a:srgbClr val="0070C0"/>
              </a:solidFill>
              <a:latin typeface="Arial" charset="0"/>
              <a:cs typeface="Arial" charset="0"/>
            </a:endParaRPr>
          </a:p>
        </p:txBody>
      </p:sp>
      <p:sp>
        <p:nvSpPr>
          <p:cNvPr id="7" name="椭圆 6"/>
          <p:cNvSpPr/>
          <p:nvPr/>
        </p:nvSpPr>
        <p:spPr bwMode="auto">
          <a:xfrm>
            <a:off x="9689256" y="43632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8" name="椭圆 7"/>
          <p:cNvSpPr/>
          <p:nvPr/>
        </p:nvSpPr>
        <p:spPr bwMode="auto">
          <a:xfrm>
            <a:off x="9257256" y="49380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9" name="椭圆 8"/>
          <p:cNvSpPr/>
          <p:nvPr/>
        </p:nvSpPr>
        <p:spPr bwMode="auto">
          <a:xfrm>
            <a:off x="8393256" y="49380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0" name="椭圆 9"/>
          <p:cNvSpPr/>
          <p:nvPr/>
        </p:nvSpPr>
        <p:spPr bwMode="auto">
          <a:xfrm>
            <a:off x="10121256" y="49380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1" name="椭圆 10"/>
          <p:cNvSpPr/>
          <p:nvPr/>
        </p:nvSpPr>
        <p:spPr bwMode="auto">
          <a:xfrm>
            <a:off x="8825256"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2" name="椭圆 11"/>
          <p:cNvSpPr/>
          <p:nvPr/>
        </p:nvSpPr>
        <p:spPr bwMode="auto">
          <a:xfrm>
            <a:off x="7961256"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3" name="椭圆 12"/>
          <p:cNvSpPr/>
          <p:nvPr/>
        </p:nvSpPr>
        <p:spPr bwMode="auto">
          <a:xfrm>
            <a:off x="9689256"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4" name="椭圆 13"/>
          <p:cNvSpPr/>
          <p:nvPr/>
        </p:nvSpPr>
        <p:spPr bwMode="auto">
          <a:xfrm>
            <a:off x="10553256"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5" name="椭圆 14"/>
          <p:cNvSpPr/>
          <p:nvPr/>
        </p:nvSpPr>
        <p:spPr bwMode="auto">
          <a:xfrm>
            <a:off x="9257256"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6" name="椭圆 15"/>
          <p:cNvSpPr/>
          <p:nvPr/>
        </p:nvSpPr>
        <p:spPr bwMode="auto">
          <a:xfrm>
            <a:off x="8393256"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7" name="椭圆 16"/>
          <p:cNvSpPr/>
          <p:nvPr/>
        </p:nvSpPr>
        <p:spPr bwMode="auto">
          <a:xfrm>
            <a:off x="7529256"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8" name="椭圆 17"/>
          <p:cNvSpPr/>
          <p:nvPr/>
        </p:nvSpPr>
        <p:spPr bwMode="auto">
          <a:xfrm>
            <a:off x="10121256"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19" name="椭圆 18"/>
          <p:cNvSpPr/>
          <p:nvPr/>
        </p:nvSpPr>
        <p:spPr bwMode="auto">
          <a:xfrm>
            <a:off x="10985256"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cxnSp>
        <p:nvCxnSpPr>
          <p:cNvPr id="20" name="直接连接符 19"/>
          <p:cNvCxnSpPr>
            <a:stCxn id="5" idx="3"/>
            <a:endCxn id="6" idx="7"/>
          </p:cNvCxnSpPr>
          <p:nvPr/>
        </p:nvCxnSpPr>
        <p:spPr bwMode="auto">
          <a:xfrm flipH="1">
            <a:off x="9193991" y="41570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1" name="直接连接符 20"/>
          <p:cNvCxnSpPr>
            <a:stCxn id="5" idx="5"/>
            <a:endCxn id="7" idx="1"/>
          </p:cNvCxnSpPr>
          <p:nvPr/>
        </p:nvCxnSpPr>
        <p:spPr bwMode="auto">
          <a:xfrm>
            <a:off x="9625991" y="41570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2" name="直接连接符 21"/>
          <p:cNvCxnSpPr>
            <a:stCxn id="6" idx="5"/>
            <a:endCxn id="8" idx="1"/>
          </p:cNvCxnSpPr>
          <p:nvPr/>
        </p:nvCxnSpPr>
        <p:spPr bwMode="auto">
          <a:xfrm>
            <a:off x="9193991"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3" name="直接连接符 22"/>
          <p:cNvCxnSpPr>
            <a:stCxn id="6" idx="3"/>
            <a:endCxn id="9" idx="7"/>
          </p:cNvCxnSpPr>
          <p:nvPr/>
        </p:nvCxnSpPr>
        <p:spPr bwMode="auto">
          <a:xfrm flipH="1">
            <a:off x="8761991"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4" name="直接连接符 23"/>
          <p:cNvCxnSpPr>
            <a:stCxn id="7" idx="5"/>
            <a:endCxn id="10" idx="1"/>
          </p:cNvCxnSpPr>
          <p:nvPr/>
        </p:nvCxnSpPr>
        <p:spPr bwMode="auto">
          <a:xfrm>
            <a:off x="10057991"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5" name="直接连接符 24"/>
          <p:cNvCxnSpPr>
            <a:stCxn id="7" idx="3"/>
            <a:endCxn id="8" idx="7"/>
          </p:cNvCxnSpPr>
          <p:nvPr/>
        </p:nvCxnSpPr>
        <p:spPr bwMode="auto">
          <a:xfrm flipH="1">
            <a:off x="9625991"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6" name="直接连接符 25"/>
          <p:cNvCxnSpPr>
            <a:stCxn id="8" idx="3"/>
            <a:endCxn id="11" idx="7"/>
          </p:cNvCxnSpPr>
          <p:nvPr/>
        </p:nvCxnSpPr>
        <p:spPr bwMode="auto">
          <a:xfrm flipH="1">
            <a:off x="9193991"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7" name="直接连接符 26"/>
          <p:cNvCxnSpPr>
            <a:stCxn id="8" idx="5"/>
            <a:endCxn id="13" idx="1"/>
          </p:cNvCxnSpPr>
          <p:nvPr/>
        </p:nvCxnSpPr>
        <p:spPr bwMode="auto">
          <a:xfrm>
            <a:off x="9625991"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8" name="直接连接符 27"/>
          <p:cNvCxnSpPr>
            <a:stCxn id="9" idx="5"/>
            <a:endCxn id="11" idx="1"/>
          </p:cNvCxnSpPr>
          <p:nvPr/>
        </p:nvCxnSpPr>
        <p:spPr bwMode="auto">
          <a:xfrm>
            <a:off x="8761991"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29" name="直接连接符 28"/>
          <p:cNvCxnSpPr>
            <a:stCxn id="9" idx="3"/>
            <a:endCxn id="12" idx="7"/>
          </p:cNvCxnSpPr>
          <p:nvPr/>
        </p:nvCxnSpPr>
        <p:spPr bwMode="auto">
          <a:xfrm flipH="1">
            <a:off x="8329991"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0" name="直接连接符 29"/>
          <p:cNvCxnSpPr>
            <a:stCxn id="10" idx="3"/>
            <a:endCxn id="13" idx="7"/>
          </p:cNvCxnSpPr>
          <p:nvPr/>
        </p:nvCxnSpPr>
        <p:spPr bwMode="auto">
          <a:xfrm flipH="1">
            <a:off x="10057991"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1" name="直接连接符 30"/>
          <p:cNvCxnSpPr>
            <a:stCxn id="10" idx="5"/>
            <a:endCxn id="14" idx="1"/>
          </p:cNvCxnSpPr>
          <p:nvPr/>
        </p:nvCxnSpPr>
        <p:spPr bwMode="auto">
          <a:xfrm>
            <a:off x="10489991"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2" name="直接连接符 31"/>
          <p:cNvCxnSpPr>
            <a:stCxn id="11" idx="3"/>
            <a:endCxn id="16" idx="7"/>
          </p:cNvCxnSpPr>
          <p:nvPr/>
        </p:nvCxnSpPr>
        <p:spPr bwMode="auto">
          <a:xfrm flipH="1">
            <a:off x="8761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3" name="直接连接符 32"/>
          <p:cNvCxnSpPr>
            <a:stCxn id="11" idx="5"/>
            <a:endCxn id="15" idx="1"/>
          </p:cNvCxnSpPr>
          <p:nvPr/>
        </p:nvCxnSpPr>
        <p:spPr bwMode="auto">
          <a:xfrm>
            <a:off x="9193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4" name="直接连接符 33"/>
          <p:cNvCxnSpPr>
            <a:stCxn id="13" idx="3"/>
            <a:endCxn id="15" idx="7"/>
          </p:cNvCxnSpPr>
          <p:nvPr/>
        </p:nvCxnSpPr>
        <p:spPr bwMode="auto">
          <a:xfrm flipH="1">
            <a:off x="9625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5" name="直接连接符 34"/>
          <p:cNvCxnSpPr>
            <a:stCxn id="13" idx="5"/>
            <a:endCxn id="18" idx="1"/>
          </p:cNvCxnSpPr>
          <p:nvPr/>
        </p:nvCxnSpPr>
        <p:spPr bwMode="auto">
          <a:xfrm>
            <a:off x="10057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6" name="直接连接符 35"/>
          <p:cNvCxnSpPr>
            <a:stCxn id="14" idx="3"/>
            <a:endCxn id="18" idx="7"/>
          </p:cNvCxnSpPr>
          <p:nvPr/>
        </p:nvCxnSpPr>
        <p:spPr bwMode="auto">
          <a:xfrm flipH="1">
            <a:off x="10489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7" name="直接连接符 36"/>
          <p:cNvCxnSpPr>
            <a:stCxn id="14" idx="5"/>
            <a:endCxn id="19" idx="1"/>
          </p:cNvCxnSpPr>
          <p:nvPr/>
        </p:nvCxnSpPr>
        <p:spPr bwMode="auto">
          <a:xfrm>
            <a:off x="10921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8" name="直接连接符 37"/>
          <p:cNvCxnSpPr>
            <a:stCxn id="12" idx="5"/>
            <a:endCxn id="16" idx="1"/>
          </p:cNvCxnSpPr>
          <p:nvPr/>
        </p:nvCxnSpPr>
        <p:spPr bwMode="auto">
          <a:xfrm>
            <a:off x="8329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39" name="直接连接符 38"/>
          <p:cNvCxnSpPr>
            <a:stCxn id="12" idx="3"/>
            <a:endCxn id="17" idx="7"/>
          </p:cNvCxnSpPr>
          <p:nvPr/>
        </p:nvCxnSpPr>
        <p:spPr bwMode="auto">
          <a:xfrm flipH="1">
            <a:off x="7897991"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
        <p:nvSpPr>
          <p:cNvPr id="40" name="椭圆 39"/>
          <p:cNvSpPr/>
          <p:nvPr/>
        </p:nvSpPr>
        <p:spPr bwMode="auto">
          <a:xfrm>
            <a:off x="3545289" y="37883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1" name="椭圆 40"/>
          <p:cNvSpPr/>
          <p:nvPr/>
        </p:nvSpPr>
        <p:spPr bwMode="auto">
          <a:xfrm>
            <a:off x="3113289" y="43632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algn="ctr" fontAlgn="base">
              <a:spcBef>
                <a:spcPct val="50000"/>
              </a:spcBef>
              <a:spcAft>
                <a:spcPct val="0"/>
              </a:spcAft>
            </a:pPr>
            <a:r>
              <a:rPr lang="en-US" altLang="zh-CN" sz="2400" dirty="0">
                <a:solidFill>
                  <a:srgbClr val="0070C0"/>
                </a:solidFill>
                <a:latin typeface="Arial" charset="0"/>
                <a:cs typeface="Arial" charset="0"/>
              </a:rPr>
              <a:t>1</a:t>
            </a:r>
            <a:endParaRPr lang="zh-CN" altLang="en-US" sz="2400" dirty="0">
              <a:solidFill>
                <a:srgbClr val="0070C0"/>
              </a:solidFill>
              <a:latin typeface="Arial" charset="0"/>
              <a:cs typeface="Arial" charset="0"/>
            </a:endParaRPr>
          </a:p>
        </p:txBody>
      </p:sp>
      <p:sp>
        <p:nvSpPr>
          <p:cNvPr id="42" name="椭圆 41"/>
          <p:cNvSpPr/>
          <p:nvPr/>
        </p:nvSpPr>
        <p:spPr bwMode="auto">
          <a:xfrm>
            <a:off x="3977289" y="436322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3" name="椭圆 42"/>
          <p:cNvSpPr/>
          <p:nvPr/>
        </p:nvSpPr>
        <p:spPr bwMode="auto">
          <a:xfrm>
            <a:off x="3545289" y="49380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2</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4" name="椭圆 43"/>
          <p:cNvSpPr/>
          <p:nvPr/>
        </p:nvSpPr>
        <p:spPr bwMode="auto">
          <a:xfrm>
            <a:off x="2681289" y="49380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5" name="椭圆 44"/>
          <p:cNvSpPr/>
          <p:nvPr/>
        </p:nvSpPr>
        <p:spPr bwMode="auto">
          <a:xfrm>
            <a:off x="4409289" y="493809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6" name="椭圆 45"/>
          <p:cNvSpPr/>
          <p:nvPr/>
        </p:nvSpPr>
        <p:spPr bwMode="auto">
          <a:xfrm>
            <a:off x="3113289"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3</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7" name="椭圆 46"/>
          <p:cNvSpPr/>
          <p:nvPr/>
        </p:nvSpPr>
        <p:spPr bwMode="auto">
          <a:xfrm>
            <a:off x="2249289"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8" name="椭圆 47"/>
          <p:cNvSpPr/>
          <p:nvPr/>
        </p:nvSpPr>
        <p:spPr bwMode="auto">
          <a:xfrm>
            <a:off x="3977289"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3</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49" name="椭圆 48"/>
          <p:cNvSpPr/>
          <p:nvPr/>
        </p:nvSpPr>
        <p:spPr bwMode="auto">
          <a:xfrm>
            <a:off x="4841289" y="5512971"/>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0" name="椭圆 49"/>
          <p:cNvSpPr/>
          <p:nvPr/>
        </p:nvSpPr>
        <p:spPr bwMode="auto">
          <a:xfrm>
            <a:off x="3545289"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6</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1" name="椭圆 50"/>
          <p:cNvSpPr/>
          <p:nvPr/>
        </p:nvSpPr>
        <p:spPr bwMode="auto">
          <a:xfrm>
            <a:off x="2681289"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4</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2" name="椭圆 51"/>
          <p:cNvSpPr/>
          <p:nvPr/>
        </p:nvSpPr>
        <p:spPr bwMode="auto">
          <a:xfrm>
            <a:off x="1817289"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3" name="椭圆 52"/>
          <p:cNvSpPr/>
          <p:nvPr/>
        </p:nvSpPr>
        <p:spPr bwMode="auto">
          <a:xfrm>
            <a:off x="4409289"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4</a:t>
            </a:r>
            <a:endParaRPr kumimoji="0" lang="zh-CN" altLang="en-US" sz="2400" b="0" i="0" u="none" strike="noStrike" cap="none" normalizeH="0" baseline="0" dirty="0">
              <a:ln>
                <a:noFill/>
              </a:ln>
              <a:solidFill>
                <a:srgbClr val="0070C0"/>
              </a:solidFill>
              <a:effectLst/>
              <a:latin typeface="Arial" charset="0"/>
              <a:cs typeface="Arial" charset="0"/>
            </a:endParaRPr>
          </a:p>
        </p:txBody>
      </p:sp>
      <p:sp>
        <p:nvSpPr>
          <p:cNvPr id="54" name="椭圆 53"/>
          <p:cNvSpPr/>
          <p:nvPr/>
        </p:nvSpPr>
        <p:spPr bwMode="auto">
          <a:xfrm>
            <a:off x="5273289" y="6087846"/>
            <a:ext cx="432000" cy="432000"/>
          </a:xfrm>
          <a:prstGeom prst="ellips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400" b="0" i="0" u="none" strike="noStrike" cap="none" normalizeH="0" baseline="0" dirty="0">
                <a:ln>
                  <a:noFill/>
                </a:ln>
                <a:solidFill>
                  <a:srgbClr val="0070C0"/>
                </a:solidFill>
                <a:effectLst/>
                <a:latin typeface="Arial" charset="0"/>
                <a:cs typeface="Arial" charset="0"/>
              </a:rPr>
              <a:t>1</a:t>
            </a:r>
            <a:endParaRPr kumimoji="0" lang="zh-CN" altLang="en-US" sz="2400" b="0" i="0" u="none" strike="noStrike" cap="none" normalizeH="0" baseline="0" dirty="0">
              <a:ln>
                <a:noFill/>
              </a:ln>
              <a:solidFill>
                <a:srgbClr val="0070C0"/>
              </a:solidFill>
              <a:effectLst/>
              <a:latin typeface="Arial" charset="0"/>
              <a:cs typeface="Arial" charset="0"/>
            </a:endParaRPr>
          </a:p>
        </p:txBody>
      </p:sp>
      <p:cxnSp>
        <p:nvCxnSpPr>
          <p:cNvPr id="55" name="直接连接符 54"/>
          <p:cNvCxnSpPr>
            <a:stCxn id="40" idx="3"/>
            <a:endCxn id="41" idx="7"/>
          </p:cNvCxnSpPr>
          <p:nvPr/>
        </p:nvCxnSpPr>
        <p:spPr bwMode="auto">
          <a:xfrm flipH="1">
            <a:off x="3482024" y="41570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6" name="直接连接符 55"/>
          <p:cNvCxnSpPr>
            <a:stCxn id="40" idx="5"/>
            <a:endCxn id="42" idx="1"/>
          </p:cNvCxnSpPr>
          <p:nvPr/>
        </p:nvCxnSpPr>
        <p:spPr bwMode="auto">
          <a:xfrm>
            <a:off x="3914024" y="415708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7" name="直接连接符 56"/>
          <p:cNvCxnSpPr>
            <a:stCxn id="41" idx="5"/>
            <a:endCxn id="43" idx="1"/>
          </p:cNvCxnSpPr>
          <p:nvPr/>
        </p:nvCxnSpPr>
        <p:spPr bwMode="auto">
          <a:xfrm>
            <a:off x="3482024"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8" name="直接连接符 57"/>
          <p:cNvCxnSpPr>
            <a:stCxn id="41" idx="3"/>
            <a:endCxn id="44" idx="7"/>
          </p:cNvCxnSpPr>
          <p:nvPr/>
        </p:nvCxnSpPr>
        <p:spPr bwMode="auto">
          <a:xfrm flipH="1">
            <a:off x="3050024"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59" name="直接连接符 58"/>
          <p:cNvCxnSpPr>
            <a:stCxn id="42" idx="5"/>
            <a:endCxn id="45" idx="1"/>
          </p:cNvCxnSpPr>
          <p:nvPr/>
        </p:nvCxnSpPr>
        <p:spPr bwMode="auto">
          <a:xfrm>
            <a:off x="4346024"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0" name="直接连接符 59"/>
          <p:cNvCxnSpPr>
            <a:stCxn id="42" idx="3"/>
            <a:endCxn id="43" idx="7"/>
          </p:cNvCxnSpPr>
          <p:nvPr/>
        </p:nvCxnSpPr>
        <p:spPr bwMode="auto">
          <a:xfrm flipH="1">
            <a:off x="3914024" y="473195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1" name="直接连接符 60"/>
          <p:cNvCxnSpPr>
            <a:stCxn id="43" idx="3"/>
            <a:endCxn id="46" idx="7"/>
          </p:cNvCxnSpPr>
          <p:nvPr/>
        </p:nvCxnSpPr>
        <p:spPr bwMode="auto">
          <a:xfrm flipH="1">
            <a:off x="3482024"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2" name="直接连接符 61"/>
          <p:cNvCxnSpPr>
            <a:stCxn id="43" idx="5"/>
            <a:endCxn id="48" idx="1"/>
          </p:cNvCxnSpPr>
          <p:nvPr/>
        </p:nvCxnSpPr>
        <p:spPr bwMode="auto">
          <a:xfrm>
            <a:off x="3914024"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3" name="直接连接符 62"/>
          <p:cNvCxnSpPr>
            <a:stCxn id="44" idx="5"/>
            <a:endCxn id="46" idx="1"/>
          </p:cNvCxnSpPr>
          <p:nvPr/>
        </p:nvCxnSpPr>
        <p:spPr bwMode="auto">
          <a:xfrm>
            <a:off x="3050024"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4" name="直接连接符 63"/>
          <p:cNvCxnSpPr>
            <a:stCxn id="44" idx="3"/>
            <a:endCxn id="47" idx="7"/>
          </p:cNvCxnSpPr>
          <p:nvPr/>
        </p:nvCxnSpPr>
        <p:spPr bwMode="auto">
          <a:xfrm flipH="1">
            <a:off x="2618024"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5" name="直接连接符 64"/>
          <p:cNvCxnSpPr>
            <a:stCxn id="45" idx="3"/>
            <a:endCxn id="48" idx="7"/>
          </p:cNvCxnSpPr>
          <p:nvPr/>
        </p:nvCxnSpPr>
        <p:spPr bwMode="auto">
          <a:xfrm flipH="1">
            <a:off x="4346024"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6" name="直接连接符 65"/>
          <p:cNvCxnSpPr>
            <a:stCxn id="45" idx="5"/>
            <a:endCxn id="49" idx="1"/>
          </p:cNvCxnSpPr>
          <p:nvPr/>
        </p:nvCxnSpPr>
        <p:spPr bwMode="auto">
          <a:xfrm>
            <a:off x="4778024" y="5306831"/>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7" name="直接连接符 66"/>
          <p:cNvCxnSpPr>
            <a:stCxn id="46" idx="3"/>
            <a:endCxn id="51" idx="7"/>
          </p:cNvCxnSpPr>
          <p:nvPr/>
        </p:nvCxnSpPr>
        <p:spPr bwMode="auto">
          <a:xfrm flipH="1">
            <a:off x="3050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8" name="直接连接符 67"/>
          <p:cNvCxnSpPr>
            <a:stCxn id="46" idx="5"/>
            <a:endCxn id="50" idx="1"/>
          </p:cNvCxnSpPr>
          <p:nvPr/>
        </p:nvCxnSpPr>
        <p:spPr bwMode="auto">
          <a:xfrm>
            <a:off x="3482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9" name="直接连接符 68"/>
          <p:cNvCxnSpPr>
            <a:stCxn id="48" idx="3"/>
            <a:endCxn id="50" idx="7"/>
          </p:cNvCxnSpPr>
          <p:nvPr/>
        </p:nvCxnSpPr>
        <p:spPr bwMode="auto">
          <a:xfrm flipH="1">
            <a:off x="3914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0" name="直接连接符 69"/>
          <p:cNvCxnSpPr>
            <a:stCxn id="48" idx="5"/>
            <a:endCxn id="53" idx="1"/>
          </p:cNvCxnSpPr>
          <p:nvPr/>
        </p:nvCxnSpPr>
        <p:spPr bwMode="auto">
          <a:xfrm>
            <a:off x="4346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1" name="直接连接符 70"/>
          <p:cNvCxnSpPr>
            <a:stCxn id="49" idx="3"/>
            <a:endCxn id="53" idx="7"/>
          </p:cNvCxnSpPr>
          <p:nvPr/>
        </p:nvCxnSpPr>
        <p:spPr bwMode="auto">
          <a:xfrm flipH="1">
            <a:off x="4778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2" name="直接连接符 71"/>
          <p:cNvCxnSpPr>
            <a:stCxn id="49" idx="5"/>
            <a:endCxn id="54" idx="1"/>
          </p:cNvCxnSpPr>
          <p:nvPr/>
        </p:nvCxnSpPr>
        <p:spPr bwMode="auto">
          <a:xfrm>
            <a:off x="5210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3" name="直接连接符 72"/>
          <p:cNvCxnSpPr>
            <a:stCxn id="47" idx="5"/>
            <a:endCxn id="51" idx="1"/>
          </p:cNvCxnSpPr>
          <p:nvPr/>
        </p:nvCxnSpPr>
        <p:spPr bwMode="auto">
          <a:xfrm>
            <a:off x="2618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4" name="直接连接符 73"/>
          <p:cNvCxnSpPr>
            <a:stCxn id="47" idx="3"/>
            <a:endCxn id="52" idx="7"/>
          </p:cNvCxnSpPr>
          <p:nvPr/>
        </p:nvCxnSpPr>
        <p:spPr bwMode="auto">
          <a:xfrm flipH="1">
            <a:off x="2186024" y="5881706"/>
            <a:ext cx="126530" cy="26940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
        <p:nvSpPr>
          <p:cNvPr id="2" name="右箭头 1"/>
          <p:cNvSpPr/>
          <p:nvPr/>
        </p:nvSpPr>
        <p:spPr bwMode="auto">
          <a:xfrm>
            <a:off x="6082768" y="4938096"/>
            <a:ext cx="1186959" cy="368735"/>
          </a:xfrm>
          <a:prstGeom prst="rightArrow">
            <a:avLst/>
          </a:prstGeom>
          <a:noFill/>
          <a:ln w="38100" cmpd="sng">
            <a:solidFill>
              <a:schemeClr val="tx1"/>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779230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16</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动态规划</a:t>
            </a:r>
            <a:r>
              <a:rPr lang="en-US" altLang="zh-CN" dirty="0"/>
              <a:t>– </a:t>
            </a:r>
            <a:r>
              <a:rPr lang="zh-CN" altLang="en-US" dirty="0"/>
              <a:t>基本概念 </a:t>
            </a:r>
          </a:p>
        </p:txBody>
      </p:sp>
      <p:sp>
        <p:nvSpPr>
          <p:cNvPr id="31747" name="Rectangle 3"/>
          <p:cNvSpPr>
            <a:spLocks noGrp="1" noChangeArrowheads="1"/>
          </p:cNvSpPr>
          <p:nvPr>
            <p:ph type="body" idx="1"/>
          </p:nvPr>
        </p:nvSpPr>
        <p:spPr>
          <a:xfrm>
            <a:off x="1847851" y="981076"/>
            <a:ext cx="9656794" cy="2731053"/>
          </a:xfrm>
        </p:spPr>
        <p:txBody>
          <a:body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dirty="0">
                <a:latin typeface="华文中宋" panose="02010600040101010101" pitchFamily="2" charset="-122"/>
                <a:ea typeface="华文中宋" panose="02010600040101010101" pitchFamily="2" charset="-122"/>
              </a:rPr>
              <a:t>最优子结构</a:t>
            </a:r>
            <a:endParaRPr lang="en-US" altLang="zh-CN" sz="3200"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dirty="0">
                <a:solidFill>
                  <a:srgbClr val="000000"/>
                </a:solidFill>
              </a:rPr>
              <a:t>即局部最优解（子问题）能决定全局最优解（原问题）</a:t>
            </a:r>
            <a:endParaRPr lang="en-US" altLang="zh-CN" sz="2800" dirty="0">
              <a:solidFill>
                <a:srgbClr val="000000"/>
              </a:solidFill>
            </a:endParaRPr>
          </a:p>
          <a:p>
            <a:pPr marL="908050" lvl="1" indent="-436563" eaLnBrk="1" hangingPunct="1">
              <a:lnSpc>
                <a:spcPct val="140000"/>
              </a:lnSpc>
              <a:spcBef>
                <a:spcPct val="30000"/>
              </a:spcBef>
            </a:pPr>
            <a:r>
              <a:rPr lang="zh-CN" altLang="en-US" sz="2800" dirty="0">
                <a:solidFill>
                  <a:srgbClr val="000000"/>
                </a:solidFill>
              </a:rPr>
              <a:t>如何决定？ 由状态转移方程给出</a:t>
            </a:r>
            <a:endParaRPr lang="en-US" altLang="zh-CN" sz="2800" dirty="0">
              <a:solidFill>
                <a:srgbClr val="000000"/>
              </a:solidFill>
            </a:endParaRPr>
          </a:p>
          <a:p>
            <a:pPr marL="0" lvl="1" indent="0" eaLnBrk="1" hangingPunct="1">
              <a:lnSpc>
                <a:spcPct val="140000"/>
              </a:lnSpc>
              <a:spcBef>
                <a:spcPct val="30000"/>
              </a:spcBef>
              <a:buClr>
                <a:schemeClr val="accent2"/>
              </a:buClr>
              <a:buSzTx/>
              <a:buNone/>
            </a:pPr>
            <a:endParaRPr lang="en-US" altLang="zh-CN" sz="3200" dirty="0">
              <a:latin typeface="华文中宋" panose="02010600040101010101" pitchFamily="2" charset="-122"/>
              <a:ea typeface="华文中宋" panose="02010600040101010101" pitchFamily="2" charset="-122"/>
            </a:endParaRPr>
          </a:p>
        </p:txBody>
      </p:sp>
      <p:sp>
        <p:nvSpPr>
          <p:cNvPr id="3" name="矩形 2"/>
          <p:cNvSpPr/>
          <p:nvPr/>
        </p:nvSpPr>
        <p:spPr>
          <a:xfrm>
            <a:off x="1847851" y="3720548"/>
            <a:ext cx="9975852" cy="609398"/>
          </a:xfrm>
          <a:prstGeom prst="rect">
            <a:avLst/>
          </a:prstGeom>
        </p:spPr>
        <p:txBody>
          <a:bodyPr wrap="square">
            <a:spAutoFit/>
          </a:bodyPr>
          <a:lstStyle/>
          <a:p>
            <a:pPr marL="908050" lvl="1" indent="-436563">
              <a:lnSpc>
                <a:spcPct val="140000"/>
              </a:lnSpc>
              <a:spcBef>
                <a:spcPct val="30000"/>
              </a:spcBef>
            </a:pPr>
            <a:r>
              <a:rPr lang="en-US" altLang="zh-CN" sz="2400" b="1" dirty="0" err="1"/>
              <a:t>maxSum</a:t>
            </a:r>
            <a:r>
              <a:rPr lang="en-US" altLang="zh-CN" sz="2400" b="1" dirty="0"/>
              <a:t>[</a:t>
            </a:r>
            <a:r>
              <a:rPr lang="en-US" altLang="zh-CN" sz="2400" b="1" dirty="0" err="1"/>
              <a:t>i</a:t>
            </a:r>
            <a:r>
              <a:rPr lang="en-US" altLang="zh-CN" sz="2400" b="1" dirty="0"/>
              <a:t>][j] = MAX{</a:t>
            </a:r>
            <a:r>
              <a:rPr lang="en-US" altLang="zh-CN" sz="2400" b="1" dirty="0" err="1"/>
              <a:t>maxSum</a:t>
            </a:r>
            <a:r>
              <a:rPr lang="en-US" altLang="zh-CN" sz="2400" b="1" dirty="0"/>
              <a:t>[i+1][j], </a:t>
            </a:r>
            <a:r>
              <a:rPr lang="en-US" altLang="zh-CN" sz="2400" b="1" dirty="0" err="1"/>
              <a:t>maxSum</a:t>
            </a:r>
            <a:r>
              <a:rPr lang="en-US" altLang="zh-CN" sz="2400" b="1" dirty="0"/>
              <a:t>[i+1][j+1]} + </a:t>
            </a:r>
            <a:r>
              <a:rPr lang="en-US" altLang="zh-CN" sz="2400" b="1" dirty="0" err="1"/>
              <a:t>num</a:t>
            </a:r>
            <a:r>
              <a:rPr lang="en-US" altLang="zh-CN" sz="2400" b="1" dirty="0"/>
              <a:t>[</a:t>
            </a:r>
            <a:r>
              <a:rPr lang="en-US" altLang="zh-CN" sz="2400" b="1" dirty="0" err="1"/>
              <a:t>i</a:t>
            </a:r>
            <a:r>
              <a:rPr lang="en-US" altLang="zh-CN" sz="2400" b="1" dirty="0"/>
              <a:t>][j]</a:t>
            </a:r>
          </a:p>
        </p:txBody>
      </p:sp>
      <p:cxnSp>
        <p:nvCxnSpPr>
          <p:cNvPr id="75" name="直接连接符 74"/>
          <p:cNvCxnSpPr/>
          <p:nvPr/>
        </p:nvCxnSpPr>
        <p:spPr bwMode="auto">
          <a:xfrm>
            <a:off x="5320146" y="4283766"/>
            <a:ext cx="2068945" cy="0"/>
          </a:xfrm>
          <a:prstGeom prst="line">
            <a:avLst/>
          </a:prstGeom>
          <a:noFill/>
          <a:ln w="25400" cap="flat" cmpd="sng" algn="ctr">
            <a:solidFill>
              <a:srgbClr val="C00000"/>
            </a:solidFill>
            <a:prstDash val="solid"/>
            <a:round/>
            <a:headEnd type="none" w="med" len="med"/>
            <a:tailEnd type="none" w="med" len="med"/>
          </a:ln>
          <a:effectLst/>
        </p:spPr>
      </p:cxnSp>
      <p:cxnSp>
        <p:nvCxnSpPr>
          <p:cNvPr id="80" name="直接连接符 79"/>
          <p:cNvCxnSpPr/>
          <p:nvPr/>
        </p:nvCxnSpPr>
        <p:spPr bwMode="auto">
          <a:xfrm>
            <a:off x="7572179" y="4283766"/>
            <a:ext cx="2356912" cy="0"/>
          </a:xfrm>
          <a:prstGeom prst="line">
            <a:avLst/>
          </a:prstGeom>
          <a:noFill/>
          <a:ln w="25400" cap="flat" cmpd="sng" algn="ctr">
            <a:solidFill>
              <a:srgbClr val="C00000"/>
            </a:solidFill>
            <a:prstDash val="solid"/>
            <a:round/>
            <a:headEnd type="none" w="med" len="med"/>
            <a:tailEnd type="none" w="med" len="med"/>
          </a:ln>
          <a:effectLst/>
        </p:spPr>
      </p:cxnSp>
      <p:sp>
        <p:nvSpPr>
          <p:cNvPr id="79" name="文本框 78"/>
          <p:cNvSpPr txBox="1"/>
          <p:nvPr/>
        </p:nvSpPr>
        <p:spPr>
          <a:xfrm>
            <a:off x="5717309" y="4338365"/>
            <a:ext cx="1274618" cy="400110"/>
          </a:xfrm>
          <a:prstGeom prst="rect">
            <a:avLst/>
          </a:prstGeom>
          <a:noFill/>
        </p:spPr>
        <p:txBody>
          <a:bodyPr wrap="square" rtlCol="0">
            <a:spAutoFit/>
          </a:bodyPr>
          <a:lstStyle/>
          <a:p>
            <a:r>
              <a:rPr lang="zh-CN" altLang="en-US" sz="2000" b="1" dirty="0">
                <a:solidFill>
                  <a:srgbClr val="C00000"/>
                </a:solidFill>
              </a:rPr>
              <a:t>子问题</a:t>
            </a:r>
            <a:r>
              <a:rPr lang="en-US" altLang="zh-CN" sz="2000" b="1" dirty="0">
                <a:solidFill>
                  <a:srgbClr val="C00000"/>
                </a:solidFill>
              </a:rPr>
              <a:t>1</a:t>
            </a:r>
            <a:endParaRPr lang="zh-CN" altLang="en-US" sz="2000" b="1" dirty="0">
              <a:solidFill>
                <a:srgbClr val="C00000"/>
              </a:solidFill>
            </a:endParaRPr>
          </a:p>
        </p:txBody>
      </p:sp>
      <p:sp>
        <p:nvSpPr>
          <p:cNvPr id="84" name="文本框 83"/>
          <p:cNvSpPr txBox="1"/>
          <p:nvPr/>
        </p:nvSpPr>
        <p:spPr>
          <a:xfrm>
            <a:off x="8271164" y="4338365"/>
            <a:ext cx="1274618" cy="400110"/>
          </a:xfrm>
          <a:prstGeom prst="rect">
            <a:avLst/>
          </a:prstGeom>
          <a:noFill/>
        </p:spPr>
        <p:txBody>
          <a:bodyPr wrap="square" rtlCol="0">
            <a:spAutoFit/>
          </a:bodyPr>
          <a:lstStyle/>
          <a:p>
            <a:r>
              <a:rPr lang="zh-CN" altLang="en-US" sz="2000" b="1" dirty="0">
                <a:solidFill>
                  <a:srgbClr val="C00000"/>
                </a:solidFill>
              </a:rPr>
              <a:t>子问题</a:t>
            </a:r>
            <a:r>
              <a:rPr lang="en-US" altLang="zh-CN" sz="2000" b="1" dirty="0">
                <a:solidFill>
                  <a:srgbClr val="C00000"/>
                </a:solidFill>
              </a:rPr>
              <a:t>2</a:t>
            </a:r>
            <a:endParaRPr lang="zh-CN" altLang="en-US" sz="2000" b="1" dirty="0">
              <a:solidFill>
                <a:srgbClr val="C00000"/>
              </a:solidFill>
            </a:endParaRPr>
          </a:p>
        </p:txBody>
      </p:sp>
    </p:spTree>
    <p:extLst>
      <p:ext uri="{BB962C8B-B14F-4D97-AF65-F5344CB8AC3E}">
        <p14:creationId xmlns:p14="http://schemas.microsoft.com/office/powerpoint/2010/main" val="1169196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17</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动态规划</a:t>
            </a:r>
            <a:r>
              <a:rPr lang="en-US" altLang="zh-CN" dirty="0"/>
              <a:t>– </a:t>
            </a:r>
            <a:r>
              <a:rPr lang="zh-CN" altLang="en-US" dirty="0"/>
              <a:t>基本概念 </a:t>
            </a:r>
          </a:p>
        </p:txBody>
      </p:sp>
      <p:sp>
        <p:nvSpPr>
          <p:cNvPr id="31747" name="Rectangle 3"/>
          <p:cNvSpPr>
            <a:spLocks noGrp="1" noChangeArrowheads="1"/>
          </p:cNvSpPr>
          <p:nvPr>
            <p:ph type="body" idx="1"/>
          </p:nvPr>
        </p:nvSpPr>
        <p:spPr>
          <a:xfrm>
            <a:off x="1847851" y="981076"/>
            <a:ext cx="9656794" cy="2731053"/>
          </a:xfrm>
        </p:spPr>
        <p:txBody>
          <a:body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dirty="0">
                <a:latin typeface="华文中宋" panose="02010600040101010101" pitchFamily="2" charset="-122"/>
                <a:ea typeface="华文中宋" panose="02010600040101010101" pitchFamily="2" charset="-122"/>
              </a:rPr>
              <a:t>最优子结构</a:t>
            </a:r>
            <a:endParaRPr lang="en-US" altLang="zh-CN" sz="3200"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dirty="0">
                <a:solidFill>
                  <a:srgbClr val="000000"/>
                </a:solidFill>
              </a:rPr>
              <a:t>要求子结构</a:t>
            </a:r>
            <a:r>
              <a:rPr lang="zh-CN" altLang="en-US" sz="2800" u="sng" dirty="0">
                <a:solidFill>
                  <a:srgbClr val="000000"/>
                </a:solidFill>
                <a:latin typeface="+mj-lt"/>
              </a:rPr>
              <a:t>无后效性</a:t>
            </a:r>
            <a:r>
              <a:rPr lang="zh-CN" altLang="en-US" sz="2800" dirty="0">
                <a:solidFill>
                  <a:srgbClr val="000000"/>
                </a:solidFill>
              </a:rPr>
              <a:t>：即子问题的解一旦确定，就不再改变，不受在这之后、包含它的更大的问题的求解决策影响</a:t>
            </a:r>
            <a:endParaRPr lang="en-US" altLang="zh-CN" sz="32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15721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18</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动态规划</a:t>
            </a:r>
            <a:r>
              <a:rPr lang="en-US" altLang="zh-CN" dirty="0"/>
              <a:t>– </a:t>
            </a:r>
            <a:r>
              <a:rPr lang="zh-CN" altLang="en-US" dirty="0"/>
              <a:t>基本概念 </a:t>
            </a:r>
          </a:p>
        </p:txBody>
      </p:sp>
      <p:sp>
        <p:nvSpPr>
          <p:cNvPr id="31747" name="Rectangle 3"/>
          <p:cNvSpPr>
            <a:spLocks noGrp="1" noChangeArrowheads="1"/>
          </p:cNvSpPr>
          <p:nvPr>
            <p:ph type="body" idx="1"/>
          </p:nvPr>
        </p:nvSpPr>
        <p:spPr>
          <a:xfrm>
            <a:off x="1847851" y="981076"/>
            <a:ext cx="9656794" cy="2731053"/>
          </a:xfrm>
        </p:spPr>
        <p:txBody>
          <a:body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dirty="0">
                <a:latin typeface="华文中宋" panose="02010600040101010101" pitchFamily="2" charset="-122"/>
                <a:ea typeface="华文中宋" panose="02010600040101010101" pitchFamily="2" charset="-122"/>
              </a:rPr>
              <a:t>动态规划、递归、递推（迭代）的区别于联系？</a:t>
            </a:r>
            <a:endParaRPr lang="en-US" altLang="zh-CN" sz="32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19974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19</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动态规划</a:t>
            </a:r>
            <a:r>
              <a:rPr lang="en-US" altLang="zh-CN" dirty="0"/>
              <a:t>– </a:t>
            </a:r>
            <a:r>
              <a:rPr lang="zh-CN" altLang="en-US" dirty="0"/>
              <a:t>基本概念 </a:t>
            </a:r>
          </a:p>
        </p:txBody>
      </p:sp>
      <p:sp>
        <p:nvSpPr>
          <p:cNvPr id="31747" name="Rectangle 3"/>
          <p:cNvSpPr>
            <a:spLocks noGrp="1" noChangeArrowheads="1"/>
          </p:cNvSpPr>
          <p:nvPr>
            <p:ph type="body" idx="1"/>
          </p:nvPr>
        </p:nvSpPr>
        <p:spPr>
          <a:xfrm>
            <a:off x="1847851" y="981077"/>
            <a:ext cx="9656794" cy="1909906"/>
          </a:xfrm>
        </p:spPr>
        <p:txBody>
          <a:body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dirty="0">
                <a:latin typeface="华文中宋" panose="02010600040101010101" pitchFamily="2" charset="-122"/>
                <a:ea typeface="华文中宋" panose="02010600040101010101" pitchFamily="2" charset="-122"/>
              </a:rPr>
              <a:t>动态规划是</a:t>
            </a:r>
            <a:r>
              <a:rPr lang="zh-CN" altLang="en-US" sz="3200" u="sng" dirty="0">
                <a:latin typeface="华文中宋" panose="02010600040101010101" pitchFamily="2" charset="-122"/>
                <a:ea typeface="华文中宋" panose="02010600040101010101" pitchFamily="2" charset="-122"/>
              </a:rPr>
              <a:t>算法思想</a:t>
            </a:r>
            <a:endParaRPr lang="en-US" altLang="zh-CN" sz="3200" u="sng" dirty="0">
              <a:latin typeface="华文中宋" panose="02010600040101010101" pitchFamily="2" charset="-122"/>
              <a:ea typeface="华文中宋" panose="02010600040101010101" pitchFamily="2" charset="-122"/>
            </a:endParaRPr>
          </a:p>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dirty="0">
                <a:latin typeface="华文中宋" panose="02010600040101010101" pitchFamily="2" charset="-122"/>
                <a:ea typeface="华文中宋" panose="02010600040101010101" pitchFamily="2" charset="-122"/>
              </a:rPr>
              <a:t>递归、递推（迭代）是</a:t>
            </a:r>
            <a:r>
              <a:rPr lang="zh-CN" altLang="en-US" sz="3200" u="sng" dirty="0">
                <a:latin typeface="华文中宋" panose="02010600040101010101" pitchFamily="2" charset="-122"/>
                <a:ea typeface="华文中宋" panose="02010600040101010101" pitchFamily="2" charset="-122"/>
              </a:rPr>
              <a:t>实现方式</a:t>
            </a:r>
            <a:endParaRPr lang="en-US" altLang="zh-CN" sz="3200" u="sng" dirty="0">
              <a:latin typeface="华文中宋" panose="02010600040101010101" pitchFamily="2" charset="-122"/>
              <a:ea typeface="华文中宋" panose="02010600040101010101" pitchFamily="2" charset="-122"/>
            </a:endParaRPr>
          </a:p>
        </p:txBody>
      </p:sp>
      <p:sp>
        <p:nvSpPr>
          <p:cNvPr id="2" name="文本框 1"/>
          <p:cNvSpPr txBox="1"/>
          <p:nvPr/>
        </p:nvSpPr>
        <p:spPr>
          <a:xfrm>
            <a:off x="4969164" y="2501615"/>
            <a:ext cx="6410035" cy="3046988"/>
          </a:xfrm>
          <a:prstGeom prst="rect">
            <a:avLst/>
          </a:prstGeom>
          <a:noFill/>
        </p:spPr>
        <p:txBody>
          <a:bodyPr wrap="square" rtlCol="0">
            <a:spAutoFit/>
          </a:bodyPr>
          <a:lstStyle/>
          <a:p>
            <a:pPr marL="457200" indent="-457200">
              <a:lnSpc>
                <a:spcPct val="300000"/>
              </a:lnSpc>
              <a:buFont typeface="Arial" panose="020B0604020202020204" pitchFamily="34" charset="0"/>
              <a:buChar char="•"/>
            </a:pPr>
            <a:r>
              <a:rPr lang="zh-CN" altLang="en-US" sz="3200" b="1" dirty="0">
                <a:latin typeface="华文中宋" panose="02010600040101010101" pitchFamily="2" charset="-122"/>
                <a:ea typeface="华文中宋" panose="02010600040101010101" pitchFamily="2" charset="-122"/>
              </a:rPr>
              <a:t>递归实现 ，即</a:t>
            </a:r>
            <a:r>
              <a:rPr lang="en-US" altLang="zh-CN" sz="3200" b="1" dirty="0">
                <a:latin typeface="华文中宋" panose="02010600040101010101" pitchFamily="2" charset="-122"/>
                <a:ea typeface="华文中宋" panose="02010600040101010101" pitchFamily="2" charset="-122"/>
                <a:sym typeface="Wingdings" panose="05000000000000000000" pitchFamily="2" charset="2"/>
              </a:rPr>
              <a:t> </a:t>
            </a:r>
            <a:r>
              <a:rPr lang="zh-CN" altLang="en-US" sz="3200" b="1" dirty="0">
                <a:latin typeface="华文中宋" panose="02010600040101010101" pitchFamily="2" charset="-122"/>
                <a:ea typeface="华文中宋" panose="02010600040101010101" pitchFamily="2" charset="-122"/>
                <a:sym typeface="Wingdings" panose="05000000000000000000" pitchFamily="2" charset="2"/>
              </a:rPr>
              <a:t>“记忆化”递归</a:t>
            </a:r>
            <a:endParaRPr lang="en-US" altLang="zh-CN" sz="3200" b="1" dirty="0">
              <a:latin typeface="华文中宋" panose="02010600040101010101" pitchFamily="2" charset="-122"/>
              <a:ea typeface="华文中宋" panose="02010600040101010101" pitchFamily="2" charset="-122"/>
              <a:sym typeface="Wingdings" panose="05000000000000000000" pitchFamily="2" charset="2"/>
            </a:endParaRPr>
          </a:p>
          <a:p>
            <a:pPr marL="457200" indent="-457200">
              <a:lnSpc>
                <a:spcPct val="300000"/>
              </a:lnSpc>
              <a:buFont typeface="Arial" panose="020B0604020202020204" pitchFamily="34" charset="0"/>
              <a:buChar char="•"/>
            </a:pPr>
            <a:r>
              <a:rPr lang="zh-CN" altLang="en-US" sz="3200" b="1" dirty="0">
                <a:latin typeface="华文中宋" panose="02010600040101010101" pitchFamily="2" charset="-122"/>
                <a:ea typeface="华文中宋" panose="02010600040101010101" pitchFamily="2" charset="-122"/>
                <a:sym typeface="Wingdings" panose="05000000000000000000" pitchFamily="2" charset="2"/>
              </a:rPr>
              <a:t>递推（迭代）实现</a:t>
            </a:r>
            <a:endParaRPr lang="zh-CN" altLang="en-US" sz="3200" b="1" dirty="0">
              <a:latin typeface="华文中宋" panose="02010600040101010101" pitchFamily="2" charset="-122"/>
              <a:ea typeface="华文中宋" panose="02010600040101010101" pitchFamily="2" charset="-122"/>
            </a:endParaRPr>
          </a:p>
        </p:txBody>
      </p:sp>
      <p:sp>
        <p:nvSpPr>
          <p:cNvPr id="6" name="文本框 5"/>
          <p:cNvSpPr txBox="1"/>
          <p:nvPr/>
        </p:nvSpPr>
        <p:spPr>
          <a:xfrm>
            <a:off x="2332182" y="3883891"/>
            <a:ext cx="2068945" cy="584775"/>
          </a:xfrm>
          <a:prstGeom prst="rect">
            <a:avLst/>
          </a:prstGeom>
          <a:noFill/>
        </p:spPr>
        <p:txBody>
          <a:bodyPr wrap="square" rtlCol="0">
            <a:spAutoFit/>
          </a:bodyPr>
          <a:lstStyle/>
          <a:p>
            <a:r>
              <a:rPr lang="zh-CN" altLang="en-US" sz="3200" b="1" dirty="0">
                <a:latin typeface="华文中宋" panose="02010600040101010101" pitchFamily="2" charset="-122"/>
                <a:ea typeface="华文中宋" panose="02010600040101010101" pitchFamily="2" charset="-122"/>
              </a:rPr>
              <a:t>动态规划</a:t>
            </a:r>
          </a:p>
        </p:txBody>
      </p:sp>
      <p:sp>
        <p:nvSpPr>
          <p:cNvPr id="4" name="下箭头 3"/>
          <p:cNvSpPr/>
          <p:nvPr/>
        </p:nvSpPr>
        <p:spPr bwMode="auto">
          <a:xfrm>
            <a:off x="7028873" y="3953826"/>
            <a:ext cx="415636" cy="618174"/>
          </a:xfrm>
          <a:prstGeom prst="downArrow">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cs typeface="Arial" charset="0"/>
            </a:endParaRPr>
          </a:p>
        </p:txBody>
      </p:sp>
      <p:sp>
        <p:nvSpPr>
          <p:cNvPr id="5" name="文本框 4"/>
          <p:cNvSpPr txBox="1"/>
          <p:nvPr/>
        </p:nvSpPr>
        <p:spPr>
          <a:xfrm>
            <a:off x="7666181" y="4064000"/>
            <a:ext cx="2105891" cy="400110"/>
          </a:xfrm>
          <a:prstGeom prst="rect">
            <a:avLst/>
          </a:prstGeom>
          <a:noFill/>
        </p:spPr>
        <p:txBody>
          <a:bodyPr wrap="square" rtlCol="0">
            <a:spAutoFit/>
          </a:bodyPr>
          <a:lstStyle/>
          <a:p>
            <a:r>
              <a:rPr lang="zh-CN" altLang="en-US" sz="2000" b="1" dirty="0">
                <a:solidFill>
                  <a:srgbClr val="C00000"/>
                </a:solidFill>
              </a:rPr>
              <a:t>确定求解顺序</a:t>
            </a:r>
          </a:p>
        </p:txBody>
      </p:sp>
      <p:sp>
        <p:nvSpPr>
          <p:cNvPr id="10" name="AutoShape 4"/>
          <p:cNvSpPr>
            <a:spLocks/>
          </p:cNvSpPr>
          <p:nvPr/>
        </p:nvSpPr>
        <p:spPr bwMode="auto">
          <a:xfrm rot="10800000">
            <a:off x="4170595" y="3204728"/>
            <a:ext cx="431800" cy="1943100"/>
          </a:xfrm>
          <a:prstGeom prst="rightBrace">
            <a:avLst>
              <a:gd name="adj1" fmla="val 37500"/>
              <a:gd name="adj2" fmla="val 50736"/>
            </a:avLst>
          </a:prstGeom>
          <a:noFill/>
          <a:ln w="635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spTree>
    <p:extLst>
      <p:ext uri="{BB962C8B-B14F-4D97-AF65-F5344CB8AC3E}">
        <p14:creationId xmlns:p14="http://schemas.microsoft.com/office/powerpoint/2010/main" val="3329927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20</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p:sp>
        <p:nvSpPr>
          <p:cNvPr id="22531" name="Rectangle 3"/>
          <p:cNvSpPr>
            <a:spLocks noGrp="1" noChangeArrowheads="1"/>
          </p:cNvSpPr>
          <p:nvPr>
            <p:ph type="body" idx="1"/>
          </p:nvPr>
        </p:nvSpPr>
        <p:spPr>
          <a:xfrm>
            <a:off x="839755" y="979489"/>
            <a:ext cx="10720874" cy="2373311"/>
          </a:xfrm>
          <a:noFill/>
        </p:spPr>
        <p:txBody>
          <a:bodyPr/>
          <a:lstStyle/>
          <a:p>
            <a:pPr eaLnBrk="1" hangingPunct="1">
              <a:lnSpc>
                <a:spcPct val="140000"/>
              </a:lnSpc>
              <a:spcBef>
                <a:spcPct val="30000"/>
              </a:spcBef>
              <a:buNone/>
            </a:pPr>
            <a:r>
              <a:rPr kumimoji="1" lang="en-US" altLang="zh-CN" sz="2400" dirty="0">
                <a:latin typeface="Garamond" panose="02020404030301010803" pitchFamily="18" charset="0"/>
              </a:rPr>
              <a:t>[0-1</a:t>
            </a:r>
            <a:r>
              <a:rPr kumimoji="1" lang="zh-CN" altLang="en-US" sz="2400" dirty="0">
                <a:latin typeface="Garamond" panose="02020404030301010803" pitchFamily="18" charset="0"/>
              </a:rPr>
              <a:t>背包问题</a:t>
            </a:r>
            <a:r>
              <a:rPr kumimoji="1" lang="en-US" altLang="zh-CN" sz="2400" dirty="0">
                <a:latin typeface="Garamond" panose="02020404030301010803" pitchFamily="18" charset="0"/>
              </a:rPr>
              <a:t>] </a:t>
            </a:r>
            <a:r>
              <a:rPr kumimoji="1" lang="zh-CN" altLang="en-US" sz="2400" dirty="0">
                <a:latin typeface="Garamond" panose="02020404030301010803" pitchFamily="18" charset="0"/>
              </a:rPr>
              <a:t>我们有</a:t>
            </a:r>
            <a:r>
              <a:rPr kumimoji="1" lang="en-US" altLang="zh-CN" sz="2400" dirty="0">
                <a:latin typeface="Garamond" panose="02020404030301010803" pitchFamily="18" charset="0"/>
              </a:rPr>
              <a:t>n</a:t>
            </a:r>
            <a:r>
              <a:rPr kumimoji="1" lang="zh-CN" altLang="en-US" sz="2400" dirty="0">
                <a:latin typeface="Garamond" panose="02020404030301010803" pitchFamily="18" charset="0"/>
              </a:rPr>
              <a:t>种物品，物品</a:t>
            </a:r>
            <a:r>
              <a:rPr kumimoji="1" lang="en-US" altLang="zh-CN" sz="2400" dirty="0" err="1">
                <a:latin typeface="Garamond" panose="02020404030301010803" pitchFamily="18" charset="0"/>
              </a:rPr>
              <a:t>i</a:t>
            </a:r>
            <a:r>
              <a:rPr kumimoji="1" lang="zh-CN" altLang="en-US" sz="2400" dirty="0">
                <a:latin typeface="Garamond" panose="02020404030301010803" pitchFamily="18" charset="0"/>
              </a:rPr>
              <a:t>的重量</a:t>
            </a:r>
            <a:r>
              <a:rPr kumimoji="1" lang="en-US" altLang="zh-CN" sz="2400" dirty="0">
                <a:latin typeface="Garamond" panose="02020404030301010803" pitchFamily="18" charset="0"/>
              </a:rPr>
              <a:t>w[</a:t>
            </a:r>
            <a:r>
              <a:rPr kumimoji="1" lang="en-US" altLang="zh-CN" sz="2400" dirty="0" err="1">
                <a:latin typeface="Garamond" panose="02020404030301010803" pitchFamily="18" charset="0"/>
              </a:rPr>
              <a:t>i</a:t>
            </a:r>
            <a:r>
              <a:rPr kumimoji="1" lang="en-US" altLang="zh-CN" sz="2400" dirty="0">
                <a:latin typeface="Garamond" panose="02020404030301010803" pitchFamily="18" charset="0"/>
              </a:rPr>
              <a:t>]</a:t>
            </a:r>
            <a:r>
              <a:rPr kumimoji="1" lang="zh-CN" altLang="en-US" sz="2400" dirty="0">
                <a:latin typeface="Garamond" panose="02020404030301010803" pitchFamily="18" charset="0"/>
              </a:rPr>
              <a:t>，价格为</a:t>
            </a:r>
            <a:r>
              <a:rPr kumimoji="1" lang="en-US" altLang="zh-CN" sz="2400" dirty="0">
                <a:latin typeface="Garamond" panose="02020404030301010803" pitchFamily="18" charset="0"/>
              </a:rPr>
              <a:t>v[</a:t>
            </a:r>
            <a:r>
              <a:rPr kumimoji="1" lang="en-US" altLang="zh-CN" sz="2400" dirty="0" err="1">
                <a:latin typeface="Garamond" panose="02020404030301010803" pitchFamily="18" charset="0"/>
              </a:rPr>
              <a:t>i</a:t>
            </a:r>
            <a:r>
              <a:rPr kumimoji="1" lang="en-US" altLang="zh-CN" sz="2400" dirty="0">
                <a:latin typeface="Garamond" panose="02020404030301010803" pitchFamily="18" charset="0"/>
              </a:rPr>
              <a:t>]</a:t>
            </a:r>
            <a:r>
              <a:rPr kumimoji="1" lang="zh-CN" altLang="en-US" sz="2400" dirty="0">
                <a:latin typeface="Garamond" panose="02020404030301010803" pitchFamily="18" charset="0"/>
              </a:rPr>
              <a:t>。重量和价格都是非负的。背包所承受的重量最大为</a:t>
            </a:r>
            <a:r>
              <a:rPr kumimoji="1" lang="en-US" altLang="zh-CN" sz="2400" dirty="0">
                <a:latin typeface="Garamond" panose="02020404030301010803" pitchFamily="18" charset="0"/>
              </a:rPr>
              <a:t>W</a:t>
            </a:r>
            <a:r>
              <a:rPr kumimoji="1" lang="zh-CN" altLang="en-US" sz="2400" dirty="0">
                <a:latin typeface="Garamond" panose="02020404030301010803" pitchFamily="18" charset="0"/>
              </a:rPr>
              <a:t>。如果限定每种物品（</a:t>
            </a:r>
            <a:r>
              <a:rPr kumimoji="1" lang="en-US" altLang="zh-CN" sz="2400" dirty="0">
                <a:latin typeface="Garamond" panose="02020404030301010803" pitchFamily="18" charset="0"/>
              </a:rPr>
              <a:t>0</a:t>
            </a:r>
            <a:r>
              <a:rPr kumimoji="1" lang="zh-CN" altLang="en-US" sz="2400" dirty="0">
                <a:latin typeface="Garamond" panose="02020404030301010803" pitchFamily="18" charset="0"/>
              </a:rPr>
              <a:t>）要么完全放进背包（</a:t>
            </a:r>
            <a:r>
              <a:rPr kumimoji="1" lang="en-US" altLang="zh-CN" sz="2400" dirty="0">
                <a:latin typeface="Garamond" panose="02020404030301010803" pitchFamily="18" charset="0"/>
              </a:rPr>
              <a:t>1</a:t>
            </a:r>
            <a:r>
              <a:rPr kumimoji="1" lang="zh-CN" altLang="en-US" sz="2400" dirty="0">
                <a:latin typeface="Garamond" panose="02020404030301010803" pitchFamily="18" charset="0"/>
              </a:rPr>
              <a:t>）要么不放进背包；即物品是不可分割的。问：如何选择这</a:t>
            </a:r>
            <a:r>
              <a:rPr kumimoji="1" lang="en-US" altLang="zh-CN" sz="2400" dirty="0">
                <a:latin typeface="Garamond" panose="02020404030301010803" pitchFamily="18" charset="0"/>
              </a:rPr>
              <a:t>n</a:t>
            </a:r>
            <a:r>
              <a:rPr kumimoji="1" lang="zh-CN" altLang="en-US" sz="2400" dirty="0">
                <a:latin typeface="Garamond" panose="02020404030301010803" pitchFamily="18" charset="0"/>
              </a:rPr>
              <a:t>中物品，保证放进背包的物品总价格最大。</a:t>
            </a:r>
          </a:p>
          <a:p>
            <a:pPr eaLnBrk="1" hangingPunct="1">
              <a:lnSpc>
                <a:spcPct val="140000"/>
              </a:lnSpc>
              <a:spcBef>
                <a:spcPct val="30000"/>
              </a:spcBef>
              <a:buNone/>
            </a:pPr>
            <a:endParaRPr kumimoji="1" lang="en-US" altLang="zh-CN" sz="2400" dirty="0">
              <a:latin typeface="Garamond" panose="02020404030301010803"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848029941"/>
              </p:ext>
            </p:extLst>
          </p:nvPr>
        </p:nvGraphicFramePr>
        <p:xfrm>
          <a:off x="2078183" y="3602831"/>
          <a:ext cx="6982690" cy="1371600"/>
        </p:xfrm>
        <a:graphic>
          <a:graphicData uri="http://schemas.openxmlformats.org/drawingml/2006/table">
            <a:tbl>
              <a:tblPr firstRow="1" bandRow="1">
                <a:tableStyleId>{5C22544A-7EE6-4342-B048-85BDC9FD1C3A}</a:tableStyleId>
              </a:tblPr>
              <a:tblGrid>
                <a:gridCol w="1209963">
                  <a:extLst>
                    <a:ext uri="{9D8B030D-6E8A-4147-A177-3AD203B41FA5}">
                      <a16:colId xmlns:a16="http://schemas.microsoft.com/office/drawing/2014/main" val="20000"/>
                    </a:ext>
                  </a:extLst>
                </a:gridCol>
                <a:gridCol w="1366982">
                  <a:extLst>
                    <a:ext uri="{9D8B030D-6E8A-4147-A177-3AD203B41FA5}">
                      <a16:colId xmlns:a16="http://schemas.microsoft.com/office/drawing/2014/main" val="20001"/>
                    </a:ext>
                  </a:extLst>
                </a:gridCol>
                <a:gridCol w="1542472">
                  <a:extLst>
                    <a:ext uri="{9D8B030D-6E8A-4147-A177-3AD203B41FA5}">
                      <a16:colId xmlns:a16="http://schemas.microsoft.com/office/drawing/2014/main" val="20002"/>
                    </a:ext>
                  </a:extLst>
                </a:gridCol>
                <a:gridCol w="1542473">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tblGrid>
              <a:tr h="370840">
                <a:tc>
                  <a:txBody>
                    <a:bodyPr/>
                    <a:lstStyle/>
                    <a:p>
                      <a:r>
                        <a:rPr lang="en-US" altLang="zh-CN" sz="2400" dirty="0"/>
                        <a:t>index</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0"/>
                  </a:ext>
                </a:extLst>
              </a:tr>
              <a:tr h="370840">
                <a:tc>
                  <a:txBody>
                    <a:bodyPr/>
                    <a:lstStyle/>
                    <a:p>
                      <a:r>
                        <a:rPr lang="en-US" altLang="zh-CN" sz="2400" dirty="0"/>
                        <a:t>w[</a:t>
                      </a:r>
                      <a:r>
                        <a:rPr lang="en-US" altLang="zh-CN" sz="2400" dirty="0" err="1"/>
                        <a:t>i</a:t>
                      </a:r>
                      <a:r>
                        <a:rPr lang="en-US" altLang="zh-CN" sz="2400" dirty="0"/>
                        <a:t>]</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1"/>
                  </a:ext>
                </a:extLst>
              </a:tr>
              <a:tr h="370840">
                <a:tc>
                  <a:txBody>
                    <a:bodyPr/>
                    <a:lstStyle/>
                    <a:p>
                      <a:r>
                        <a:rPr lang="en-US" altLang="zh-CN" sz="2400" dirty="0"/>
                        <a:t>v[</a:t>
                      </a:r>
                      <a:r>
                        <a:rPr lang="en-US" altLang="zh-CN" sz="2400" dirty="0" err="1"/>
                        <a:t>i</a:t>
                      </a:r>
                      <a:r>
                        <a:rPr lang="en-US" altLang="zh-CN" sz="2400" dirty="0"/>
                        <a:t>]</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10</a:t>
                      </a:r>
                      <a:endParaRPr lang="zh-CN" altLang="en-US" sz="2400" dirty="0"/>
                    </a:p>
                  </a:txBody>
                  <a:tcPr/>
                </a:tc>
                <a:extLst>
                  <a:ext uri="{0D108BD9-81ED-4DB2-BD59-A6C34878D82A}">
                    <a16:rowId xmlns:a16="http://schemas.microsoft.com/office/drawing/2014/main" val="10002"/>
                  </a:ext>
                </a:extLst>
              </a:tr>
            </a:tbl>
          </a:graphicData>
        </a:graphic>
      </p:graphicFrame>
      <p:sp>
        <p:nvSpPr>
          <p:cNvPr id="3" name="文本框 2"/>
          <p:cNvSpPr txBox="1"/>
          <p:nvPr/>
        </p:nvSpPr>
        <p:spPr>
          <a:xfrm>
            <a:off x="4710546" y="5135417"/>
            <a:ext cx="2309091" cy="461665"/>
          </a:xfrm>
          <a:prstGeom prst="rect">
            <a:avLst/>
          </a:prstGeom>
          <a:noFill/>
        </p:spPr>
        <p:txBody>
          <a:bodyPr wrap="square" rtlCol="0">
            <a:spAutoFit/>
          </a:bodyPr>
          <a:lstStyle/>
          <a:p>
            <a:r>
              <a:rPr lang="en-US" altLang="zh-CN" sz="2400" b="1" dirty="0"/>
              <a:t>n = 4, W = 6</a:t>
            </a:r>
            <a:endParaRPr lang="zh-CN" altLang="en-US" sz="2400" b="1" dirty="0"/>
          </a:p>
        </p:txBody>
      </p:sp>
    </p:spTree>
    <p:extLst>
      <p:ext uri="{BB962C8B-B14F-4D97-AF65-F5344CB8AC3E}">
        <p14:creationId xmlns:p14="http://schemas.microsoft.com/office/powerpoint/2010/main" val="2295944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21</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mc:AlternateContent xmlns:mc="http://schemas.openxmlformats.org/markup-compatibility/2006" xmlns:a14="http://schemas.microsoft.com/office/drawing/2010/main">
        <mc:Choice Requires="a14">
          <p:sp>
            <p:nvSpPr>
              <p:cNvPr id="43" name="Rectangle 3"/>
              <p:cNvSpPr txBox="1">
                <a:spLocks noChangeArrowheads="1"/>
              </p:cNvSpPr>
              <p:nvPr/>
            </p:nvSpPr>
            <p:spPr bwMode="auto">
              <a:xfrm>
                <a:off x="1847851" y="981076"/>
                <a:ext cx="9656794" cy="27310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kern="0" dirty="0">
                    <a:latin typeface="华文中宋" panose="02010600040101010101" pitchFamily="2" charset="-122"/>
                    <a:ea typeface="华文中宋" panose="02010600040101010101" pitchFamily="2" charset="-122"/>
                  </a:rPr>
                  <a:t>回溯？</a:t>
                </a:r>
              </a:p>
              <a:p>
                <a:pPr marL="908050" lvl="1" indent="-436563" eaLnBrk="1" hangingPunct="1">
                  <a:lnSpc>
                    <a:spcPct val="140000"/>
                  </a:lnSpc>
                  <a:spcBef>
                    <a:spcPct val="30000"/>
                  </a:spcBef>
                </a:pPr>
                <a:r>
                  <a:rPr lang="zh-CN" altLang="en-US" sz="2800" kern="0" dirty="0">
                    <a:solidFill>
                      <a:srgbClr val="000000"/>
                    </a:solidFill>
                  </a:rPr>
                  <a:t>见 第一章引言部分</a:t>
                </a:r>
                <a:endParaRPr lang="en-US" altLang="zh-CN" sz="2800" kern="0" dirty="0">
                  <a:solidFill>
                    <a:srgbClr val="000000"/>
                  </a:solidFill>
                </a:endParaRPr>
              </a:p>
              <a:p>
                <a:pPr marL="908050" lvl="1" indent="-436563" eaLnBrk="1" hangingPunct="1">
                  <a:lnSpc>
                    <a:spcPct val="140000"/>
                  </a:lnSpc>
                  <a:spcBef>
                    <a:spcPct val="30000"/>
                  </a:spcBef>
                </a:pPr>
                <a:r>
                  <a:rPr lang="zh-CN" altLang="en-US" sz="2800" kern="0" dirty="0">
                    <a:solidFill>
                      <a:srgbClr val="000000"/>
                    </a:solidFill>
                  </a:rPr>
                  <a:t>时间复杂度</a:t>
                </a:r>
                <a14:m>
                  <m:oMath xmlns:m="http://schemas.openxmlformats.org/officeDocument/2006/math">
                    <m:r>
                      <a:rPr lang="en-US" altLang="zh-CN" sz="2800" b="1" i="1" kern="0" smtClean="0">
                        <a:solidFill>
                          <a:srgbClr val="000000"/>
                        </a:solidFill>
                        <a:latin typeface="Cambria Math" panose="02040503050406030204" pitchFamily="18" charset="0"/>
                      </a:rPr>
                      <m:t>𝑶</m:t>
                    </m:r>
                    <m:d>
                      <m:dPr>
                        <m:ctrlPr>
                          <a:rPr lang="en-US" altLang="zh-CN" sz="2800" b="1" i="1" kern="0" smtClean="0">
                            <a:solidFill>
                              <a:srgbClr val="000000"/>
                            </a:solidFill>
                            <a:latin typeface="Cambria Math" panose="02040503050406030204" pitchFamily="18" charset="0"/>
                          </a:rPr>
                        </m:ctrlPr>
                      </m:dPr>
                      <m:e>
                        <m:sSup>
                          <m:sSupPr>
                            <m:ctrlPr>
                              <a:rPr lang="en-US" altLang="zh-CN" sz="2800" b="1" i="1" kern="0" smtClean="0">
                                <a:solidFill>
                                  <a:srgbClr val="000000"/>
                                </a:solidFill>
                                <a:latin typeface="Cambria Math" panose="02040503050406030204" pitchFamily="18" charset="0"/>
                              </a:rPr>
                            </m:ctrlPr>
                          </m:sSupPr>
                          <m:e>
                            <m:r>
                              <a:rPr lang="en-US" altLang="zh-CN" sz="2800" b="1" i="1" kern="0" smtClean="0">
                                <a:solidFill>
                                  <a:srgbClr val="000000"/>
                                </a:solidFill>
                                <a:latin typeface="Cambria Math" panose="02040503050406030204" pitchFamily="18" charset="0"/>
                              </a:rPr>
                              <m:t>𝟐</m:t>
                            </m:r>
                          </m:e>
                          <m:sup>
                            <m:r>
                              <a:rPr lang="en-US" altLang="zh-CN" sz="2800" b="1" i="1" kern="0" smtClean="0">
                                <a:solidFill>
                                  <a:srgbClr val="000000"/>
                                </a:solidFill>
                                <a:latin typeface="Cambria Math" panose="02040503050406030204" pitchFamily="18" charset="0"/>
                              </a:rPr>
                              <m:t>𝒏</m:t>
                            </m:r>
                          </m:sup>
                        </m:sSup>
                      </m:e>
                    </m:d>
                  </m:oMath>
                </a14:m>
                <a:r>
                  <a:rPr lang="zh-CN" altLang="en-US" sz="2800" kern="0" dirty="0">
                    <a:solidFill>
                      <a:srgbClr val="000000"/>
                    </a:solidFill>
                  </a:rPr>
                  <a:t>，相当于枚举所有的组合可能性</a:t>
                </a:r>
                <a:endParaRPr lang="en-US" altLang="zh-CN" sz="2800" kern="0" dirty="0">
                  <a:solidFill>
                    <a:srgbClr val="000000"/>
                  </a:solidFill>
                </a:endParaRPr>
              </a:p>
            </p:txBody>
          </p:sp>
        </mc:Choice>
        <mc:Fallback xmlns="">
          <p:sp>
            <p:nvSpPr>
              <p:cNvPr id="43" name="Rectangle 3"/>
              <p:cNvSpPr txBox="1">
                <a:spLocks noRot="1" noChangeAspect="1" noMove="1" noResize="1" noEditPoints="1" noAdjustHandles="1" noChangeArrowheads="1" noChangeShapeType="1" noTextEdit="1"/>
              </p:cNvSpPr>
              <p:nvPr/>
            </p:nvSpPr>
            <p:spPr bwMode="auto">
              <a:xfrm>
                <a:off x="1847851" y="981076"/>
                <a:ext cx="9656794" cy="2731053"/>
              </a:xfrm>
              <a:prstGeom prst="rect">
                <a:avLst/>
              </a:prstGeom>
              <a:blipFill rotWithShape="0">
                <a:blip r:embed="rId3"/>
                <a:stretch>
                  <a:fillRect l="-13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077282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22</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p:sp>
        <p:nvSpPr>
          <p:cNvPr id="43" name="Rectangle 3"/>
          <p:cNvSpPr txBox="1">
            <a:spLocks noChangeArrowheads="1"/>
          </p:cNvSpPr>
          <p:nvPr/>
        </p:nvSpPr>
        <p:spPr bwMode="auto">
          <a:xfrm>
            <a:off x="1847851" y="981076"/>
            <a:ext cx="9656794" cy="3895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kern="0" dirty="0">
                <a:latin typeface="华文中宋" panose="02010600040101010101" pitchFamily="2" charset="-122"/>
                <a:ea typeface="华文中宋" panose="02010600040101010101" pitchFamily="2" charset="-122"/>
              </a:rPr>
              <a:t>动态规划</a:t>
            </a:r>
          </a:p>
          <a:p>
            <a:pPr marL="908050" lvl="1" indent="-436563" eaLnBrk="1" hangingPunct="1">
              <a:lnSpc>
                <a:spcPct val="140000"/>
              </a:lnSpc>
              <a:spcBef>
                <a:spcPct val="30000"/>
              </a:spcBef>
            </a:pPr>
            <a:r>
              <a:rPr lang="zh-CN" altLang="en-US" sz="2800" kern="0" dirty="0">
                <a:solidFill>
                  <a:srgbClr val="000000"/>
                </a:solidFill>
              </a:rPr>
              <a:t>确定子问题（最优子结构）： </a:t>
            </a:r>
            <a:r>
              <a:rPr lang="en-US" altLang="zh-CN" sz="2800" kern="0" dirty="0">
                <a:solidFill>
                  <a:srgbClr val="000000"/>
                </a:solidFill>
              </a:rPr>
              <a:t>f[</a:t>
            </a:r>
            <a:r>
              <a:rPr lang="en-US" altLang="zh-CN" sz="2800" kern="0" dirty="0" err="1">
                <a:solidFill>
                  <a:srgbClr val="000000"/>
                </a:solidFill>
              </a:rPr>
              <a:t>i</a:t>
            </a:r>
            <a:r>
              <a:rPr lang="en-US" altLang="zh-CN" sz="2800" kern="0" dirty="0">
                <a:solidFill>
                  <a:srgbClr val="000000"/>
                </a:solidFill>
              </a:rPr>
              <a:t>][j]</a:t>
            </a:r>
            <a:r>
              <a:rPr lang="zh-CN" altLang="en-US" sz="2800" kern="0" dirty="0">
                <a:solidFill>
                  <a:srgbClr val="000000"/>
                </a:solidFill>
              </a:rPr>
              <a:t>表示前</a:t>
            </a:r>
            <a:r>
              <a:rPr lang="en-US" altLang="zh-CN" sz="2800" kern="0" dirty="0" err="1">
                <a:solidFill>
                  <a:srgbClr val="000000"/>
                </a:solidFill>
              </a:rPr>
              <a:t>i</a:t>
            </a:r>
            <a:r>
              <a:rPr lang="zh-CN" altLang="en-US" sz="2800" kern="0" dirty="0">
                <a:solidFill>
                  <a:srgbClr val="000000"/>
                </a:solidFill>
              </a:rPr>
              <a:t>个物品，装入容量为</a:t>
            </a:r>
            <a:r>
              <a:rPr lang="en-US" altLang="zh-CN" sz="2800" kern="0" dirty="0">
                <a:solidFill>
                  <a:srgbClr val="000000"/>
                </a:solidFill>
              </a:rPr>
              <a:t>j</a:t>
            </a:r>
            <a:r>
              <a:rPr lang="zh-CN" altLang="en-US" sz="2800" kern="0" dirty="0">
                <a:solidFill>
                  <a:srgbClr val="000000"/>
                </a:solidFill>
              </a:rPr>
              <a:t>的背包，所能选取的最大价值。</a:t>
            </a:r>
            <a:endParaRPr lang="en-US" altLang="zh-CN" sz="2800" kern="0" dirty="0">
              <a:solidFill>
                <a:srgbClr val="000000"/>
              </a:solidFill>
            </a:endParaRPr>
          </a:p>
          <a:p>
            <a:pPr marL="908050" lvl="1" indent="-436563" eaLnBrk="1" hangingPunct="1">
              <a:lnSpc>
                <a:spcPct val="140000"/>
              </a:lnSpc>
              <a:spcBef>
                <a:spcPct val="30000"/>
              </a:spcBef>
            </a:pPr>
            <a:r>
              <a:rPr lang="zh-CN" altLang="en-US" sz="2800" kern="0" dirty="0">
                <a:solidFill>
                  <a:srgbClr val="000000"/>
                </a:solidFill>
              </a:rPr>
              <a:t>原始问题：</a:t>
            </a:r>
            <a:r>
              <a:rPr lang="en-US" altLang="zh-CN" sz="2800" kern="0" dirty="0">
                <a:solidFill>
                  <a:srgbClr val="000000"/>
                </a:solidFill>
              </a:rPr>
              <a:t>f[n][W]</a:t>
            </a:r>
          </a:p>
          <a:p>
            <a:pPr marL="471487" lvl="1" indent="0" eaLnBrk="1" hangingPunct="1">
              <a:lnSpc>
                <a:spcPct val="140000"/>
              </a:lnSpc>
              <a:spcBef>
                <a:spcPct val="30000"/>
              </a:spcBef>
              <a:buNone/>
            </a:pPr>
            <a:endParaRPr lang="en-US" altLang="zh-CN" sz="2800" kern="0" dirty="0">
              <a:solidFill>
                <a:srgbClr val="000000"/>
              </a:solidFill>
            </a:endParaRPr>
          </a:p>
        </p:txBody>
      </p:sp>
    </p:spTree>
    <p:extLst>
      <p:ext uri="{BB962C8B-B14F-4D97-AF65-F5344CB8AC3E}">
        <p14:creationId xmlns:p14="http://schemas.microsoft.com/office/powerpoint/2010/main" val="528003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23</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p:sp>
        <p:nvSpPr>
          <p:cNvPr id="43" name="Rectangle 3"/>
          <p:cNvSpPr txBox="1">
            <a:spLocks noChangeArrowheads="1"/>
          </p:cNvSpPr>
          <p:nvPr/>
        </p:nvSpPr>
        <p:spPr bwMode="auto">
          <a:xfrm>
            <a:off x="1847851" y="981076"/>
            <a:ext cx="9656794" cy="297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kern="0" dirty="0">
                <a:latin typeface="华文中宋" panose="02010600040101010101" pitchFamily="2" charset="-122"/>
                <a:ea typeface="华文中宋" panose="02010600040101010101" pitchFamily="2" charset="-122"/>
              </a:rPr>
              <a:t>动态规划</a:t>
            </a:r>
          </a:p>
          <a:p>
            <a:pPr marL="908050" lvl="1" indent="-436563" eaLnBrk="1" hangingPunct="1">
              <a:lnSpc>
                <a:spcPct val="140000"/>
              </a:lnSpc>
              <a:spcBef>
                <a:spcPct val="30000"/>
              </a:spcBef>
            </a:pPr>
            <a:r>
              <a:rPr lang="zh-CN" altLang="en-US" kern="0" dirty="0">
                <a:solidFill>
                  <a:srgbClr val="000000"/>
                </a:solidFill>
              </a:rPr>
              <a:t>状态转移方程：</a:t>
            </a:r>
            <a:r>
              <a:rPr lang="en-US" altLang="zh-CN" kern="0" dirty="0">
                <a:solidFill>
                  <a:srgbClr val="000000"/>
                </a:solidFill>
              </a:rPr>
              <a:t>f[</a:t>
            </a:r>
            <a:r>
              <a:rPr lang="en-US" altLang="zh-CN" kern="0" dirty="0" err="1">
                <a:solidFill>
                  <a:srgbClr val="000000"/>
                </a:solidFill>
              </a:rPr>
              <a:t>i</a:t>
            </a:r>
            <a:r>
              <a:rPr lang="en-US" altLang="zh-CN" kern="0" dirty="0">
                <a:solidFill>
                  <a:srgbClr val="000000"/>
                </a:solidFill>
              </a:rPr>
              <a:t>][j] = MAX{f[i-1][j], f[i-1][j-w[i-1]]+v[i-1]}</a:t>
            </a:r>
          </a:p>
          <a:p>
            <a:pPr marL="908050" lvl="1" indent="-436563" eaLnBrk="1" hangingPunct="1">
              <a:lnSpc>
                <a:spcPct val="140000"/>
              </a:lnSpc>
              <a:spcBef>
                <a:spcPct val="30000"/>
              </a:spcBef>
            </a:pPr>
            <a:endParaRPr lang="en-US" altLang="zh-CN" sz="2800" kern="0" dirty="0">
              <a:solidFill>
                <a:srgbClr val="000000"/>
              </a:solidFill>
            </a:endParaRPr>
          </a:p>
          <a:p>
            <a:pPr marL="908050" lvl="1" indent="-436563" eaLnBrk="1" hangingPunct="1">
              <a:lnSpc>
                <a:spcPct val="140000"/>
              </a:lnSpc>
              <a:spcBef>
                <a:spcPct val="30000"/>
              </a:spcBef>
            </a:pPr>
            <a:r>
              <a:rPr lang="zh-CN" altLang="en-US" sz="2800" kern="0" dirty="0">
                <a:solidFill>
                  <a:srgbClr val="000000"/>
                </a:solidFill>
              </a:rPr>
              <a:t>无后效性：</a:t>
            </a:r>
            <a:r>
              <a:rPr lang="en-US" altLang="zh-CN" sz="2800" kern="0" dirty="0">
                <a:solidFill>
                  <a:srgbClr val="000000"/>
                </a:solidFill>
              </a:rPr>
              <a:t>f[</a:t>
            </a:r>
            <a:r>
              <a:rPr lang="en-US" altLang="zh-CN" sz="2800" kern="0" dirty="0" err="1">
                <a:solidFill>
                  <a:srgbClr val="000000"/>
                </a:solidFill>
              </a:rPr>
              <a:t>i</a:t>
            </a:r>
            <a:r>
              <a:rPr lang="en-US" altLang="zh-CN" sz="2800" kern="0" dirty="0">
                <a:solidFill>
                  <a:srgbClr val="000000"/>
                </a:solidFill>
              </a:rPr>
              <a:t>][j]</a:t>
            </a:r>
            <a:r>
              <a:rPr lang="zh-CN" altLang="en-US" sz="2800" kern="0" dirty="0">
                <a:solidFill>
                  <a:srgbClr val="000000"/>
                </a:solidFill>
              </a:rPr>
              <a:t>的求解与</a:t>
            </a:r>
            <a:r>
              <a:rPr lang="en-US" altLang="zh-CN" sz="2800" kern="0" dirty="0">
                <a:solidFill>
                  <a:srgbClr val="000000"/>
                </a:solidFill>
              </a:rPr>
              <a:t>f[</a:t>
            </a:r>
            <a:r>
              <a:rPr lang="en-US" altLang="zh-CN" sz="2800" kern="0" dirty="0" err="1">
                <a:solidFill>
                  <a:srgbClr val="000000"/>
                </a:solidFill>
              </a:rPr>
              <a:t>i+x</a:t>
            </a:r>
            <a:r>
              <a:rPr lang="en-US" altLang="zh-CN" sz="2800" kern="0" dirty="0">
                <a:solidFill>
                  <a:srgbClr val="000000"/>
                </a:solidFill>
              </a:rPr>
              <a:t>][</a:t>
            </a:r>
            <a:r>
              <a:rPr lang="en-US" altLang="zh-CN" sz="2800" kern="0" dirty="0" err="1">
                <a:solidFill>
                  <a:srgbClr val="000000"/>
                </a:solidFill>
              </a:rPr>
              <a:t>j+y</a:t>
            </a:r>
            <a:r>
              <a:rPr lang="en-US" altLang="zh-CN" sz="2800" kern="0" dirty="0">
                <a:solidFill>
                  <a:srgbClr val="000000"/>
                </a:solidFill>
              </a:rPr>
              <a:t>] (</a:t>
            </a:r>
            <a:r>
              <a:rPr lang="en-US" altLang="zh-CN" sz="2800" kern="0" dirty="0" err="1">
                <a:solidFill>
                  <a:srgbClr val="000000"/>
                </a:solidFill>
              </a:rPr>
              <a:t>x,y</a:t>
            </a:r>
            <a:r>
              <a:rPr lang="en-US" altLang="zh-CN" sz="2800" kern="0" dirty="0">
                <a:solidFill>
                  <a:srgbClr val="000000"/>
                </a:solidFill>
              </a:rPr>
              <a:t> &gt; 0)</a:t>
            </a:r>
            <a:r>
              <a:rPr lang="zh-CN" altLang="en-US" sz="2800" kern="0" dirty="0">
                <a:solidFill>
                  <a:srgbClr val="000000"/>
                </a:solidFill>
              </a:rPr>
              <a:t>无关</a:t>
            </a:r>
            <a:endParaRPr lang="en-US" altLang="zh-CN" sz="2800" kern="0" dirty="0">
              <a:solidFill>
                <a:srgbClr val="000000"/>
              </a:solidFill>
            </a:endParaRPr>
          </a:p>
        </p:txBody>
      </p:sp>
      <p:cxnSp>
        <p:nvCxnSpPr>
          <p:cNvPr id="9" name="直接连接符 8"/>
          <p:cNvCxnSpPr/>
          <p:nvPr/>
        </p:nvCxnSpPr>
        <p:spPr bwMode="auto">
          <a:xfrm>
            <a:off x="6807198" y="2316424"/>
            <a:ext cx="1052947" cy="11140"/>
          </a:xfrm>
          <a:prstGeom prst="line">
            <a:avLst/>
          </a:prstGeom>
          <a:noFill/>
          <a:ln w="25400" cap="flat" cmpd="sng" algn="ctr">
            <a:solidFill>
              <a:srgbClr val="C00000"/>
            </a:solidFill>
            <a:prstDash val="solid"/>
            <a:round/>
            <a:headEnd type="none" w="med" len="med"/>
            <a:tailEnd type="none" w="med" len="med"/>
          </a:ln>
          <a:effectLst/>
        </p:spPr>
      </p:cxnSp>
      <p:sp>
        <p:nvSpPr>
          <p:cNvPr id="10" name="文本框 9"/>
          <p:cNvSpPr txBox="1"/>
          <p:nvPr/>
        </p:nvSpPr>
        <p:spPr>
          <a:xfrm>
            <a:off x="6742545" y="2416611"/>
            <a:ext cx="1413163" cy="369332"/>
          </a:xfrm>
          <a:prstGeom prst="rect">
            <a:avLst/>
          </a:prstGeom>
          <a:noFill/>
        </p:spPr>
        <p:txBody>
          <a:bodyPr wrap="square" rtlCol="0">
            <a:spAutoFit/>
          </a:bodyPr>
          <a:lstStyle/>
          <a:p>
            <a:r>
              <a:rPr lang="zh-CN" altLang="en-US" b="1" dirty="0">
                <a:solidFill>
                  <a:srgbClr val="C00000"/>
                </a:solidFill>
              </a:rPr>
              <a:t>不取物品</a:t>
            </a:r>
            <a:r>
              <a:rPr lang="en-US" altLang="zh-CN" b="1" dirty="0" err="1">
                <a:solidFill>
                  <a:srgbClr val="C00000"/>
                </a:solidFill>
              </a:rPr>
              <a:t>i</a:t>
            </a:r>
            <a:endParaRPr lang="zh-CN" altLang="en-US" b="1" dirty="0">
              <a:solidFill>
                <a:srgbClr val="C00000"/>
              </a:solidFill>
            </a:endParaRPr>
          </a:p>
        </p:txBody>
      </p:sp>
      <p:cxnSp>
        <p:nvCxnSpPr>
          <p:cNvPr id="11" name="直接连接符 10"/>
          <p:cNvCxnSpPr/>
          <p:nvPr/>
        </p:nvCxnSpPr>
        <p:spPr bwMode="auto">
          <a:xfrm flipV="1">
            <a:off x="8003305" y="2327564"/>
            <a:ext cx="2581568" cy="2721"/>
          </a:xfrm>
          <a:prstGeom prst="line">
            <a:avLst/>
          </a:prstGeom>
          <a:noFill/>
          <a:ln w="25400" cap="flat" cmpd="sng" algn="ctr">
            <a:solidFill>
              <a:srgbClr val="C00000"/>
            </a:solidFill>
            <a:prstDash val="solid"/>
            <a:round/>
            <a:headEnd type="none" w="med" len="med"/>
            <a:tailEnd type="none" w="med" len="med"/>
          </a:ln>
          <a:effectLst/>
        </p:spPr>
      </p:cxnSp>
      <p:sp>
        <p:nvSpPr>
          <p:cNvPr id="12" name="文本框 11"/>
          <p:cNvSpPr txBox="1"/>
          <p:nvPr/>
        </p:nvSpPr>
        <p:spPr>
          <a:xfrm>
            <a:off x="8668323" y="2411995"/>
            <a:ext cx="1413163" cy="369332"/>
          </a:xfrm>
          <a:prstGeom prst="rect">
            <a:avLst/>
          </a:prstGeom>
          <a:noFill/>
        </p:spPr>
        <p:txBody>
          <a:bodyPr wrap="square" rtlCol="0">
            <a:spAutoFit/>
          </a:bodyPr>
          <a:lstStyle/>
          <a:p>
            <a:r>
              <a:rPr lang="zh-CN" altLang="en-US" b="1" dirty="0">
                <a:solidFill>
                  <a:srgbClr val="C00000"/>
                </a:solidFill>
              </a:rPr>
              <a:t>取物品</a:t>
            </a:r>
            <a:r>
              <a:rPr lang="en-US" altLang="zh-CN" b="1" dirty="0" err="1">
                <a:solidFill>
                  <a:srgbClr val="C00000"/>
                </a:solidFill>
              </a:rPr>
              <a:t>i</a:t>
            </a:r>
            <a:endParaRPr lang="zh-CN" altLang="en-US" b="1" dirty="0">
              <a:solidFill>
                <a:srgbClr val="C00000"/>
              </a:solidFill>
            </a:endParaRPr>
          </a:p>
        </p:txBody>
      </p:sp>
    </p:spTree>
    <p:extLst>
      <p:ext uri="{BB962C8B-B14F-4D97-AF65-F5344CB8AC3E}">
        <p14:creationId xmlns:p14="http://schemas.microsoft.com/office/powerpoint/2010/main" val="220778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24</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r>
              <a:rPr lang="en-US" altLang="zh-CN" dirty="0"/>
              <a:t>–</a:t>
            </a:r>
            <a:r>
              <a:rPr lang="zh-CN" altLang="en-US" dirty="0"/>
              <a:t>“记忆化”递归实现</a:t>
            </a:r>
            <a:endParaRPr lang="en-US" altLang="zh-CN" dirty="0"/>
          </a:p>
        </p:txBody>
      </p:sp>
      <p:sp>
        <p:nvSpPr>
          <p:cNvPr id="22531" name="Rectangle 3"/>
          <p:cNvSpPr>
            <a:spLocks noGrp="1" noChangeArrowheads="1"/>
          </p:cNvSpPr>
          <p:nvPr>
            <p:ph type="body" idx="1"/>
          </p:nvPr>
        </p:nvSpPr>
        <p:spPr>
          <a:xfrm>
            <a:off x="1703389" y="979489"/>
            <a:ext cx="8785225" cy="5616574"/>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dp_knapsack</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w[],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v[],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c,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f[][100],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a:t>
            </a:r>
          </a:p>
          <a:p>
            <a:pPr eaLnBrk="1" hangingPunct="1">
              <a:lnSpc>
                <a:spcPct val="140000"/>
              </a:lnSpc>
              <a:spcBef>
                <a:spcPct val="30000"/>
              </a:spcBef>
              <a:buNone/>
            </a:pPr>
            <a:r>
              <a:rPr kumimoji="1" lang="en-US" altLang="zh-CN" sz="1800" dirty="0">
                <a:latin typeface="Garamond" panose="02020404030301010803" pitchFamily="18" charset="0"/>
              </a:rPr>
              <a:t>// f[n][c]</a:t>
            </a:r>
            <a:r>
              <a:rPr kumimoji="1" lang="zh-CN" altLang="en-US" sz="1800" dirty="0">
                <a:latin typeface="Garamond" panose="02020404030301010803" pitchFamily="18" charset="0"/>
              </a:rPr>
              <a:t>表示背包可选物品为</a:t>
            </a:r>
            <a:r>
              <a:rPr kumimoji="1" lang="en-US" altLang="zh-CN" sz="1800" dirty="0">
                <a:latin typeface="Garamond" panose="02020404030301010803" pitchFamily="18" charset="0"/>
              </a:rPr>
              <a:t>1,2,..i</a:t>
            </a:r>
            <a:r>
              <a:rPr kumimoji="1" lang="zh-CN" altLang="en-US" sz="1800" dirty="0">
                <a:latin typeface="Garamond" panose="02020404030301010803" pitchFamily="18" charset="0"/>
              </a:rPr>
              <a:t>，容量为</a:t>
            </a:r>
            <a:r>
              <a:rPr kumimoji="1" lang="en-US" altLang="zh-CN" sz="1800" dirty="0">
                <a:latin typeface="Garamond" panose="02020404030301010803" pitchFamily="18" charset="0"/>
              </a:rPr>
              <a:t>c</a:t>
            </a:r>
            <a:r>
              <a:rPr kumimoji="1" lang="zh-CN" altLang="en-US" sz="1800" dirty="0">
                <a:latin typeface="Garamond" panose="02020404030301010803" pitchFamily="18" charset="0"/>
              </a:rPr>
              <a:t>时的最优解</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if (f[n][c] != -1) return f[n][c]; // </a:t>
            </a:r>
            <a:r>
              <a:rPr kumimoji="1" lang="zh-CN" altLang="en-US" sz="1800" dirty="0">
                <a:latin typeface="Garamond" panose="02020404030301010803" pitchFamily="18" charset="0"/>
              </a:rPr>
              <a:t>保证只被计算一次</a:t>
            </a:r>
            <a:endParaRPr kumimoji="1" lang="en-US" altLang="zh-CN" sz="1800" dirty="0">
              <a:latin typeface="Garamond" panose="02020404030301010803" pitchFamily="18" charset="0"/>
            </a:endParaRPr>
          </a:p>
          <a:p>
            <a:pPr eaLnBrk="1" hangingPunct="1">
              <a:lnSpc>
                <a:spcPct val="140000"/>
              </a:lnSpc>
              <a:spcBef>
                <a:spcPct val="30000"/>
              </a:spcBef>
              <a:buNone/>
            </a:pPr>
            <a:r>
              <a:rPr kumimoji="1" lang="en-US" altLang="zh-CN" sz="1800" dirty="0">
                <a:latin typeface="Garamond" panose="02020404030301010803" pitchFamily="18" charset="0"/>
              </a:rPr>
              <a:t>	if (n == 0) return f[n][c] = 0;</a:t>
            </a:r>
          </a:p>
          <a:p>
            <a:pPr eaLnBrk="1" hangingPunct="1">
              <a:lnSpc>
                <a:spcPct val="140000"/>
              </a:lnSpc>
              <a:spcBef>
                <a:spcPct val="30000"/>
              </a:spcBef>
              <a:buNone/>
            </a:pPr>
            <a:r>
              <a:rPr kumimoji="1" lang="en-US" altLang="zh-CN" sz="1800" dirty="0">
                <a:latin typeface="Garamond" panose="02020404030301010803" pitchFamily="18" charset="0"/>
              </a:rPr>
              <a:t>	f[n][c] = </a:t>
            </a:r>
            <a:r>
              <a:rPr kumimoji="1" lang="en-US" altLang="zh-CN" sz="1800" dirty="0" err="1">
                <a:latin typeface="Garamond" panose="02020404030301010803" pitchFamily="18" charset="0"/>
              </a:rPr>
              <a:t>dp_knapsack</a:t>
            </a:r>
            <a:r>
              <a:rPr kumimoji="1" lang="en-US" altLang="zh-CN" sz="1800" dirty="0">
                <a:latin typeface="Garamond" panose="02020404030301010803" pitchFamily="18" charset="0"/>
              </a:rPr>
              <a:t>(w, v, c, f, n - 1);</a:t>
            </a:r>
          </a:p>
          <a:p>
            <a:pPr eaLnBrk="1" hangingPunct="1">
              <a:lnSpc>
                <a:spcPct val="140000"/>
              </a:lnSpc>
              <a:spcBef>
                <a:spcPct val="30000"/>
              </a:spcBef>
              <a:buNone/>
            </a:pPr>
            <a:r>
              <a:rPr kumimoji="1" lang="en-US" altLang="zh-CN" sz="1800" dirty="0">
                <a:latin typeface="Garamond" panose="02020404030301010803" pitchFamily="18" charset="0"/>
              </a:rPr>
              <a:t>	if (c - w[n - 1] &gt;= 0)</a:t>
            </a:r>
          </a:p>
          <a:p>
            <a:pPr eaLnBrk="1" hangingPunct="1">
              <a:lnSpc>
                <a:spcPct val="140000"/>
              </a:lnSpc>
              <a:spcBef>
                <a:spcPct val="30000"/>
              </a:spcBef>
              <a:buNone/>
            </a:pPr>
            <a:r>
              <a:rPr kumimoji="1" lang="en-US" altLang="zh-CN" sz="1800" dirty="0">
                <a:latin typeface="Garamond" panose="02020404030301010803" pitchFamily="18" charset="0"/>
              </a:rPr>
              <a:t>		f[n][c] = max(f[n][c], v[n - 1] + </a:t>
            </a:r>
            <a:r>
              <a:rPr kumimoji="1" lang="en-US" altLang="zh-CN" sz="1800" dirty="0" err="1">
                <a:latin typeface="Garamond" panose="02020404030301010803" pitchFamily="18" charset="0"/>
              </a:rPr>
              <a:t>dp_knapsack</a:t>
            </a:r>
            <a:r>
              <a:rPr kumimoji="1" lang="en-US" altLang="zh-CN" sz="1800" dirty="0">
                <a:latin typeface="Garamond" panose="02020404030301010803" pitchFamily="18" charset="0"/>
              </a:rPr>
              <a:t>(w, v, c - w[n - 1], f, n - 1));</a:t>
            </a:r>
          </a:p>
          <a:p>
            <a:pPr eaLnBrk="1" hangingPunct="1">
              <a:lnSpc>
                <a:spcPct val="140000"/>
              </a:lnSpc>
              <a:spcBef>
                <a:spcPct val="30000"/>
              </a:spcBef>
              <a:buNone/>
            </a:pPr>
            <a:r>
              <a:rPr kumimoji="1" lang="en-US" altLang="zh-CN" sz="1800" dirty="0">
                <a:latin typeface="Garamond" panose="02020404030301010803" pitchFamily="18" charset="0"/>
              </a:rPr>
              <a:t>	return f[n][c];</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2551377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25</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r>
              <a:rPr lang="en-US" altLang="zh-CN" dirty="0"/>
              <a:t>–</a:t>
            </a:r>
            <a:r>
              <a:rPr lang="zh-CN" altLang="en-US" dirty="0"/>
              <a:t>“记忆化”递归实现</a:t>
            </a:r>
            <a:endParaRPr lang="en-US" altLang="zh-CN" dirty="0"/>
          </a:p>
        </p:txBody>
      </p:sp>
      <p:sp>
        <p:nvSpPr>
          <p:cNvPr id="22531" name="Rectangle 3"/>
          <p:cNvSpPr>
            <a:spLocks noGrp="1" noChangeArrowheads="1"/>
          </p:cNvSpPr>
          <p:nvPr>
            <p:ph type="body" idx="1"/>
          </p:nvPr>
        </p:nvSpPr>
        <p:spPr>
          <a:xfrm>
            <a:off x="1703389" y="757818"/>
            <a:ext cx="8785225" cy="6003199"/>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main()</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weight[100], value[100], f[100][100];</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 W; // n</a:t>
            </a:r>
            <a:r>
              <a:rPr kumimoji="1" lang="zh-CN" altLang="en-US" sz="1800" dirty="0">
                <a:latin typeface="Garamond" panose="02020404030301010803" pitchFamily="18" charset="0"/>
              </a:rPr>
              <a:t>个物品，背包容量为</a:t>
            </a:r>
            <a:r>
              <a:rPr kumimoji="1" lang="en-US" altLang="zh-CN" sz="1800" dirty="0">
                <a:latin typeface="Garamond" panose="02020404030301010803" pitchFamily="18" charset="0"/>
              </a:rPr>
              <a:t>W</a:t>
            </a:r>
          </a:p>
          <a:p>
            <a:pPr eaLnBrk="1" hangingPunct="1">
              <a:lnSpc>
                <a:spcPct val="140000"/>
              </a:lnSpc>
              <a:spcBef>
                <a:spcPct val="30000"/>
              </a:spcBef>
              <a:buNone/>
            </a:pPr>
            <a:r>
              <a:rPr kumimoji="1" lang="en-US" altLang="zh-CN" sz="1800" dirty="0">
                <a:latin typeface="Garamond" panose="02020404030301010803" pitchFamily="18" charset="0"/>
              </a:rPr>
              <a:t>	// </a:t>
            </a:r>
            <a:r>
              <a:rPr kumimoji="1" lang="zh-CN" altLang="en-US" sz="1800" dirty="0">
                <a:latin typeface="Garamond" panose="02020404030301010803" pitchFamily="18" charset="0"/>
              </a:rPr>
              <a:t>读入</a:t>
            </a:r>
            <a:r>
              <a:rPr kumimoji="1" lang="en-US" altLang="zh-CN" sz="1800" dirty="0">
                <a:latin typeface="Garamond" panose="02020404030301010803" pitchFamily="18" charset="0"/>
              </a:rPr>
              <a:t>n, W, weight[], value[]</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cin</a:t>
            </a:r>
            <a:r>
              <a:rPr kumimoji="1" lang="en-US" altLang="zh-CN" sz="1800" dirty="0">
                <a:latin typeface="Garamond" panose="02020404030301010803" pitchFamily="18" charset="0"/>
              </a:rPr>
              <a:t> &gt;&gt; n &gt;&gt; W;</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0;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&lt; n;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cin</a:t>
            </a:r>
            <a:r>
              <a:rPr kumimoji="1" lang="en-US" altLang="zh-CN" sz="1800" dirty="0">
                <a:latin typeface="Garamond" panose="02020404030301010803" pitchFamily="18" charset="0"/>
              </a:rPr>
              <a:t> &gt;&gt; weight[</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&gt;&gt; value[</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memset</a:t>
            </a:r>
            <a:r>
              <a:rPr kumimoji="1" lang="en-US" altLang="zh-CN" sz="1800" dirty="0">
                <a:latin typeface="Garamond" panose="02020404030301010803" pitchFamily="18" charset="0"/>
              </a:rPr>
              <a:t>(f, -1, </a:t>
            </a:r>
            <a:r>
              <a:rPr kumimoji="1" lang="en-US" altLang="zh-CN" sz="1800" dirty="0" err="1">
                <a:latin typeface="Garamond" panose="02020404030301010803" pitchFamily="18" charset="0"/>
              </a:rPr>
              <a:t>sizeof</a:t>
            </a:r>
            <a:r>
              <a:rPr kumimoji="1" lang="en-US" altLang="zh-CN" sz="1800" dirty="0">
                <a:latin typeface="Garamond" panose="02020404030301010803" pitchFamily="18" charset="0"/>
              </a:rPr>
              <a:t>(f)); // </a:t>
            </a:r>
            <a:r>
              <a:rPr kumimoji="1" lang="zh-CN" altLang="en-US" sz="1800" dirty="0">
                <a:latin typeface="Garamond" panose="02020404030301010803" pitchFamily="18" charset="0"/>
              </a:rPr>
              <a:t>初始化</a:t>
            </a:r>
            <a:r>
              <a:rPr kumimoji="1" lang="en-US" altLang="zh-CN" sz="1800" dirty="0">
                <a:latin typeface="Garamond" panose="02020404030301010803" pitchFamily="18" charset="0"/>
              </a:rPr>
              <a:t>f[][], -1</a:t>
            </a:r>
            <a:r>
              <a:rPr kumimoji="1" lang="zh-CN" altLang="en-US" sz="1800" dirty="0">
                <a:latin typeface="Garamond" panose="02020404030301010803" pitchFamily="18" charset="0"/>
              </a:rPr>
              <a:t>表示该状态下的最优解未求出</a:t>
            </a:r>
          </a:p>
          <a:p>
            <a:pPr eaLnBrk="1" hangingPunct="1">
              <a:lnSpc>
                <a:spcPct val="140000"/>
              </a:lnSpc>
              <a:spcBef>
                <a:spcPct val="30000"/>
              </a:spcBef>
              <a:buNone/>
            </a:pPr>
            <a:r>
              <a:rPr kumimoji="1" lang="zh-CN" altLang="en-US"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bestValue</a:t>
            </a:r>
            <a:r>
              <a:rPr kumimoji="1" lang="en-US" altLang="zh-CN" sz="1800" dirty="0">
                <a:latin typeface="Garamond" panose="02020404030301010803" pitchFamily="18" charset="0"/>
              </a:rPr>
              <a:t> = </a:t>
            </a:r>
            <a:r>
              <a:rPr kumimoji="1" lang="en-US" altLang="zh-CN" sz="1800" dirty="0" err="1">
                <a:latin typeface="Garamond" panose="02020404030301010803" pitchFamily="18" charset="0"/>
              </a:rPr>
              <a:t>dp_knapsack</a:t>
            </a:r>
            <a:r>
              <a:rPr kumimoji="1" lang="en-US" altLang="zh-CN" sz="1800" dirty="0">
                <a:latin typeface="Garamond" panose="02020404030301010803" pitchFamily="18" charset="0"/>
              </a:rPr>
              <a:t>(weight, value, W, f, n);</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cout</a:t>
            </a:r>
            <a:r>
              <a:rPr kumimoji="1" lang="en-US" altLang="zh-CN" sz="1800" dirty="0">
                <a:latin typeface="Garamond" panose="02020404030301010803" pitchFamily="18" charset="0"/>
              </a:rPr>
              <a:t> &lt;&lt; “</a:t>
            </a:r>
            <a:r>
              <a:rPr kumimoji="1" lang="en-US" altLang="zh-CN" sz="1800" dirty="0" err="1">
                <a:latin typeface="Garamond" panose="02020404030301010803" pitchFamily="18" charset="0"/>
              </a:rPr>
              <a:t>bestValue</a:t>
            </a:r>
            <a:r>
              <a:rPr kumimoji="1" lang="en-US" altLang="zh-CN" sz="1800" dirty="0">
                <a:latin typeface="Garamond" panose="02020404030301010803" pitchFamily="18" charset="0"/>
              </a:rPr>
              <a:t>=“ &lt;&lt; </a:t>
            </a:r>
            <a:r>
              <a:rPr kumimoji="1" lang="en-US" altLang="zh-CN" sz="1800" dirty="0" err="1">
                <a:latin typeface="Garamond" panose="02020404030301010803" pitchFamily="18" charset="0"/>
              </a:rPr>
              <a:t>bestValue</a:t>
            </a:r>
            <a:r>
              <a:rPr kumimoji="1" lang="en-US" altLang="zh-CN" sz="1800" dirty="0">
                <a:latin typeface="Garamond" panose="02020404030301010803" pitchFamily="18" charset="0"/>
              </a:rPr>
              <a:t> &lt;&lt; </a:t>
            </a:r>
            <a:r>
              <a:rPr kumimoji="1" lang="en-US" altLang="zh-CN" sz="1800" dirty="0" err="1">
                <a:latin typeface="Garamond" panose="02020404030301010803" pitchFamily="18" charset="0"/>
              </a:rPr>
              <a:t>endl</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return 0;</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2908484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26</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mc:AlternateContent xmlns:mc="http://schemas.openxmlformats.org/markup-compatibility/2006" xmlns:a14="http://schemas.microsoft.com/office/drawing/2010/main">
        <mc:Choice Requires="a14">
          <p:sp>
            <p:nvSpPr>
              <p:cNvPr id="43" name="Rectangle 3"/>
              <p:cNvSpPr txBox="1">
                <a:spLocks noChangeArrowheads="1"/>
              </p:cNvSpPr>
              <p:nvPr/>
            </p:nvSpPr>
            <p:spPr bwMode="auto">
              <a:xfrm>
                <a:off x="1847851" y="981076"/>
                <a:ext cx="9656794" cy="38957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kern="0" dirty="0">
                    <a:latin typeface="华文中宋" panose="02010600040101010101" pitchFamily="2" charset="-122"/>
                    <a:ea typeface="华文中宋" panose="02010600040101010101" pitchFamily="2" charset="-122"/>
                  </a:rPr>
                  <a:t>动态规划 </a:t>
                </a:r>
                <a:r>
                  <a:rPr lang="en-US" altLang="zh-CN" sz="3200" kern="0" dirty="0">
                    <a:latin typeface="华文中宋" panose="02010600040101010101" pitchFamily="2" charset="-122"/>
                    <a:ea typeface="华文中宋" panose="02010600040101010101" pitchFamily="2" charset="-122"/>
                  </a:rPr>
                  <a:t>--“</a:t>
                </a:r>
                <a:r>
                  <a:rPr lang="zh-CN" altLang="en-US" sz="3200" kern="0" dirty="0">
                    <a:latin typeface="华文中宋" panose="02010600040101010101" pitchFamily="2" charset="-122"/>
                    <a:ea typeface="华文中宋" panose="02010600040101010101" pitchFamily="2" charset="-122"/>
                  </a:rPr>
                  <a:t>记忆化”递归 </a:t>
                </a:r>
              </a:p>
              <a:p>
                <a:pPr marL="908050" lvl="1" indent="-436563" eaLnBrk="1" hangingPunct="1">
                  <a:lnSpc>
                    <a:spcPct val="140000"/>
                  </a:lnSpc>
                  <a:spcBef>
                    <a:spcPct val="30000"/>
                  </a:spcBef>
                </a:pPr>
                <a:r>
                  <a:rPr lang="zh-CN" altLang="en-US" sz="2800" kern="0" dirty="0">
                    <a:solidFill>
                      <a:srgbClr val="000000"/>
                    </a:solidFill>
                  </a:rPr>
                  <a:t>确保每个子问题只被计算一次，最坏情况</a:t>
                </a:r>
                <a14:m>
                  <m:oMath xmlns:m="http://schemas.openxmlformats.org/officeDocument/2006/math">
                    <m:r>
                      <a:rPr lang="en-US" altLang="zh-CN" sz="2800" i="1" kern="0">
                        <a:solidFill>
                          <a:srgbClr val="000000"/>
                        </a:solidFill>
                        <a:latin typeface="Cambria Math" panose="02040503050406030204" pitchFamily="18" charset="0"/>
                      </a:rPr>
                      <m:t>𝑶</m:t>
                    </m:r>
                    <m:d>
                      <m:dPr>
                        <m:ctrlPr>
                          <a:rPr lang="en-US" altLang="zh-CN" sz="2800" i="1" kern="0">
                            <a:solidFill>
                              <a:srgbClr val="000000"/>
                            </a:solidFill>
                            <a:latin typeface="Cambria Math" panose="02040503050406030204" pitchFamily="18" charset="0"/>
                          </a:rPr>
                        </m:ctrlPr>
                      </m:dPr>
                      <m:e>
                        <m:r>
                          <a:rPr lang="en-US" altLang="zh-CN" sz="2800" b="1" i="1" kern="0" smtClean="0">
                            <a:solidFill>
                              <a:srgbClr val="000000"/>
                            </a:solidFill>
                            <a:latin typeface="Cambria Math" panose="02040503050406030204" pitchFamily="18" charset="0"/>
                          </a:rPr>
                          <m:t>𝒏</m:t>
                        </m:r>
                        <m:r>
                          <a:rPr lang="en-US" altLang="zh-CN" sz="2800" b="1" i="1" kern="0" smtClean="0">
                            <a:solidFill>
                              <a:srgbClr val="000000"/>
                            </a:solidFill>
                            <a:latin typeface="Cambria Math" panose="02040503050406030204" pitchFamily="18" charset="0"/>
                            <a:ea typeface="Cambria Math" panose="02040503050406030204" pitchFamily="18" charset="0"/>
                          </a:rPr>
                          <m:t>∙</m:t>
                        </m:r>
                        <m:r>
                          <a:rPr lang="en-US" altLang="zh-CN" sz="2800" b="1" i="1" kern="0" smtClean="0">
                            <a:solidFill>
                              <a:srgbClr val="000000"/>
                            </a:solidFill>
                            <a:latin typeface="Cambria Math" panose="02040503050406030204" pitchFamily="18" charset="0"/>
                            <a:ea typeface="Cambria Math" panose="02040503050406030204" pitchFamily="18" charset="0"/>
                          </a:rPr>
                          <m:t>𝑾</m:t>
                        </m:r>
                      </m:e>
                    </m:d>
                  </m:oMath>
                </a14:m>
                <a:endParaRPr lang="en-US" altLang="zh-CN" sz="2800" kern="0" dirty="0">
                  <a:solidFill>
                    <a:srgbClr val="000000"/>
                  </a:solidFill>
                </a:endParaRPr>
              </a:p>
              <a:p>
                <a:pPr marL="508000" indent="-436563" eaLnBrk="1" hangingPunct="1">
                  <a:lnSpc>
                    <a:spcPct val="140000"/>
                  </a:lnSpc>
                  <a:spcBef>
                    <a:spcPct val="30000"/>
                  </a:spcBef>
                </a:pPr>
                <a:r>
                  <a:rPr lang="zh-CN" altLang="en-US" sz="3200" kern="0" dirty="0">
                    <a:latin typeface="华文中宋" panose="02010600040101010101" pitchFamily="2" charset="-122"/>
                    <a:ea typeface="华文中宋" panose="02010600040101010101" pitchFamily="2" charset="-122"/>
                  </a:rPr>
                  <a:t>回溯算法</a:t>
                </a:r>
                <a:endParaRPr lang="en-US" altLang="zh-CN" sz="3200" kern="0"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kern="0" dirty="0">
                    <a:solidFill>
                      <a:srgbClr val="000000"/>
                    </a:solidFill>
                  </a:rPr>
                  <a:t>每个子问题可能被重复计算多次，</a:t>
                </a:r>
                <a14:m>
                  <m:oMath xmlns:m="http://schemas.openxmlformats.org/officeDocument/2006/math">
                    <m:r>
                      <a:rPr lang="en-US" altLang="zh-CN" sz="2800" kern="0">
                        <a:solidFill>
                          <a:srgbClr val="000000"/>
                        </a:solidFill>
                        <a:latin typeface="Cambria Math" panose="02040503050406030204" pitchFamily="18" charset="0"/>
                      </a:rPr>
                      <m:t>𝑶</m:t>
                    </m:r>
                    <m:d>
                      <m:dPr>
                        <m:ctrlPr>
                          <a:rPr lang="en-US" altLang="zh-CN" sz="2800" i="1" kern="0">
                            <a:solidFill>
                              <a:srgbClr val="000000"/>
                            </a:solidFill>
                            <a:latin typeface="Cambria Math" panose="02040503050406030204" pitchFamily="18" charset="0"/>
                          </a:rPr>
                        </m:ctrlPr>
                      </m:dPr>
                      <m:e>
                        <m:sSup>
                          <m:sSupPr>
                            <m:ctrlPr>
                              <a:rPr lang="en-US" altLang="zh-CN" sz="2800" i="1" kern="0">
                                <a:solidFill>
                                  <a:srgbClr val="000000"/>
                                </a:solidFill>
                                <a:latin typeface="Cambria Math" panose="02040503050406030204" pitchFamily="18" charset="0"/>
                              </a:rPr>
                            </m:ctrlPr>
                          </m:sSupPr>
                          <m:e>
                            <m:r>
                              <a:rPr lang="en-US" altLang="zh-CN" sz="2800" kern="0">
                                <a:solidFill>
                                  <a:srgbClr val="000000"/>
                                </a:solidFill>
                                <a:latin typeface="Cambria Math" panose="02040503050406030204" pitchFamily="18" charset="0"/>
                              </a:rPr>
                              <m:t>𝟐</m:t>
                            </m:r>
                          </m:e>
                          <m:sup>
                            <m:r>
                              <a:rPr lang="en-US" altLang="zh-CN" sz="2800" kern="0">
                                <a:solidFill>
                                  <a:srgbClr val="000000"/>
                                </a:solidFill>
                                <a:latin typeface="Cambria Math" panose="02040503050406030204" pitchFamily="18" charset="0"/>
                              </a:rPr>
                              <m:t>𝒏</m:t>
                            </m:r>
                          </m:sup>
                        </m:sSup>
                      </m:e>
                    </m:d>
                  </m:oMath>
                </a14:m>
                <a:endParaRPr lang="en-US" altLang="zh-CN" sz="2800" kern="0" dirty="0">
                  <a:solidFill>
                    <a:srgbClr val="000000"/>
                  </a:solidFill>
                </a:endParaRPr>
              </a:p>
              <a:p>
                <a:pPr marL="908050" lvl="1" indent="-436563" eaLnBrk="1" hangingPunct="1">
                  <a:lnSpc>
                    <a:spcPct val="140000"/>
                  </a:lnSpc>
                  <a:spcBef>
                    <a:spcPct val="30000"/>
                  </a:spcBef>
                </a:pPr>
                <a:endParaRPr lang="en-US" altLang="zh-CN" kern="0" dirty="0">
                  <a:solidFill>
                    <a:srgbClr val="000000"/>
                  </a:solidFill>
                </a:endParaRPr>
              </a:p>
            </p:txBody>
          </p:sp>
        </mc:Choice>
        <mc:Fallback xmlns="">
          <p:sp>
            <p:nvSpPr>
              <p:cNvPr id="43" name="Rectangle 3"/>
              <p:cNvSpPr txBox="1">
                <a:spLocks noRot="1" noChangeAspect="1" noMove="1" noResize="1" noEditPoints="1" noAdjustHandles="1" noChangeArrowheads="1" noChangeShapeType="1" noTextEdit="1"/>
              </p:cNvSpPr>
              <p:nvPr/>
            </p:nvSpPr>
            <p:spPr bwMode="auto">
              <a:xfrm>
                <a:off x="1847851" y="981076"/>
                <a:ext cx="9656794" cy="3895724"/>
              </a:xfrm>
              <a:prstGeom prst="rect">
                <a:avLst/>
              </a:prstGeom>
              <a:blipFill rotWithShape="0">
                <a:blip r:embed="rId3"/>
                <a:stretch>
                  <a:fillRect l="-13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127435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27</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p:graphicFrame>
        <p:nvGraphicFramePr>
          <p:cNvPr id="5" name="表格 4"/>
          <p:cNvGraphicFramePr>
            <a:graphicFrameLocks noGrp="1"/>
          </p:cNvGraphicFramePr>
          <p:nvPr>
            <p:extLst>
              <p:ext uri="{D42A27DB-BD31-4B8C-83A1-F6EECF244321}">
                <p14:modId xmlns:p14="http://schemas.microsoft.com/office/powerpoint/2010/main" val="2977963996"/>
              </p:ext>
            </p:extLst>
          </p:nvPr>
        </p:nvGraphicFramePr>
        <p:xfrm>
          <a:off x="2078183" y="4554176"/>
          <a:ext cx="6982690" cy="1371600"/>
        </p:xfrm>
        <a:graphic>
          <a:graphicData uri="http://schemas.openxmlformats.org/drawingml/2006/table">
            <a:tbl>
              <a:tblPr firstRow="1" bandRow="1">
                <a:tableStyleId>{5C22544A-7EE6-4342-B048-85BDC9FD1C3A}</a:tableStyleId>
              </a:tblPr>
              <a:tblGrid>
                <a:gridCol w="1209963">
                  <a:extLst>
                    <a:ext uri="{9D8B030D-6E8A-4147-A177-3AD203B41FA5}">
                      <a16:colId xmlns:a16="http://schemas.microsoft.com/office/drawing/2014/main" val="20000"/>
                    </a:ext>
                  </a:extLst>
                </a:gridCol>
                <a:gridCol w="1366982">
                  <a:extLst>
                    <a:ext uri="{9D8B030D-6E8A-4147-A177-3AD203B41FA5}">
                      <a16:colId xmlns:a16="http://schemas.microsoft.com/office/drawing/2014/main" val="20001"/>
                    </a:ext>
                  </a:extLst>
                </a:gridCol>
                <a:gridCol w="1542472">
                  <a:extLst>
                    <a:ext uri="{9D8B030D-6E8A-4147-A177-3AD203B41FA5}">
                      <a16:colId xmlns:a16="http://schemas.microsoft.com/office/drawing/2014/main" val="20002"/>
                    </a:ext>
                  </a:extLst>
                </a:gridCol>
                <a:gridCol w="1542473">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tblGrid>
              <a:tr h="370840">
                <a:tc>
                  <a:txBody>
                    <a:bodyPr/>
                    <a:lstStyle/>
                    <a:p>
                      <a:r>
                        <a:rPr lang="en-US" altLang="zh-CN" sz="2400" dirty="0"/>
                        <a:t>index</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0"/>
                  </a:ext>
                </a:extLst>
              </a:tr>
              <a:tr h="370840">
                <a:tc>
                  <a:txBody>
                    <a:bodyPr/>
                    <a:lstStyle/>
                    <a:p>
                      <a:r>
                        <a:rPr lang="en-US" altLang="zh-CN" sz="2400" dirty="0"/>
                        <a:t>w[</a:t>
                      </a:r>
                      <a:r>
                        <a:rPr lang="en-US" altLang="zh-CN" sz="2400" dirty="0" err="1"/>
                        <a:t>i</a:t>
                      </a:r>
                      <a:r>
                        <a:rPr lang="en-US" altLang="zh-CN" sz="2400" dirty="0"/>
                        <a:t>]</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1"/>
                  </a:ext>
                </a:extLst>
              </a:tr>
              <a:tr h="370840">
                <a:tc>
                  <a:txBody>
                    <a:bodyPr/>
                    <a:lstStyle/>
                    <a:p>
                      <a:r>
                        <a:rPr lang="en-US" altLang="zh-CN" sz="2400" dirty="0"/>
                        <a:t>v[</a:t>
                      </a:r>
                      <a:r>
                        <a:rPr lang="en-US" altLang="zh-CN" sz="2400" dirty="0" err="1"/>
                        <a:t>i</a:t>
                      </a:r>
                      <a:r>
                        <a:rPr lang="en-US" altLang="zh-CN" sz="2400" dirty="0"/>
                        <a:t>]</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10</a:t>
                      </a:r>
                      <a:endParaRPr lang="zh-CN" altLang="en-US" sz="2400" dirty="0"/>
                    </a:p>
                  </a:txBody>
                  <a:tcPr/>
                </a:tc>
                <a:extLst>
                  <a:ext uri="{0D108BD9-81ED-4DB2-BD59-A6C34878D82A}">
                    <a16:rowId xmlns:a16="http://schemas.microsoft.com/office/drawing/2014/main" val="10002"/>
                  </a:ext>
                </a:extLst>
              </a:tr>
            </a:tbl>
          </a:graphicData>
        </a:graphic>
      </p:graphicFrame>
      <p:sp>
        <p:nvSpPr>
          <p:cNvPr id="6" name="文本框 5"/>
          <p:cNvSpPr txBox="1"/>
          <p:nvPr/>
        </p:nvSpPr>
        <p:spPr>
          <a:xfrm>
            <a:off x="4710546" y="6086762"/>
            <a:ext cx="2309091" cy="461665"/>
          </a:xfrm>
          <a:prstGeom prst="rect">
            <a:avLst/>
          </a:prstGeom>
          <a:noFill/>
        </p:spPr>
        <p:txBody>
          <a:bodyPr wrap="square" rtlCol="0">
            <a:spAutoFit/>
          </a:bodyPr>
          <a:lstStyle/>
          <a:p>
            <a:r>
              <a:rPr lang="en-US" altLang="zh-CN" sz="2400" b="1" dirty="0"/>
              <a:t>n = 4, W = 6</a:t>
            </a:r>
            <a:endParaRPr lang="zh-CN" altLang="en-US" sz="2400" b="1" dirty="0"/>
          </a:p>
        </p:txBody>
      </p:sp>
      <p:sp>
        <p:nvSpPr>
          <p:cNvPr id="38" name="矩形 37"/>
          <p:cNvSpPr/>
          <p:nvPr/>
        </p:nvSpPr>
        <p:spPr bwMode="auto">
          <a:xfrm>
            <a:off x="89996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1" name="矩形 40"/>
          <p:cNvSpPr/>
          <p:nvPr/>
        </p:nvSpPr>
        <p:spPr bwMode="auto">
          <a:xfrm>
            <a:off x="75264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a:t>
            </a:r>
            <a:r>
              <a:rPr lang="en-US" altLang="zh-CN" sz="2000" u="sng" dirty="0">
                <a:solidFill>
                  <a:schemeClr val="tx1"/>
                </a:solidFill>
                <a:latin typeface="Arial" charset="0"/>
                <a:cs typeface="Arial" charset="0"/>
              </a:rPr>
              <a:t>1</a:t>
            </a:r>
            <a:r>
              <a:rPr kumimoji="0" lang="en-US" altLang="zh-CN" sz="2000" b="0" i="0" u="sng" strike="noStrike" cap="none" normalizeH="0" baseline="0" dirty="0">
                <a:ln>
                  <a:noFill/>
                </a:ln>
                <a:solidFill>
                  <a:schemeClr val="tx1"/>
                </a:solidFill>
                <a:effectLst/>
                <a:latin typeface="Arial" charset="0"/>
                <a:cs typeface="Arial" charset="0"/>
              </a:rPr>
              <a:t>]+1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2" name="矩形 41"/>
          <p:cNvSpPr/>
          <p:nvPr/>
        </p:nvSpPr>
        <p:spPr bwMode="auto">
          <a:xfrm>
            <a:off x="6053283" y="356600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f[1][3]</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4" name="矩形 43"/>
          <p:cNvSpPr/>
          <p:nvPr/>
        </p:nvSpPr>
        <p:spPr bwMode="auto">
          <a:xfrm>
            <a:off x="45800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a:t>
            </a:r>
            <a:r>
              <a:rPr lang="en-US" altLang="zh-CN" sz="2000" u="sng" dirty="0">
                <a:solidFill>
                  <a:schemeClr val="tx1"/>
                </a:solidFill>
                <a:latin typeface="Arial" charset="0"/>
                <a:cs typeface="Arial" charset="0"/>
              </a:rPr>
              <a:t>2</a:t>
            </a:r>
            <a:r>
              <a:rPr kumimoji="0" lang="en-US" altLang="zh-CN" sz="2000" b="0" i="0" u="sng" strike="noStrike" cap="none" normalizeH="0" baseline="0" dirty="0">
                <a:ln>
                  <a:noFill/>
                </a:ln>
                <a:solidFill>
                  <a:schemeClr val="tx1"/>
                </a:solidFill>
                <a:effectLst/>
                <a:latin typeface="Arial" charset="0"/>
                <a:cs typeface="Arial" charset="0"/>
              </a:rPr>
              <a:t>]+1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5" name="矩形 44"/>
          <p:cNvSpPr/>
          <p:nvPr/>
        </p:nvSpPr>
        <p:spPr bwMode="auto">
          <a:xfrm>
            <a:off x="31068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f[1][4]</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6" name="矩形 45"/>
          <p:cNvSpPr/>
          <p:nvPr/>
        </p:nvSpPr>
        <p:spPr bwMode="auto">
          <a:xfrm>
            <a:off x="16336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f[1][4]+1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7" name="矩形 46"/>
          <p:cNvSpPr/>
          <p:nvPr/>
        </p:nvSpPr>
        <p:spPr bwMode="auto">
          <a:xfrm>
            <a:off x="1604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f[1][6]</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8" name="矩形 47"/>
          <p:cNvSpPr/>
          <p:nvPr/>
        </p:nvSpPr>
        <p:spPr bwMode="auto">
          <a:xfrm>
            <a:off x="104728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strike="sngStrike" cap="none" normalizeH="0" baseline="0" dirty="0">
                <a:ln>
                  <a:noFill/>
                </a:ln>
                <a:solidFill>
                  <a:schemeClr val="tx1"/>
                </a:solidFill>
                <a:effectLst/>
                <a:latin typeface="Arial" charset="0"/>
                <a:cs typeface="Arial" charset="0"/>
              </a:rPr>
              <a:t> </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9" name="矩形 48"/>
          <p:cNvSpPr/>
          <p:nvPr/>
        </p:nvSpPr>
        <p:spPr bwMode="auto">
          <a:xfrm>
            <a:off x="8809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f[2][6]</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50" name="矩形 49"/>
          <p:cNvSpPr/>
          <p:nvPr/>
        </p:nvSpPr>
        <p:spPr bwMode="auto">
          <a:xfrm>
            <a:off x="38273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f[2][4]</a:t>
            </a:r>
            <a:r>
              <a:rPr kumimoji="0" lang="en-US" altLang="zh-CN" sz="2000" b="0" i="0" strike="noStrike" cap="none" normalizeH="0" baseline="0" dirty="0">
                <a:ln>
                  <a:noFill/>
                </a:ln>
                <a:solidFill>
                  <a:schemeClr val="tx1"/>
                </a:solidFill>
                <a:effectLst/>
                <a:latin typeface="Arial" charset="0"/>
                <a:cs typeface="Arial" charset="0"/>
              </a:rPr>
              <a:t>+2</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51" name="矩形 50"/>
          <p:cNvSpPr/>
          <p:nvPr/>
        </p:nvSpPr>
        <p:spPr bwMode="auto">
          <a:xfrm>
            <a:off x="67737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f[2][3]</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52" name="矩形 51"/>
          <p:cNvSpPr/>
          <p:nvPr/>
        </p:nvSpPr>
        <p:spPr bwMode="auto">
          <a:xfrm>
            <a:off x="97201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f[2][1]</a:t>
            </a:r>
            <a:r>
              <a:rPr kumimoji="0" lang="en-US" altLang="zh-CN" sz="2000" b="0" i="0" strike="noStrike" cap="none" normalizeH="0" baseline="0" dirty="0">
                <a:ln>
                  <a:noFill/>
                </a:ln>
                <a:solidFill>
                  <a:schemeClr val="tx1"/>
                </a:solidFill>
                <a:effectLst/>
                <a:latin typeface="Arial" charset="0"/>
                <a:cs typeface="Arial" charset="0"/>
              </a:rPr>
              <a:t>+2</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53" name="矩形 52"/>
          <p:cNvSpPr/>
          <p:nvPr/>
        </p:nvSpPr>
        <p:spPr bwMode="auto">
          <a:xfrm>
            <a:off x="2358738" y="1999595"/>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f[3][</a:t>
            </a:r>
            <a:r>
              <a:rPr lang="en-US" altLang="zh-CN" sz="2000" u="sng" dirty="0">
                <a:solidFill>
                  <a:schemeClr val="tx1"/>
                </a:solidFill>
                <a:latin typeface="Arial" charset="0"/>
                <a:cs typeface="Arial" charset="0"/>
              </a:rPr>
              <a:t>6</a:t>
            </a:r>
            <a:r>
              <a:rPr kumimoji="0" lang="en-US" altLang="zh-CN" sz="2000" b="0" i="0" u="sng" strike="noStrike" cap="none" normalizeH="0" baseline="0" dirty="0">
                <a:ln>
                  <a:noFill/>
                </a:ln>
                <a:solidFill>
                  <a:schemeClr val="tx1"/>
                </a:solidFill>
                <a:effectLst/>
                <a:latin typeface="Arial" charset="0"/>
                <a:cs typeface="Arial" charset="0"/>
              </a:rPr>
              <a:t>]</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54" name="矩形 53"/>
          <p:cNvSpPr/>
          <p:nvPr/>
        </p:nvSpPr>
        <p:spPr bwMode="auto">
          <a:xfrm>
            <a:off x="8242301" y="1999595"/>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f[3][3]</a:t>
            </a:r>
            <a:r>
              <a:rPr kumimoji="0" lang="en-US" altLang="zh-CN" sz="2000" b="0" i="0" strike="noStrike" cap="none" normalizeH="0" baseline="0" dirty="0">
                <a:ln>
                  <a:noFill/>
                </a:ln>
                <a:solidFill>
                  <a:schemeClr val="tx1"/>
                </a:solidFill>
                <a:effectLst/>
                <a:latin typeface="Arial" charset="0"/>
                <a:cs typeface="Arial" charset="0"/>
              </a:rPr>
              <a:t>+10</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55" name="矩形 54"/>
          <p:cNvSpPr/>
          <p:nvPr/>
        </p:nvSpPr>
        <p:spPr bwMode="auto">
          <a:xfrm>
            <a:off x="5342083" y="1303795"/>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f[4][6]</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36" name="文本框 35"/>
          <p:cNvSpPr txBox="1"/>
          <p:nvPr/>
        </p:nvSpPr>
        <p:spPr>
          <a:xfrm>
            <a:off x="1137231" y="3962796"/>
            <a:ext cx="803564" cy="461665"/>
          </a:xfrm>
          <a:prstGeom prst="rect">
            <a:avLst/>
          </a:prstGeom>
          <a:noFill/>
        </p:spPr>
        <p:txBody>
          <a:bodyPr wrap="square" rtlCol="0">
            <a:spAutoFit/>
          </a:bodyPr>
          <a:lstStyle/>
          <a:p>
            <a:r>
              <a:rPr lang="en-US" altLang="zh-CN" sz="2400" b="1" dirty="0"/>
              <a:t>……</a:t>
            </a:r>
            <a:endParaRPr lang="zh-CN" altLang="en-US" sz="2400" b="1" dirty="0"/>
          </a:p>
        </p:txBody>
      </p:sp>
      <p:sp>
        <p:nvSpPr>
          <p:cNvPr id="56" name="文本框 55"/>
          <p:cNvSpPr txBox="1"/>
          <p:nvPr/>
        </p:nvSpPr>
        <p:spPr>
          <a:xfrm>
            <a:off x="10026076" y="3962796"/>
            <a:ext cx="803564" cy="461665"/>
          </a:xfrm>
          <a:prstGeom prst="rect">
            <a:avLst/>
          </a:prstGeom>
          <a:noFill/>
        </p:spPr>
        <p:txBody>
          <a:bodyPr wrap="square" rtlCol="0">
            <a:spAutoFit/>
          </a:bodyPr>
          <a:lstStyle/>
          <a:p>
            <a:r>
              <a:rPr lang="en-US" altLang="zh-CN" sz="2400" b="1" dirty="0"/>
              <a:t>……</a:t>
            </a:r>
            <a:endParaRPr lang="zh-CN" altLang="en-US" sz="2400" b="1" dirty="0"/>
          </a:p>
        </p:txBody>
      </p:sp>
      <p:cxnSp>
        <p:nvCxnSpPr>
          <p:cNvPr id="57" name="直接连接符 56"/>
          <p:cNvCxnSpPr>
            <a:stCxn id="55" idx="2"/>
            <a:endCxn id="53" idx="0"/>
          </p:cNvCxnSpPr>
          <p:nvPr/>
        </p:nvCxnSpPr>
        <p:spPr bwMode="auto">
          <a:xfrm flipH="1">
            <a:off x="3000668" y="1703905"/>
            <a:ext cx="2983345" cy="295690"/>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0" name="直接连接符 59"/>
          <p:cNvCxnSpPr>
            <a:stCxn id="55" idx="2"/>
            <a:endCxn id="54" idx="0"/>
          </p:cNvCxnSpPr>
          <p:nvPr/>
        </p:nvCxnSpPr>
        <p:spPr bwMode="auto">
          <a:xfrm>
            <a:off x="5984013" y="1703905"/>
            <a:ext cx="2900218" cy="295690"/>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3" name="直接连接符 62"/>
          <p:cNvCxnSpPr>
            <a:stCxn id="54" idx="2"/>
            <a:endCxn id="52" idx="0"/>
          </p:cNvCxnSpPr>
          <p:nvPr/>
        </p:nvCxnSpPr>
        <p:spPr bwMode="auto">
          <a:xfrm>
            <a:off x="8884231" y="2399705"/>
            <a:ext cx="1477818"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6" name="直接连接符 65"/>
          <p:cNvCxnSpPr>
            <a:stCxn id="54" idx="2"/>
            <a:endCxn id="51" idx="0"/>
          </p:cNvCxnSpPr>
          <p:nvPr/>
        </p:nvCxnSpPr>
        <p:spPr bwMode="auto">
          <a:xfrm flipH="1">
            <a:off x="7415649" y="2399705"/>
            <a:ext cx="1468582"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9" name="直接连接符 68"/>
          <p:cNvCxnSpPr>
            <a:stCxn id="53" idx="2"/>
            <a:endCxn id="50" idx="0"/>
          </p:cNvCxnSpPr>
          <p:nvPr/>
        </p:nvCxnSpPr>
        <p:spPr bwMode="auto">
          <a:xfrm>
            <a:off x="3000668" y="2399705"/>
            <a:ext cx="1468581"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2" name="直接连接符 71"/>
          <p:cNvCxnSpPr>
            <a:stCxn id="53" idx="2"/>
            <a:endCxn id="49" idx="0"/>
          </p:cNvCxnSpPr>
          <p:nvPr/>
        </p:nvCxnSpPr>
        <p:spPr bwMode="auto">
          <a:xfrm flipH="1">
            <a:off x="1522849" y="2399705"/>
            <a:ext cx="1477819"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5" name="直接连接符 74"/>
          <p:cNvCxnSpPr>
            <a:stCxn id="50" idx="2"/>
            <a:endCxn id="44" idx="0"/>
          </p:cNvCxnSpPr>
          <p:nvPr/>
        </p:nvCxnSpPr>
        <p:spPr bwMode="auto">
          <a:xfrm>
            <a:off x="4469249" y="3171361"/>
            <a:ext cx="752764"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0" name="直接连接符 79"/>
          <p:cNvCxnSpPr>
            <a:stCxn id="50" idx="2"/>
            <a:endCxn id="45" idx="0"/>
          </p:cNvCxnSpPr>
          <p:nvPr/>
        </p:nvCxnSpPr>
        <p:spPr bwMode="auto">
          <a:xfrm flipH="1">
            <a:off x="3748813" y="3171361"/>
            <a:ext cx="720436"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3" name="直接连接符 82"/>
          <p:cNvCxnSpPr>
            <a:stCxn id="49" idx="2"/>
            <a:endCxn id="46" idx="0"/>
          </p:cNvCxnSpPr>
          <p:nvPr/>
        </p:nvCxnSpPr>
        <p:spPr bwMode="auto">
          <a:xfrm>
            <a:off x="1522849" y="3171361"/>
            <a:ext cx="752764"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6" name="直接连接符 85"/>
          <p:cNvCxnSpPr>
            <a:stCxn id="49" idx="2"/>
            <a:endCxn id="47" idx="0"/>
          </p:cNvCxnSpPr>
          <p:nvPr/>
        </p:nvCxnSpPr>
        <p:spPr bwMode="auto">
          <a:xfrm flipH="1">
            <a:off x="802413" y="3171361"/>
            <a:ext cx="720436"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9" name="直接连接符 88"/>
          <p:cNvCxnSpPr>
            <a:stCxn id="51" idx="2"/>
            <a:endCxn id="41" idx="0"/>
          </p:cNvCxnSpPr>
          <p:nvPr/>
        </p:nvCxnSpPr>
        <p:spPr bwMode="auto">
          <a:xfrm>
            <a:off x="7415649" y="3171361"/>
            <a:ext cx="752764"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92" name="直接连接符 91"/>
          <p:cNvCxnSpPr>
            <a:stCxn id="51" idx="2"/>
            <a:endCxn id="42" idx="0"/>
          </p:cNvCxnSpPr>
          <p:nvPr/>
        </p:nvCxnSpPr>
        <p:spPr bwMode="auto">
          <a:xfrm flipH="1">
            <a:off x="6695213" y="3171361"/>
            <a:ext cx="720436" cy="39464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95" name="直接连接符 94"/>
          <p:cNvCxnSpPr>
            <a:stCxn id="52" idx="2"/>
            <a:endCxn id="38" idx="0"/>
          </p:cNvCxnSpPr>
          <p:nvPr/>
        </p:nvCxnSpPr>
        <p:spPr bwMode="auto">
          <a:xfrm flipH="1">
            <a:off x="9641613" y="3171361"/>
            <a:ext cx="720436"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Tree>
    <p:extLst>
      <p:ext uri="{BB962C8B-B14F-4D97-AF65-F5344CB8AC3E}">
        <p14:creationId xmlns:p14="http://schemas.microsoft.com/office/powerpoint/2010/main" val="141466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28</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p:graphicFrame>
        <p:nvGraphicFramePr>
          <p:cNvPr id="5" name="表格 4"/>
          <p:cNvGraphicFramePr>
            <a:graphicFrameLocks noGrp="1"/>
          </p:cNvGraphicFramePr>
          <p:nvPr/>
        </p:nvGraphicFramePr>
        <p:xfrm>
          <a:off x="2078183" y="4554176"/>
          <a:ext cx="6982690" cy="1371600"/>
        </p:xfrm>
        <a:graphic>
          <a:graphicData uri="http://schemas.openxmlformats.org/drawingml/2006/table">
            <a:tbl>
              <a:tblPr firstRow="1" bandRow="1">
                <a:tableStyleId>{5C22544A-7EE6-4342-B048-85BDC9FD1C3A}</a:tableStyleId>
              </a:tblPr>
              <a:tblGrid>
                <a:gridCol w="1209963">
                  <a:extLst>
                    <a:ext uri="{9D8B030D-6E8A-4147-A177-3AD203B41FA5}">
                      <a16:colId xmlns:a16="http://schemas.microsoft.com/office/drawing/2014/main" val="20000"/>
                    </a:ext>
                  </a:extLst>
                </a:gridCol>
                <a:gridCol w="1366982">
                  <a:extLst>
                    <a:ext uri="{9D8B030D-6E8A-4147-A177-3AD203B41FA5}">
                      <a16:colId xmlns:a16="http://schemas.microsoft.com/office/drawing/2014/main" val="20001"/>
                    </a:ext>
                  </a:extLst>
                </a:gridCol>
                <a:gridCol w="1542472">
                  <a:extLst>
                    <a:ext uri="{9D8B030D-6E8A-4147-A177-3AD203B41FA5}">
                      <a16:colId xmlns:a16="http://schemas.microsoft.com/office/drawing/2014/main" val="20002"/>
                    </a:ext>
                  </a:extLst>
                </a:gridCol>
                <a:gridCol w="1542473">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tblGrid>
              <a:tr h="370840">
                <a:tc>
                  <a:txBody>
                    <a:bodyPr/>
                    <a:lstStyle/>
                    <a:p>
                      <a:r>
                        <a:rPr lang="en-US" altLang="zh-CN" sz="2400" dirty="0"/>
                        <a:t>index</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0"/>
                  </a:ext>
                </a:extLst>
              </a:tr>
              <a:tr h="370840">
                <a:tc>
                  <a:txBody>
                    <a:bodyPr/>
                    <a:lstStyle/>
                    <a:p>
                      <a:r>
                        <a:rPr lang="en-US" altLang="zh-CN" sz="2400" dirty="0"/>
                        <a:t>w[</a:t>
                      </a:r>
                      <a:r>
                        <a:rPr lang="en-US" altLang="zh-CN" sz="2400" dirty="0" err="1"/>
                        <a:t>i</a:t>
                      </a:r>
                      <a:r>
                        <a:rPr lang="en-US" altLang="zh-CN" sz="2400" dirty="0"/>
                        <a:t>]</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1"/>
                  </a:ext>
                </a:extLst>
              </a:tr>
              <a:tr h="370840">
                <a:tc>
                  <a:txBody>
                    <a:bodyPr/>
                    <a:lstStyle/>
                    <a:p>
                      <a:r>
                        <a:rPr lang="en-US" altLang="zh-CN" sz="2400" dirty="0"/>
                        <a:t>v[</a:t>
                      </a:r>
                      <a:r>
                        <a:rPr lang="en-US" altLang="zh-CN" sz="2400" dirty="0" err="1"/>
                        <a:t>i</a:t>
                      </a:r>
                      <a:r>
                        <a:rPr lang="en-US" altLang="zh-CN" sz="2400" dirty="0"/>
                        <a:t>]</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10</a:t>
                      </a:r>
                      <a:endParaRPr lang="zh-CN" altLang="en-US" sz="2400" dirty="0"/>
                    </a:p>
                  </a:txBody>
                  <a:tcPr/>
                </a:tc>
                <a:extLst>
                  <a:ext uri="{0D108BD9-81ED-4DB2-BD59-A6C34878D82A}">
                    <a16:rowId xmlns:a16="http://schemas.microsoft.com/office/drawing/2014/main" val="10002"/>
                  </a:ext>
                </a:extLst>
              </a:tr>
            </a:tbl>
          </a:graphicData>
        </a:graphic>
      </p:graphicFrame>
      <p:sp>
        <p:nvSpPr>
          <p:cNvPr id="6" name="文本框 5"/>
          <p:cNvSpPr txBox="1"/>
          <p:nvPr/>
        </p:nvSpPr>
        <p:spPr>
          <a:xfrm>
            <a:off x="4710546" y="6086762"/>
            <a:ext cx="2309091" cy="461665"/>
          </a:xfrm>
          <a:prstGeom prst="rect">
            <a:avLst/>
          </a:prstGeom>
          <a:noFill/>
        </p:spPr>
        <p:txBody>
          <a:bodyPr wrap="square" rtlCol="0">
            <a:spAutoFit/>
          </a:bodyPr>
          <a:lstStyle/>
          <a:p>
            <a:r>
              <a:rPr lang="en-US" altLang="zh-CN" sz="2400" b="1" dirty="0"/>
              <a:t>n = 4, W = 6</a:t>
            </a:r>
            <a:endParaRPr lang="zh-CN" altLang="en-US" sz="2400" b="1" dirty="0"/>
          </a:p>
        </p:txBody>
      </p:sp>
      <p:sp>
        <p:nvSpPr>
          <p:cNvPr id="38" name="矩形 37"/>
          <p:cNvSpPr/>
          <p:nvPr/>
        </p:nvSpPr>
        <p:spPr bwMode="auto">
          <a:xfrm>
            <a:off x="89996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1" i="0" u="sng" strike="noStrike" cap="none" normalizeH="0" baseline="0" dirty="0">
                <a:ln>
                  <a:noFill/>
                </a:ln>
                <a:solidFill>
                  <a:srgbClr val="0070C0"/>
                </a:solidFill>
                <a:effectLst/>
                <a:latin typeface="Arial" charset="0"/>
                <a:cs typeface="Arial" charset="0"/>
              </a:rPr>
              <a:t>f[1][1]</a:t>
            </a:r>
            <a:endParaRPr kumimoji="0" lang="zh-CN" altLang="en-US" sz="2000" b="1" i="0" u="none" strike="noStrike" cap="none" normalizeH="0" baseline="0" dirty="0">
              <a:ln>
                <a:noFill/>
              </a:ln>
              <a:solidFill>
                <a:srgbClr val="0070C0"/>
              </a:solidFill>
              <a:effectLst/>
              <a:latin typeface="Arial" charset="0"/>
              <a:cs typeface="Arial" charset="0"/>
            </a:endParaRPr>
          </a:p>
        </p:txBody>
      </p:sp>
      <p:sp>
        <p:nvSpPr>
          <p:cNvPr id="41" name="矩形 40"/>
          <p:cNvSpPr/>
          <p:nvPr/>
        </p:nvSpPr>
        <p:spPr bwMode="auto">
          <a:xfrm>
            <a:off x="75264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1" i="0" u="sng" strike="noStrike" cap="none" normalizeH="0" baseline="0" dirty="0">
                <a:ln>
                  <a:noFill/>
                </a:ln>
                <a:solidFill>
                  <a:srgbClr val="0070C0"/>
                </a:solidFill>
                <a:effectLst/>
                <a:latin typeface="Arial" charset="0"/>
                <a:cs typeface="Arial" charset="0"/>
              </a:rPr>
              <a:t>f[1][</a:t>
            </a:r>
            <a:r>
              <a:rPr lang="en-US" altLang="zh-CN" sz="2000" b="1" u="sng" dirty="0">
                <a:solidFill>
                  <a:srgbClr val="0070C0"/>
                </a:solidFill>
                <a:latin typeface="Arial" charset="0"/>
                <a:cs typeface="Arial" charset="0"/>
              </a:rPr>
              <a:t>1</a:t>
            </a:r>
            <a:r>
              <a:rPr kumimoji="0" lang="en-US" altLang="zh-CN" sz="2000" b="1" i="0" u="sng" strike="noStrike" cap="none" normalizeH="0" baseline="0" dirty="0">
                <a:ln>
                  <a:noFill/>
                </a:ln>
                <a:solidFill>
                  <a:srgbClr val="0070C0"/>
                </a:solidFill>
                <a:effectLst/>
                <a:latin typeface="Arial" charset="0"/>
                <a:cs typeface="Arial" charset="0"/>
              </a:rPr>
              <a:t>]</a:t>
            </a:r>
            <a:r>
              <a:rPr kumimoji="0" lang="en-US" altLang="zh-CN" sz="2000" b="0" i="0" u="sng" strike="noStrike" cap="none" normalizeH="0" baseline="0" dirty="0">
                <a:ln>
                  <a:noFill/>
                </a:ln>
                <a:solidFill>
                  <a:schemeClr val="tx1"/>
                </a:solidFill>
                <a:effectLst/>
                <a:latin typeface="Arial" charset="0"/>
                <a:cs typeface="Arial" charset="0"/>
              </a:rPr>
              <a:t>+1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2" name="矩形 41"/>
          <p:cNvSpPr/>
          <p:nvPr/>
        </p:nvSpPr>
        <p:spPr bwMode="auto">
          <a:xfrm>
            <a:off x="6053283" y="356600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f[1][3]</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4" name="矩形 43"/>
          <p:cNvSpPr/>
          <p:nvPr/>
        </p:nvSpPr>
        <p:spPr bwMode="auto">
          <a:xfrm>
            <a:off x="45800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a:t>
            </a:r>
            <a:r>
              <a:rPr lang="en-US" altLang="zh-CN" sz="2000" u="sng" dirty="0">
                <a:solidFill>
                  <a:schemeClr val="tx1"/>
                </a:solidFill>
                <a:latin typeface="Arial" charset="0"/>
                <a:cs typeface="Arial" charset="0"/>
              </a:rPr>
              <a:t>2</a:t>
            </a:r>
            <a:r>
              <a:rPr kumimoji="0" lang="en-US" altLang="zh-CN" sz="2000" b="0" i="0" u="sng" strike="noStrike" cap="none" normalizeH="0" baseline="0" dirty="0">
                <a:ln>
                  <a:noFill/>
                </a:ln>
                <a:solidFill>
                  <a:schemeClr val="tx1"/>
                </a:solidFill>
                <a:effectLst/>
                <a:latin typeface="Arial" charset="0"/>
                <a:cs typeface="Arial" charset="0"/>
              </a:rPr>
              <a:t>]+1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5" name="矩形 44"/>
          <p:cNvSpPr/>
          <p:nvPr/>
        </p:nvSpPr>
        <p:spPr bwMode="auto">
          <a:xfrm>
            <a:off x="31068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1" i="0" u="sng" strike="noStrike" cap="none" normalizeH="0" baseline="0" dirty="0">
                <a:ln>
                  <a:noFill/>
                </a:ln>
                <a:solidFill>
                  <a:srgbClr val="00B050"/>
                </a:solidFill>
                <a:effectLst/>
                <a:latin typeface="Arial" charset="0"/>
                <a:cs typeface="Arial" charset="0"/>
              </a:rPr>
              <a:t>f[1][4]</a:t>
            </a:r>
            <a:endParaRPr kumimoji="0" lang="zh-CN" altLang="en-US" sz="2000" b="1" i="0" u="none" strike="noStrike" cap="none" normalizeH="0" baseline="0" dirty="0">
              <a:ln>
                <a:noFill/>
              </a:ln>
              <a:solidFill>
                <a:srgbClr val="00B050"/>
              </a:solidFill>
              <a:effectLst/>
              <a:latin typeface="Arial" charset="0"/>
              <a:cs typeface="Arial" charset="0"/>
            </a:endParaRPr>
          </a:p>
        </p:txBody>
      </p:sp>
      <p:sp>
        <p:nvSpPr>
          <p:cNvPr id="46" name="矩形 45"/>
          <p:cNvSpPr/>
          <p:nvPr/>
        </p:nvSpPr>
        <p:spPr bwMode="auto">
          <a:xfrm>
            <a:off x="16336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1" i="0" u="sng" strike="noStrike" cap="none" normalizeH="0" baseline="0" dirty="0">
                <a:ln>
                  <a:noFill/>
                </a:ln>
                <a:solidFill>
                  <a:srgbClr val="00B050"/>
                </a:solidFill>
                <a:effectLst/>
                <a:latin typeface="Arial" charset="0"/>
                <a:cs typeface="Arial" charset="0"/>
              </a:rPr>
              <a:t>f[1][4]</a:t>
            </a:r>
            <a:r>
              <a:rPr kumimoji="0" lang="en-US" altLang="zh-CN" sz="2000" b="0" i="0" u="sng" strike="noStrike" cap="none" normalizeH="0" baseline="0" dirty="0">
                <a:ln>
                  <a:noFill/>
                </a:ln>
                <a:solidFill>
                  <a:schemeClr val="tx1"/>
                </a:solidFill>
                <a:effectLst/>
                <a:latin typeface="Arial" charset="0"/>
                <a:cs typeface="Arial" charset="0"/>
              </a:rPr>
              <a:t>+1</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7" name="矩形 46"/>
          <p:cNvSpPr/>
          <p:nvPr/>
        </p:nvSpPr>
        <p:spPr bwMode="auto">
          <a:xfrm>
            <a:off x="1604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f[1][6]</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8" name="矩形 47"/>
          <p:cNvSpPr/>
          <p:nvPr/>
        </p:nvSpPr>
        <p:spPr bwMode="auto">
          <a:xfrm>
            <a:off x="10472883" y="3562686"/>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strike="sngStrike" cap="none" normalizeH="0" baseline="0" dirty="0">
                <a:ln>
                  <a:noFill/>
                </a:ln>
                <a:solidFill>
                  <a:schemeClr val="tx1"/>
                </a:solidFill>
                <a:effectLst/>
                <a:latin typeface="Arial" charset="0"/>
                <a:cs typeface="Arial" charset="0"/>
              </a:rPr>
              <a:t> </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49" name="矩形 48"/>
          <p:cNvSpPr/>
          <p:nvPr/>
        </p:nvSpPr>
        <p:spPr bwMode="auto">
          <a:xfrm>
            <a:off x="8809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f[2][6]</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50" name="矩形 49"/>
          <p:cNvSpPr/>
          <p:nvPr/>
        </p:nvSpPr>
        <p:spPr bwMode="auto">
          <a:xfrm>
            <a:off x="38273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f[2][4]</a:t>
            </a:r>
            <a:r>
              <a:rPr kumimoji="0" lang="en-US" altLang="zh-CN" sz="2000" b="0" i="0" strike="noStrike" cap="none" normalizeH="0" baseline="0" dirty="0">
                <a:ln>
                  <a:noFill/>
                </a:ln>
                <a:solidFill>
                  <a:schemeClr val="tx1"/>
                </a:solidFill>
                <a:effectLst/>
                <a:latin typeface="Arial" charset="0"/>
                <a:cs typeface="Arial" charset="0"/>
              </a:rPr>
              <a:t>+2</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51" name="矩形 50"/>
          <p:cNvSpPr/>
          <p:nvPr/>
        </p:nvSpPr>
        <p:spPr bwMode="auto">
          <a:xfrm>
            <a:off x="67737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f[2][3]</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52" name="矩形 51"/>
          <p:cNvSpPr/>
          <p:nvPr/>
        </p:nvSpPr>
        <p:spPr bwMode="auto">
          <a:xfrm>
            <a:off x="9720119" y="2771251"/>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f[2][1]</a:t>
            </a:r>
            <a:r>
              <a:rPr kumimoji="0" lang="en-US" altLang="zh-CN" sz="2000" b="0" i="0" strike="noStrike" cap="none" normalizeH="0" baseline="0" dirty="0">
                <a:ln>
                  <a:noFill/>
                </a:ln>
                <a:solidFill>
                  <a:schemeClr val="tx1"/>
                </a:solidFill>
                <a:effectLst/>
                <a:latin typeface="Arial" charset="0"/>
                <a:cs typeface="Arial" charset="0"/>
              </a:rPr>
              <a:t>+2</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53" name="矩形 52"/>
          <p:cNvSpPr/>
          <p:nvPr/>
        </p:nvSpPr>
        <p:spPr bwMode="auto">
          <a:xfrm>
            <a:off x="2358738" y="1999595"/>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f[3][</a:t>
            </a:r>
            <a:r>
              <a:rPr lang="en-US" altLang="zh-CN" sz="2000" u="sng" dirty="0">
                <a:solidFill>
                  <a:schemeClr val="tx1"/>
                </a:solidFill>
                <a:latin typeface="Arial" charset="0"/>
                <a:cs typeface="Arial" charset="0"/>
              </a:rPr>
              <a:t>6</a:t>
            </a:r>
            <a:r>
              <a:rPr kumimoji="0" lang="en-US" altLang="zh-CN" sz="2000" b="0" i="0" u="sng" strike="noStrike" cap="none" normalizeH="0" baseline="0" dirty="0">
                <a:ln>
                  <a:noFill/>
                </a:ln>
                <a:solidFill>
                  <a:schemeClr val="tx1"/>
                </a:solidFill>
                <a:effectLst/>
                <a:latin typeface="Arial" charset="0"/>
                <a:cs typeface="Arial" charset="0"/>
              </a:rPr>
              <a:t>]</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54" name="矩形 53"/>
          <p:cNvSpPr/>
          <p:nvPr/>
        </p:nvSpPr>
        <p:spPr bwMode="auto">
          <a:xfrm>
            <a:off x="8242301" y="1999595"/>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f[3][3]</a:t>
            </a:r>
            <a:r>
              <a:rPr kumimoji="0" lang="en-US" altLang="zh-CN" sz="2000" b="0" i="0" strike="noStrike" cap="none" normalizeH="0" baseline="0" dirty="0">
                <a:ln>
                  <a:noFill/>
                </a:ln>
                <a:solidFill>
                  <a:schemeClr val="tx1"/>
                </a:solidFill>
                <a:effectLst/>
                <a:latin typeface="Arial" charset="0"/>
                <a:cs typeface="Arial" charset="0"/>
              </a:rPr>
              <a:t>+10</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55" name="矩形 54"/>
          <p:cNvSpPr/>
          <p:nvPr/>
        </p:nvSpPr>
        <p:spPr bwMode="auto">
          <a:xfrm>
            <a:off x="5342083" y="1303795"/>
            <a:ext cx="1283859"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u="sng" strike="noStrike" cap="none" normalizeH="0" baseline="0" dirty="0">
                <a:ln>
                  <a:noFill/>
                </a:ln>
                <a:solidFill>
                  <a:schemeClr val="tx1"/>
                </a:solidFill>
                <a:effectLst/>
                <a:latin typeface="Arial" charset="0"/>
                <a:cs typeface="Arial" charset="0"/>
              </a:rPr>
              <a:t>f[4][6]</a:t>
            </a:r>
            <a:endParaRPr kumimoji="0" lang="zh-CN" altLang="en-US" sz="2000" b="0" i="0" u="none" strike="noStrike" cap="none" normalizeH="0" baseline="0" dirty="0">
              <a:ln>
                <a:noFill/>
              </a:ln>
              <a:solidFill>
                <a:schemeClr val="tx1"/>
              </a:solidFill>
              <a:effectLst/>
              <a:latin typeface="Arial" charset="0"/>
              <a:cs typeface="Arial" charset="0"/>
            </a:endParaRPr>
          </a:p>
        </p:txBody>
      </p:sp>
      <p:sp>
        <p:nvSpPr>
          <p:cNvPr id="36" name="文本框 35"/>
          <p:cNvSpPr txBox="1"/>
          <p:nvPr/>
        </p:nvSpPr>
        <p:spPr>
          <a:xfrm>
            <a:off x="1137231" y="3962796"/>
            <a:ext cx="803564" cy="461665"/>
          </a:xfrm>
          <a:prstGeom prst="rect">
            <a:avLst/>
          </a:prstGeom>
          <a:noFill/>
        </p:spPr>
        <p:txBody>
          <a:bodyPr wrap="square" rtlCol="0">
            <a:spAutoFit/>
          </a:bodyPr>
          <a:lstStyle/>
          <a:p>
            <a:r>
              <a:rPr lang="en-US" altLang="zh-CN" sz="2400" b="1" dirty="0"/>
              <a:t>……</a:t>
            </a:r>
            <a:endParaRPr lang="zh-CN" altLang="en-US" sz="2400" b="1" dirty="0"/>
          </a:p>
        </p:txBody>
      </p:sp>
      <p:sp>
        <p:nvSpPr>
          <p:cNvPr id="56" name="文本框 55"/>
          <p:cNvSpPr txBox="1"/>
          <p:nvPr/>
        </p:nvSpPr>
        <p:spPr>
          <a:xfrm>
            <a:off x="10026076" y="3962796"/>
            <a:ext cx="803564" cy="461665"/>
          </a:xfrm>
          <a:prstGeom prst="rect">
            <a:avLst/>
          </a:prstGeom>
          <a:noFill/>
        </p:spPr>
        <p:txBody>
          <a:bodyPr wrap="square" rtlCol="0">
            <a:spAutoFit/>
          </a:bodyPr>
          <a:lstStyle/>
          <a:p>
            <a:r>
              <a:rPr lang="en-US" altLang="zh-CN" sz="2400" b="1" dirty="0"/>
              <a:t>……</a:t>
            </a:r>
            <a:endParaRPr lang="zh-CN" altLang="en-US" sz="2400" b="1" dirty="0"/>
          </a:p>
        </p:txBody>
      </p:sp>
      <p:cxnSp>
        <p:nvCxnSpPr>
          <p:cNvPr id="57" name="直接连接符 56"/>
          <p:cNvCxnSpPr>
            <a:stCxn id="55" idx="2"/>
            <a:endCxn id="53" idx="0"/>
          </p:cNvCxnSpPr>
          <p:nvPr/>
        </p:nvCxnSpPr>
        <p:spPr bwMode="auto">
          <a:xfrm flipH="1">
            <a:off x="3000668" y="1703905"/>
            <a:ext cx="2983345" cy="295690"/>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0" name="直接连接符 59"/>
          <p:cNvCxnSpPr>
            <a:stCxn id="55" idx="2"/>
            <a:endCxn id="54" idx="0"/>
          </p:cNvCxnSpPr>
          <p:nvPr/>
        </p:nvCxnSpPr>
        <p:spPr bwMode="auto">
          <a:xfrm>
            <a:off x="5984013" y="1703905"/>
            <a:ext cx="2900218" cy="295690"/>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3" name="直接连接符 62"/>
          <p:cNvCxnSpPr>
            <a:stCxn id="54" idx="2"/>
            <a:endCxn id="52" idx="0"/>
          </p:cNvCxnSpPr>
          <p:nvPr/>
        </p:nvCxnSpPr>
        <p:spPr bwMode="auto">
          <a:xfrm>
            <a:off x="8884231" y="2399705"/>
            <a:ext cx="1477818"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6" name="直接连接符 65"/>
          <p:cNvCxnSpPr>
            <a:stCxn id="54" idx="2"/>
            <a:endCxn id="51" idx="0"/>
          </p:cNvCxnSpPr>
          <p:nvPr/>
        </p:nvCxnSpPr>
        <p:spPr bwMode="auto">
          <a:xfrm flipH="1">
            <a:off x="7415649" y="2399705"/>
            <a:ext cx="1468582"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69" name="直接连接符 68"/>
          <p:cNvCxnSpPr>
            <a:stCxn id="53" idx="2"/>
            <a:endCxn id="50" idx="0"/>
          </p:cNvCxnSpPr>
          <p:nvPr/>
        </p:nvCxnSpPr>
        <p:spPr bwMode="auto">
          <a:xfrm>
            <a:off x="3000668" y="2399705"/>
            <a:ext cx="1468581"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2" name="直接连接符 71"/>
          <p:cNvCxnSpPr>
            <a:stCxn id="53" idx="2"/>
            <a:endCxn id="49" idx="0"/>
          </p:cNvCxnSpPr>
          <p:nvPr/>
        </p:nvCxnSpPr>
        <p:spPr bwMode="auto">
          <a:xfrm flipH="1">
            <a:off x="1522849" y="2399705"/>
            <a:ext cx="1477819" cy="371546"/>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75" name="直接连接符 74"/>
          <p:cNvCxnSpPr>
            <a:stCxn id="50" idx="2"/>
            <a:endCxn id="44" idx="0"/>
          </p:cNvCxnSpPr>
          <p:nvPr/>
        </p:nvCxnSpPr>
        <p:spPr bwMode="auto">
          <a:xfrm>
            <a:off x="4469249" y="3171361"/>
            <a:ext cx="752764"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0" name="直接连接符 79"/>
          <p:cNvCxnSpPr>
            <a:stCxn id="50" idx="2"/>
            <a:endCxn id="45" idx="0"/>
          </p:cNvCxnSpPr>
          <p:nvPr/>
        </p:nvCxnSpPr>
        <p:spPr bwMode="auto">
          <a:xfrm flipH="1">
            <a:off x="3748813" y="3171361"/>
            <a:ext cx="720436"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3" name="直接连接符 82"/>
          <p:cNvCxnSpPr>
            <a:stCxn id="49" idx="2"/>
            <a:endCxn id="46" idx="0"/>
          </p:cNvCxnSpPr>
          <p:nvPr/>
        </p:nvCxnSpPr>
        <p:spPr bwMode="auto">
          <a:xfrm>
            <a:off x="1522849" y="3171361"/>
            <a:ext cx="752764"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6" name="直接连接符 85"/>
          <p:cNvCxnSpPr>
            <a:stCxn id="49" idx="2"/>
            <a:endCxn id="47" idx="0"/>
          </p:cNvCxnSpPr>
          <p:nvPr/>
        </p:nvCxnSpPr>
        <p:spPr bwMode="auto">
          <a:xfrm flipH="1">
            <a:off x="802413" y="3171361"/>
            <a:ext cx="720436"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89" name="直接连接符 88"/>
          <p:cNvCxnSpPr>
            <a:stCxn id="51" idx="2"/>
            <a:endCxn id="41" idx="0"/>
          </p:cNvCxnSpPr>
          <p:nvPr/>
        </p:nvCxnSpPr>
        <p:spPr bwMode="auto">
          <a:xfrm>
            <a:off x="7415649" y="3171361"/>
            <a:ext cx="752764"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92" name="直接连接符 91"/>
          <p:cNvCxnSpPr>
            <a:stCxn id="51" idx="2"/>
            <a:endCxn id="42" idx="0"/>
          </p:cNvCxnSpPr>
          <p:nvPr/>
        </p:nvCxnSpPr>
        <p:spPr bwMode="auto">
          <a:xfrm flipH="1">
            <a:off x="6695213" y="3171361"/>
            <a:ext cx="720436" cy="39464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cxnSp>
        <p:nvCxnSpPr>
          <p:cNvPr id="95" name="直接连接符 94"/>
          <p:cNvCxnSpPr>
            <a:stCxn id="52" idx="2"/>
            <a:endCxn id="38" idx="0"/>
          </p:cNvCxnSpPr>
          <p:nvPr/>
        </p:nvCxnSpPr>
        <p:spPr bwMode="auto">
          <a:xfrm flipH="1">
            <a:off x="9641613" y="3171361"/>
            <a:ext cx="720436" cy="391325"/>
          </a:xfrm>
          <a:prstGeom prst="line">
            <a:avLst/>
          </a:prstGeom>
          <a:noFill/>
          <a:ln cmpd="sng">
            <a:solidFill>
              <a:srgbClr val="FF0000"/>
            </a:solidFill>
            <a:headEnd type="none" w="med" len="med"/>
            <a:tailEnd type="arrow" w="med" len="med"/>
          </a:ln>
        </p:spPr>
        <p:style>
          <a:lnRef idx="2">
            <a:schemeClr val="accent3">
              <a:shade val="50000"/>
            </a:schemeClr>
          </a:lnRef>
          <a:fillRef idx="1">
            <a:schemeClr val="accent3"/>
          </a:fillRef>
          <a:effectRef idx="0">
            <a:schemeClr val="accent3"/>
          </a:effectRef>
          <a:fontRef idx="minor">
            <a:schemeClr val="lt1"/>
          </a:fontRef>
        </p:style>
      </p:cxnSp>
      <p:sp>
        <p:nvSpPr>
          <p:cNvPr id="2" name="文本框 1"/>
          <p:cNvSpPr txBox="1"/>
          <p:nvPr/>
        </p:nvSpPr>
        <p:spPr>
          <a:xfrm>
            <a:off x="2275612" y="4024351"/>
            <a:ext cx="2047006" cy="461665"/>
          </a:xfrm>
          <a:prstGeom prst="rect">
            <a:avLst/>
          </a:prstGeom>
          <a:noFill/>
        </p:spPr>
        <p:txBody>
          <a:bodyPr wrap="square" rtlCol="0">
            <a:spAutoFit/>
          </a:bodyPr>
          <a:lstStyle/>
          <a:p>
            <a:r>
              <a:rPr lang="zh-CN" altLang="en-US" sz="2400" b="1" dirty="0">
                <a:solidFill>
                  <a:srgbClr val="00B050"/>
                </a:solidFill>
              </a:rPr>
              <a:t>重叠子问题！</a:t>
            </a:r>
          </a:p>
        </p:txBody>
      </p:sp>
    </p:spTree>
    <p:extLst>
      <p:ext uri="{BB962C8B-B14F-4D97-AF65-F5344CB8AC3E}">
        <p14:creationId xmlns:p14="http://schemas.microsoft.com/office/powerpoint/2010/main" val="991012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29</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en-US" altLang="zh-CN" dirty="0"/>
              <a:t>0-1</a:t>
            </a:r>
            <a:r>
              <a:rPr lang="zh-CN" altLang="en-US" dirty="0"/>
              <a:t>背包问题</a:t>
            </a:r>
            <a:r>
              <a:rPr lang="en-US" altLang="zh-CN" dirty="0"/>
              <a:t>– </a:t>
            </a:r>
            <a:r>
              <a:rPr lang="zh-CN" altLang="en-US" dirty="0"/>
              <a:t>递推实现</a:t>
            </a:r>
          </a:p>
        </p:txBody>
      </p:sp>
      <p:sp>
        <p:nvSpPr>
          <p:cNvPr id="2" name="文本框 1"/>
          <p:cNvSpPr txBox="1"/>
          <p:nvPr/>
        </p:nvSpPr>
        <p:spPr>
          <a:xfrm>
            <a:off x="1089893" y="1033032"/>
            <a:ext cx="6410035" cy="3046988"/>
          </a:xfrm>
          <a:prstGeom prst="rect">
            <a:avLst/>
          </a:prstGeom>
          <a:noFill/>
        </p:spPr>
        <p:txBody>
          <a:bodyPr wrap="square" rtlCol="0">
            <a:spAutoFit/>
          </a:bodyPr>
          <a:lstStyle/>
          <a:p>
            <a:pPr marL="457200" indent="-457200">
              <a:lnSpc>
                <a:spcPct val="300000"/>
              </a:lnSpc>
              <a:buFont typeface="Arial" panose="020B0604020202020204" pitchFamily="34" charset="0"/>
              <a:buChar char="•"/>
            </a:pPr>
            <a:r>
              <a:rPr lang="zh-CN" altLang="en-US" sz="3200" b="1" dirty="0">
                <a:latin typeface="华文中宋" panose="02010600040101010101" pitchFamily="2" charset="-122"/>
                <a:ea typeface="华文中宋" panose="02010600040101010101" pitchFamily="2" charset="-122"/>
              </a:rPr>
              <a:t>递归实现 ，即</a:t>
            </a:r>
            <a:r>
              <a:rPr lang="en-US" altLang="zh-CN" sz="3200" b="1" dirty="0">
                <a:latin typeface="华文中宋" panose="02010600040101010101" pitchFamily="2" charset="-122"/>
                <a:ea typeface="华文中宋" panose="02010600040101010101" pitchFamily="2" charset="-122"/>
                <a:sym typeface="Wingdings" panose="05000000000000000000" pitchFamily="2" charset="2"/>
              </a:rPr>
              <a:t> </a:t>
            </a:r>
            <a:r>
              <a:rPr lang="zh-CN" altLang="en-US" sz="3200" b="1" dirty="0">
                <a:latin typeface="华文中宋" panose="02010600040101010101" pitchFamily="2" charset="-122"/>
                <a:ea typeface="华文中宋" panose="02010600040101010101" pitchFamily="2" charset="-122"/>
                <a:sym typeface="Wingdings" panose="05000000000000000000" pitchFamily="2" charset="2"/>
              </a:rPr>
              <a:t>“记忆化”递归</a:t>
            </a:r>
            <a:endParaRPr lang="en-US" altLang="zh-CN" sz="3200" b="1" dirty="0">
              <a:latin typeface="华文中宋" panose="02010600040101010101" pitchFamily="2" charset="-122"/>
              <a:ea typeface="华文中宋" panose="02010600040101010101" pitchFamily="2" charset="-122"/>
              <a:sym typeface="Wingdings" panose="05000000000000000000" pitchFamily="2" charset="2"/>
            </a:endParaRPr>
          </a:p>
          <a:p>
            <a:pPr marL="457200" indent="-457200">
              <a:lnSpc>
                <a:spcPct val="300000"/>
              </a:lnSpc>
              <a:buFont typeface="Arial" panose="020B0604020202020204" pitchFamily="34" charset="0"/>
              <a:buChar char="•"/>
            </a:pPr>
            <a:r>
              <a:rPr lang="zh-CN" altLang="en-US" sz="3200" b="1" dirty="0">
                <a:latin typeface="华文中宋" panose="02010600040101010101" pitchFamily="2" charset="-122"/>
                <a:ea typeface="华文中宋" panose="02010600040101010101" pitchFamily="2" charset="-122"/>
                <a:sym typeface="Wingdings" panose="05000000000000000000" pitchFamily="2" charset="2"/>
              </a:rPr>
              <a:t>递推（迭代）实现</a:t>
            </a:r>
            <a:endParaRPr lang="zh-CN" altLang="en-US" sz="3200" b="1" dirty="0">
              <a:latin typeface="华文中宋" panose="02010600040101010101" pitchFamily="2" charset="-122"/>
              <a:ea typeface="华文中宋" panose="02010600040101010101" pitchFamily="2" charset="-122"/>
            </a:endParaRPr>
          </a:p>
        </p:txBody>
      </p:sp>
      <p:sp>
        <p:nvSpPr>
          <p:cNvPr id="4" name="下箭头 3"/>
          <p:cNvSpPr/>
          <p:nvPr/>
        </p:nvSpPr>
        <p:spPr bwMode="auto">
          <a:xfrm>
            <a:off x="3149602" y="2485243"/>
            <a:ext cx="415636" cy="618174"/>
          </a:xfrm>
          <a:prstGeom prst="downArrow">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cs typeface="Arial" charset="0"/>
            </a:endParaRPr>
          </a:p>
        </p:txBody>
      </p:sp>
      <p:sp>
        <p:nvSpPr>
          <p:cNvPr id="5" name="文本框 4"/>
          <p:cNvSpPr txBox="1"/>
          <p:nvPr/>
        </p:nvSpPr>
        <p:spPr>
          <a:xfrm>
            <a:off x="3786910" y="2595417"/>
            <a:ext cx="2105891" cy="400110"/>
          </a:xfrm>
          <a:prstGeom prst="rect">
            <a:avLst/>
          </a:prstGeom>
          <a:noFill/>
        </p:spPr>
        <p:txBody>
          <a:bodyPr wrap="square" rtlCol="0">
            <a:spAutoFit/>
          </a:bodyPr>
          <a:lstStyle/>
          <a:p>
            <a:r>
              <a:rPr lang="zh-CN" altLang="en-US" sz="2000" b="1" dirty="0">
                <a:solidFill>
                  <a:srgbClr val="C00000"/>
                </a:solidFill>
              </a:rPr>
              <a:t>确定求解顺序</a:t>
            </a:r>
          </a:p>
        </p:txBody>
      </p:sp>
      <p:sp>
        <p:nvSpPr>
          <p:cNvPr id="7" name="文本框 6"/>
          <p:cNvSpPr txBox="1"/>
          <p:nvPr/>
        </p:nvSpPr>
        <p:spPr>
          <a:xfrm>
            <a:off x="5781368" y="2641752"/>
            <a:ext cx="6022704" cy="461665"/>
          </a:xfrm>
          <a:prstGeom prst="rect">
            <a:avLst/>
          </a:prstGeom>
          <a:noFill/>
        </p:spPr>
        <p:txBody>
          <a:bodyPr wrap="square" rtlCol="0">
            <a:spAutoFit/>
          </a:bodyPr>
          <a:lstStyle/>
          <a:p>
            <a:r>
              <a:rPr lang="en-US" altLang="zh-CN" sz="2400" b="1" dirty="0">
                <a:solidFill>
                  <a:srgbClr val="C00000"/>
                </a:solidFill>
              </a:rPr>
              <a:t>f[</a:t>
            </a:r>
            <a:r>
              <a:rPr lang="en-US" altLang="zh-CN" sz="2400" b="1" dirty="0" err="1">
                <a:solidFill>
                  <a:srgbClr val="C00000"/>
                </a:solidFill>
              </a:rPr>
              <a:t>i</a:t>
            </a:r>
            <a:r>
              <a:rPr lang="en-US" altLang="zh-CN" sz="2400" b="1" dirty="0">
                <a:solidFill>
                  <a:srgbClr val="C00000"/>
                </a:solidFill>
              </a:rPr>
              <a:t>][j] </a:t>
            </a:r>
            <a:r>
              <a:rPr lang="zh-CN" altLang="en-US" sz="2400" b="1" dirty="0">
                <a:solidFill>
                  <a:srgbClr val="C00000"/>
                </a:solidFill>
              </a:rPr>
              <a:t>求解只与 </a:t>
            </a:r>
            <a:r>
              <a:rPr lang="en-US" altLang="zh-CN" sz="2400" b="1" dirty="0">
                <a:solidFill>
                  <a:srgbClr val="C00000"/>
                </a:solidFill>
              </a:rPr>
              <a:t>f[i-1][j]</a:t>
            </a:r>
            <a:r>
              <a:rPr lang="zh-CN" altLang="en-US" sz="2400" b="1" dirty="0">
                <a:solidFill>
                  <a:srgbClr val="C00000"/>
                </a:solidFill>
              </a:rPr>
              <a:t>和</a:t>
            </a:r>
            <a:r>
              <a:rPr lang="en-US" altLang="zh-CN" sz="2400" b="1" dirty="0">
                <a:solidFill>
                  <a:srgbClr val="C00000"/>
                </a:solidFill>
              </a:rPr>
              <a:t>f[i-1][j-w[i-1]]</a:t>
            </a:r>
            <a:r>
              <a:rPr lang="zh-CN" altLang="en-US" sz="2400" b="1" dirty="0">
                <a:solidFill>
                  <a:srgbClr val="C00000"/>
                </a:solidFill>
              </a:rPr>
              <a:t>有关</a:t>
            </a:r>
          </a:p>
        </p:txBody>
      </p:sp>
      <p:sp>
        <p:nvSpPr>
          <p:cNvPr id="8" name="矩形 7"/>
          <p:cNvSpPr/>
          <p:nvPr/>
        </p:nvSpPr>
        <p:spPr>
          <a:xfrm>
            <a:off x="2715490" y="4501952"/>
            <a:ext cx="7546109" cy="695575"/>
          </a:xfrm>
          <a:prstGeom prst="rect">
            <a:avLst/>
          </a:prstGeom>
        </p:spPr>
        <p:txBody>
          <a:bodyPr wrap="square">
            <a:spAutoFit/>
          </a:bodyPr>
          <a:lstStyle/>
          <a:p>
            <a:pPr marL="908050" lvl="1" indent="-436563">
              <a:lnSpc>
                <a:spcPct val="140000"/>
              </a:lnSpc>
              <a:spcBef>
                <a:spcPct val="30000"/>
              </a:spcBef>
            </a:pPr>
            <a:r>
              <a:rPr lang="en-US" altLang="zh-CN" sz="2800" kern="0" dirty="0">
                <a:solidFill>
                  <a:srgbClr val="000000"/>
                </a:solidFill>
              </a:rPr>
              <a:t>f[</a:t>
            </a:r>
            <a:r>
              <a:rPr lang="en-US" altLang="zh-CN" sz="2800" kern="0" dirty="0" err="1">
                <a:solidFill>
                  <a:srgbClr val="000000"/>
                </a:solidFill>
              </a:rPr>
              <a:t>i</a:t>
            </a:r>
            <a:r>
              <a:rPr lang="en-US" altLang="zh-CN" sz="2800" kern="0" dirty="0">
                <a:solidFill>
                  <a:srgbClr val="000000"/>
                </a:solidFill>
              </a:rPr>
              <a:t>][j] = MAX{f[i-1][j], f[i-1][j-w[i-1]]+v[i-1]}</a:t>
            </a:r>
          </a:p>
        </p:txBody>
      </p:sp>
    </p:spTree>
    <p:extLst>
      <p:ext uri="{BB962C8B-B14F-4D97-AF65-F5344CB8AC3E}">
        <p14:creationId xmlns:p14="http://schemas.microsoft.com/office/powerpoint/2010/main" val="3891104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30</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r>
              <a:rPr lang="en-US" altLang="zh-CN" dirty="0"/>
              <a:t>– </a:t>
            </a:r>
            <a:r>
              <a:rPr lang="zh-CN" altLang="en-US" dirty="0"/>
              <a:t>递推实现</a:t>
            </a:r>
            <a:endParaRPr lang="en-US" altLang="zh-CN" dirty="0"/>
          </a:p>
        </p:txBody>
      </p:sp>
      <p:sp>
        <p:nvSpPr>
          <p:cNvPr id="22531" name="Rectangle 3"/>
          <p:cNvSpPr>
            <a:spLocks noGrp="1" noChangeArrowheads="1"/>
          </p:cNvSpPr>
          <p:nvPr>
            <p:ph type="body" idx="1"/>
          </p:nvPr>
        </p:nvSpPr>
        <p:spPr>
          <a:xfrm>
            <a:off x="1703389" y="757818"/>
            <a:ext cx="8785225" cy="6003199"/>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dp_knapsack</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w[],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v[],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W,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f[][100],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0; j &lt;= W; </a:t>
            </a:r>
            <a:r>
              <a:rPr kumimoji="1" lang="en-US" altLang="zh-CN" sz="1800" dirty="0" err="1">
                <a:latin typeface="Garamond" panose="02020404030301010803" pitchFamily="18" charset="0"/>
              </a:rPr>
              <a:t>j++</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f[0][j] = 0;</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1;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&lt;= n;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0; j &lt;= W; ++j) {</a:t>
            </a:r>
          </a:p>
          <a:p>
            <a:pPr eaLnBrk="1" hangingPunct="1">
              <a:lnSpc>
                <a:spcPct val="140000"/>
              </a:lnSpc>
              <a:spcBef>
                <a:spcPct val="30000"/>
              </a:spcBef>
              <a:buNone/>
            </a:pPr>
            <a:r>
              <a:rPr kumimoji="1" lang="en-US" altLang="zh-CN" sz="1800" dirty="0">
                <a:latin typeface="Garamond" panose="02020404030301010803" pitchFamily="18" charset="0"/>
              </a:rPr>
              <a:t>	        if (j – w[i-1] &gt;= 0)</a:t>
            </a:r>
          </a:p>
          <a:p>
            <a:pPr eaLnBrk="1" hangingPunct="1">
              <a:lnSpc>
                <a:spcPct val="140000"/>
              </a:lnSpc>
              <a:spcBef>
                <a:spcPct val="30000"/>
              </a:spcBef>
              <a:buNone/>
            </a:pPr>
            <a:r>
              <a:rPr kumimoji="1" lang="en-US" altLang="zh-CN" sz="1800" dirty="0">
                <a:latin typeface="Garamond" panose="02020404030301010803" pitchFamily="18" charset="0"/>
              </a:rPr>
              <a:t>                  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max(f[i-1][j], f[i-1][j-w[i-1]] + v[i-1]);</a:t>
            </a:r>
          </a:p>
          <a:p>
            <a:pPr eaLnBrk="1" hangingPunct="1">
              <a:lnSpc>
                <a:spcPct val="140000"/>
              </a:lnSpc>
              <a:spcBef>
                <a:spcPct val="30000"/>
              </a:spcBef>
              <a:buNone/>
            </a:pPr>
            <a:r>
              <a:rPr kumimoji="1" lang="en-US" altLang="zh-CN" sz="1800" dirty="0">
                <a:latin typeface="Garamond" panose="02020404030301010803" pitchFamily="18" charset="0"/>
              </a:rPr>
              <a:t>              else</a:t>
            </a:r>
          </a:p>
          <a:p>
            <a:pPr eaLnBrk="1" hangingPunct="1">
              <a:lnSpc>
                <a:spcPct val="140000"/>
              </a:lnSpc>
              <a:spcBef>
                <a:spcPct val="30000"/>
              </a:spcBef>
              <a:buNone/>
            </a:pPr>
            <a:r>
              <a:rPr kumimoji="1" lang="en-US" altLang="zh-CN" sz="1800" dirty="0">
                <a:latin typeface="Garamond" panose="02020404030301010803" pitchFamily="18" charset="0"/>
              </a:rPr>
              <a:t>                  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f[i-1][j];</a:t>
            </a:r>
          </a:p>
          <a:p>
            <a:pPr eaLnBrk="1" hangingPunct="1">
              <a:lnSpc>
                <a:spcPct val="140000"/>
              </a:lnSpc>
              <a:spcBef>
                <a:spcPct val="30000"/>
              </a:spcBef>
              <a:buNone/>
            </a:pP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return f[n][W];</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19111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31</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 </a:t>
            </a:r>
            <a:r>
              <a:rPr lang="en-US" altLang="zh-CN" dirty="0"/>
              <a:t>– </a:t>
            </a:r>
            <a:r>
              <a:rPr lang="zh-CN" altLang="en-US" dirty="0"/>
              <a:t>动态规划</a:t>
            </a:r>
            <a:endParaRPr lang="en-US" altLang="zh-CN" dirty="0"/>
          </a:p>
        </p:txBody>
      </p:sp>
      <p:sp>
        <p:nvSpPr>
          <p:cNvPr id="43" name="Rectangle 3"/>
          <p:cNvSpPr txBox="1">
            <a:spLocks noChangeArrowheads="1"/>
          </p:cNvSpPr>
          <p:nvPr/>
        </p:nvSpPr>
        <p:spPr bwMode="auto">
          <a:xfrm>
            <a:off x="1847851" y="981076"/>
            <a:ext cx="9656794" cy="3895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en-US" altLang="zh-CN" sz="3200" kern="0" dirty="0">
                <a:latin typeface="华文中宋" panose="02010600040101010101" pitchFamily="2" charset="-122"/>
                <a:ea typeface="华文中宋" panose="02010600040101010101" pitchFamily="2" charset="-122"/>
              </a:rPr>
              <a:t>“</a:t>
            </a:r>
            <a:r>
              <a:rPr lang="zh-CN" altLang="en-US" sz="3200" kern="0" dirty="0">
                <a:latin typeface="华文中宋" panose="02010600040101010101" pitchFamily="2" charset="-122"/>
                <a:ea typeface="华文中宋" panose="02010600040101010101" pitchFamily="2" charset="-122"/>
              </a:rPr>
              <a:t>记忆化”递归实现</a:t>
            </a:r>
          </a:p>
          <a:p>
            <a:pPr marL="908050" lvl="1" indent="-436563" eaLnBrk="1" hangingPunct="1">
              <a:lnSpc>
                <a:spcPct val="140000"/>
              </a:lnSpc>
              <a:spcBef>
                <a:spcPct val="30000"/>
              </a:spcBef>
            </a:pPr>
            <a:r>
              <a:rPr lang="zh-CN" altLang="en-US" sz="2800" kern="0" dirty="0">
                <a:solidFill>
                  <a:srgbClr val="000000"/>
                </a:solidFill>
              </a:rPr>
              <a:t>只计算必要的子状态，“惰性求值”</a:t>
            </a:r>
            <a:endParaRPr lang="en-US" altLang="zh-CN" sz="2800" kern="0" dirty="0">
              <a:solidFill>
                <a:srgbClr val="000000"/>
              </a:solidFill>
            </a:endParaRPr>
          </a:p>
          <a:p>
            <a:pPr marL="508000" indent="-436563" eaLnBrk="1" hangingPunct="1">
              <a:lnSpc>
                <a:spcPct val="140000"/>
              </a:lnSpc>
              <a:spcBef>
                <a:spcPct val="30000"/>
              </a:spcBef>
            </a:pPr>
            <a:r>
              <a:rPr lang="zh-CN" altLang="en-US" sz="3200" kern="0" dirty="0">
                <a:latin typeface="华文中宋" panose="02010600040101010101" pitchFamily="2" charset="-122"/>
                <a:ea typeface="华文中宋" panose="02010600040101010101" pitchFamily="2" charset="-122"/>
              </a:rPr>
              <a:t>递推实现</a:t>
            </a:r>
            <a:endParaRPr lang="en-US" altLang="zh-CN" sz="3200" kern="0" dirty="0">
              <a:latin typeface="华文中宋" panose="02010600040101010101" pitchFamily="2" charset="-122"/>
              <a:ea typeface="华文中宋" panose="02010600040101010101" pitchFamily="2" charset="-122"/>
            </a:endParaRPr>
          </a:p>
          <a:p>
            <a:pPr marL="908050" lvl="1" indent="-436563" eaLnBrk="1" hangingPunct="1">
              <a:lnSpc>
                <a:spcPct val="140000"/>
              </a:lnSpc>
              <a:spcBef>
                <a:spcPct val="30000"/>
              </a:spcBef>
            </a:pPr>
            <a:r>
              <a:rPr lang="zh-CN" altLang="en-US" sz="2800" kern="0" dirty="0">
                <a:solidFill>
                  <a:srgbClr val="000000"/>
                </a:solidFill>
              </a:rPr>
              <a:t>每个子状态</a:t>
            </a:r>
            <a:r>
              <a:rPr lang="en-US" altLang="zh-CN" sz="2800" kern="0" dirty="0">
                <a:solidFill>
                  <a:srgbClr val="000000"/>
                </a:solidFill>
              </a:rPr>
              <a:t>f[</a:t>
            </a:r>
            <a:r>
              <a:rPr lang="en-US" altLang="zh-CN" sz="2800" kern="0" dirty="0" err="1">
                <a:solidFill>
                  <a:srgbClr val="000000"/>
                </a:solidFill>
              </a:rPr>
              <a:t>i</a:t>
            </a:r>
            <a:r>
              <a:rPr lang="en-US" altLang="zh-CN" sz="2800" kern="0" dirty="0">
                <a:solidFill>
                  <a:srgbClr val="000000"/>
                </a:solidFill>
              </a:rPr>
              <a:t>][j]</a:t>
            </a:r>
            <a:r>
              <a:rPr lang="zh-CN" altLang="en-US" sz="2800" kern="0" dirty="0">
                <a:solidFill>
                  <a:srgbClr val="000000"/>
                </a:solidFill>
              </a:rPr>
              <a:t>都恰好计算一次</a:t>
            </a:r>
            <a:endParaRPr lang="en-US" altLang="zh-CN" sz="2800" kern="0" dirty="0">
              <a:solidFill>
                <a:srgbClr val="000000"/>
              </a:solidFill>
            </a:endParaRPr>
          </a:p>
          <a:p>
            <a:pPr marL="908050" lvl="1" indent="-436563" eaLnBrk="1" hangingPunct="1">
              <a:lnSpc>
                <a:spcPct val="140000"/>
              </a:lnSpc>
              <a:spcBef>
                <a:spcPct val="30000"/>
              </a:spcBef>
            </a:pPr>
            <a:endParaRPr lang="en-US" altLang="zh-CN" kern="0" dirty="0">
              <a:solidFill>
                <a:srgbClr val="000000"/>
              </a:solidFill>
            </a:endParaRPr>
          </a:p>
        </p:txBody>
      </p:sp>
    </p:spTree>
    <p:extLst>
      <p:ext uri="{BB962C8B-B14F-4D97-AF65-F5344CB8AC3E}">
        <p14:creationId xmlns:p14="http://schemas.microsoft.com/office/powerpoint/2010/main" val="514569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 </a:t>
            </a:r>
            <a:r>
              <a:rPr lang="en-US" altLang="zh-CN" dirty="0"/>
              <a:t>– </a:t>
            </a:r>
            <a:r>
              <a:rPr lang="zh-CN" altLang="en-US" dirty="0"/>
              <a:t>动态规划</a:t>
            </a:r>
          </a:p>
        </p:txBody>
      </p:sp>
      <p:sp>
        <p:nvSpPr>
          <p:cNvPr id="4" name="灯片编号占位符 3"/>
          <p:cNvSpPr>
            <a:spLocks noGrp="1"/>
          </p:cNvSpPr>
          <p:nvPr>
            <p:ph type="sldNum" sz="quarter" idx="10"/>
          </p:nvPr>
        </p:nvSpPr>
        <p:spPr/>
        <p:txBody>
          <a:bodyPr/>
          <a:lstStyle/>
          <a:p>
            <a:fld id="{F8D2D15B-F992-401A-8242-2D64191D16B1}" type="slidenum">
              <a:rPr lang="ar-SA" altLang="zh-CN" smtClean="0">
                <a:solidFill>
                  <a:srgbClr val="FFFFFF"/>
                </a:solidFill>
              </a:rPr>
              <a:pPr/>
              <a:t>32</a:t>
            </a:fld>
            <a:endParaRPr lang="zh-CN" altLang="en-US">
              <a:solidFill>
                <a:srgbClr val="FFFFFF"/>
              </a:solidFill>
              <a:ea typeface="宋体" panose="02010600030101010101" pitchFamily="2"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381737040"/>
              </p:ext>
            </p:extLst>
          </p:nvPr>
        </p:nvGraphicFramePr>
        <p:xfrm>
          <a:off x="1463589" y="1317166"/>
          <a:ext cx="3858056" cy="2221590"/>
        </p:xfrm>
        <a:graphic>
          <a:graphicData uri="http://schemas.openxmlformats.org/drawingml/2006/table">
            <a:tbl>
              <a:tblPr firstRow="1" bandRow="1">
                <a:tableStyleId>{BDBED569-4797-4DF1-A0F4-6AAB3CD982D8}</a:tableStyleId>
              </a:tblPr>
              <a:tblGrid>
                <a:gridCol w="482257">
                  <a:extLst>
                    <a:ext uri="{9D8B030D-6E8A-4147-A177-3AD203B41FA5}">
                      <a16:colId xmlns:a16="http://schemas.microsoft.com/office/drawing/2014/main" val="20000"/>
                    </a:ext>
                  </a:extLst>
                </a:gridCol>
                <a:gridCol w="482257">
                  <a:extLst>
                    <a:ext uri="{9D8B030D-6E8A-4147-A177-3AD203B41FA5}">
                      <a16:colId xmlns:a16="http://schemas.microsoft.com/office/drawing/2014/main" val="20001"/>
                    </a:ext>
                  </a:extLst>
                </a:gridCol>
                <a:gridCol w="482257">
                  <a:extLst>
                    <a:ext uri="{9D8B030D-6E8A-4147-A177-3AD203B41FA5}">
                      <a16:colId xmlns:a16="http://schemas.microsoft.com/office/drawing/2014/main" val="20002"/>
                    </a:ext>
                  </a:extLst>
                </a:gridCol>
                <a:gridCol w="482257">
                  <a:extLst>
                    <a:ext uri="{9D8B030D-6E8A-4147-A177-3AD203B41FA5}">
                      <a16:colId xmlns:a16="http://schemas.microsoft.com/office/drawing/2014/main" val="20003"/>
                    </a:ext>
                  </a:extLst>
                </a:gridCol>
                <a:gridCol w="482257">
                  <a:extLst>
                    <a:ext uri="{9D8B030D-6E8A-4147-A177-3AD203B41FA5}">
                      <a16:colId xmlns:a16="http://schemas.microsoft.com/office/drawing/2014/main" val="20004"/>
                    </a:ext>
                  </a:extLst>
                </a:gridCol>
                <a:gridCol w="482257">
                  <a:extLst>
                    <a:ext uri="{9D8B030D-6E8A-4147-A177-3AD203B41FA5}">
                      <a16:colId xmlns:a16="http://schemas.microsoft.com/office/drawing/2014/main" val="20005"/>
                    </a:ext>
                  </a:extLst>
                </a:gridCol>
                <a:gridCol w="482257">
                  <a:extLst>
                    <a:ext uri="{9D8B030D-6E8A-4147-A177-3AD203B41FA5}">
                      <a16:colId xmlns:a16="http://schemas.microsoft.com/office/drawing/2014/main" val="20006"/>
                    </a:ext>
                  </a:extLst>
                </a:gridCol>
                <a:gridCol w="482257">
                  <a:extLst>
                    <a:ext uri="{9D8B030D-6E8A-4147-A177-3AD203B41FA5}">
                      <a16:colId xmlns:a16="http://schemas.microsoft.com/office/drawing/2014/main" val="20007"/>
                    </a:ext>
                  </a:extLst>
                </a:gridCol>
              </a:tblGrid>
              <a:tr h="365411">
                <a:tc>
                  <a:txBody>
                    <a:bodyPr/>
                    <a:lstStyle/>
                    <a:p>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extLst>
                  <a:ext uri="{0D108BD9-81ED-4DB2-BD59-A6C34878D82A}">
                    <a16:rowId xmlns:a16="http://schemas.microsoft.com/office/drawing/2014/main" val="10000"/>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0</a:t>
                      </a:r>
                      <a:endParaRPr lang="zh-CN" altLang="en-US" sz="1800" b="1" kern="1200" dirty="0">
                        <a:solidFill>
                          <a:schemeClr val="tx1"/>
                        </a:solidFill>
                        <a:latin typeface="+mn-lt"/>
                        <a:ea typeface="+mn-ea"/>
                        <a:cs typeface="+mn-cs"/>
                      </a:endParaRPr>
                    </a:p>
                  </a:txBody>
                  <a:tcPr/>
                </a:tc>
                <a:tc>
                  <a:txBody>
                    <a:bodyPr/>
                    <a:lstStyle/>
                    <a:p>
                      <a:endParaRPr lang="zh-CN" altLang="en-US" dirty="0"/>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extLst>
                  <a:ext uri="{0D108BD9-81ED-4DB2-BD59-A6C34878D82A}">
                    <a16:rowId xmlns:a16="http://schemas.microsoft.com/office/drawing/2014/main" val="10001"/>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tc>
                <a:tc>
                  <a:txBody>
                    <a:bodyPr/>
                    <a:lstStyle/>
                    <a:p>
                      <a:endParaRPr lang="zh-CN" altLang="en-US"/>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endParaRPr lang="zh-CN" altLang="en-US" b="1">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extLst>
                  <a:ext uri="{0D108BD9-81ED-4DB2-BD59-A6C34878D82A}">
                    <a16:rowId xmlns:a16="http://schemas.microsoft.com/office/drawing/2014/main" val="10002"/>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tc>
                <a:tc>
                  <a:txBody>
                    <a:bodyPr/>
                    <a:lstStyle/>
                    <a:p>
                      <a:endParaRPr lang="zh-CN" altLang="en-US"/>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endParaRPr lang="zh-CN" altLang="en-US" b="1" dirty="0">
                        <a:solidFill>
                          <a:srgbClr val="C00000"/>
                        </a:solidFill>
                      </a:endParaRPr>
                    </a:p>
                  </a:txBody>
                  <a:tcPr/>
                </a:tc>
                <a:tc>
                  <a:txBody>
                    <a:bodyPr/>
                    <a:lstStyle/>
                    <a:p>
                      <a:r>
                        <a:rPr lang="en-US" altLang="zh-CN" b="1" dirty="0">
                          <a:solidFill>
                            <a:srgbClr val="C00000"/>
                          </a:solidFill>
                        </a:rPr>
                        <a:t>1</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endParaRPr lang="zh-CN" altLang="en-US" b="1">
                        <a:solidFill>
                          <a:srgbClr val="C00000"/>
                        </a:solidFill>
                      </a:endParaRPr>
                    </a:p>
                  </a:txBody>
                  <a:tcPr/>
                </a:tc>
                <a:tc>
                  <a:txBody>
                    <a:bodyPr/>
                    <a:lstStyle/>
                    <a:p>
                      <a:r>
                        <a:rPr lang="en-US" altLang="zh-CN" b="1" dirty="0">
                          <a:solidFill>
                            <a:srgbClr val="C00000"/>
                          </a:solidFill>
                        </a:rPr>
                        <a:t>4</a:t>
                      </a:r>
                      <a:endParaRPr lang="zh-CN" altLang="en-US" b="1" dirty="0">
                        <a:solidFill>
                          <a:srgbClr val="C00000"/>
                        </a:solidFill>
                      </a:endParaRPr>
                    </a:p>
                  </a:txBody>
                  <a:tcPr/>
                </a:tc>
                <a:extLst>
                  <a:ext uri="{0D108BD9-81ED-4DB2-BD59-A6C34878D82A}">
                    <a16:rowId xmlns:a16="http://schemas.microsoft.com/office/drawing/2014/main" val="10003"/>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3</a:t>
                      </a:r>
                      <a:endParaRPr lang="zh-CN" altLang="en-US" sz="1800" b="1" kern="1200" dirty="0">
                        <a:solidFill>
                          <a:schemeClr val="tx1"/>
                        </a:solidFill>
                        <a:latin typeface="+mn-lt"/>
                        <a:ea typeface="+mn-ea"/>
                        <a:cs typeface="+mn-cs"/>
                      </a:endParaRPr>
                    </a:p>
                  </a:txBody>
                  <a:tcPr/>
                </a:tc>
                <a:tc>
                  <a:txBody>
                    <a:bodyPr/>
                    <a:lstStyle/>
                    <a:p>
                      <a:endParaRPr lang="zh-CN" altLang="en-US"/>
                    </a:p>
                  </a:txBody>
                  <a:tcPr/>
                </a:tc>
                <a:tc>
                  <a:txBody>
                    <a:bodyPr/>
                    <a:lstStyle/>
                    <a:p>
                      <a:endParaRPr lang="zh-CN" altLang="en-US" b="1">
                        <a:solidFill>
                          <a:srgbClr val="C00000"/>
                        </a:solidFill>
                      </a:endParaRPr>
                    </a:p>
                  </a:txBody>
                  <a:tcPr/>
                </a:tc>
                <a:tc>
                  <a:txBody>
                    <a:bodyPr/>
                    <a:lstStyle/>
                    <a:p>
                      <a:endParaRPr lang="zh-CN" altLang="en-US" b="1">
                        <a:solidFill>
                          <a:srgbClr val="C00000"/>
                        </a:solidFill>
                      </a:endParaRPr>
                    </a:p>
                  </a:txBody>
                  <a:tcPr/>
                </a:tc>
                <a:tc>
                  <a:txBody>
                    <a:bodyPr/>
                    <a:lstStyle/>
                    <a:p>
                      <a:r>
                        <a:rPr lang="en-US" altLang="zh-CN" b="1" dirty="0">
                          <a:solidFill>
                            <a:srgbClr val="C00000"/>
                          </a:solidFill>
                        </a:rPr>
                        <a:t>2</a:t>
                      </a:r>
                      <a:endParaRPr lang="zh-CN" altLang="en-US" b="1" dirty="0">
                        <a:solidFill>
                          <a:srgbClr val="C00000"/>
                        </a:solidFill>
                      </a:endParaRPr>
                    </a:p>
                  </a:txBody>
                  <a:tcPr/>
                </a:tc>
                <a:tc>
                  <a:txBody>
                    <a:bodyPr/>
                    <a:lstStyle/>
                    <a:p>
                      <a:endParaRPr lang="zh-CN" altLang="en-US" b="1" dirty="0">
                        <a:solidFill>
                          <a:srgbClr val="C00000"/>
                        </a:solidFill>
                      </a:endParaRPr>
                    </a:p>
                  </a:txBody>
                  <a:tcPr/>
                </a:tc>
                <a:tc>
                  <a:txBody>
                    <a:bodyPr/>
                    <a:lstStyle/>
                    <a:p>
                      <a:endParaRPr lang="zh-CN" altLang="en-US" b="1" dirty="0">
                        <a:solidFill>
                          <a:srgbClr val="C00000"/>
                        </a:solidFill>
                      </a:endParaRPr>
                    </a:p>
                  </a:txBody>
                  <a:tcPr/>
                </a:tc>
                <a:tc>
                  <a:txBody>
                    <a:bodyPr/>
                    <a:lstStyle/>
                    <a:p>
                      <a:r>
                        <a:rPr lang="en-US" altLang="zh-CN" b="1" dirty="0">
                          <a:solidFill>
                            <a:srgbClr val="C00000"/>
                          </a:solidFill>
                        </a:rPr>
                        <a:t>5</a:t>
                      </a:r>
                      <a:endParaRPr lang="zh-CN" altLang="en-US" b="1" dirty="0">
                        <a:solidFill>
                          <a:srgbClr val="C00000"/>
                        </a:solidFill>
                      </a:endParaRPr>
                    </a:p>
                  </a:txBody>
                  <a:tcPr/>
                </a:tc>
                <a:extLst>
                  <a:ext uri="{0D108BD9-81ED-4DB2-BD59-A6C34878D82A}">
                    <a16:rowId xmlns:a16="http://schemas.microsoft.com/office/drawing/2014/main" val="10004"/>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4</a:t>
                      </a:r>
                      <a:endParaRPr lang="zh-CN" altLang="en-US" sz="1800" b="1" kern="1200" dirty="0">
                        <a:solidFill>
                          <a:schemeClr val="tx1"/>
                        </a:solidFill>
                        <a:latin typeface="+mn-lt"/>
                        <a:ea typeface="+mn-ea"/>
                        <a:cs typeface="+mn-cs"/>
                      </a:endParaRPr>
                    </a:p>
                  </a:txBody>
                  <a:tcPr/>
                </a:tc>
                <a:tc>
                  <a:txBody>
                    <a:bodyPr/>
                    <a:lstStyle/>
                    <a:p>
                      <a:endParaRPr lang="zh-CN" altLang="en-US"/>
                    </a:p>
                  </a:txBody>
                  <a:tcPr/>
                </a:tc>
                <a:tc>
                  <a:txBody>
                    <a:bodyPr/>
                    <a:lstStyle/>
                    <a:p>
                      <a:endParaRPr lang="zh-CN" altLang="en-US" b="1">
                        <a:solidFill>
                          <a:srgbClr val="C00000"/>
                        </a:solidFill>
                      </a:endParaRPr>
                    </a:p>
                  </a:txBody>
                  <a:tcPr/>
                </a:tc>
                <a:tc>
                  <a:txBody>
                    <a:bodyPr/>
                    <a:lstStyle/>
                    <a:p>
                      <a:endParaRPr lang="zh-CN" altLang="en-US" b="1">
                        <a:solidFill>
                          <a:srgbClr val="C00000"/>
                        </a:solidFill>
                      </a:endParaRPr>
                    </a:p>
                  </a:txBody>
                  <a:tcPr/>
                </a:tc>
                <a:tc>
                  <a:txBody>
                    <a:bodyPr/>
                    <a:lstStyle/>
                    <a:p>
                      <a:endParaRPr lang="zh-CN" altLang="en-US" b="1">
                        <a:solidFill>
                          <a:srgbClr val="C00000"/>
                        </a:solidFill>
                      </a:endParaRPr>
                    </a:p>
                  </a:txBody>
                  <a:tcPr/>
                </a:tc>
                <a:tc>
                  <a:txBody>
                    <a:bodyPr/>
                    <a:lstStyle/>
                    <a:p>
                      <a:endParaRPr lang="zh-CN" altLang="en-US" b="1">
                        <a:solidFill>
                          <a:srgbClr val="C00000"/>
                        </a:solidFill>
                      </a:endParaRPr>
                    </a:p>
                  </a:txBody>
                  <a:tcPr/>
                </a:tc>
                <a:tc>
                  <a:txBody>
                    <a:bodyPr/>
                    <a:lstStyle/>
                    <a:p>
                      <a:endParaRPr lang="zh-CN" altLang="en-US" b="1" dirty="0">
                        <a:solidFill>
                          <a:srgbClr val="C00000"/>
                        </a:solidFill>
                      </a:endParaRPr>
                    </a:p>
                  </a:txBody>
                  <a:tcPr/>
                </a:tc>
                <a:tc>
                  <a:txBody>
                    <a:bodyPr/>
                    <a:lstStyle/>
                    <a:p>
                      <a:r>
                        <a:rPr lang="en-US" altLang="zh-CN" b="1" dirty="0">
                          <a:solidFill>
                            <a:srgbClr val="C00000"/>
                          </a:solidFill>
                        </a:rPr>
                        <a:t>12</a:t>
                      </a:r>
                      <a:endParaRPr lang="zh-CN" altLang="en-US" b="1" dirty="0">
                        <a:solidFill>
                          <a:srgbClr val="C00000"/>
                        </a:solidFill>
                      </a:endParaRPr>
                    </a:p>
                  </a:txBody>
                  <a:tcPr/>
                </a:tc>
                <a:extLst>
                  <a:ext uri="{0D108BD9-81ED-4DB2-BD59-A6C34878D82A}">
                    <a16:rowId xmlns:a16="http://schemas.microsoft.com/office/drawing/2014/main" val="10005"/>
                  </a:ext>
                </a:extLst>
              </a:tr>
            </a:tbl>
          </a:graphicData>
        </a:graphic>
      </p:graphicFrame>
      <p:cxnSp>
        <p:nvCxnSpPr>
          <p:cNvPr id="9" name="直接连接符 8"/>
          <p:cNvCxnSpPr/>
          <p:nvPr/>
        </p:nvCxnSpPr>
        <p:spPr bwMode="auto">
          <a:xfrm flipH="1" flipV="1">
            <a:off x="1482811" y="1359243"/>
            <a:ext cx="436605" cy="329514"/>
          </a:xfrm>
          <a:prstGeom prst="line">
            <a:avLst/>
          </a:prstGeom>
          <a:noFill/>
          <a:ln w="19050" cap="flat" cmpd="sng" algn="ctr">
            <a:solidFill>
              <a:schemeClr val="accent5">
                <a:lumMod val="75000"/>
              </a:schemeClr>
            </a:solidFill>
            <a:prstDash val="solid"/>
            <a:round/>
            <a:headEnd type="none" w="med" len="med"/>
            <a:tailEnd type="none" w="med" len="med"/>
          </a:ln>
          <a:effectLst/>
        </p:spPr>
      </p:cxnSp>
      <p:sp>
        <p:nvSpPr>
          <p:cNvPr id="10" name="文本框 9"/>
          <p:cNvSpPr txBox="1"/>
          <p:nvPr/>
        </p:nvSpPr>
        <p:spPr>
          <a:xfrm>
            <a:off x="1612618" y="1273869"/>
            <a:ext cx="205946" cy="369332"/>
          </a:xfrm>
          <a:prstGeom prst="rect">
            <a:avLst/>
          </a:prstGeom>
          <a:noFill/>
        </p:spPr>
        <p:txBody>
          <a:bodyPr wrap="square" rtlCol="0">
            <a:spAutoFit/>
          </a:bodyPr>
          <a:lstStyle/>
          <a:p>
            <a:r>
              <a:rPr lang="en-US" altLang="zh-CN" b="1" dirty="0"/>
              <a:t>W</a:t>
            </a:r>
            <a:endParaRPr lang="zh-CN" altLang="en-US" b="1" dirty="0"/>
          </a:p>
        </p:txBody>
      </p:sp>
      <p:sp>
        <p:nvSpPr>
          <p:cNvPr id="11" name="文本框 10"/>
          <p:cNvSpPr txBox="1"/>
          <p:nvPr/>
        </p:nvSpPr>
        <p:spPr>
          <a:xfrm>
            <a:off x="1460218" y="1389325"/>
            <a:ext cx="205946" cy="369332"/>
          </a:xfrm>
          <a:prstGeom prst="rect">
            <a:avLst/>
          </a:prstGeom>
          <a:noFill/>
        </p:spPr>
        <p:txBody>
          <a:bodyPr wrap="square" rtlCol="0">
            <a:spAutoFit/>
          </a:bodyPr>
          <a:lstStyle/>
          <a:p>
            <a:r>
              <a:rPr lang="en-US" altLang="zh-CN" b="1" dirty="0"/>
              <a:t>n</a:t>
            </a:r>
            <a:endParaRPr lang="zh-CN" altLang="en-US" b="1" dirty="0"/>
          </a:p>
        </p:txBody>
      </p:sp>
      <p:graphicFrame>
        <p:nvGraphicFramePr>
          <p:cNvPr id="12" name="表格 11"/>
          <p:cNvGraphicFramePr>
            <a:graphicFrameLocks noGrp="1"/>
          </p:cNvGraphicFramePr>
          <p:nvPr>
            <p:extLst>
              <p:ext uri="{D42A27DB-BD31-4B8C-83A1-F6EECF244321}">
                <p14:modId xmlns:p14="http://schemas.microsoft.com/office/powerpoint/2010/main" val="28137062"/>
              </p:ext>
            </p:extLst>
          </p:nvPr>
        </p:nvGraphicFramePr>
        <p:xfrm>
          <a:off x="6807114" y="1317166"/>
          <a:ext cx="3858056" cy="2221590"/>
        </p:xfrm>
        <a:graphic>
          <a:graphicData uri="http://schemas.openxmlformats.org/drawingml/2006/table">
            <a:tbl>
              <a:tblPr firstRow="1" bandRow="1">
                <a:tableStyleId>{BDBED569-4797-4DF1-A0F4-6AAB3CD982D8}</a:tableStyleId>
              </a:tblPr>
              <a:tblGrid>
                <a:gridCol w="482257">
                  <a:extLst>
                    <a:ext uri="{9D8B030D-6E8A-4147-A177-3AD203B41FA5}">
                      <a16:colId xmlns:a16="http://schemas.microsoft.com/office/drawing/2014/main" val="20000"/>
                    </a:ext>
                  </a:extLst>
                </a:gridCol>
                <a:gridCol w="482257">
                  <a:extLst>
                    <a:ext uri="{9D8B030D-6E8A-4147-A177-3AD203B41FA5}">
                      <a16:colId xmlns:a16="http://schemas.microsoft.com/office/drawing/2014/main" val="20001"/>
                    </a:ext>
                  </a:extLst>
                </a:gridCol>
                <a:gridCol w="482257">
                  <a:extLst>
                    <a:ext uri="{9D8B030D-6E8A-4147-A177-3AD203B41FA5}">
                      <a16:colId xmlns:a16="http://schemas.microsoft.com/office/drawing/2014/main" val="20002"/>
                    </a:ext>
                  </a:extLst>
                </a:gridCol>
                <a:gridCol w="482257">
                  <a:extLst>
                    <a:ext uri="{9D8B030D-6E8A-4147-A177-3AD203B41FA5}">
                      <a16:colId xmlns:a16="http://schemas.microsoft.com/office/drawing/2014/main" val="20003"/>
                    </a:ext>
                  </a:extLst>
                </a:gridCol>
                <a:gridCol w="482257">
                  <a:extLst>
                    <a:ext uri="{9D8B030D-6E8A-4147-A177-3AD203B41FA5}">
                      <a16:colId xmlns:a16="http://schemas.microsoft.com/office/drawing/2014/main" val="20004"/>
                    </a:ext>
                  </a:extLst>
                </a:gridCol>
                <a:gridCol w="482257">
                  <a:extLst>
                    <a:ext uri="{9D8B030D-6E8A-4147-A177-3AD203B41FA5}">
                      <a16:colId xmlns:a16="http://schemas.microsoft.com/office/drawing/2014/main" val="20005"/>
                    </a:ext>
                  </a:extLst>
                </a:gridCol>
                <a:gridCol w="482257">
                  <a:extLst>
                    <a:ext uri="{9D8B030D-6E8A-4147-A177-3AD203B41FA5}">
                      <a16:colId xmlns:a16="http://schemas.microsoft.com/office/drawing/2014/main" val="20006"/>
                    </a:ext>
                  </a:extLst>
                </a:gridCol>
                <a:gridCol w="482257">
                  <a:extLst>
                    <a:ext uri="{9D8B030D-6E8A-4147-A177-3AD203B41FA5}">
                      <a16:colId xmlns:a16="http://schemas.microsoft.com/office/drawing/2014/main" val="20007"/>
                    </a:ext>
                  </a:extLst>
                </a:gridCol>
              </a:tblGrid>
              <a:tr h="365411">
                <a:tc>
                  <a:txBody>
                    <a:bodyPr/>
                    <a:lstStyle/>
                    <a:p>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extLst>
                  <a:ext uri="{0D108BD9-81ED-4DB2-BD59-A6C34878D82A}">
                    <a16:rowId xmlns:a16="http://schemas.microsoft.com/office/drawing/2014/main" val="10000"/>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0</a:t>
                      </a:r>
                      <a:endParaRPr lang="zh-CN" altLang="en-US" sz="1800" b="1" kern="1200" dirty="0">
                        <a:solidFill>
                          <a:schemeClr val="tx1"/>
                        </a:solidFill>
                        <a:latin typeface="+mn-lt"/>
                        <a:ea typeface="+mn-ea"/>
                        <a:cs typeface="+mn-cs"/>
                      </a:endParaRPr>
                    </a:p>
                  </a:txBody>
                  <a:tcPr/>
                </a:tc>
                <a:tc>
                  <a:txBody>
                    <a:bodyPr/>
                    <a:lstStyle/>
                    <a:p>
                      <a:pPr marL="0" algn="l" defTabSz="914400" rtl="0" eaLnBrk="1" latinLnBrk="0" hangingPunct="1"/>
                      <a:r>
                        <a:rPr lang="en-US" altLang="zh-CN" sz="1800" b="1" kern="1200" dirty="0">
                          <a:solidFill>
                            <a:srgbClr val="C00000"/>
                          </a:solidFill>
                          <a:latin typeface="+mn-lt"/>
                          <a:ea typeface="+mn-ea"/>
                          <a:cs typeface="+mn-cs"/>
                        </a:rPr>
                        <a:t>0</a:t>
                      </a:r>
                      <a:endParaRPr lang="zh-CN" altLang="en-US" sz="1800" b="1" kern="1200" dirty="0">
                        <a:solidFill>
                          <a:srgbClr val="C00000"/>
                        </a:solidFill>
                        <a:latin typeface="+mn-lt"/>
                        <a:ea typeface="+mn-ea"/>
                        <a:cs typeface="+mn-cs"/>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extLst>
                  <a:ext uri="{0D108BD9-81ED-4DB2-BD59-A6C34878D82A}">
                    <a16:rowId xmlns:a16="http://schemas.microsoft.com/office/drawing/2014/main" val="10001"/>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tc>
                <a:tc>
                  <a:txBody>
                    <a:bodyPr/>
                    <a:lstStyle/>
                    <a:p>
                      <a:pPr marL="0" algn="l" defTabSz="914400" rtl="0" eaLnBrk="1" latinLnBrk="0" hangingPunct="1"/>
                      <a:r>
                        <a:rPr lang="en-US" altLang="zh-CN" sz="1800" b="1" kern="1200" dirty="0">
                          <a:solidFill>
                            <a:srgbClr val="C00000"/>
                          </a:solidFill>
                          <a:latin typeface="+mn-lt"/>
                          <a:ea typeface="+mn-ea"/>
                          <a:cs typeface="+mn-cs"/>
                        </a:rPr>
                        <a:t>0</a:t>
                      </a:r>
                      <a:endParaRPr lang="zh-CN" altLang="en-US" sz="1800" b="1" kern="1200" dirty="0">
                        <a:solidFill>
                          <a:srgbClr val="C00000"/>
                        </a:solidFill>
                        <a:latin typeface="+mn-lt"/>
                        <a:ea typeface="+mn-ea"/>
                        <a:cs typeface="+mn-cs"/>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extLst>
                  <a:ext uri="{0D108BD9-81ED-4DB2-BD59-A6C34878D82A}">
                    <a16:rowId xmlns:a16="http://schemas.microsoft.com/office/drawing/2014/main" val="10002"/>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tc>
                <a:tc>
                  <a:txBody>
                    <a:bodyPr/>
                    <a:lstStyle/>
                    <a:p>
                      <a:pPr marL="0" algn="l" defTabSz="914400" rtl="0" eaLnBrk="1" latinLnBrk="0" hangingPunct="1"/>
                      <a:r>
                        <a:rPr lang="en-US" altLang="zh-CN" sz="1800" b="1" kern="1200" dirty="0">
                          <a:solidFill>
                            <a:srgbClr val="C00000"/>
                          </a:solidFill>
                          <a:latin typeface="+mn-lt"/>
                          <a:ea typeface="+mn-ea"/>
                          <a:cs typeface="+mn-cs"/>
                        </a:rPr>
                        <a:t>0</a:t>
                      </a:r>
                      <a:endParaRPr lang="zh-CN" altLang="en-US" sz="1800" b="1" kern="1200" dirty="0">
                        <a:solidFill>
                          <a:srgbClr val="C00000"/>
                        </a:solidFill>
                        <a:latin typeface="+mn-lt"/>
                        <a:ea typeface="+mn-ea"/>
                        <a:cs typeface="+mn-cs"/>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1</a:t>
                      </a:r>
                      <a:endParaRPr lang="zh-CN" altLang="en-US" b="1" dirty="0">
                        <a:solidFill>
                          <a:srgbClr val="C00000"/>
                        </a:solidFill>
                      </a:endParaRPr>
                    </a:p>
                  </a:txBody>
                  <a:tcPr/>
                </a:tc>
                <a:tc>
                  <a:txBody>
                    <a:bodyPr/>
                    <a:lstStyle/>
                    <a:p>
                      <a:r>
                        <a:rPr lang="en-US" altLang="zh-CN" b="1" dirty="0">
                          <a:solidFill>
                            <a:srgbClr val="C00000"/>
                          </a:solidFill>
                        </a:rPr>
                        <a:t>1</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r>
                        <a:rPr lang="en-US" altLang="zh-CN" b="1" dirty="0">
                          <a:solidFill>
                            <a:srgbClr val="C00000"/>
                          </a:solidFill>
                        </a:rPr>
                        <a:t>4</a:t>
                      </a:r>
                      <a:endParaRPr lang="zh-CN" altLang="en-US" b="1" dirty="0">
                        <a:solidFill>
                          <a:srgbClr val="C00000"/>
                        </a:solidFill>
                      </a:endParaRPr>
                    </a:p>
                  </a:txBody>
                  <a:tcPr/>
                </a:tc>
                <a:extLst>
                  <a:ext uri="{0D108BD9-81ED-4DB2-BD59-A6C34878D82A}">
                    <a16:rowId xmlns:a16="http://schemas.microsoft.com/office/drawing/2014/main" val="10003"/>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3</a:t>
                      </a:r>
                      <a:endParaRPr lang="zh-CN" altLang="en-US" sz="1800" b="1" kern="1200" dirty="0">
                        <a:solidFill>
                          <a:schemeClr val="tx1"/>
                        </a:solidFill>
                        <a:latin typeface="+mn-lt"/>
                        <a:ea typeface="+mn-ea"/>
                        <a:cs typeface="+mn-cs"/>
                      </a:endParaRPr>
                    </a:p>
                  </a:txBody>
                  <a:tcPr/>
                </a:tc>
                <a:tc>
                  <a:txBody>
                    <a:bodyPr/>
                    <a:lstStyle/>
                    <a:p>
                      <a:pPr marL="0" algn="l" defTabSz="914400" rtl="0" eaLnBrk="1" latinLnBrk="0" hangingPunct="1"/>
                      <a:r>
                        <a:rPr lang="en-US" altLang="zh-CN" sz="1800" b="1" kern="1200" dirty="0">
                          <a:solidFill>
                            <a:srgbClr val="C00000"/>
                          </a:solidFill>
                          <a:latin typeface="+mn-lt"/>
                          <a:ea typeface="+mn-ea"/>
                          <a:cs typeface="+mn-cs"/>
                        </a:rPr>
                        <a:t>0</a:t>
                      </a:r>
                      <a:endParaRPr lang="zh-CN" altLang="en-US" sz="1800" b="1" kern="1200" dirty="0">
                        <a:solidFill>
                          <a:srgbClr val="C00000"/>
                        </a:solidFill>
                        <a:latin typeface="+mn-lt"/>
                        <a:ea typeface="+mn-ea"/>
                        <a:cs typeface="+mn-cs"/>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2</a:t>
                      </a:r>
                      <a:endParaRPr lang="zh-CN" altLang="en-US" b="1" dirty="0">
                        <a:solidFill>
                          <a:srgbClr val="C00000"/>
                        </a:solidFill>
                      </a:endParaRPr>
                    </a:p>
                  </a:txBody>
                  <a:tcPr/>
                </a:tc>
                <a:tc>
                  <a:txBody>
                    <a:bodyPr/>
                    <a:lstStyle/>
                    <a:p>
                      <a:r>
                        <a:rPr lang="en-US" altLang="zh-CN" b="1" dirty="0">
                          <a:solidFill>
                            <a:srgbClr val="C00000"/>
                          </a:solidFill>
                        </a:rPr>
                        <a:t>2</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r>
                        <a:rPr lang="en-US" altLang="zh-CN" b="1" dirty="0">
                          <a:solidFill>
                            <a:srgbClr val="C00000"/>
                          </a:solidFill>
                        </a:rPr>
                        <a:t>3</a:t>
                      </a:r>
                      <a:endParaRPr lang="zh-CN" altLang="en-US" b="1" dirty="0">
                        <a:solidFill>
                          <a:srgbClr val="C00000"/>
                        </a:solidFill>
                      </a:endParaRPr>
                    </a:p>
                  </a:txBody>
                  <a:tcPr/>
                </a:tc>
                <a:tc>
                  <a:txBody>
                    <a:bodyPr/>
                    <a:lstStyle/>
                    <a:p>
                      <a:r>
                        <a:rPr lang="en-US" altLang="zh-CN" b="1" dirty="0">
                          <a:solidFill>
                            <a:srgbClr val="C00000"/>
                          </a:solidFill>
                        </a:rPr>
                        <a:t>5</a:t>
                      </a:r>
                      <a:endParaRPr lang="zh-CN" altLang="en-US" b="1" dirty="0">
                        <a:solidFill>
                          <a:srgbClr val="C00000"/>
                        </a:solidFill>
                      </a:endParaRPr>
                    </a:p>
                  </a:txBody>
                  <a:tcPr/>
                </a:tc>
                <a:extLst>
                  <a:ext uri="{0D108BD9-81ED-4DB2-BD59-A6C34878D82A}">
                    <a16:rowId xmlns:a16="http://schemas.microsoft.com/office/drawing/2014/main" val="10004"/>
                  </a:ext>
                </a:extLst>
              </a:tr>
              <a:tr h="371166">
                <a:tc>
                  <a:txBody>
                    <a:bodyPr/>
                    <a:lstStyle/>
                    <a:p>
                      <a:pPr marL="0" algn="l" defTabSz="914400" rtl="0" eaLnBrk="1" latinLnBrk="0" hangingPunct="1"/>
                      <a:r>
                        <a:rPr lang="en-US" altLang="zh-CN" sz="1800" b="1" kern="1200" dirty="0">
                          <a:solidFill>
                            <a:schemeClr val="tx1"/>
                          </a:solidFill>
                          <a:latin typeface="+mn-lt"/>
                          <a:ea typeface="+mn-ea"/>
                          <a:cs typeface="+mn-cs"/>
                        </a:rPr>
                        <a:t>4</a:t>
                      </a:r>
                      <a:endParaRPr lang="zh-CN" altLang="en-US" sz="1800" b="1" kern="1200" dirty="0">
                        <a:solidFill>
                          <a:schemeClr val="tx1"/>
                        </a:solidFill>
                        <a:latin typeface="+mn-lt"/>
                        <a:ea typeface="+mn-ea"/>
                        <a:cs typeface="+mn-cs"/>
                      </a:endParaRPr>
                    </a:p>
                  </a:txBody>
                  <a:tcPr/>
                </a:tc>
                <a:tc>
                  <a:txBody>
                    <a:bodyPr/>
                    <a:lstStyle/>
                    <a:p>
                      <a:pPr marL="0" algn="l" defTabSz="914400" rtl="0" eaLnBrk="1" latinLnBrk="0" hangingPunct="1"/>
                      <a:r>
                        <a:rPr lang="en-US" altLang="zh-CN" sz="1800" b="1" kern="1200" dirty="0">
                          <a:solidFill>
                            <a:srgbClr val="C00000"/>
                          </a:solidFill>
                          <a:latin typeface="+mn-lt"/>
                          <a:ea typeface="+mn-ea"/>
                          <a:cs typeface="+mn-cs"/>
                        </a:rPr>
                        <a:t>0</a:t>
                      </a:r>
                      <a:endParaRPr lang="zh-CN" altLang="en-US" sz="1800" b="1" kern="1200" dirty="0">
                        <a:solidFill>
                          <a:srgbClr val="C00000"/>
                        </a:solidFill>
                        <a:latin typeface="+mn-lt"/>
                        <a:ea typeface="+mn-ea"/>
                        <a:cs typeface="+mn-cs"/>
                      </a:endParaRPr>
                    </a:p>
                  </a:txBody>
                  <a:tcPr/>
                </a:tc>
                <a:tc>
                  <a:txBody>
                    <a:bodyPr/>
                    <a:lstStyle/>
                    <a:p>
                      <a:r>
                        <a:rPr lang="en-US" altLang="zh-CN" b="1" dirty="0">
                          <a:solidFill>
                            <a:srgbClr val="C00000"/>
                          </a:solidFill>
                        </a:rPr>
                        <a:t>0</a:t>
                      </a:r>
                      <a:endParaRPr lang="zh-CN" altLang="en-US" b="1" dirty="0">
                        <a:solidFill>
                          <a:srgbClr val="C00000"/>
                        </a:solidFill>
                      </a:endParaRPr>
                    </a:p>
                  </a:txBody>
                  <a:tcPr/>
                </a:tc>
                <a:tc>
                  <a:txBody>
                    <a:bodyPr/>
                    <a:lstStyle/>
                    <a:p>
                      <a:r>
                        <a:rPr lang="en-US" altLang="zh-CN" b="1" dirty="0">
                          <a:solidFill>
                            <a:srgbClr val="C00000"/>
                          </a:solidFill>
                        </a:rPr>
                        <a:t>2</a:t>
                      </a:r>
                      <a:endParaRPr lang="zh-CN" altLang="en-US" b="1" dirty="0">
                        <a:solidFill>
                          <a:srgbClr val="C00000"/>
                        </a:solidFill>
                      </a:endParaRPr>
                    </a:p>
                  </a:txBody>
                  <a:tcPr/>
                </a:tc>
                <a:tc>
                  <a:txBody>
                    <a:bodyPr/>
                    <a:lstStyle/>
                    <a:p>
                      <a:r>
                        <a:rPr lang="en-US" altLang="zh-CN" b="1" dirty="0">
                          <a:solidFill>
                            <a:srgbClr val="C00000"/>
                          </a:solidFill>
                        </a:rPr>
                        <a:t>10</a:t>
                      </a:r>
                      <a:endParaRPr lang="zh-CN" altLang="en-US" b="1" dirty="0">
                        <a:solidFill>
                          <a:srgbClr val="C00000"/>
                        </a:solidFill>
                      </a:endParaRPr>
                    </a:p>
                  </a:txBody>
                  <a:tcPr/>
                </a:tc>
                <a:tc>
                  <a:txBody>
                    <a:bodyPr/>
                    <a:lstStyle/>
                    <a:p>
                      <a:r>
                        <a:rPr lang="en-US" altLang="zh-CN" b="1" dirty="0">
                          <a:solidFill>
                            <a:srgbClr val="C00000"/>
                          </a:solidFill>
                        </a:rPr>
                        <a:t>10</a:t>
                      </a:r>
                      <a:endParaRPr lang="zh-CN" altLang="en-US" b="1" dirty="0">
                        <a:solidFill>
                          <a:srgbClr val="C00000"/>
                        </a:solidFill>
                      </a:endParaRPr>
                    </a:p>
                  </a:txBody>
                  <a:tcPr/>
                </a:tc>
                <a:tc>
                  <a:txBody>
                    <a:bodyPr/>
                    <a:lstStyle/>
                    <a:p>
                      <a:r>
                        <a:rPr lang="en-US" altLang="zh-CN" b="1" dirty="0">
                          <a:solidFill>
                            <a:srgbClr val="C00000"/>
                          </a:solidFill>
                        </a:rPr>
                        <a:t>12</a:t>
                      </a:r>
                      <a:endParaRPr lang="zh-CN" altLang="en-US" b="1" dirty="0">
                        <a:solidFill>
                          <a:srgbClr val="C00000"/>
                        </a:solidFill>
                      </a:endParaRPr>
                    </a:p>
                  </a:txBody>
                  <a:tcPr/>
                </a:tc>
                <a:tc>
                  <a:txBody>
                    <a:bodyPr/>
                    <a:lstStyle/>
                    <a:p>
                      <a:r>
                        <a:rPr lang="en-US" altLang="zh-CN" b="1" dirty="0">
                          <a:solidFill>
                            <a:srgbClr val="C00000"/>
                          </a:solidFill>
                        </a:rPr>
                        <a:t>12</a:t>
                      </a:r>
                      <a:endParaRPr lang="zh-CN" altLang="en-US" b="1" dirty="0">
                        <a:solidFill>
                          <a:srgbClr val="C00000"/>
                        </a:solidFill>
                      </a:endParaRPr>
                    </a:p>
                  </a:txBody>
                  <a:tcPr/>
                </a:tc>
                <a:extLst>
                  <a:ext uri="{0D108BD9-81ED-4DB2-BD59-A6C34878D82A}">
                    <a16:rowId xmlns:a16="http://schemas.microsoft.com/office/drawing/2014/main" val="10005"/>
                  </a:ext>
                </a:extLst>
              </a:tr>
            </a:tbl>
          </a:graphicData>
        </a:graphic>
      </p:graphicFrame>
      <p:cxnSp>
        <p:nvCxnSpPr>
          <p:cNvPr id="13" name="直接连接符 12"/>
          <p:cNvCxnSpPr/>
          <p:nvPr/>
        </p:nvCxnSpPr>
        <p:spPr bwMode="auto">
          <a:xfrm flipH="1" flipV="1">
            <a:off x="6826336" y="1359243"/>
            <a:ext cx="436605" cy="329514"/>
          </a:xfrm>
          <a:prstGeom prst="line">
            <a:avLst/>
          </a:prstGeom>
          <a:noFill/>
          <a:ln w="19050" cap="flat" cmpd="sng" algn="ctr">
            <a:solidFill>
              <a:schemeClr val="accent5">
                <a:lumMod val="75000"/>
              </a:schemeClr>
            </a:solidFill>
            <a:prstDash val="solid"/>
            <a:round/>
            <a:headEnd type="none" w="med" len="med"/>
            <a:tailEnd type="none" w="med" len="med"/>
          </a:ln>
          <a:effectLst/>
        </p:spPr>
      </p:cxnSp>
      <p:sp>
        <p:nvSpPr>
          <p:cNvPr id="14" name="文本框 13"/>
          <p:cNvSpPr txBox="1"/>
          <p:nvPr/>
        </p:nvSpPr>
        <p:spPr>
          <a:xfrm>
            <a:off x="6956143" y="1273869"/>
            <a:ext cx="205946" cy="369332"/>
          </a:xfrm>
          <a:prstGeom prst="rect">
            <a:avLst/>
          </a:prstGeom>
          <a:noFill/>
        </p:spPr>
        <p:txBody>
          <a:bodyPr wrap="square" rtlCol="0">
            <a:spAutoFit/>
          </a:bodyPr>
          <a:lstStyle/>
          <a:p>
            <a:r>
              <a:rPr lang="en-US" altLang="zh-CN" b="1" dirty="0"/>
              <a:t>W</a:t>
            </a:r>
            <a:endParaRPr lang="zh-CN" altLang="en-US" b="1" dirty="0"/>
          </a:p>
        </p:txBody>
      </p:sp>
      <p:sp>
        <p:nvSpPr>
          <p:cNvPr id="15" name="文本框 14"/>
          <p:cNvSpPr txBox="1"/>
          <p:nvPr/>
        </p:nvSpPr>
        <p:spPr>
          <a:xfrm>
            <a:off x="6803743" y="1389325"/>
            <a:ext cx="205946" cy="369332"/>
          </a:xfrm>
          <a:prstGeom prst="rect">
            <a:avLst/>
          </a:prstGeom>
          <a:noFill/>
        </p:spPr>
        <p:txBody>
          <a:bodyPr wrap="square" rtlCol="0">
            <a:spAutoFit/>
          </a:bodyPr>
          <a:lstStyle/>
          <a:p>
            <a:r>
              <a:rPr lang="en-US" altLang="zh-CN" b="1" dirty="0"/>
              <a:t>n</a:t>
            </a:r>
            <a:endParaRPr lang="zh-CN" altLang="en-US" b="1" dirty="0"/>
          </a:p>
        </p:txBody>
      </p:sp>
      <p:graphicFrame>
        <p:nvGraphicFramePr>
          <p:cNvPr id="17" name="表格 16"/>
          <p:cNvGraphicFramePr>
            <a:graphicFrameLocks noGrp="1"/>
          </p:cNvGraphicFramePr>
          <p:nvPr>
            <p:extLst>
              <p:ext uri="{D42A27DB-BD31-4B8C-83A1-F6EECF244321}">
                <p14:modId xmlns:p14="http://schemas.microsoft.com/office/powerpoint/2010/main" val="824137807"/>
              </p:ext>
            </p:extLst>
          </p:nvPr>
        </p:nvGraphicFramePr>
        <p:xfrm>
          <a:off x="2078183" y="4554176"/>
          <a:ext cx="6982690" cy="1371600"/>
        </p:xfrm>
        <a:graphic>
          <a:graphicData uri="http://schemas.openxmlformats.org/drawingml/2006/table">
            <a:tbl>
              <a:tblPr firstRow="1" bandRow="1">
                <a:tableStyleId>{5C22544A-7EE6-4342-B048-85BDC9FD1C3A}</a:tableStyleId>
              </a:tblPr>
              <a:tblGrid>
                <a:gridCol w="1209963">
                  <a:extLst>
                    <a:ext uri="{9D8B030D-6E8A-4147-A177-3AD203B41FA5}">
                      <a16:colId xmlns:a16="http://schemas.microsoft.com/office/drawing/2014/main" val="20000"/>
                    </a:ext>
                  </a:extLst>
                </a:gridCol>
                <a:gridCol w="1366982">
                  <a:extLst>
                    <a:ext uri="{9D8B030D-6E8A-4147-A177-3AD203B41FA5}">
                      <a16:colId xmlns:a16="http://schemas.microsoft.com/office/drawing/2014/main" val="20001"/>
                    </a:ext>
                  </a:extLst>
                </a:gridCol>
                <a:gridCol w="1542472">
                  <a:extLst>
                    <a:ext uri="{9D8B030D-6E8A-4147-A177-3AD203B41FA5}">
                      <a16:colId xmlns:a16="http://schemas.microsoft.com/office/drawing/2014/main" val="20002"/>
                    </a:ext>
                  </a:extLst>
                </a:gridCol>
                <a:gridCol w="1542473">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tblGrid>
              <a:tr h="370840">
                <a:tc>
                  <a:txBody>
                    <a:bodyPr/>
                    <a:lstStyle/>
                    <a:p>
                      <a:r>
                        <a:rPr lang="en-US" altLang="zh-CN" sz="2400" dirty="0"/>
                        <a:t>index</a:t>
                      </a:r>
                      <a:endParaRPr lang="zh-CN" altLang="en-US" sz="2400" dirty="0"/>
                    </a:p>
                  </a:txBody>
                  <a:tcPr/>
                </a:tc>
                <a:tc>
                  <a:txBody>
                    <a:bodyPr/>
                    <a:lstStyle/>
                    <a:p>
                      <a:r>
                        <a:rPr lang="en-US" altLang="zh-CN" sz="2400" dirty="0"/>
                        <a:t>0</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0"/>
                  </a:ext>
                </a:extLst>
              </a:tr>
              <a:tr h="370840">
                <a:tc>
                  <a:txBody>
                    <a:bodyPr/>
                    <a:lstStyle/>
                    <a:p>
                      <a:r>
                        <a:rPr lang="en-US" altLang="zh-CN" sz="2400" dirty="0"/>
                        <a:t>w[</a:t>
                      </a:r>
                      <a:r>
                        <a:rPr lang="en-US" altLang="zh-CN" sz="2400" dirty="0" err="1"/>
                        <a:t>i</a:t>
                      </a:r>
                      <a:r>
                        <a:rPr lang="en-US" altLang="zh-CN" sz="2400" dirty="0"/>
                        <a:t>]</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3</a:t>
                      </a:r>
                      <a:endParaRPr lang="zh-CN" altLang="en-US" sz="2400" dirty="0"/>
                    </a:p>
                  </a:txBody>
                  <a:tcPr/>
                </a:tc>
                <a:extLst>
                  <a:ext uri="{0D108BD9-81ED-4DB2-BD59-A6C34878D82A}">
                    <a16:rowId xmlns:a16="http://schemas.microsoft.com/office/drawing/2014/main" val="10001"/>
                  </a:ext>
                </a:extLst>
              </a:tr>
              <a:tr h="370840">
                <a:tc>
                  <a:txBody>
                    <a:bodyPr/>
                    <a:lstStyle/>
                    <a:p>
                      <a:r>
                        <a:rPr lang="en-US" altLang="zh-CN" sz="2400" dirty="0"/>
                        <a:t>v[</a:t>
                      </a:r>
                      <a:r>
                        <a:rPr lang="en-US" altLang="zh-CN" sz="2400" dirty="0" err="1"/>
                        <a:t>i</a:t>
                      </a:r>
                      <a:r>
                        <a:rPr lang="en-US" altLang="zh-CN" sz="2400" dirty="0"/>
                        <a:t>]</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1</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10</a:t>
                      </a:r>
                      <a:endParaRPr lang="zh-CN" altLang="en-US" sz="2400" dirty="0"/>
                    </a:p>
                  </a:txBody>
                  <a:tcPr/>
                </a:tc>
                <a:extLst>
                  <a:ext uri="{0D108BD9-81ED-4DB2-BD59-A6C34878D82A}">
                    <a16:rowId xmlns:a16="http://schemas.microsoft.com/office/drawing/2014/main" val="10002"/>
                  </a:ext>
                </a:extLst>
              </a:tr>
            </a:tbl>
          </a:graphicData>
        </a:graphic>
      </p:graphicFrame>
      <p:sp>
        <p:nvSpPr>
          <p:cNvPr id="18" name="文本框 17"/>
          <p:cNvSpPr txBox="1"/>
          <p:nvPr/>
        </p:nvSpPr>
        <p:spPr>
          <a:xfrm>
            <a:off x="4710546" y="6086762"/>
            <a:ext cx="2309091" cy="461665"/>
          </a:xfrm>
          <a:prstGeom prst="rect">
            <a:avLst/>
          </a:prstGeom>
          <a:noFill/>
        </p:spPr>
        <p:txBody>
          <a:bodyPr wrap="square" rtlCol="0">
            <a:spAutoFit/>
          </a:bodyPr>
          <a:lstStyle/>
          <a:p>
            <a:r>
              <a:rPr lang="en-US" altLang="zh-CN" sz="2400" b="1" dirty="0"/>
              <a:t>n = 4, W = 6</a:t>
            </a:r>
            <a:endParaRPr lang="zh-CN" altLang="en-US" sz="2400" b="1" dirty="0"/>
          </a:p>
        </p:txBody>
      </p:sp>
      <p:sp>
        <p:nvSpPr>
          <p:cNvPr id="19" name="文本框 18"/>
          <p:cNvSpPr txBox="1"/>
          <p:nvPr/>
        </p:nvSpPr>
        <p:spPr>
          <a:xfrm>
            <a:off x="2311529" y="3733800"/>
            <a:ext cx="2162175" cy="400110"/>
          </a:xfrm>
          <a:prstGeom prst="rect">
            <a:avLst/>
          </a:prstGeom>
          <a:noFill/>
        </p:spPr>
        <p:txBody>
          <a:bodyPr wrap="square" rtlCol="0">
            <a:spAutoFit/>
          </a:bodyPr>
          <a:lstStyle/>
          <a:p>
            <a:pPr algn="ctr"/>
            <a:r>
              <a:rPr lang="zh-CN" altLang="en-US" sz="2000" b="1" dirty="0"/>
              <a:t>“记忆化”递归</a:t>
            </a:r>
          </a:p>
        </p:txBody>
      </p:sp>
      <p:sp>
        <p:nvSpPr>
          <p:cNvPr id="20" name="文本框 19"/>
          <p:cNvSpPr txBox="1"/>
          <p:nvPr/>
        </p:nvSpPr>
        <p:spPr>
          <a:xfrm>
            <a:off x="7655054" y="3733800"/>
            <a:ext cx="2162175" cy="400110"/>
          </a:xfrm>
          <a:prstGeom prst="rect">
            <a:avLst/>
          </a:prstGeom>
          <a:noFill/>
        </p:spPr>
        <p:txBody>
          <a:bodyPr wrap="square" rtlCol="0">
            <a:spAutoFit/>
          </a:bodyPr>
          <a:lstStyle/>
          <a:p>
            <a:pPr algn="ctr"/>
            <a:r>
              <a:rPr lang="zh-CN" altLang="en-US" sz="2000" b="1" dirty="0"/>
              <a:t>递推</a:t>
            </a:r>
          </a:p>
        </p:txBody>
      </p:sp>
    </p:spTree>
    <p:extLst>
      <p:ext uri="{BB962C8B-B14F-4D97-AF65-F5344CB8AC3E}">
        <p14:creationId xmlns:p14="http://schemas.microsoft.com/office/powerpoint/2010/main" val="1399492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33</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 </a:t>
            </a:r>
            <a:r>
              <a:rPr lang="en-US" altLang="zh-CN" dirty="0"/>
              <a:t>– </a:t>
            </a:r>
            <a:r>
              <a:rPr lang="zh-CN" altLang="en-US" dirty="0"/>
              <a:t>空间优化</a:t>
            </a:r>
            <a:endParaRPr lang="en-US" altLang="zh-CN" dirty="0"/>
          </a:p>
        </p:txBody>
      </p:sp>
      <mc:AlternateContent xmlns:mc="http://schemas.openxmlformats.org/markup-compatibility/2006" xmlns:a14="http://schemas.microsoft.com/office/drawing/2010/main">
        <mc:Choice Requires="a14">
          <p:sp>
            <p:nvSpPr>
              <p:cNvPr id="43" name="Rectangle 3"/>
              <p:cNvSpPr txBox="1">
                <a:spLocks noChangeArrowheads="1"/>
              </p:cNvSpPr>
              <p:nvPr/>
            </p:nvSpPr>
            <p:spPr bwMode="auto">
              <a:xfrm>
                <a:off x="1847851" y="981075"/>
                <a:ext cx="9656794" cy="220167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kern="0" dirty="0">
                    <a:latin typeface="华文中宋" panose="02010600040101010101" pitchFamily="2" charset="-122"/>
                    <a:ea typeface="华文中宋" panose="02010600040101010101" pitchFamily="2" charset="-122"/>
                  </a:rPr>
                  <a:t>递推实现的空间优化</a:t>
                </a:r>
              </a:p>
              <a:p>
                <a:pPr marL="908050" lvl="1" indent="-436563" eaLnBrk="1" hangingPunct="1">
                  <a:lnSpc>
                    <a:spcPct val="140000"/>
                  </a:lnSpc>
                  <a:spcBef>
                    <a:spcPct val="30000"/>
                  </a:spcBef>
                </a:pPr>
                <a:r>
                  <a:rPr lang="zh-CN" altLang="en-US" kern="0" dirty="0">
                    <a:solidFill>
                      <a:srgbClr val="000000"/>
                    </a:solidFill>
                  </a:rPr>
                  <a:t>空间复杂度</a:t>
                </a:r>
                <a14:m>
                  <m:oMath xmlns:m="http://schemas.openxmlformats.org/officeDocument/2006/math">
                    <m:r>
                      <a:rPr lang="en-US" altLang="zh-CN" i="1" kern="0">
                        <a:solidFill>
                          <a:srgbClr val="000000"/>
                        </a:solidFill>
                        <a:latin typeface="Cambria Math" panose="02040503050406030204" pitchFamily="18" charset="0"/>
                      </a:rPr>
                      <m:t>𝑶</m:t>
                    </m:r>
                    <m:d>
                      <m:dPr>
                        <m:ctrlPr>
                          <a:rPr lang="en-US" altLang="zh-CN" i="1" kern="0">
                            <a:solidFill>
                              <a:srgbClr val="000000"/>
                            </a:solidFill>
                            <a:latin typeface="Cambria Math" panose="02040503050406030204" pitchFamily="18" charset="0"/>
                          </a:rPr>
                        </m:ctrlPr>
                      </m:dPr>
                      <m:e>
                        <m:r>
                          <a:rPr lang="en-US" altLang="zh-CN" i="1" kern="0">
                            <a:solidFill>
                              <a:srgbClr val="000000"/>
                            </a:solidFill>
                            <a:latin typeface="Cambria Math" panose="02040503050406030204" pitchFamily="18" charset="0"/>
                          </a:rPr>
                          <m:t>𝒏</m:t>
                        </m:r>
                        <m:r>
                          <a:rPr lang="en-US" altLang="zh-CN" i="1" kern="0">
                            <a:solidFill>
                              <a:srgbClr val="000000"/>
                            </a:solidFill>
                            <a:latin typeface="Cambria Math" panose="02040503050406030204" pitchFamily="18" charset="0"/>
                            <a:ea typeface="Cambria Math" panose="02040503050406030204" pitchFamily="18" charset="0"/>
                          </a:rPr>
                          <m:t>∙</m:t>
                        </m:r>
                        <m:r>
                          <a:rPr lang="en-US" altLang="zh-CN" i="1" kern="0">
                            <a:solidFill>
                              <a:srgbClr val="000000"/>
                            </a:solidFill>
                            <a:latin typeface="Cambria Math" panose="02040503050406030204" pitchFamily="18" charset="0"/>
                            <a:ea typeface="Cambria Math" panose="02040503050406030204" pitchFamily="18" charset="0"/>
                          </a:rPr>
                          <m:t>𝑾</m:t>
                        </m:r>
                      </m:e>
                    </m:d>
                  </m:oMath>
                </a14:m>
                <a:r>
                  <a:rPr lang="en-US" altLang="zh-CN" kern="0" dirty="0">
                    <a:solidFill>
                      <a:srgbClr val="000000"/>
                    </a:solidFill>
                  </a:rPr>
                  <a:t> </a:t>
                </a:r>
                <a:r>
                  <a:rPr lang="en-US" altLang="zh-CN" kern="0" dirty="0">
                    <a:solidFill>
                      <a:srgbClr val="000000"/>
                    </a:solidFill>
                    <a:sym typeface="Wingdings" panose="05000000000000000000" pitchFamily="2" charset="2"/>
                  </a:rPr>
                  <a:t> </a:t>
                </a:r>
                <a14:m>
                  <m:oMath xmlns:m="http://schemas.openxmlformats.org/officeDocument/2006/math">
                    <m:r>
                      <a:rPr lang="en-US" altLang="zh-CN" i="1" kern="0">
                        <a:solidFill>
                          <a:srgbClr val="000000"/>
                        </a:solidFill>
                        <a:latin typeface="Cambria Math" panose="02040503050406030204" pitchFamily="18" charset="0"/>
                      </a:rPr>
                      <m:t>𝑶</m:t>
                    </m:r>
                    <m:d>
                      <m:dPr>
                        <m:ctrlPr>
                          <a:rPr lang="en-US" altLang="zh-CN" i="1" kern="0">
                            <a:solidFill>
                              <a:srgbClr val="000000"/>
                            </a:solidFill>
                            <a:latin typeface="Cambria Math" panose="02040503050406030204" pitchFamily="18" charset="0"/>
                          </a:rPr>
                        </m:ctrlPr>
                      </m:dPr>
                      <m:e>
                        <m:r>
                          <a:rPr lang="en-US" altLang="zh-CN" i="1" kern="0">
                            <a:solidFill>
                              <a:srgbClr val="000000"/>
                            </a:solidFill>
                            <a:latin typeface="Cambria Math" panose="02040503050406030204" pitchFamily="18" charset="0"/>
                            <a:ea typeface="Cambria Math" panose="02040503050406030204" pitchFamily="18" charset="0"/>
                          </a:rPr>
                          <m:t>𝑾</m:t>
                        </m:r>
                      </m:e>
                    </m:d>
                  </m:oMath>
                </a14:m>
                <a:endParaRPr lang="en-US" altLang="zh-CN" kern="0" dirty="0">
                  <a:solidFill>
                    <a:srgbClr val="000000"/>
                  </a:solidFill>
                </a:endParaRPr>
              </a:p>
              <a:p>
                <a:pPr marL="908050" lvl="1" indent="-436563" eaLnBrk="1" hangingPunct="1">
                  <a:lnSpc>
                    <a:spcPct val="140000"/>
                  </a:lnSpc>
                  <a:spcBef>
                    <a:spcPct val="30000"/>
                  </a:spcBef>
                </a:pPr>
                <a:r>
                  <a:rPr lang="zh-CN" altLang="en-US" kern="0" dirty="0">
                    <a:solidFill>
                      <a:srgbClr val="000000"/>
                    </a:solidFill>
                  </a:rPr>
                  <a:t>求解</a:t>
                </a:r>
                <a:r>
                  <a:rPr lang="en-US" altLang="zh-CN" kern="0" dirty="0">
                    <a:solidFill>
                      <a:srgbClr val="000000"/>
                    </a:solidFill>
                  </a:rPr>
                  <a:t>f[</a:t>
                </a:r>
                <a:r>
                  <a:rPr lang="en-US" altLang="zh-CN" kern="0" dirty="0" err="1">
                    <a:solidFill>
                      <a:srgbClr val="000000"/>
                    </a:solidFill>
                  </a:rPr>
                  <a:t>i</a:t>
                </a:r>
                <a:r>
                  <a:rPr lang="en-US" altLang="zh-CN" kern="0" dirty="0">
                    <a:solidFill>
                      <a:srgbClr val="000000"/>
                    </a:solidFill>
                  </a:rPr>
                  <a:t>][j]</a:t>
                </a:r>
                <a:r>
                  <a:rPr lang="zh-CN" altLang="en-US" kern="0" dirty="0">
                    <a:solidFill>
                      <a:srgbClr val="000000"/>
                    </a:solidFill>
                  </a:rPr>
                  <a:t>时，只要保证</a:t>
                </a:r>
                <a:r>
                  <a:rPr lang="en-US" altLang="zh-CN" kern="0" dirty="0">
                    <a:solidFill>
                      <a:srgbClr val="000000"/>
                    </a:solidFill>
                  </a:rPr>
                  <a:t>f[i-1][j]</a:t>
                </a:r>
                <a:r>
                  <a:rPr lang="zh-CN" altLang="en-US" kern="0" dirty="0">
                    <a:solidFill>
                      <a:srgbClr val="000000"/>
                    </a:solidFill>
                  </a:rPr>
                  <a:t>和</a:t>
                </a:r>
                <a:r>
                  <a:rPr lang="en-US" altLang="zh-CN" kern="0" dirty="0">
                    <a:solidFill>
                      <a:srgbClr val="000000"/>
                    </a:solidFill>
                  </a:rPr>
                  <a:t>f[i-1][j-w[i-1]]</a:t>
                </a:r>
                <a:r>
                  <a:rPr lang="zh-CN" altLang="en-US" kern="0" dirty="0">
                    <a:solidFill>
                      <a:srgbClr val="000000"/>
                    </a:solidFill>
                  </a:rPr>
                  <a:t>的值有效即可</a:t>
                </a:r>
                <a:endParaRPr lang="en-US" altLang="zh-CN" kern="0" dirty="0">
                  <a:solidFill>
                    <a:srgbClr val="000000"/>
                  </a:solidFill>
                </a:endParaRPr>
              </a:p>
            </p:txBody>
          </p:sp>
        </mc:Choice>
        <mc:Fallback xmlns="">
          <p:sp>
            <p:nvSpPr>
              <p:cNvPr id="43" name="Rectangle 3"/>
              <p:cNvSpPr txBox="1">
                <a:spLocks noRot="1" noChangeAspect="1" noMove="1" noResize="1" noEditPoints="1" noAdjustHandles="1" noChangeArrowheads="1" noChangeShapeType="1" noTextEdit="1"/>
              </p:cNvSpPr>
              <p:nvPr/>
            </p:nvSpPr>
            <p:spPr bwMode="auto">
              <a:xfrm>
                <a:off x="1847851" y="981075"/>
                <a:ext cx="9656794" cy="2201677"/>
              </a:xfrm>
              <a:prstGeom prst="rect">
                <a:avLst/>
              </a:prstGeom>
              <a:blipFill rotWithShape="0">
                <a:blip r:embed="rId3"/>
                <a:stretch>
                  <a:fillRect l="-13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 name="矩形 7"/>
          <p:cNvSpPr/>
          <p:nvPr/>
        </p:nvSpPr>
        <p:spPr bwMode="auto">
          <a:xfrm>
            <a:off x="6191828" y="4249573"/>
            <a:ext cx="1635991"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strike="noStrike" cap="none" normalizeH="0" baseline="0" dirty="0">
                <a:ln>
                  <a:noFill/>
                </a:ln>
                <a:solidFill>
                  <a:schemeClr val="tx1"/>
                </a:solidFill>
                <a:effectLst/>
                <a:latin typeface="Arial" charset="0"/>
                <a:cs typeface="Arial" charset="0"/>
              </a:rPr>
              <a:t>f[</a:t>
            </a:r>
            <a:r>
              <a:rPr kumimoji="0" lang="en-US" altLang="zh-CN" sz="2000" b="0" i="0" strike="noStrike" cap="none" normalizeH="0" baseline="0" dirty="0" err="1">
                <a:ln>
                  <a:noFill/>
                </a:ln>
                <a:solidFill>
                  <a:schemeClr val="tx1"/>
                </a:solidFill>
                <a:effectLst/>
                <a:latin typeface="Arial" charset="0"/>
                <a:cs typeface="Arial" charset="0"/>
              </a:rPr>
              <a:t>i</a:t>
            </a:r>
            <a:r>
              <a:rPr kumimoji="0" lang="en-US" altLang="zh-CN" sz="2000" b="0" i="0" strike="noStrike" cap="none" normalizeH="0" baseline="0" dirty="0">
                <a:ln>
                  <a:noFill/>
                </a:ln>
                <a:solidFill>
                  <a:schemeClr val="tx1"/>
                </a:solidFill>
                <a:effectLst/>
                <a:latin typeface="Arial" charset="0"/>
                <a:cs typeface="Arial" charset="0"/>
              </a:rPr>
              <a:t>][j]</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9" name="矩形 8"/>
          <p:cNvSpPr/>
          <p:nvPr/>
        </p:nvSpPr>
        <p:spPr bwMode="auto">
          <a:xfrm>
            <a:off x="6191828" y="3516108"/>
            <a:ext cx="1635991"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strike="noStrike" cap="none" normalizeH="0" baseline="0" dirty="0">
                <a:ln>
                  <a:noFill/>
                </a:ln>
                <a:solidFill>
                  <a:schemeClr val="tx1"/>
                </a:solidFill>
                <a:effectLst/>
                <a:latin typeface="Arial" charset="0"/>
                <a:cs typeface="Arial" charset="0"/>
              </a:rPr>
              <a:t>f[i-1][j]</a:t>
            </a:r>
            <a:endParaRPr kumimoji="0" lang="zh-CN" altLang="en-US" sz="2000" b="0" i="0" strike="noStrike" cap="none" normalizeH="0" baseline="0" dirty="0">
              <a:ln>
                <a:noFill/>
              </a:ln>
              <a:solidFill>
                <a:schemeClr val="tx1"/>
              </a:solidFill>
              <a:effectLst/>
              <a:latin typeface="Arial" charset="0"/>
              <a:cs typeface="Arial" charset="0"/>
            </a:endParaRPr>
          </a:p>
        </p:txBody>
      </p:sp>
      <p:sp>
        <p:nvSpPr>
          <p:cNvPr id="10" name="矩形 9"/>
          <p:cNvSpPr/>
          <p:nvPr/>
        </p:nvSpPr>
        <p:spPr bwMode="auto">
          <a:xfrm>
            <a:off x="3453245" y="3516108"/>
            <a:ext cx="1635991" cy="400110"/>
          </a:xfrm>
          <a:prstGeom prst="rect">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000" b="0" i="0" strike="noStrike" cap="none" normalizeH="0" baseline="0" dirty="0">
                <a:ln>
                  <a:noFill/>
                </a:ln>
                <a:solidFill>
                  <a:schemeClr val="tx1"/>
                </a:solidFill>
                <a:effectLst/>
                <a:latin typeface="Arial" charset="0"/>
                <a:cs typeface="Arial" charset="0"/>
              </a:rPr>
              <a:t>f[i-1][j-w[i-1]]</a:t>
            </a:r>
            <a:endParaRPr kumimoji="0" lang="zh-CN" altLang="en-US" sz="2000" b="0" i="0" strike="noStrike" cap="none" normalizeH="0" baseline="0" dirty="0">
              <a:ln>
                <a:noFill/>
              </a:ln>
              <a:solidFill>
                <a:schemeClr val="tx1"/>
              </a:solidFill>
              <a:effectLst/>
              <a:latin typeface="Arial" charset="0"/>
              <a:cs typeface="Arial" charset="0"/>
            </a:endParaRPr>
          </a:p>
        </p:txBody>
      </p:sp>
      <p:cxnSp>
        <p:nvCxnSpPr>
          <p:cNvPr id="11" name="直接连接符 10"/>
          <p:cNvCxnSpPr>
            <a:stCxn id="8" idx="0"/>
            <a:endCxn id="9" idx="2"/>
          </p:cNvCxnSpPr>
          <p:nvPr/>
        </p:nvCxnSpPr>
        <p:spPr bwMode="auto">
          <a:xfrm flipV="1">
            <a:off x="7009824" y="3916218"/>
            <a:ext cx="0" cy="333355"/>
          </a:xfrm>
          <a:prstGeom prst="lin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cxnSp>
      <p:cxnSp>
        <p:nvCxnSpPr>
          <p:cNvPr id="14" name="直接连接符 13"/>
          <p:cNvCxnSpPr>
            <a:stCxn id="8" idx="0"/>
            <a:endCxn id="10" idx="2"/>
          </p:cNvCxnSpPr>
          <p:nvPr/>
        </p:nvCxnSpPr>
        <p:spPr bwMode="auto">
          <a:xfrm flipH="1" flipV="1">
            <a:off x="4271241" y="3916218"/>
            <a:ext cx="2738583" cy="333355"/>
          </a:xfrm>
          <a:prstGeom prst="line">
            <a:avLst/>
          </a:prstGeom>
          <a:noFill/>
          <a:ln cmpd="sng">
            <a:solidFill>
              <a:srgbClr val="FF0000"/>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cxnSp>
    </p:spTree>
    <p:extLst>
      <p:ext uri="{BB962C8B-B14F-4D97-AF65-F5344CB8AC3E}">
        <p14:creationId xmlns:p14="http://schemas.microsoft.com/office/powerpoint/2010/main" val="2816941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34</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r>
              <a:rPr lang="en-US" altLang="zh-CN" dirty="0"/>
              <a:t>– </a:t>
            </a:r>
            <a:r>
              <a:rPr lang="zh-CN" altLang="en-US" dirty="0"/>
              <a:t>递推实现空间优化</a:t>
            </a:r>
            <a:endParaRPr lang="en-US" altLang="zh-CN" dirty="0"/>
          </a:p>
        </p:txBody>
      </p:sp>
      <p:sp>
        <p:nvSpPr>
          <p:cNvPr id="22531" name="Rectangle 3"/>
          <p:cNvSpPr>
            <a:spLocks noGrp="1" noChangeArrowheads="1"/>
          </p:cNvSpPr>
          <p:nvPr>
            <p:ph type="body" idx="1"/>
          </p:nvPr>
        </p:nvSpPr>
        <p:spPr>
          <a:xfrm>
            <a:off x="1703389" y="757818"/>
            <a:ext cx="8785225" cy="6003199"/>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dp_knapsack</a:t>
            </a:r>
            <a:r>
              <a:rPr kumimoji="1" lang="en-US" altLang="zh-CN" sz="1800" dirty="0">
                <a:latin typeface="Garamond" panose="02020404030301010803" pitchFamily="18" charset="0"/>
              </a:rPr>
              <a:t>(</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w[],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v[],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W,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f[],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0; j &lt;= W; </a:t>
            </a:r>
            <a:r>
              <a:rPr kumimoji="1" lang="en-US" altLang="zh-CN" sz="1800" dirty="0" err="1">
                <a:latin typeface="Garamond" panose="02020404030301010803" pitchFamily="18" charset="0"/>
              </a:rPr>
              <a:t>j++</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f[j] = 0;</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1;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&lt;= n;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W; j &gt;= 0; ++j) {  // </a:t>
            </a:r>
            <a:r>
              <a:rPr kumimoji="1" lang="zh-CN" altLang="en-US" sz="1800" dirty="0">
                <a:latin typeface="Garamond" panose="02020404030301010803" pitchFamily="18" charset="0"/>
              </a:rPr>
              <a:t>从大到小枚举，保证</a:t>
            </a:r>
            <a:r>
              <a:rPr kumimoji="1" lang="en-US" altLang="zh-CN" sz="1800" dirty="0">
                <a:latin typeface="Garamond" panose="02020404030301010803" pitchFamily="18" charset="0"/>
              </a:rPr>
              <a:t>f[i-1][j-w[i-1]]</a:t>
            </a:r>
            <a:r>
              <a:rPr kumimoji="1" lang="zh-CN" altLang="en-US" sz="1800" dirty="0">
                <a:latin typeface="Garamond" panose="02020404030301010803" pitchFamily="18" charset="0"/>
              </a:rPr>
              <a:t>还未被改写</a:t>
            </a:r>
            <a:endParaRPr kumimoji="1" lang="en-US" altLang="zh-CN" sz="1800" dirty="0">
              <a:latin typeface="Garamond" panose="02020404030301010803" pitchFamily="18" charset="0"/>
            </a:endParaRPr>
          </a:p>
          <a:p>
            <a:pPr eaLnBrk="1" hangingPunct="1">
              <a:lnSpc>
                <a:spcPct val="140000"/>
              </a:lnSpc>
              <a:spcBef>
                <a:spcPct val="30000"/>
              </a:spcBef>
              <a:buNone/>
            </a:pPr>
            <a:r>
              <a:rPr kumimoji="1" lang="en-US" altLang="zh-CN" sz="1800" dirty="0">
                <a:latin typeface="Garamond" panose="02020404030301010803" pitchFamily="18" charset="0"/>
              </a:rPr>
              <a:t>	        if (j – w[i-1] &gt;= 0)</a:t>
            </a:r>
          </a:p>
          <a:p>
            <a:pPr eaLnBrk="1" hangingPunct="1">
              <a:lnSpc>
                <a:spcPct val="140000"/>
              </a:lnSpc>
              <a:spcBef>
                <a:spcPct val="30000"/>
              </a:spcBef>
              <a:buNone/>
            </a:pPr>
            <a:r>
              <a:rPr kumimoji="1" lang="en-US" altLang="zh-CN" sz="1800" dirty="0">
                <a:latin typeface="Garamond" panose="02020404030301010803" pitchFamily="18" charset="0"/>
              </a:rPr>
              <a:t>                  f[j] = max(f[[j], f[j-w[i-1]] + v[i-1]);</a:t>
            </a:r>
          </a:p>
          <a:p>
            <a:pPr eaLnBrk="1" hangingPunct="1">
              <a:lnSpc>
                <a:spcPct val="140000"/>
              </a:lnSpc>
              <a:spcBef>
                <a:spcPct val="30000"/>
              </a:spcBef>
              <a:buNone/>
            </a:pP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return f[W];</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3693603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35</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en-US" altLang="zh-CN" dirty="0"/>
              <a:t>0-1</a:t>
            </a:r>
            <a:r>
              <a:rPr lang="zh-CN" altLang="en-US" dirty="0"/>
              <a:t>背包问题</a:t>
            </a:r>
            <a:endParaRPr lang="en-US" altLang="zh-CN" dirty="0"/>
          </a:p>
        </p:txBody>
      </p:sp>
      <p:sp>
        <p:nvSpPr>
          <p:cNvPr id="43" name="Rectangle 3"/>
          <p:cNvSpPr txBox="1">
            <a:spLocks noChangeArrowheads="1"/>
          </p:cNvSpPr>
          <p:nvPr/>
        </p:nvSpPr>
        <p:spPr bwMode="auto">
          <a:xfrm>
            <a:off x="1847851" y="981076"/>
            <a:ext cx="9656794" cy="3895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35000"/>
              </a:lnSpc>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cs typeface="+mn-cs"/>
              </a:defRPr>
            </a:lvl1pPr>
            <a:lvl2pPr marL="742950" indent="-285750" algn="l" rtl="0" eaLnBrk="0" fontAlgn="base" hangingPunct="0">
              <a:lnSpc>
                <a:spcPct val="135000"/>
              </a:lnSpc>
              <a:spcBef>
                <a:spcPct val="20000"/>
              </a:spcBef>
              <a:spcAft>
                <a:spcPct val="0"/>
              </a:spcAft>
              <a:buSzPct val="85000"/>
              <a:buBlip>
                <a:blip r:embed="rId2"/>
              </a:buBlip>
              <a:defRPr sz="2400" b="1">
                <a:solidFill>
                  <a:schemeClr val="tx1"/>
                </a:solidFill>
                <a:latin typeface="+mn-lt"/>
                <a:ea typeface="+mn-ea"/>
                <a:cs typeface="+mn-cs"/>
              </a:defRPr>
            </a:lvl2pPr>
            <a:lvl3pPr marL="11430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3pPr>
            <a:lvl4pPr marL="1600200" indent="-228600" algn="l" rtl="0" eaLnBrk="0" fontAlgn="base" hangingPunct="0">
              <a:lnSpc>
                <a:spcPct val="135000"/>
              </a:lnSpc>
              <a:spcBef>
                <a:spcPct val="20000"/>
              </a:spcBef>
              <a:spcAft>
                <a:spcPct val="0"/>
              </a:spcAft>
              <a:buFont typeface="Times New Roman" panose="02020603050405020304" pitchFamily="18" charset="0"/>
              <a:buChar char="•"/>
              <a:defRPr sz="2000" b="1">
                <a:solidFill>
                  <a:schemeClr val="tx1"/>
                </a:solidFill>
                <a:latin typeface="+mn-lt"/>
                <a:ea typeface="+mn-ea"/>
                <a:cs typeface="+mn-cs"/>
              </a:defRPr>
            </a:lvl4pPr>
            <a:lvl5pPr marL="2057400" indent="-228600" algn="l" rtl="0" eaLnBrk="0" fontAlgn="base" hangingPunct="0">
              <a:lnSpc>
                <a:spcPct val="135000"/>
              </a:lnSpc>
              <a:spcBef>
                <a:spcPct val="20000"/>
              </a:spcBef>
              <a:spcAft>
                <a:spcPct val="0"/>
              </a:spcAft>
              <a:buChar char="»"/>
              <a:defRPr sz="2000" b="1">
                <a:solidFill>
                  <a:schemeClr val="tx1"/>
                </a:solidFill>
                <a:latin typeface="+mn-lt"/>
                <a:ea typeface="+mn-ea"/>
                <a:cs typeface="+mn-cs"/>
              </a:defRPr>
            </a:lvl5pPr>
            <a:lvl6pPr marL="2514600" indent="-228600" algn="l" rtl="0" fontAlgn="base">
              <a:lnSpc>
                <a:spcPct val="135000"/>
              </a:lnSpc>
              <a:spcBef>
                <a:spcPct val="20000"/>
              </a:spcBef>
              <a:spcAft>
                <a:spcPct val="0"/>
              </a:spcAft>
              <a:defRPr b="1">
                <a:solidFill>
                  <a:schemeClr val="tx1"/>
                </a:solidFill>
                <a:latin typeface="+mn-lt"/>
                <a:ea typeface="+mn-ea"/>
                <a:cs typeface="+mn-cs"/>
              </a:defRPr>
            </a:lvl6pPr>
            <a:lvl7pPr marL="2971800" indent="-228600" algn="l" rtl="0" fontAlgn="base">
              <a:lnSpc>
                <a:spcPct val="135000"/>
              </a:lnSpc>
              <a:spcBef>
                <a:spcPct val="20000"/>
              </a:spcBef>
              <a:spcAft>
                <a:spcPct val="0"/>
              </a:spcAft>
              <a:defRPr b="1">
                <a:solidFill>
                  <a:schemeClr val="tx1"/>
                </a:solidFill>
                <a:latin typeface="+mn-lt"/>
                <a:ea typeface="+mn-ea"/>
                <a:cs typeface="+mn-cs"/>
              </a:defRPr>
            </a:lvl7pPr>
            <a:lvl8pPr marL="3429000" indent="-228600" algn="l" rtl="0" fontAlgn="base">
              <a:lnSpc>
                <a:spcPct val="135000"/>
              </a:lnSpc>
              <a:spcBef>
                <a:spcPct val="20000"/>
              </a:spcBef>
              <a:spcAft>
                <a:spcPct val="0"/>
              </a:spcAft>
              <a:defRPr b="1">
                <a:solidFill>
                  <a:schemeClr val="tx1"/>
                </a:solidFill>
                <a:latin typeface="+mn-lt"/>
                <a:ea typeface="+mn-ea"/>
                <a:cs typeface="+mn-cs"/>
              </a:defRPr>
            </a:lvl8pPr>
            <a:lvl9pPr marL="3886200" indent="-228600" algn="l" rtl="0" fontAlgn="base">
              <a:lnSpc>
                <a:spcPct val="135000"/>
              </a:lnSpc>
              <a:spcBef>
                <a:spcPct val="20000"/>
              </a:spcBef>
              <a:spcAft>
                <a:spcPct val="0"/>
              </a:spcAft>
              <a:defRPr b="1">
                <a:solidFill>
                  <a:schemeClr val="tx1"/>
                </a:solidFill>
                <a:latin typeface="+mn-lt"/>
                <a:ea typeface="+mn-ea"/>
                <a:cs typeface="+mn-cs"/>
              </a:defRPr>
            </a:lvl9pPr>
          </a:lstStyle>
          <a:p>
            <a:pPr marL="469900" lvl="1" indent="-469900" eaLnBrk="1" hangingPunct="1">
              <a:lnSpc>
                <a:spcPct val="140000"/>
              </a:lnSpc>
              <a:spcBef>
                <a:spcPct val="30000"/>
              </a:spcBef>
              <a:buClr>
                <a:schemeClr val="accent2"/>
              </a:buClr>
              <a:buSzTx/>
              <a:buFont typeface="Wingdings" panose="05000000000000000000" pitchFamily="2" charset="2"/>
              <a:buChar char="Ø"/>
            </a:pPr>
            <a:r>
              <a:rPr lang="zh-CN" altLang="en-US" sz="3200" kern="0" dirty="0">
                <a:latin typeface="华文中宋" panose="02010600040101010101" pitchFamily="2" charset="-122"/>
                <a:ea typeface="华文中宋" panose="02010600040101010101" pitchFamily="2" charset="-122"/>
              </a:rPr>
              <a:t>背包问题的诸多变种 </a:t>
            </a:r>
          </a:p>
          <a:p>
            <a:pPr marL="908050" lvl="1" indent="-436563" eaLnBrk="1" hangingPunct="1">
              <a:lnSpc>
                <a:spcPct val="140000"/>
              </a:lnSpc>
              <a:spcBef>
                <a:spcPct val="30000"/>
              </a:spcBef>
            </a:pPr>
            <a:r>
              <a:rPr lang="zh-CN" altLang="en-US" sz="2800" kern="0" dirty="0">
                <a:solidFill>
                  <a:srgbClr val="000000"/>
                </a:solidFill>
              </a:rPr>
              <a:t>参考：崔添翼</a:t>
            </a:r>
            <a:r>
              <a:rPr lang="en-US" altLang="zh-CN" sz="2800" kern="0" dirty="0">
                <a:solidFill>
                  <a:srgbClr val="000000"/>
                </a:solidFill>
              </a:rPr>
              <a:t>《</a:t>
            </a:r>
            <a:r>
              <a:rPr lang="zh-CN" altLang="en-US" sz="2800" kern="0" dirty="0">
                <a:solidFill>
                  <a:srgbClr val="000000"/>
                </a:solidFill>
              </a:rPr>
              <a:t>背包九讲</a:t>
            </a:r>
            <a:r>
              <a:rPr lang="en-US" altLang="zh-CN" sz="2800" kern="0" dirty="0">
                <a:solidFill>
                  <a:srgbClr val="000000"/>
                </a:solidFill>
              </a:rPr>
              <a:t>》</a:t>
            </a:r>
          </a:p>
          <a:p>
            <a:pPr marL="1308100" lvl="2" indent="-436563" eaLnBrk="1" hangingPunct="1">
              <a:lnSpc>
                <a:spcPct val="140000"/>
              </a:lnSpc>
              <a:spcBef>
                <a:spcPct val="30000"/>
              </a:spcBef>
            </a:pPr>
            <a:r>
              <a:rPr lang="en-US" altLang="zh-CN" kern="0" dirty="0">
                <a:solidFill>
                  <a:srgbClr val="000000"/>
                </a:solidFill>
              </a:rPr>
              <a:t> http://love-oriented.com/pack/pack2alpha1.pdf</a:t>
            </a:r>
          </a:p>
          <a:p>
            <a:pPr marL="871537" lvl="2" indent="0" eaLnBrk="1" hangingPunct="1">
              <a:lnSpc>
                <a:spcPct val="140000"/>
              </a:lnSpc>
              <a:spcBef>
                <a:spcPct val="30000"/>
              </a:spcBef>
              <a:buNone/>
            </a:pPr>
            <a:endParaRPr lang="en-US" altLang="zh-CN" kern="0" dirty="0">
              <a:solidFill>
                <a:srgbClr val="000000"/>
              </a:solidFill>
            </a:endParaRPr>
          </a:p>
        </p:txBody>
      </p:sp>
    </p:spTree>
    <p:extLst>
      <p:ext uri="{BB962C8B-B14F-4D97-AF65-F5344CB8AC3E}">
        <p14:creationId xmlns:p14="http://schemas.microsoft.com/office/powerpoint/2010/main" val="1483981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36</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字符串编辑距离</a:t>
            </a:r>
            <a:endParaRPr lang="en-US" altLang="zh-CN" dirty="0"/>
          </a:p>
        </p:txBody>
      </p:sp>
      <p:sp>
        <p:nvSpPr>
          <p:cNvPr id="22531" name="Rectangle 3"/>
          <p:cNvSpPr>
            <a:spLocks noGrp="1" noChangeArrowheads="1"/>
          </p:cNvSpPr>
          <p:nvPr>
            <p:ph type="body" idx="1"/>
          </p:nvPr>
        </p:nvSpPr>
        <p:spPr>
          <a:xfrm>
            <a:off x="839754" y="979489"/>
            <a:ext cx="11001263" cy="4636220"/>
          </a:xfrm>
          <a:noFill/>
        </p:spPr>
        <p:txBody>
          <a:bodyPr/>
          <a:lstStyle/>
          <a:p>
            <a:pPr eaLnBrk="1" hangingPunct="1">
              <a:lnSpc>
                <a:spcPct val="140000"/>
              </a:lnSpc>
              <a:spcBef>
                <a:spcPct val="30000"/>
              </a:spcBef>
              <a:buNone/>
            </a:pPr>
            <a:r>
              <a:rPr kumimoji="1" lang="en-US" altLang="zh-CN" sz="2400" dirty="0">
                <a:latin typeface="Garamond" panose="02020404030301010803" pitchFamily="18" charset="0"/>
              </a:rPr>
              <a:t>[edit distance] </a:t>
            </a:r>
            <a:r>
              <a:rPr kumimoji="1" lang="zh-CN" altLang="en-US" sz="2400" dirty="0">
                <a:latin typeface="Garamond" panose="02020404030301010803" pitchFamily="18" charset="0"/>
              </a:rPr>
              <a:t>字符串的编辑距离，又称为</a:t>
            </a:r>
            <a:r>
              <a:rPr kumimoji="1" lang="en-US" altLang="zh-CN" sz="2400" dirty="0" err="1">
                <a:latin typeface="Garamond" panose="02020404030301010803" pitchFamily="18" charset="0"/>
              </a:rPr>
              <a:t>Levenshtein</a:t>
            </a:r>
            <a:r>
              <a:rPr kumimoji="1" lang="zh-CN" altLang="en-US" sz="2400" dirty="0">
                <a:latin typeface="Garamond" panose="02020404030301010803" pitchFamily="18" charset="0"/>
              </a:rPr>
              <a:t>距离，由俄罗斯的数学家</a:t>
            </a:r>
            <a:r>
              <a:rPr kumimoji="1" lang="en-US" altLang="zh-CN" sz="2400" dirty="0">
                <a:latin typeface="Garamond" panose="02020404030301010803" pitchFamily="18" charset="0"/>
              </a:rPr>
              <a:t>Vladimir </a:t>
            </a:r>
            <a:r>
              <a:rPr kumimoji="1" lang="en-US" altLang="zh-CN" sz="2400" dirty="0" err="1">
                <a:latin typeface="Garamond" panose="02020404030301010803" pitchFamily="18" charset="0"/>
              </a:rPr>
              <a:t>Levenshtein</a:t>
            </a:r>
            <a:r>
              <a:rPr kumimoji="1" lang="zh-CN" altLang="en-US" sz="2400" dirty="0">
                <a:latin typeface="Garamond" panose="02020404030301010803" pitchFamily="18" charset="0"/>
              </a:rPr>
              <a:t>在</a:t>
            </a:r>
            <a:r>
              <a:rPr kumimoji="1" lang="en-US" altLang="zh-CN" sz="2400" dirty="0">
                <a:latin typeface="Garamond" panose="02020404030301010803" pitchFamily="18" charset="0"/>
              </a:rPr>
              <a:t>1965</a:t>
            </a:r>
            <a:r>
              <a:rPr kumimoji="1" lang="zh-CN" altLang="en-US" sz="2400" dirty="0">
                <a:latin typeface="Garamond" panose="02020404030301010803" pitchFamily="18" charset="0"/>
              </a:rPr>
              <a:t>年提出。是指利用字符操作，把字符串</a:t>
            </a:r>
            <a:r>
              <a:rPr kumimoji="1" lang="en-US" altLang="zh-CN" sz="2400" dirty="0">
                <a:latin typeface="Garamond" panose="02020404030301010803" pitchFamily="18" charset="0"/>
              </a:rPr>
              <a:t>A</a:t>
            </a:r>
            <a:r>
              <a:rPr kumimoji="1" lang="zh-CN" altLang="en-US" sz="2400" dirty="0">
                <a:latin typeface="Garamond" panose="02020404030301010803" pitchFamily="18" charset="0"/>
              </a:rPr>
              <a:t>转换成字符串</a:t>
            </a:r>
            <a:r>
              <a:rPr kumimoji="1" lang="en-US" altLang="zh-CN" sz="2400" dirty="0">
                <a:latin typeface="Garamond" panose="02020404030301010803" pitchFamily="18" charset="0"/>
              </a:rPr>
              <a:t>B</a:t>
            </a:r>
            <a:r>
              <a:rPr kumimoji="1" lang="zh-CN" altLang="en-US" sz="2400" dirty="0">
                <a:latin typeface="Garamond" panose="02020404030301010803" pitchFamily="18" charset="0"/>
              </a:rPr>
              <a:t>所需要的最少操作数。其中，字符操作包括：</a:t>
            </a:r>
            <a:endParaRPr kumimoji="1" lang="en-US" altLang="zh-CN" sz="2400" dirty="0">
              <a:latin typeface="Garamond" panose="02020404030301010803" pitchFamily="18" charset="0"/>
            </a:endParaRPr>
          </a:p>
          <a:p>
            <a:pPr lvl="1" eaLnBrk="1" hangingPunct="1">
              <a:lnSpc>
                <a:spcPct val="140000"/>
              </a:lnSpc>
              <a:spcBef>
                <a:spcPct val="30000"/>
              </a:spcBef>
              <a:buFont typeface="Arial" panose="020B0604020202020204" pitchFamily="34" charset="0"/>
              <a:buChar char="•"/>
            </a:pPr>
            <a:r>
              <a:rPr kumimoji="1" lang="zh-CN" altLang="en-US" dirty="0">
                <a:latin typeface="Garamond" panose="02020404030301010803" pitchFamily="18" charset="0"/>
              </a:rPr>
              <a:t>删除一个字符     </a:t>
            </a:r>
            <a:r>
              <a:rPr kumimoji="1" lang="en-US" altLang="zh-CN" dirty="0">
                <a:latin typeface="Garamond" panose="02020404030301010803" pitchFamily="18" charset="0"/>
              </a:rPr>
              <a:t>e.g. </a:t>
            </a:r>
            <a:r>
              <a:rPr kumimoji="1" lang="en-US" altLang="zh-CN" dirty="0" err="1">
                <a:latin typeface="Garamond" panose="02020404030301010803" pitchFamily="18" charset="0"/>
              </a:rPr>
              <a:t>ab</a:t>
            </a:r>
            <a:r>
              <a:rPr kumimoji="1" lang="en-US" altLang="zh-CN" strike="sngStrike" dirty="0" err="1">
                <a:solidFill>
                  <a:srgbClr val="C00000"/>
                </a:solidFill>
                <a:latin typeface="Garamond" panose="02020404030301010803" pitchFamily="18" charset="0"/>
              </a:rPr>
              <a:t>c</a:t>
            </a:r>
            <a:r>
              <a:rPr kumimoji="1" lang="en-US" altLang="zh-CN" dirty="0" err="1">
                <a:latin typeface="Garamond" panose="02020404030301010803" pitchFamily="18" charset="0"/>
              </a:rPr>
              <a:t>d</a:t>
            </a:r>
            <a:r>
              <a:rPr kumimoji="1" lang="en-US" altLang="zh-CN" dirty="0">
                <a:latin typeface="Garamond" panose="02020404030301010803" pitchFamily="18" charset="0"/>
              </a:rPr>
              <a:t> </a:t>
            </a:r>
            <a:r>
              <a:rPr kumimoji="1" lang="en-US" altLang="zh-CN" dirty="0">
                <a:latin typeface="Garamond" panose="02020404030301010803" pitchFamily="18" charset="0"/>
                <a:sym typeface="Wingdings" panose="05000000000000000000" pitchFamily="2" charset="2"/>
              </a:rPr>
              <a:t> </a:t>
            </a:r>
            <a:r>
              <a:rPr kumimoji="1" lang="en-US" altLang="zh-CN" dirty="0" err="1">
                <a:latin typeface="Garamond" panose="02020404030301010803" pitchFamily="18" charset="0"/>
                <a:sym typeface="Wingdings" panose="05000000000000000000" pitchFamily="2" charset="2"/>
              </a:rPr>
              <a:t>abd</a:t>
            </a:r>
            <a:endParaRPr kumimoji="1" lang="en-US" altLang="zh-CN" dirty="0">
              <a:latin typeface="Garamond" panose="02020404030301010803" pitchFamily="18" charset="0"/>
            </a:endParaRPr>
          </a:p>
          <a:p>
            <a:pPr lvl="1" eaLnBrk="1" hangingPunct="1">
              <a:lnSpc>
                <a:spcPct val="140000"/>
              </a:lnSpc>
              <a:spcBef>
                <a:spcPct val="30000"/>
              </a:spcBef>
              <a:buFont typeface="Arial" panose="020B0604020202020204" pitchFamily="34" charset="0"/>
              <a:buChar char="•"/>
            </a:pPr>
            <a:r>
              <a:rPr kumimoji="1" lang="zh-CN" altLang="en-US" dirty="0">
                <a:latin typeface="Garamond" panose="02020404030301010803" pitchFamily="18" charset="0"/>
              </a:rPr>
              <a:t>插入一个字符     </a:t>
            </a:r>
            <a:r>
              <a:rPr kumimoji="1" lang="en-US" altLang="zh-CN" dirty="0">
                <a:latin typeface="Garamond" panose="02020404030301010803" pitchFamily="18" charset="0"/>
              </a:rPr>
              <a:t>e.g. </a:t>
            </a:r>
            <a:r>
              <a:rPr kumimoji="1" lang="en-US" altLang="zh-CN" dirty="0" err="1">
                <a:latin typeface="Garamond" panose="02020404030301010803" pitchFamily="18" charset="0"/>
              </a:rPr>
              <a:t>abd</a:t>
            </a:r>
            <a:r>
              <a:rPr kumimoji="1" lang="en-US" altLang="zh-CN" dirty="0">
                <a:latin typeface="Garamond" panose="02020404030301010803" pitchFamily="18" charset="0"/>
              </a:rPr>
              <a:t> </a:t>
            </a:r>
            <a:r>
              <a:rPr kumimoji="1" lang="en-US" altLang="zh-CN" dirty="0">
                <a:latin typeface="Garamond" panose="02020404030301010803" pitchFamily="18" charset="0"/>
                <a:sym typeface="Wingdings" panose="05000000000000000000" pitchFamily="2" charset="2"/>
              </a:rPr>
              <a:t> </a:t>
            </a:r>
            <a:r>
              <a:rPr kumimoji="1" lang="en-US" altLang="zh-CN" dirty="0" err="1">
                <a:latin typeface="Garamond" panose="02020404030301010803" pitchFamily="18" charset="0"/>
                <a:sym typeface="Wingdings" panose="05000000000000000000" pitchFamily="2" charset="2"/>
              </a:rPr>
              <a:t>ab</a:t>
            </a:r>
            <a:r>
              <a:rPr kumimoji="1" lang="en-US" altLang="zh-CN" dirty="0" err="1">
                <a:solidFill>
                  <a:srgbClr val="C00000"/>
                </a:solidFill>
                <a:latin typeface="Garamond" panose="02020404030301010803" pitchFamily="18" charset="0"/>
                <a:sym typeface="Wingdings" panose="05000000000000000000" pitchFamily="2" charset="2"/>
              </a:rPr>
              <a:t>c</a:t>
            </a:r>
            <a:r>
              <a:rPr kumimoji="1" lang="en-US" altLang="zh-CN" dirty="0" err="1">
                <a:latin typeface="Garamond" panose="02020404030301010803" pitchFamily="18" charset="0"/>
                <a:sym typeface="Wingdings" panose="05000000000000000000" pitchFamily="2" charset="2"/>
              </a:rPr>
              <a:t>d</a:t>
            </a:r>
            <a:endParaRPr kumimoji="1" lang="en-US" altLang="zh-CN" dirty="0">
              <a:latin typeface="Garamond" panose="02020404030301010803" pitchFamily="18" charset="0"/>
            </a:endParaRPr>
          </a:p>
          <a:p>
            <a:pPr lvl="1" eaLnBrk="1" hangingPunct="1">
              <a:lnSpc>
                <a:spcPct val="140000"/>
              </a:lnSpc>
              <a:spcBef>
                <a:spcPct val="30000"/>
              </a:spcBef>
              <a:buFont typeface="Arial" panose="020B0604020202020204" pitchFamily="34" charset="0"/>
              <a:buChar char="•"/>
            </a:pPr>
            <a:r>
              <a:rPr kumimoji="1" lang="zh-CN" altLang="en-US" dirty="0">
                <a:latin typeface="Garamond" panose="02020404030301010803" pitchFamily="18" charset="0"/>
              </a:rPr>
              <a:t>修改一个字符     </a:t>
            </a:r>
            <a:r>
              <a:rPr kumimoji="1" lang="en-US" altLang="zh-CN" dirty="0">
                <a:latin typeface="Garamond" panose="02020404030301010803" pitchFamily="18" charset="0"/>
              </a:rPr>
              <a:t>e.g. </a:t>
            </a:r>
            <a:r>
              <a:rPr kumimoji="1" lang="en-US" altLang="zh-CN" dirty="0" err="1">
                <a:latin typeface="Garamond" panose="02020404030301010803" pitchFamily="18" charset="0"/>
              </a:rPr>
              <a:t>ab</a:t>
            </a:r>
            <a:r>
              <a:rPr kumimoji="1" lang="en-US" altLang="zh-CN" dirty="0" err="1">
                <a:solidFill>
                  <a:srgbClr val="C00000"/>
                </a:solidFill>
                <a:latin typeface="Garamond" panose="02020404030301010803" pitchFamily="18" charset="0"/>
              </a:rPr>
              <a:t>c</a:t>
            </a:r>
            <a:r>
              <a:rPr kumimoji="1" lang="en-US" altLang="zh-CN" dirty="0" err="1">
                <a:latin typeface="Garamond" panose="02020404030301010803" pitchFamily="18" charset="0"/>
              </a:rPr>
              <a:t>d</a:t>
            </a:r>
            <a:r>
              <a:rPr kumimoji="1" lang="en-US" altLang="zh-CN" dirty="0">
                <a:latin typeface="Garamond" panose="02020404030301010803" pitchFamily="18" charset="0"/>
              </a:rPr>
              <a:t> </a:t>
            </a:r>
            <a:r>
              <a:rPr kumimoji="1" lang="en-US" altLang="zh-CN" dirty="0">
                <a:latin typeface="Garamond" panose="02020404030301010803" pitchFamily="18" charset="0"/>
                <a:sym typeface="Wingdings" panose="05000000000000000000" pitchFamily="2" charset="2"/>
              </a:rPr>
              <a:t> ab</a:t>
            </a:r>
            <a:r>
              <a:rPr kumimoji="1" lang="en-US" altLang="zh-CN" dirty="0">
                <a:solidFill>
                  <a:srgbClr val="C00000"/>
                </a:solidFill>
                <a:latin typeface="Garamond" panose="02020404030301010803" pitchFamily="18" charset="0"/>
                <a:sym typeface="Wingdings" panose="05000000000000000000" pitchFamily="2" charset="2"/>
              </a:rPr>
              <a:t>e</a:t>
            </a:r>
            <a:r>
              <a:rPr kumimoji="1" lang="en-US" altLang="zh-CN" dirty="0">
                <a:latin typeface="Garamond" panose="02020404030301010803" pitchFamily="18" charset="0"/>
                <a:sym typeface="Wingdings" panose="05000000000000000000" pitchFamily="2" charset="2"/>
              </a:rPr>
              <a:t>d</a:t>
            </a:r>
          </a:p>
          <a:p>
            <a:pPr marL="457200" lvl="1" indent="0" eaLnBrk="1" hangingPunct="1">
              <a:lnSpc>
                <a:spcPct val="140000"/>
              </a:lnSpc>
              <a:spcBef>
                <a:spcPct val="30000"/>
              </a:spcBef>
              <a:buNone/>
            </a:pPr>
            <a:r>
              <a:rPr kumimoji="1" lang="zh-CN" altLang="en-US" dirty="0">
                <a:latin typeface="Garamond" panose="02020404030301010803" pitchFamily="18" charset="0"/>
              </a:rPr>
              <a:t>问：给定两个字符串</a:t>
            </a:r>
            <a:r>
              <a:rPr kumimoji="1" lang="en-US" altLang="zh-CN" dirty="0">
                <a:latin typeface="Garamond" panose="02020404030301010803" pitchFamily="18" charset="0"/>
              </a:rPr>
              <a:t>A</a:t>
            </a:r>
            <a:r>
              <a:rPr kumimoji="1" lang="zh-CN" altLang="en-US" dirty="0">
                <a:latin typeface="Garamond" panose="02020404030301010803" pitchFamily="18" charset="0"/>
              </a:rPr>
              <a:t>和</a:t>
            </a:r>
            <a:r>
              <a:rPr kumimoji="1" lang="en-US" altLang="zh-CN" dirty="0">
                <a:latin typeface="Garamond" panose="02020404030301010803" pitchFamily="18" charset="0"/>
              </a:rPr>
              <a:t>B</a:t>
            </a:r>
            <a:r>
              <a:rPr kumimoji="1" lang="zh-CN" altLang="en-US" dirty="0">
                <a:latin typeface="Garamond" panose="02020404030301010803" pitchFamily="18" charset="0"/>
              </a:rPr>
              <a:t>，长度分别为</a:t>
            </a:r>
            <a:r>
              <a:rPr kumimoji="1" lang="en-US" altLang="zh-CN" dirty="0">
                <a:latin typeface="Garamond" panose="02020404030301010803" pitchFamily="18" charset="0"/>
              </a:rPr>
              <a:t>n</a:t>
            </a:r>
            <a:r>
              <a:rPr kumimoji="1" lang="zh-CN" altLang="en-US" dirty="0">
                <a:latin typeface="Garamond" panose="02020404030301010803" pitchFamily="18" charset="0"/>
              </a:rPr>
              <a:t>和</a:t>
            </a:r>
            <a:r>
              <a:rPr kumimoji="1" lang="en-US" altLang="zh-CN" dirty="0">
                <a:latin typeface="Garamond" panose="02020404030301010803" pitchFamily="18" charset="0"/>
              </a:rPr>
              <a:t>m</a:t>
            </a:r>
            <a:r>
              <a:rPr kumimoji="1" lang="zh-CN" altLang="en-US" dirty="0">
                <a:latin typeface="Garamond" panose="02020404030301010803" pitchFamily="18" charset="0"/>
              </a:rPr>
              <a:t>，求字符串</a:t>
            </a:r>
            <a:r>
              <a:rPr kumimoji="1" lang="en-US" altLang="zh-CN" dirty="0">
                <a:latin typeface="Garamond" panose="02020404030301010803" pitchFamily="18" charset="0"/>
              </a:rPr>
              <a:t>A</a:t>
            </a:r>
            <a:r>
              <a:rPr kumimoji="1" lang="zh-CN" altLang="en-US" dirty="0">
                <a:latin typeface="Garamond" panose="02020404030301010803" pitchFamily="18" charset="0"/>
              </a:rPr>
              <a:t>至少经过多少步字符操作变成字符串</a:t>
            </a:r>
            <a:r>
              <a:rPr kumimoji="1" lang="en-US" altLang="zh-CN" dirty="0">
                <a:latin typeface="Garamond" panose="02020404030301010803" pitchFamily="18" charset="0"/>
              </a:rPr>
              <a:t>B</a:t>
            </a:r>
            <a:r>
              <a:rPr kumimoji="1" lang="zh-CN" altLang="en-US" dirty="0">
                <a:latin typeface="Garamond" panose="02020404030301010803" pitchFamily="18" charset="0"/>
              </a:rPr>
              <a:t>。 </a:t>
            </a:r>
          </a:p>
          <a:p>
            <a:pPr eaLnBrk="1" hangingPunct="1">
              <a:lnSpc>
                <a:spcPct val="140000"/>
              </a:lnSpc>
              <a:spcBef>
                <a:spcPct val="30000"/>
              </a:spcBef>
              <a:buNone/>
            </a:pPr>
            <a:endParaRPr kumimoji="1" lang="en-US" altLang="zh-CN" sz="2400" dirty="0">
              <a:latin typeface="Garamond" panose="02020404030301010803" pitchFamily="18" charset="0"/>
            </a:endParaRPr>
          </a:p>
        </p:txBody>
      </p:sp>
    </p:spTree>
    <p:extLst>
      <p:ext uri="{BB962C8B-B14F-4D97-AF65-F5344CB8AC3E}">
        <p14:creationId xmlns:p14="http://schemas.microsoft.com/office/powerpoint/2010/main" val="1342517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37</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字符串编辑距离</a:t>
            </a:r>
          </a:p>
        </p:txBody>
      </p:sp>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zh-CN" altLang="en-US" dirty="0"/>
              <a:t>步骤：</a:t>
            </a:r>
            <a:endParaRPr lang="en-US" altLang="zh-CN" dirty="0"/>
          </a:p>
          <a:p>
            <a:pPr marL="869950" lvl="1" indent="-469900" eaLnBrk="1" hangingPunct="1">
              <a:lnSpc>
                <a:spcPct val="140000"/>
              </a:lnSpc>
              <a:spcBef>
                <a:spcPct val="30000"/>
              </a:spcBef>
            </a:pPr>
            <a:r>
              <a:rPr lang="zh-CN" altLang="en-US" sz="2400" dirty="0"/>
              <a:t>确定子问题</a:t>
            </a:r>
            <a:endParaRPr lang="en-US" altLang="zh-CN" sz="2400" dirty="0"/>
          </a:p>
          <a:p>
            <a:pPr marL="869950" lvl="1" indent="-469900" eaLnBrk="1" hangingPunct="1">
              <a:lnSpc>
                <a:spcPct val="140000"/>
              </a:lnSpc>
              <a:spcBef>
                <a:spcPct val="30000"/>
              </a:spcBef>
            </a:pPr>
            <a:r>
              <a:rPr lang="zh-CN" altLang="en-US" dirty="0"/>
              <a:t>子问题是否满足最优子结构性质？且无后效性？</a:t>
            </a:r>
            <a:endParaRPr lang="en-US" altLang="zh-CN" dirty="0"/>
          </a:p>
          <a:p>
            <a:pPr marL="869950" lvl="1" indent="-469900" eaLnBrk="1" hangingPunct="1">
              <a:lnSpc>
                <a:spcPct val="140000"/>
              </a:lnSpc>
              <a:spcBef>
                <a:spcPct val="30000"/>
              </a:spcBef>
            </a:pPr>
            <a:r>
              <a:rPr lang="zh-CN" altLang="en-US" dirty="0"/>
              <a:t>根据最优子结构性质写出状态转移方程</a:t>
            </a:r>
            <a:endParaRPr lang="en-US" altLang="zh-CN" dirty="0"/>
          </a:p>
          <a:p>
            <a:pPr marL="869950" lvl="1" indent="-469900" eaLnBrk="1" hangingPunct="1">
              <a:lnSpc>
                <a:spcPct val="140000"/>
              </a:lnSpc>
              <a:spcBef>
                <a:spcPct val="30000"/>
              </a:spcBef>
            </a:pPr>
            <a:r>
              <a:rPr lang="zh-CN" altLang="en-US" dirty="0"/>
              <a:t>子问题是否具有重叠性质？</a:t>
            </a:r>
            <a:endParaRPr lang="en-US" altLang="zh-CN" dirty="0"/>
          </a:p>
          <a:p>
            <a:pPr marL="869950" lvl="1" indent="-469900" eaLnBrk="1" hangingPunct="1">
              <a:lnSpc>
                <a:spcPct val="140000"/>
              </a:lnSpc>
              <a:spcBef>
                <a:spcPct val="30000"/>
              </a:spcBef>
            </a:pPr>
            <a:r>
              <a:rPr lang="zh-CN" altLang="en-US" sz="2400" dirty="0"/>
              <a:t>求解顺序？</a:t>
            </a:r>
            <a:endParaRPr lang="en-US" altLang="zh-CN" sz="2400" dirty="0"/>
          </a:p>
          <a:p>
            <a:pPr marL="869950" lvl="1" indent="-469900" eaLnBrk="1" hangingPunct="1">
              <a:lnSpc>
                <a:spcPct val="140000"/>
              </a:lnSpc>
              <a:spcBef>
                <a:spcPct val="30000"/>
              </a:spcBef>
            </a:pPr>
            <a:r>
              <a:rPr lang="zh-CN" altLang="en-US" dirty="0"/>
              <a:t>进一步优化时间、空间复杂度？</a:t>
            </a:r>
            <a:endParaRPr lang="zh-CN" altLang="en-US" sz="2400" dirty="0"/>
          </a:p>
        </p:txBody>
      </p:sp>
    </p:spTree>
    <p:extLst>
      <p:ext uri="{BB962C8B-B14F-4D97-AF65-F5344CB8AC3E}">
        <p14:creationId xmlns:p14="http://schemas.microsoft.com/office/powerpoint/2010/main" val="3558058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38</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字符串编辑距离</a:t>
            </a:r>
          </a:p>
        </p:txBody>
      </p:sp>
      <mc:AlternateContent xmlns:mc="http://schemas.openxmlformats.org/markup-compatibility/2006" xmlns:a14="http://schemas.microsoft.com/office/drawing/2010/main">
        <mc:Choice Requires="a14">
          <p:sp>
            <p:nvSpPr>
              <p:cNvPr id="31747" name="Rectangle 3"/>
              <p:cNvSpPr>
                <a:spLocks noGrp="1" noChangeArrowheads="1"/>
              </p:cNvSpPr>
              <p:nvPr>
                <p:ph type="body" idx="1"/>
              </p:nvPr>
            </p:nvSpPr>
            <p:spPr>
              <a:xfrm>
                <a:off x="1847851" y="981076"/>
                <a:ext cx="10067058" cy="5256213"/>
              </a:xfrm>
            </p:spPr>
            <p:txBody>
              <a:bodyPr/>
              <a:lstStyle/>
              <a:p>
                <a:pPr marL="469900" indent="-469900" eaLnBrk="1" hangingPunct="1">
                  <a:lnSpc>
                    <a:spcPct val="140000"/>
                  </a:lnSpc>
                  <a:spcBef>
                    <a:spcPct val="30000"/>
                  </a:spcBef>
                </a:pPr>
                <a:r>
                  <a:rPr lang="zh-CN" altLang="en-US" dirty="0"/>
                  <a:t>子问题</a:t>
                </a:r>
                <a:endParaRPr lang="en-US" altLang="zh-CN" dirty="0"/>
              </a:p>
              <a:p>
                <a:pPr marL="869950" lvl="1" indent="-469900" eaLnBrk="1" hangingPunct="1">
                  <a:lnSpc>
                    <a:spcPct val="140000"/>
                  </a:lnSpc>
                  <a:spcBef>
                    <a:spcPct val="30000"/>
                  </a:spcBef>
                </a:pPr>
                <a:r>
                  <a:rPr lang="en-US" altLang="zh-CN" sz="2000" dirty="0"/>
                  <a:t>f[</a:t>
                </a:r>
                <a:r>
                  <a:rPr lang="en-US" altLang="zh-CN" sz="2000" dirty="0" err="1"/>
                  <a:t>i</a:t>
                </a:r>
                <a:r>
                  <a:rPr lang="en-US" altLang="zh-CN" sz="2000" dirty="0"/>
                  <a:t>][j]</a:t>
                </a:r>
                <a:r>
                  <a:rPr lang="zh-CN" altLang="en-US" sz="2000" dirty="0"/>
                  <a:t>表示：字符串</a:t>
                </a:r>
                <a:r>
                  <a:rPr lang="en-US" altLang="zh-CN" sz="2000" dirty="0"/>
                  <a:t>A[0, …, i-1]</a:t>
                </a:r>
                <a:r>
                  <a:rPr lang="zh-CN" altLang="en-US" sz="2000" dirty="0"/>
                  <a:t>与字符串</a:t>
                </a:r>
                <a:r>
                  <a:rPr lang="en-US" altLang="zh-CN" sz="2000" dirty="0"/>
                  <a:t>B[0, …, j-1]</a:t>
                </a:r>
                <a:r>
                  <a:rPr lang="zh-CN" altLang="en-US" sz="2000" dirty="0"/>
                  <a:t>之间的编辑距离</a:t>
                </a:r>
                <a:endParaRPr lang="en-US" altLang="zh-CN" sz="2000" dirty="0"/>
              </a:p>
              <a:p>
                <a:pPr marL="469900" indent="-469900" eaLnBrk="1" hangingPunct="1">
                  <a:lnSpc>
                    <a:spcPct val="140000"/>
                  </a:lnSpc>
                  <a:spcBef>
                    <a:spcPct val="30000"/>
                  </a:spcBef>
                </a:pPr>
                <a:r>
                  <a:rPr lang="zh-CN" altLang="en-US" dirty="0"/>
                  <a:t>原问题</a:t>
                </a:r>
                <a:endParaRPr lang="en-US" altLang="zh-CN" dirty="0"/>
              </a:p>
              <a:p>
                <a:pPr marL="869950" lvl="1" indent="-469900" eaLnBrk="1" hangingPunct="1">
                  <a:lnSpc>
                    <a:spcPct val="140000"/>
                  </a:lnSpc>
                  <a:spcBef>
                    <a:spcPct val="30000"/>
                  </a:spcBef>
                </a:pPr>
                <a:r>
                  <a:rPr lang="en-US" altLang="zh-CN" sz="2000" dirty="0"/>
                  <a:t>f[n][m]</a:t>
                </a:r>
              </a:p>
              <a:p>
                <a:pPr marL="469900" indent="-469900" eaLnBrk="1" hangingPunct="1">
                  <a:lnSpc>
                    <a:spcPct val="140000"/>
                  </a:lnSpc>
                  <a:spcBef>
                    <a:spcPct val="30000"/>
                  </a:spcBef>
                </a:pPr>
                <a:r>
                  <a:rPr lang="zh-CN" altLang="en-US" dirty="0"/>
                  <a:t>状态转移方程</a:t>
                </a:r>
                <a:endParaRPr lang="en-US" altLang="zh-CN" dirty="0"/>
              </a:p>
              <a:p>
                <a:pPr marL="869950" lvl="1" indent="-469900" eaLnBrk="1" hangingPunct="1">
                  <a:lnSpc>
                    <a:spcPct val="140000"/>
                  </a:lnSpc>
                  <a:spcBef>
                    <a:spcPct val="30000"/>
                  </a:spcBef>
                </a:pPr>
                <a14:m>
                  <m:oMath xmlns:m="http://schemas.openxmlformats.org/officeDocument/2006/math">
                    <m:r>
                      <a:rPr lang="en-US" altLang="zh-CN" sz="1800" b="1" i="1" dirty="0">
                        <a:latin typeface="Cambria Math" panose="02040503050406030204" pitchFamily="18" charset="0"/>
                      </a:rPr>
                      <m:t>𝐟</m:t>
                    </m:r>
                    <m:r>
                      <a:rPr lang="en-US" altLang="zh-CN" sz="1800" b="1" dirty="0">
                        <a:latin typeface="Cambria Math" panose="02040503050406030204" pitchFamily="18" charset="0"/>
                      </a:rPr>
                      <m:t>[</m:t>
                    </m:r>
                    <m:r>
                      <a:rPr lang="en-US" altLang="zh-CN" sz="1800" b="1" i="1" dirty="0" err="1">
                        <a:latin typeface="Cambria Math" panose="02040503050406030204" pitchFamily="18" charset="0"/>
                      </a:rPr>
                      <m:t>𝐢</m:t>
                    </m:r>
                    <m:r>
                      <a:rPr lang="en-US" altLang="zh-CN" sz="1800" b="1" dirty="0">
                        <a:latin typeface="Cambria Math" panose="02040503050406030204" pitchFamily="18" charset="0"/>
                      </a:rPr>
                      <m:t>][</m:t>
                    </m:r>
                    <m:r>
                      <a:rPr lang="en-US" altLang="zh-CN" sz="1800" b="1" i="1" dirty="0">
                        <a:latin typeface="Cambria Math" panose="02040503050406030204" pitchFamily="18" charset="0"/>
                      </a:rPr>
                      <m:t>𝐣</m:t>
                    </m:r>
                    <m:r>
                      <a:rPr lang="en-US" altLang="zh-CN" sz="1800" b="1" dirty="0">
                        <a:latin typeface="Cambria Math" panose="02040503050406030204" pitchFamily="18" charset="0"/>
                      </a:rPr>
                      <m:t>] = </m:t>
                    </m:r>
                    <m:d>
                      <m:dPr>
                        <m:begChr m:val="{"/>
                        <m:endChr m:val=""/>
                        <m:ctrlPr>
                          <a:rPr lang="en-US" altLang="zh-CN" sz="1800" i="1">
                            <a:latin typeface="Cambria Math" panose="02040503050406030204" pitchFamily="18" charset="0"/>
                          </a:rPr>
                        </m:ctrlPr>
                      </m:dPr>
                      <m:e>
                        <m:eqArr>
                          <m:eqArrPr>
                            <m:ctrlPr>
                              <a:rPr lang="en-US" altLang="zh-CN" sz="1800" i="1">
                                <a:latin typeface="Cambria Math" panose="02040503050406030204" pitchFamily="18" charset="0"/>
                              </a:rPr>
                            </m:ctrlPr>
                          </m:eqArrPr>
                          <m:e>
                            <m:r>
                              <a:rPr lang="en-US" altLang="zh-CN" sz="1800">
                                <a:latin typeface="Cambria Math" panose="02040503050406030204" pitchFamily="18" charset="0"/>
                              </a:rPr>
                              <m:t>𝐟</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𝐢</m:t>
                                </m:r>
                                <m:r>
                                  <a:rPr lang="en-US" altLang="zh-CN" sz="1800">
                                    <a:latin typeface="Cambria Math" panose="02040503050406030204" pitchFamily="18" charset="0"/>
                                  </a:rPr>
                                  <m:t>−</m:t>
                                </m:r>
                                <m:r>
                                  <a:rPr lang="en-US" altLang="zh-CN" sz="1800">
                                    <a:latin typeface="Cambria Math" panose="02040503050406030204" pitchFamily="18" charset="0"/>
                                  </a:rPr>
                                  <m:t>𝟏</m:t>
                                </m:r>
                              </m:e>
                            </m:d>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𝐣</m:t>
                                </m:r>
                                <m:r>
                                  <a:rPr lang="en-US" altLang="zh-CN" sz="1800">
                                    <a:latin typeface="Cambria Math" panose="02040503050406030204" pitchFamily="18" charset="0"/>
                                  </a:rPr>
                                  <m:t>−</m:t>
                                </m:r>
                                <m:r>
                                  <a:rPr lang="en-US" altLang="zh-CN" sz="1800">
                                    <a:latin typeface="Cambria Math" panose="02040503050406030204" pitchFamily="18" charset="0"/>
                                  </a:rPr>
                                  <m:t>𝟏</m:t>
                                </m:r>
                              </m:e>
                            </m:d>
                            <m:r>
                              <a:rPr lang="en-US" altLang="zh-CN" sz="1800">
                                <a:latin typeface="Cambria Math" panose="02040503050406030204" pitchFamily="18" charset="0"/>
                              </a:rPr>
                              <m:t>,                                                                                 </m:t>
                            </m:r>
                            <m:r>
                              <a:rPr lang="en-US" altLang="zh-CN" sz="1800">
                                <a:latin typeface="Cambria Math" panose="02040503050406030204" pitchFamily="18" charset="0"/>
                              </a:rPr>
                              <m:t>𝐢𝐟</m:t>
                            </m:r>
                            <m:r>
                              <a:rPr lang="en-US" altLang="zh-CN" sz="1800">
                                <a:latin typeface="Cambria Math" panose="02040503050406030204" pitchFamily="18" charset="0"/>
                              </a:rPr>
                              <m:t> </m:t>
                            </m:r>
                            <m:r>
                              <a:rPr lang="en-US" altLang="zh-CN" sz="1800">
                                <a:latin typeface="Cambria Math" panose="02040503050406030204" pitchFamily="18" charset="0"/>
                              </a:rPr>
                              <m:t>𝐀</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𝐢</m:t>
                                </m:r>
                                <m:r>
                                  <a:rPr lang="en-US" altLang="zh-CN" sz="1800" b="1" i="0" smtClean="0">
                                    <a:latin typeface="Cambria Math" panose="02040503050406030204" pitchFamily="18" charset="0"/>
                                  </a:rPr>
                                  <m:t>−</m:t>
                                </m:r>
                                <m:r>
                                  <a:rPr lang="en-US" altLang="zh-CN" sz="1800" b="1" i="0" smtClean="0">
                                    <a:latin typeface="Cambria Math" panose="02040503050406030204" pitchFamily="18" charset="0"/>
                                  </a:rPr>
                                  <m:t>𝟏</m:t>
                                </m:r>
                              </m:e>
                            </m:d>
                            <m:r>
                              <a:rPr lang="en-US" altLang="zh-CN" sz="1800">
                                <a:latin typeface="Cambria Math" panose="02040503050406030204" pitchFamily="18" charset="0"/>
                              </a:rPr>
                              <m:t>==</m:t>
                            </m:r>
                            <m:r>
                              <a:rPr lang="en-US" altLang="zh-CN" sz="1800">
                                <a:latin typeface="Cambria Math" panose="02040503050406030204" pitchFamily="18" charset="0"/>
                              </a:rPr>
                              <m:t>𝐁</m:t>
                            </m:r>
                            <m:r>
                              <a:rPr lang="en-US" altLang="zh-CN" sz="1800">
                                <a:latin typeface="Cambria Math" panose="02040503050406030204" pitchFamily="18" charset="0"/>
                              </a:rPr>
                              <m:t>[</m:t>
                            </m:r>
                            <m:r>
                              <a:rPr lang="en-US" altLang="zh-CN" sz="1800">
                                <a:latin typeface="Cambria Math" panose="02040503050406030204" pitchFamily="18" charset="0"/>
                              </a:rPr>
                              <m:t>𝐣</m:t>
                            </m:r>
                            <m:r>
                              <a:rPr lang="en-US" altLang="zh-CN" sz="1800" b="1" i="0" smtClean="0">
                                <a:latin typeface="Cambria Math" panose="02040503050406030204" pitchFamily="18" charset="0"/>
                              </a:rPr>
                              <m:t>−</m:t>
                            </m:r>
                            <m:r>
                              <a:rPr lang="en-US" altLang="zh-CN" sz="1800" b="1" i="0" smtClean="0">
                                <a:latin typeface="Cambria Math" panose="02040503050406030204" pitchFamily="18" charset="0"/>
                              </a:rPr>
                              <m:t>𝟏</m:t>
                            </m:r>
                            <m:r>
                              <a:rPr lang="en-US" altLang="zh-CN" sz="1800">
                                <a:latin typeface="Cambria Math" panose="02040503050406030204" pitchFamily="18" charset="0"/>
                              </a:rPr>
                              <m:t>]</m:t>
                            </m:r>
                          </m:e>
                          <m:e>
                            <m:r>
                              <a:rPr lang="en-US" altLang="zh-CN" sz="1800">
                                <a:latin typeface="Cambria Math" panose="02040503050406030204" pitchFamily="18" charset="0"/>
                              </a:rPr>
                              <m:t>𝐌</m:t>
                            </m:r>
                            <m:r>
                              <a:rPr lang="en-US" altLang="zh-CN" sz="1800" b="1" i="0" smtClean="0">
                                <a:latin typeface="Cambria Math" panose="02040503050406030204" pitchFamily="18" charset="0"/>
                              </a:rPr>
                              <m:t>𝐈𝐍</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𝐟</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𝐢</m:t>
                                    </m:r>
                                  </m:e>
                                </m:d>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𝐣</m:t>
                                    </m:r>
                                    <m:r>
                                      <a:rPr lang="en-US" altLang="zh-CN" sz="1800">
                                        <a:latin typeface="Cambria Math" panose="02040503050406030204" pitchFamily="18" charset="0"/>
                                      </a:rPr>
                                      <m:t>−</m:t>
                                    </m:r>
                                    <m:r>
                                      <a:rPr lang="en-US" altLang="zh-CN" sz="1800">
                                        <a:latin typeface="Cambria Math" panose="02040503050406030204" pitchFamily="18" charset="0"/>
                                      </a:rPr>
                                      <m:t>𝟏</m:t>
                                    </m:r>
                                  </m:e>
                                </m:d>
                                <m:r>
                                  <a:rPr lang="en-US" altLang="zh-CN" sz="1800">
                                    <a:latin typeface="Cambria Math" panose="02040503050406030204" pitchFamily="18" charset="0"/>
                                  </a:rPr>
                                  <m:t>+</m:t>
                                </m:r>
                                <m:r>
                                  <a:rPr lang="en-US" altLang="zh-CN" sz="1800">
                                    <a:latin typeface="Cambria Math" panose="02040503050406030204" pitchFamily="18" charset="0"/>
                                  </a:rPr>
                                  <m:t>𝟏</m:t>
                                </m:r>
                                <m:r>
                                  <a:rPr lang="en-US" altLang="zh-CN" sz="1800">
                                    <a:latin typeface="Cambria Math" panose="02040503050406030204" pitchFamily="18" charset="0"/>
                                  </a:rPr>
                                  <m:t>,</m:t>
                                </m:r>
                                <m:r>
                                  <a:rPr lang="en-US" altLang="zh-CN" sz="1800">
                                    <a:latin typeface="Cambria Math" panose="02040503050406030204" pitchFamily="18" charset="0"/>
                                  </a:rPr>
                                  <m:t>𝐟</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𝐢</m:t>
                                    </m:r>
                                    <m:r>
                                      <a:rPr lang="en-US" altLang="zh-CN" sz="1800">
                                        <a:latin typeface="Cambria Math" panose="02040503050406030204" pitchFamily="18" charset="0"/>
                                      </a:rPr>
                                      <m:t>−</m:t>
                                    </m:r>
                                    <m:r>
                                      <a:rPr lang="en-US" altLang="zh-CN" sz="1800">
                                        <a:latin typeface="Cambria Math" panose="02040503050406030204" pitchFamily="18" charset="0"/>
                                      </a:rPr>
                                      <m:t>𝟏</m:t>
                                    </m:r>
                                  </m:e>
                                </m:d>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𝐣</m:t>
                                    </m:r>
                                  </m:e>
                                </m:d>
                                <m:r>
                                  <a:rPr lang="en-US" altLang="zh-CN" sz="1800">
                                    <a:latin typeface="Cambria Math" panose="02040503050406030204" pitchFamily="18" charset="0"/>
                                  </a:rPr>
                                  <m:t>+</m:t>
                                </m:r>
                                <m:r>
                                  <a:rPr lang="en-US" altLang="zh-CN" sz="1800">
                                    <a:latin typeface="Cambria Math" panose="02040503050406030204" pitchFamily="18" charset="0"/>
                                  </a:rPr>
                                  <m:t>𝟏</m:t>
                                </m:r>
                                <m:r>
                                  <a:rPr lang="en-US" altLang="zh-CN" sz="1800">
                                    <a:latin typeface="Cambria Math" panose="02040503050406030204" pitchFamily="18" charset="0"/>
                                  </a:rPr>
                                  <m:t>,</m:t>
                                </m:r>
                                <m:r>
                                  <a:rPr lang="en-US" altLang="zh-CN" sz="1800">
                                    <a:latin typeface="Cambria Math" panose="02040503050406030204" pitchFamily="18" charset="0"/>
                                  </a:rPr>
                                  <m:t>𝐟</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𝐢</m:t>
                                    </m:r>
                                    <m:r>
                                      <a:rPr lang="en-US" altLang="zh-CN" sz="1800">
                                        <a:latin typeface="Cambria Math" panose="02040503050406030204" pitchFamily="18" charset="0"/>
                                      </a:rPr>
                                      <m:t>−</m:t>
                                    </m:r>
                                    <m:r>
                                      <a:rPr lang="en-US" altLang="zh-CN" sz="1800">
                                        <a:latin typeface="Cambria Math" panose="02040503050406030204" pitchFamily="18" charset="0"/>
                                      </a:rPr>
                                      <m:t>𝟏</m:t>
                                    </m:r>
                                  </m:e>
                                </m:d>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𝐣</m:t>
                                    </m:r>
                                    <m:r>
                                      <a:rPr lang="en-US" altLang="zh-CN" sz="1800">
                                        <a:latin typeface="Cambria Math" panose="02040503050406030204" pitchFamily="18" charset="0"/>
                                      </a:rPr>
                                      <m:t>−</m:t>
                                    </m:r>
                                    <m:r>
                                      <a:rPr lang="en-US" altLang="zh-CN" sz="1800">
                                        <a:latin typeface="Cambria Math" panose="02040503050406030204" pitchFamily="18" charset="0"/>
                                      </a:rPr>
                                      <m:t>𝟏</m:t>
                                    </m:r>
                                  </m:e>
                                </m:d>
                                <m:r>
                                  <a:rPr lang="en-US" altLang="zh-CN" sz="1800">
                                    <a:latin typeface="Cambria Math" panose="02040503050406030204" pitchFamily="18" charset="0"/>
                                  </a:rPr>
                                  <m:t>+</m:t>
                                </m:r>
                                <m:r>
                                  <a:rPr lang="en-US" altLang="zh-CN" sz="1800">
                                    <a:latin typeface="Cambria Math" panose="02040503050406030204" pitchFamily="18" charset="0"/>
                                  </a:rPr>
                                  <m:t>𝟏</m:t>
                                </m:r>
                              </m:e>
                            </m:d>
                            <m:r>
                              <a:rPr lang="en-US" altLang="zh-CN" sz="1800">
                                <a:latin typeface="Cambria Math" panose="02040503050406030204" pitchFamily="18" charset="0"/>
                              </a:rPr>
                              <m:t>,  </m:t>
                            </m:r>
                            <m:r>
                              <a:rPr lang="en-US" altLang="zh-CN" sz="1800">
                                <a:latin typeface="Cambria Math" panose="02040503050406030204" pitchFamily="18" charset="0"/>
                              </a:rPr>
                              <m:t>𝐢𝐟</m:t>
                            </m:r>
                            <m:r>
                              <a:rPr lang="en-US" altLang="zh-CN" sz="1800">
                                <a:latin typeface="Cambria Math" panose="02040503050406030204" pitchFamily="18" charset="0"/>
                              </a:rPr>
                              <m:t> </m:t>
                            </m:r>
                            <m:r>
                              <a:rPr lang="en-US" altLang="zh-CN" sz="1800">
                                <a:latin typeface="Cambria Math" panose="02040503050406030204" pitchFamily="18" charset="0"/>
                              </a:rPr>
                              <m:t>𝐀</m:t>
                            </m:r>
                            <m:d>
                              <m:dPr>
                                <m:begChr m:val="["/>
                                <m:endChr m:val="]"/>
                                <m:ctrlPr>
                                  <a:rPr lang="en-US" altLang="zh-CN" sz="1800" i="1">
                                    <a:latin typeface="Cambria Math" panose="02040503050406030204" pitchFamily="18" charset="0"/>
                                  </a:rPr>
                                </m:ctrlPr>
                              </m:dPr>
                              <m:e>
                                <m:r>
                                  <a:rPr lang="en-US" altLang="zh-CN" sz="1800">
                                    <a:latin typeface="Cambria Math" panose="02040503050406030204" pitchFamily="18" charset="0"/>
                                  </a:rPr>
                                  <m:t>𝐢</m:t>
                                </m:r>
                                <m:r>
                                  <a:rPr lang="en-US" altLang="zh-CN" sz="1800" b="1" i="0" smtClean="0">
                                    <a:latin typeface="Cambria Math" panose="02040503050406030204" pitchFamily="18" charset="0"/>
                                  </a:rPr>
                                  <m:t>−</m:t>
                                </m:r>
                                <m:r>
                                  <a:rPr lang="en-US" altLang="zh-CN" sz="1800" b="1" i="0" smtClean="0">
                                    <a:latin typeface="Cambria Math" panose="02040503050406030204" pitchFamily="18" charset="0"/>
                                  </a:rPr>
                                  <m:t>𝟏</m:t>
                                </m:r>
                              </m:e>
                            </m:d>
                            <m:r>
                              <a:rPr lang="en-US" altLang="zh-CN" sz="1800">
                                <a:latin typeface="Cambria Math" panose="02040503050406030204" pitchFamily="18" charset="0"/>
                              </a:rPr>
                              <m:t> !=</m:t>
                            </m:r>
                            <m:r>
                              <a:rPr lang="en-US" altLang="zh-CN" sz="1800">
                                <a:latin typeface="Cambria Math" panose="02040503050406030204" pitchFamily="18" charset="0"/>
                              </a:rPr>
                              <m:t>𝐁</m:t>
                            </m:r>
                            <m:r>
                              <a:rPr lang="en-US" altLang="zh-CN" sz="1800">
                                <a:latin typeface="Cambria Math" panose="02040503050406030204" pitchFamily="18" charset="0"/>
                              </a:rPr>
                              <m:t>[</m:t>
                            </m:r>
                            <m:r>
                              <a:rPr lang="en-US" altLang="zh-CN" sz="1800">
                                <a:latin typeface="Cambria Math" panose="02040503050406030204" pitchFamily="18" charset="0"/>
                              </a:rPr>
                              <m:t>𝐣</m:t>
                            </m:r>
                            <m:r>
                              <a:rPr lang="en-US" altLang="zh-CN" sz="1800" b="1" i="0" smtClean="0">
                                <a:latin typeface="Cambria Math" panose="02040503050406030204" pitchFamily="18" charset="0"/>
                              </a:rPr>
                              <m:t>−</m:t>
                            </m:r>
                            <m:r>
                              <a:rPr lang="en-US" altLang="zh-CN" sz="1800" b="1" i="0" smtClean="0">
                                <a:latin typeface="Cambria Math" panose="02040503050406030204" pitchFamily="18" charset="0"/>
                              </a:rPr>
                              <m:t>𝟏</m:t>
                            </m:r>
                            <m:r>
                              <a:rPr lang="en-US" altLang="zh-CN" sz="1800">
                                <a:latin typeface="Cambria Math" panose="02040503050406030204" pitchFamily="18" charset="0"/>
                              </a:rPr>
                              <m:t>]</m:t>
                            </m:r>
                          </m:e>
                        </m:eqArr>
                      </m:e>
                    </m:d>
                  </m:oMath>
                </a14:m>
                <a:endParaRPr lang="en-US" altLang="zh-CN" sz="1800" dirty="0">
                  <a:latin typeface="Cambria Math" panose="02040503050406030204" pitchFamily="18" charset="0"/>
                </a:endParaRPr>
              </a:p>
              <a:p>
                <a:pPr marL="869950" lvl="1" indent="-469900" eaLnBrk="1" hangingPunct="1">
                  <a:lnSpc>
                    <a:spcPct val="140000"/>
                  </a:lnSpc>
                  <a:spcBef>
                    <a:spcPct val="30000"/>
                  </a:spcBef>
                </a:pPr>
                <a:endParaRPr lang="en-US" altLang="zh-CN" dirty="0"/>
              </a:p>
              <a:p>
                <a:pPr marL="869950" lvl="1" indent="-469900" eaLnBrk="1" hangingPunct="1">
                  <a:lnSpc>
                    <a:spcPct val="140000"/>
                  </a:lnSpc>
                  <a:spcBef>
                    <a:spcPct val="30000"/>
                  </a:spcBef>
                </a:pPr>
                <a:endParaRPr lang="zh-CN" altLang="en-US" sz="2000" dirty="0"/>
              </a:p>
            </p:txBody>
          </p:sp>
        </mc:Choice>
        <mc:Fallback xmlns="">
          <p:sp>
            <p:nvSpPr>
              <p:cNvPr id="31747" name="Rectangle 3"/>
              <p:cNvSpPr>
                <a:spLocks noGrp="1" noRot="1" noChangeAspect="1" noMove="1" noResize="1" noEditPoints="1" noAdjustHandles="1" noChangeArrowheads="1" noChangeShapeType="1" noTextEdit="1"/>
              </p:cNvSpPr>
              <p:nvPr>
                <p:ph type="body" idx="1"/>
              </p:nvPr>
            </p:nvSpPr>
            <p:spPr>
              <a:xfrm>
                <a:off x="1847851" y="981076"/>
                <a:ext cx="10067058" cy="5256213"/>
              </a:xfrm>
              <a:blipFill rotWithShape="0">
                <a:blip r:embed="rId2"/>
                <a:stretch>
                  <a:fillRect l="-1029"/>
                </a:stretch>
              </a:blipFill>
            </p:spPr>
            <p:txBody>
              <a:bodyPr/>
              <a:lstStyle/>
              <a:p>
                <a:r>
                  <a:rPr lang="zh-CN" altLang="en-US">
                    <a:noFill/>
                  </a:rPr>
                  <a:t> </a:t>
                </a:r>
              </a:p>
            </p:txBody>
          </p:sp>
        </mc:Fallback>
      </mc:AlternateContent>
      <p:cxnSp>
        <p:nvCxnSpPr>
          <p:cNvPr id="5" name="直接连接符 4"/>
          <p:cNvCxnSpPr/>
          <p:nvPr/>
        </p:nvCxnSpPr>
        <p:spPr bwMode="auto">
          <a:xfrm>
            <a:off x="4498107" y="5161228"/>
            <a:ext cx="1348511" cy="1903"/>
          </a:xfrm>
          <a:prstGeom prst="line">
            <a:avLst/>
          </a:prstGeom>
          <a:noFill/>
          <a:ln w="25400" cap="flat" cmpd="sng" algn="ctr">
            <a:solidFill>
              <a:srgbClr val="C00000"/>
            </a:solidFill>
            <a:prstDash val="solid"/>
            <a:round/>
            <a:headEnd type="none" w="med" len="med"/>
            <a:tailEnd type="none" w="med" len="med"/>
          </a:ln>
          <a:effectLst/>
        </p:spPr>
      </p:cxnSp>
      <p:sp>
        <p:nvSpPr>
          <p:cNvPr id="8" name="文本框 7"/>
          <p:cNvSpPr txBox="1"/>
          <p:nvPr/>
        </p:nvSpPr>
        <p:spPr>
          <a:xfrm>
            <a:off x="4638961" y="5133515"/>
            <a:ext cx="1173018" cy="369332"/>
          </a:xfrm>
          <a:prstGeom prst="rect">
            <a:avLst/>
          </a:prstGeom>
          <a:noFill/>
        </p:spPr>
        <p:txBody>
          <a:bodyPr wrap="square" rtlCol="0">
            <a:spAutoFit/>
          </a:bodyPr>
          <a:lstStyle/>
          <a:p>
            <a:r>
              <a:rPr lang="zh-CN" altLang="en-US" b="1" dirty="0">
                <a:solidFill>
                  <a:srgbClr val="C00000"/>
                </a:solidFill>
              </a:rPr>
              <a:t>插入</a:t>
            </a:r>
            <a:r>
              <a:rPr lang="en-US" altLang="zh-CN" b="1" dirty="0">
                <a:solidFill>
                  <a:srgbClr val="C00000"/>
                </a:solidFill>
              </a:rPr>
              <a:t>B[j-1]</a:t>
            </a:r>
            <a:endParaRPr lang="zh-CN" altLang="en-US" b="1" dirty="0">
              <a:solidFill>
                <a:srgbClr val="C00000"/>
              </a:solidFill>
            </a:endParaRPr>
          </a:p>
        </p:txBody>
      </p:sp>
      <p:cxnSp>
        <p:nvCxnSpPr>
          <p:cNvPr id="9" name="直接连接符 8"/>
          <p:cNvCxnSpPr/>
          <p:nvPr/>
        </p:nvCxnSpPr>
        <p:spPr bwMode="auto">
          <a:xfrm>
            <a:off x="5980543" y="5165846"/>
            <a:ext cx="1348511" cy="1903"/>
          </a:xfrm>
          <a:prstGeom prst="line">
            <a:avLst/>
          </a:prstGeom>
          <a:noFill/>
          <a:ln w="25400" cap="flat" cmpd="sng" algn="ctr">
            <a:solidFill>
              <a:srgbClr val="C00000"/>
            </a:solidFill>
            <a:prstDash val="solid"/>
            <a:round/>
            <a:headEnd type="none" w="med" len="med"/>
            <a:tailEnd type="none" w="med" len="med"/>
          </a:ln>
          <a:effectLst/>
        </p:spPr>
      </p:cxnSp>
      <p:sp>
        <p:nvSpPr>
          <p:cNvPr id="10" name="文本框 9"/>
          <p:cNvSpPr txBox="1"/>
          <p:nvPr/>
        </p:nvSpPr>
        <p:spPr>
          <a:xfrm>
            <a:off x="6112161" y="5147371"/>
            <a:ext cx="1198421" cy="369332"/>
          </a:xfrm>
          <a:prstGeom prst="rect">
            <a:avLst/>
          </a:prstGeom>
          <a:noFill/>
        </p:spPr>
        <p:txBody>
          <a:bodyPr wrap="square" rtlCol="0">
            <a:spAutoFit/>
          </a:bodyPr>
          <a:lstStyle/>
          <a:p>
            <a:r>
              <a:rPr lang="zh-CN" altLang="en-US" b="1" dirty="0">
                <a:solidFill>
                  <a:srgbClr val="C00000"/>
                </a:solidFill>
              </a:rPr>
              <a:t>删除</a:t>
            </a:r>
            <a:r>
              <a:rPr lang="en-US" altLang="zh-CN" b="1" dirty="0">
                <a:solidFill>
                  <a:srgbClr val="C00000"/>
                </a:solidFill>
              </a:rPr>
              <a:t>A[i-1]</a:t>
            </a:r>
            <a:endParaRPr lang="zh-CN" altLang="en-US" b="1" dirty="0">
              <a:solidFill>
                <a:srgbClr val="C00000"/>
              </a:solidFill>
            </a:endParaRPr>
          </a:p>
        </p:txBody>
      </p:sp>
      <p:cxnSp>
        <p:nvCxnSpPr>
          <p:cNvPr id="11" name="直接连接符 10"/>
          <p:cNvCxnSpPr/>
          <p:nvPr/>
        </p:nvCxnSpPr>
        <p:spPr bwMode="auto">
          <a:xfrm flipV="1">
            <a:off x="7430647" y="5165846"/>
            <a:ext cx="1805717" cy="2"/>
          </a:xfrm>
          <a:prstGeom prst="line">
            <a:avLst/>
          </a:prstGeom>
          <a:noFill/>
          <a:ln w="25400" cap="flat" cmpd="sng" algn="ctr">
            <a:solidFill>
              <a:srgbClr val="C00000"/>
            </a:solidFill>
            <a:prstDash val="solid"/>
            <a:round/>
            <a:headEnd type="none" w="med" len="med"/>
            <a:tailEnd type="none" w="med" len="med"/>
          </a:ln>
          <a:effectLst/>
        </p:spPr>
      </p:cxnSp>
      <p:sp>
        <p:nvSpPr>
          <p:cNvPr id="12" name="文本框 11"/>
          <p:cNvSpPr txBox="1"/>
          <p:nvPr/>
        </p:nvSpPr>
        <p:spPr>
          <a:xfrm>
            <a:off x="7396011" y="5147373"/>
            <a:ext cx="1969663" cy="369332"/>
          </a:xfrm>
          <a:prstGeom prst="rect">
            <a:avLst/>
          </a:prstGeom>
          <a:noFill/>
        </p:spPr>
        <p:txBody>
          <a:bodyPr wrap="square" rtlCol="0">
            <a:spAutoFit/>
          </a:bodyPr>
          <a:lstStyle/>
          <a:p>
            <a:r>
              <a:rPr lang="en-US" altLang="zh-CN" b="1" dirty="0">
                <a:solidFill>
                  <a:srgbClr val="C00000"/>
                </a:solidFill>
              </a:rPr>
              <a:t>A[i-1]</a:t>
            </a:r>
            <a:r>
              <a:rPr lang="zh-CN" altLang="en-US" b="1" dirty="0">
                <a:solidFill>
                  <a:srgbClr val="C00000"/>
                </a:solidFill>
              </a:rPr>
              <a:t>替换为</a:t>
            </a:r>
            <a:r>
              <a:rPr lang="en-US" altLang="zh-CN" b="1" dirty="0">
                <a:solidFill>
                  <a:srgbClr val="C00000"/>
                </a:solidFill>
              </a:rPr>
              <a:t>B[j-1]</a:t>
            </a:r>
            <a:endParaRPr lang="zh-CN" altLang="en-US" b="1" dirty="0">
              <a:solidFill>
                <a:srgbClr val="C00000"/>
              </a:solidFill>
            </a:endParaRPr>
          </a:p>
        </p:txBody>
      </p:sp>
    </p:spTree>
    <p:extLst>
      <p:ext uri="{BB962C8B-B14F-4D97-AF65-F5344CB8AC3E}">
        <p14:creationId xmlns:p14="http://schemas.microsoft.com/office/powerpoint/2010/main" val="2402559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39</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字符串编辑距离</a:t>
            </a:r>
            <a:r>
              <a:rPr lang="en-US" altLang="zh-CN" dirty="0"/>
              <a:t>–</a:t>
            </a:r>
            <a:r>
              <a:rPr lang="zh-CN" altLang="en-US" dirty="0"/>
              <a:t>“记忆化”递归实现</a:t>
            </a:r>
            <a:endParaRPr lang="en-US" altLang="zh-CN" dirty="0"/>
          </a:p>
        </p:txBody>
      </p:sp>
      <p:sp>
        <p:nvSpPr>
          <p:cNvPr id="22531" name="Rectangle 3"/>
          <p:cNvSpPr>
            <a:spLocks noGrp="1" noChangeArrowheads="1"/>
          </p:cNvSpPr>
          <p:nvPr>
            <p:ph type="body" idx="1"/>
          </p:nvPr>
        </p:nvSpPr>
        <p:spPr>
          <a:xfrm>
            <a:off x="1703389" y="979489"/>
            <a:ext cx="8785225" cy="5616574"/>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(char A[], char B[],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f[][100],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m)</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if (f[n][m] != -1) return f[n][m]; // </a:t>
            </a:r>
            <a:r>
              <a:rPr kumimoji="1" lang="zh-CN" altLang="en-US" sz="1800" dirty="0">
                <a:latin typeface="Garamond" panose="02020404030301010803" pitchFamily="18" charset="0"/>
              </a:rPr>
              <a:t>保证只被计算一次</a:t>
            </a:r>
            <a:endParaRPr kumimoji="1" lang="en-US" altLang="zh-CN" sz="1800" dirty="0">
              <a:latin typeface="Garamond" panose="02020404030301010803" pitchFamily="18" charset="0"/>
            </a:endParaRPr>
          </a:p>
          <a:p>
            <a:pPr eaLnBrk="1" hangingPunct="1">
              <a:lnSpc>
                <a:spcPct val="140000"/>
              </a:lnSpc>
              <a:spcBef>
                <a:spcPct val="30000"/>
              </a:spcBef>
              <a:buNone/>
            </a:pPr>
            <a:r>
              <a:rPr kumimoji="1" lang="en-US" altLang="zh-CN" sz="1800" dirty="0">
                <a:latin typeface="Garamond" panose="02020404030301010803" pitchFamily="18" charset="0"/>
              </a:rPr>
              <a:t>	if (n == 0) return f[n][m] = m;</a:t>
            </a:r>
          </a:p>
          <a:p>
            <a:pPr eaLnBrk="1" hangingPunct="1">
              <a:lnSpc>
                <a:spcPct val="140000"/>
              </a:lnSpc>
              <a:spcBef>
                <a:spcPct val="30000"/>
              </a:spcBef>
              <a:buNone/>
            </a:pPr>
            <a:r>
              <a:rPr kumimoji="1" lang="en-US" altLang="zh-CN" sz="1800" dirty="0">
                <a:latin typeface="Garamond" panose="02020404030301010803" pitchFamily="18" charset="0"/>
              </a:rPr>
              <a:t>	else if (m == 0) return f[n][m] = n;</a:t>
            </a:r>
          </a:p>
          <a:p>
            <a:pPr eaLnBrk="1" hangingPunct="1">
              <a:lnSpc>
                <a:spcPct val="140000"/>
              </a:lnSpc>
              <a:spcBef>
                <a:spcPct val="30000"/>
              </a:spcBef>
              <a:buNone/>
            </a:pPr>
            <a:r>
              <a:rPr kumimoji="1" lang="en-US" altLang="zh-CN" sz="1800" dirty="0">
                <a:latin typeface="Garamond" panose="02020404030301010803" pitchFamily="18" charset="0"/>
              </a:rPr>
              <a:t>	else if (A[i-1] == B[j-1])</a:t>
            </a:r>
          </a:p>
          <a:p>
            <a:pPr eaLnBrk="1" hangingPunct="1">
              <a:lnSpc>
                <a:spcPct val="140000"/>
              </a:lnSpc>
              <a:spcBef>
                <a:spcPct val="30000"/>
              </a:spcBef>
              <a:buNone/>
            </a:pPr>
            <a:r>
              <a:rPr kumimoji="1" lang="en-US" altLang="zh-CN" sz="1800" dirty="0">
                <a:latin typeface="Garamond" panose="02020404030301010803" pitchFamily="18" charset="0"/>
              </a:rPr>
              <a:t>	    return f[n][m] = </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(A, B, f, n-1, m-1);</a:t>
            </a:r>
          </a:p>
          <a:p>
            <a:pPr eaLnBrk="1" hangingPunct="1">
              <a:lnSpc>
                <a:spcPct val="140000"/>
              </a:lnSpc>
              <a:spcBef>
                <a:spcPct val="30000"/>
              </a:spcBef>
              <a:buNone/>
            </a:pPr>
            <a:r>
              <a:rPr kumimoji="1" lang="en-US" altLang="zh-CN" sz="1800" dirty="0">
                <a:latin typeface="Garamond" panose="02020404030301010803" pitchFamily="18" charset="0"/>
              </a:rPr>
              <a:t>	else</a:t>
            </a:r>
          </a:p>
          <a:p>
            <a:pPr eaLnBrk="1" hangingPunct="1">
              <a:lnSpc>
                <a:spcPct val="140000"/>
              </a:lnSpc>
              <a:spcBef>
                <a:spcPct val="30000"/>
              </a:spcBef>
              <a:buNone/>
            </a:pPr>
            <a:r>
              <a:rPr kumimoji="1" lang="en-US" altLang="zh-CN" sz="1800" dirty="0">
                <a:latin typeface="Garamond" panose="02020404030301010803" pitchFamily="18" charset="0"/>
              </a:rPr>
              <a:t>	    return f[n][m] = min(</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(A, B, f, n, m-1) + 1,</a:t>
            </a:r>
          </a:p>
          <a:p>
            <a:pPr eaLnBrk="1" hangingPunct="1">
              <a:lnSpc>
                <a:spcPct val="140000"/>
              </a:lnSpc>
              <a:spcBef>
                <a:spcPct val="30000"/>
              </a:spcBef>
              <a:buNone/>
            </a:pPr>
            <a:r>
              <a:rPr kumimoji="1" lang="en-US" altLang="zh-CN" sz="1800" dirty="0">
                <a:latin typeface="Garamond" panose="02020404030301010803" pitchFamily="18" charset="0"/>
              </a:rPr>
              <a:t>				min(</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(A, B, n-1, m) + 1,</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(A, B, n-1, m-1) + 1));</a:t>
            </a:r>
          </a:p>
          <a:p>
            <a:pPr eaLnBrk="1" hangingPunct="1">
              <a:lnSpc>
                <a:spcPct val="140000"/>
              </a:lnSpc>
              <a:spcBef>
                <a:spcPct val="30000"/>
              </a:spcBef>
              <a:buNone/>
            </a:pPr>
            <a:r>
              <a:rPr kumimoji="1" lang="en-US" altLang="zh-CN" sz="1800" dirty="0">
                <a:latin typeface="Garamond" panose="02020404030301010803" pitchFamily="18" charset="0"/>
              </a:rPr>
              <a:t>	}</a:t>
            </a:r>
          </a:p>
        </p:txBody>
      </p:sp>
    </p:spTree>
    <p:extLst>
      <p:ext uri="{BB962C8B-B14F-4D97-AF65-F5344CB8AC3E}">
        <p14:creationId xmlns:p14="http://schemas.microsoft.com/office/powerpoint/2010/main" val="2178822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40</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字符串编辑距离</a:t>
            </a:r>
            <a:r>
              <a:rPr lang="en-US" altLang="zh-CN" dirty="0"/>
              <a:t>–</a:t>
            </a:r>
            <a:r>
              <a:rPr lang="zh-CN" altLang="en-US" dirty="0"/>
              <a:t>“记忆化”递归实现</a:t>
            </a:r>
            <a:endParaRPr lang="en-US" altLang="zh-CN" dirty="0"/>
          </a:p>
        </p:txBody>
      </p:sp>
      <p:sp>
        <p:nvSpPr>
          <p:cNvPr id="22531" name="Rectangle 3"/>
          <p:cNvSpPr>
            <a:spLocks noGrp="1" noChangeArrowheads="1"/>
          </p:cNvSpPr>
          <p:nvPr>
            <p:ph type="body" idx="1"/>
          </p:nvPr>
        </p:nvSpPr>
        <p:spPr>
          <a:xfrm>
            <a:off x="1703389" y="757818"/>
            <a:ext cx="8785225" cy="6003199"/>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main()</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	// </a:t>
            </a:r>
            <a:r>
              <a:rPr kumimoji="1" lang="zh-CN" altLang="en-US" sz="1800" dirty="0">
                <a:latin typeface="Garamond" panose="02020404030301010803" pitchFamily="18" charset="0"/>
              </a:rPr>
              <a:t>读入字符串</a:t>
            </a:r>
            <a:r>
              <a:rPr kumimoji="1" lang="en-US" altLang="zh-CN" sz="1800" dirty="0">
                <a:latin typeface="Garamond" panose="02020404030301010803" pitchFamily="18" charset="0"/>
              </a:rPr>
              <a:t>A[], B[], </a:t>
            </a:r>
            <a:r>
              <a:rPr kumimoji="1" lang="zh-CN" altLang="en-US" sz="1800" dirty="0">
                <a:latin typeface="Garamond" panose="02020404030301010803" pitchFamily="18" charset="0"/>
              </a:rPr>
              <a:t>长度</a:t>
            </a:r>
            <a:r>
              <a:rPr kumimoji="1" lang="en-US" altLang="zh-CN" sz="1800" dirty="0">
                <a:latin typeface="Garamond" panose="02020404030301010803" pitchFamily="18" charset="0"/>
              </a:rPr>
              <a:t>n, m</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memset</a:t>
            </a:r>
            <a:r>
              <a:rPr kumimoji="1" lang="en-US" altLang="zh-CN" sz="1800" dirty="0">
                <a:latin typeface="Garamond" panose="02020404030301010803" pitchFamily="18" charset="0"/>
              </a:rPr>
              <a:t>(f, -1, </a:t>
            </a:r>
            <a:r>
              <a:rPr kumimoji="1" lang="en-US" altLang="zh-CN" sz="1800" dirty="0" err="1">
                <a:latin typeface="Garamond" panose="02020404030301010803" pitchFamily="18" charset="0"/>
              </a:rPr>
              <a:t>sizeof</a:t>
            </a:r>
            <a:r>
              <a:rPr kumimoji="1" lang="en-US" altLang="zh-CN" sz="1800" dirty="0">
                <a:latin typeface="Garamond" panose="02020404030301010803" pitchFamily="18" charset="0"/>
              </a:rPr>
              <a:t>(f)); // </a:t>
            </a:r>
            <a:r>
              <a:rPr kumimoji="1" lang="zh-CN" altLang="en-US" sz="1800" dirty="0">
                <a:latin typeface="Garamond" panose="02020404030301010803" pitchFamily="18" charset="0"/>
              </a:rPr>
              <a:t>初始化</a:t>
            </a:r>
            <a:r>
              <a:rPr kumimoji="1" lang="en-US" altLang="zh-CN" sz="1800" dirty="0">
                <a:latin typeface="Garamond" panose="02020404030301010803" pitchFamily="18" charset="0"/>
              </a:rPr>
              <a:t>f[][], -1</a:t>
            </a:r>
            <a:r>
              <a:rPr kumimoji="1" lang="zh-CN" altLang="en-US" sz="1800" dirty="0">
                <a:latin typeface="Garamond" panose="02020404030301010803" pitchFamily="18" charset="0"/>
              </a:rPr>
              <a:t>表示该状态下的最优解未求出</a:t>
            </a:r>
          </a:p>
          <a:p>
            <a:pPr eaLnBrk="1" hangingPunct="1">
              <a:lnSpc>
                <a:spcPct val="140000"/>
              </a:lnSpc>
              <a:spcBef>
                <a:spcPct val="30000"/>
              </a:spcBef>
              <a:buNone/>
            </a:pPr>
            <a:r>
              <a:rPr kumimoji="1" lang="zh-CN" altLang="en-US" sz="1800" dirty="0">
                <a:latin typeface="Garamond" panose="02020404030301010803" pitchFamily="18" charset="0"/>
              </a:rPr>
              <a:t>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minDis</a:t>
            </a:r>
            <a:r>
              <a:rPr kumimoji="1" lang="en-US" altLang="zh-CN" sz="1800" dirty="0">
                <a:latin typeface="Garamond" panose="02020404030301010803" pitchFamily="18" charset="0"/>
              </a:rPr>
              <a:t> = </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(A, B, f, n, m);</a:t>
            </a:r>
          </a:p>
          <a:p>
            <a:pPr eaLnBrk="1" hangingPunct="1">
              <a:lnSpc>
                <a:spcPct val="140000"/>
              </a:lnSpc>
              <a:spcBef>
                <a:spcPct val="30000"/>
              </a:spcBef>
              <a:buNone/>
            </a:pP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cout</a:t>
            </a:r>
            <a:r>
              <a:rPr kumimoji="1" lang="en-US" altLang="zh-CN" sz="1800" dirty="0">
                <a:latin typeface="Garamond" panose="02020404030301010803" pitchFamily="18" charset="0"/>
              </a:rPr>
              <a:t> &lt;&lt; “</a:t>
            </a:r>
            <a:r>
              <a:rPr kumimoji="1" lang="en-US" altLang="zh-CN" sz="1800" dirty="0" err="1">
                <a:latin typeface="Garamond" panose="02020404030301010803" pitchFamily="18" charset="0"/>
              </a:rPr>
              <a:t>minDis</a:t>
            </a:r>
            <a:r>
              <a:rPr kumimoji="1" lang="en-US" altLang="zh-CN" sz="1800" dirty="0">
                <a:latin typeface="Garamond" panose="02020404030301010803" pitchFamily="18" charset="0"/>
              </a:rPr>
              <a:t> =“ &lt;&lt; </a:t>
            </a:r>
            <a:r>
              <a:rPr kumimoji="1" lang="en-US" altLang="zh-CN" sz="1800" dirty="0" err="1">
                <a:latin typeface="Garamond" panose="02020404030301010803" pitchFamily="18" charset="0"/>
              </a:rPr>
              <a:t>minDis</a:t>
            </a:r>
            <a:r>
              <a:rPr kumimoji="1" lang="en-US" altLang="zh-CN" sz="1800" dirty="0">
                <a:latin typeface="Garamond" panose="02020404030301010803" pitchFamily="18" charset="0"/>
              </a:rPr>
              <a:t> &lt;&lt; </a:t>
            </a:r>
            <a:r>
              <a:rPr kumimoji="1" lang="en-US" altLang="zh-CN" sz="1800" dirty="0" err="1">
                <a:latin typeface="Garamond" panose="02020404030301010803" pitchFamily="18" charset="0"/>
              </a:rPr>
              <a:t>endl</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return 0;</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3949547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41</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字符串编辑距离</a:t>
            </a:r>
            <a:r>
              <a:rPr lang="en-US" altLang="zh-CN" dirty="0"/>
              <a:t>–</a:t>
            </a:r>
            <a:r>
              <a:rPr lang="zh-CN" altLang="en-US" dirty="0"/>
              <a:t>递推实现</a:t>
            </a:r>
          </a:p>
        </p:txBody>
      </p:sp>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zh-CN" altLang="en-US" dirty="0"/>
              <a:t>确定求解顺序：</a:t>
            </a:r>
            <a:endParaRPr lang="en-US" altLang="zh-CN" dirty="0"/>
          </a:p>
          <a:p>
            <a:pPr marL="869950" lvl="1" indent="-469900" eaLnBrk="1" hangingPunct="1">
              <a:lnSpc>
                <a:spcPct val="140000"/>
              </a:lnSpc>
              <a:spcBef>
                <a:spcPct val="30000"/>
              </a:spcBef>
            </a:pPr>
            <a:r>
              <a:rPr lang="en-US" altLang="zh-CN" dirty="0"/>
              <a:t>f[</a:t>
            </a:r>
            <a:r>
              <a:rPr lang="en-US" altLang="zh-CN" dirty="0" err="1"/>
              <a:t>i</a:t>
            </a:r>
            <a:r>
              <a:rPr lang="en-US" altLang="zh-CN" dirty="0"/>
              <a:t>][j]</a:t>
            </a:r>
            <a:r>
              <a:rPr lang="zh-CN" altLang="en-US" dirty="0"/>
              <a:t>只与</a:t>
            </a:r>
            <a:r>
              <a:rPr lang="en-US" altLang="zh-CN" dirty="0"/>
              <a:t>f[i-1][j-1]</a:t>
            </a:r>
            <a:r>
              <a:rPr lang="zh-CN" altLang="en-US" dirty="0"/>
              <a:t>，</a:t>
            </a:r>
            <a:r>
              <a:rPr lang="en-US" altLang="zh-CN" dirty="0"/>
              <a:t>f[</a:t>
            </a:r>
            <a:r>
              <a:rPr lang="en-US" altLang="zh-CN" dirty="0" err="1"/>
              <a:t>i</a:t>
            </a:r>
            <a:r>
              <a:rPr lang="en-US" altLang="zh-CN" dirty="0"/>
              <a:t>][j-1]</a:t>
            </a:r>
            <a:r>
              <a:rPr lang="zh-CN" altLang="en-US" dirty="0"/>
              <a:t>，</a:t>
            </a:r>
            <a:r>
              <a:rPr lang="en-US" altLang="zh-CN" dirty="0"/>
              <a:t>f[i-1][j]</a:t>
            </a:r>
            <a:r>
              <a:rPr lang="zh-CN" altLang="en-US" dirty="0"/>
              <a:t>有关</a:t>
            </a:r>
            <a:endParaRPr lang="en-US" altLang="zh-CN" dirty="0"/>
          </a:p>
          <a:p>
            <a:pPr marL="869950" lvl="1" indent="-469900" eaLnBrk="1" hangingPunct="1">
              <a:lnSpc>
                <a:spcPct val="140000"/>
              </a:lnSpc>
              <a:spcBef>
                <a:spcPct val="30000"/>
              </a:spcBef>
            </a:pPr>
            <a:r>
              <a:rPr lang="zh-CN" altLang="en-US" dirty="0"/>
              <a:t>“从上到下，从左到右”</a:t>
            </a:r>
            <a:endParaRPr lang="en-US" altLang="zh-CN" dirty="0"/>
          </a:p>
        </p:txBody>
      </p:sp>
    </p:spTree>
    <p:extLst>
      <p:ext uri="{BB962C8B-B14F-4D97-AF65-F5344CB8AC3E}">
        <p14:creationId xmlns:p14="http://schemas.microsoft.com/office/powerpoint/2010/main" val="3552948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B24CDC2-0AB1-4FF8-A048-56998AE1A80A}" type="slidenum">
              <a:rPr lang="ar-SA" altLang="zh-CN" sz="1400">
                <a:solidFill>
                  <a:schemeClr val="bg1"/>
                </a:solidFill>
              </a:rPr>
              <a:pPr/>
              <a:t>42</a:t>
            </a:fld>
            <a:endParaRPr lang="zh-CN" altLang="en-US" sz="1400">
              <a:solidFill>
                <a:schemeClr val="bg1"/>
              </a:solidFill>
              <a:ea typeface="宋体" panose="02010600030101010101" pitchFamily="2" charset="-122"/>
            </a:endParaRPr>
          </a:p>
        </p:txBody>
      </p:sp>
      <p:sp>
        <p:nvSpPr>
          <p:cNvPr id="22530" name="Rectangle 2"/>
          <p:cNvSpPr>
            <a:spLocks noGrp="1" noChangeArrowheads="1"/>
          </p:cNvSpPr>
          <p:nvPr>
            <p:ph type="title"/>
          </p:nvPr>
        </p:nvSpPr>
        <p:spPr/>
        <p:txBody>
          <a:bodyPr/>
          <a:lstStyle/>
          <a:p>
            <a:pPr eaLnBrk="1" hangingPunct="1"/>
            <a:r>
              <a:rPr lang="zh-CN" altLang="en-US" dirty="0"/>
              <a:t>字符串编辑距离</a:t>
            </a:r>
            <a:r>
              <a:rPr lang="en-US" altLang="zh-CN" dirty="0"/>
              <a:t>–</a:t>
            </a:r>
            <a:r>
              <a:rPr lang="zh-CN" altLang="en-US" dirty="0"/>
              <a:t>递推实现</a:t>
            </a:r>
            <a:endParaRPr lang="en-US" altLang="zh-CN" dirty="0"/>
          </a:p>
        </p:txBody>
      </p:sp>
      <p:sp>
        <p:nvSpPr>
          <p:cNvPr id="22531" name="Rectangle 3"/>
          <p:cNvSpPr>
            <a:spLocks noGrp="1" noChangeArrowheads="1"/>
          </p:cNvSpPr>
          <p:nvPr>
            <p:ph type="body" idx="1"/>
          </p:nvPr>
        </p:nvSpPr>
        <p:spPr>
          <a:xfrm>
            <a:off x="1703389" y="739353"/>
            <a:ext cx="8785225" cy="5616574"/>
          </a:xfrm>
          <a:noFill/>
        </p:spPr>
        <p:txBody>
          <a:bodyPr/>
          <a:lstStyle/>
          <a:p>
            <a:pPr eaLnBrk="1" hangingPunct="1">
              <a:lnSpc>
                <a:spcPct val="140000"/>
              </a:lnSpc>
              <a:spcBef>
                <a:spcPct val="30000"/>
              </a:spcBef>
              <a:buNone/>
            </a:pP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edit_distance</a:t>
            </a:r>
            <a:r>
              <a:rPr kumimoji="1" lang="en-US" altLang="zh-CN" sz="1800" dirty="0">
                <a:latin typeface="Garamond" panose="02020404030301010803" pitchFamily="18" charset="0"/>
              </a:rPr>
              <a:t>(char A[], char B[],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f[][100],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n,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m)</a:t>
            </a:r>
          </a:p>
          <a:p>
            <a:pPr eaLnBrk="1" hangingPunct="1">
              <a:lnSpc>
                <a:spcPct val="140000"/>
              </a:lnSpc>
              <a:spcBef>
                <a:spcPct val="30000"/>
              </a:spcBef>
              <a:buNone/>
            </a:pP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0;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&lt;= n;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][0] =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0; j &lt;= m; </a:t>
            </a:r>
            <a:r>
              <a:rPr kumimoji="1" lang="en-US" altLang="zh-CN" sz="1800" dirty="0" err="1">
                <a:latin typeface="Garamond" panose="02020404030301010803" pitchFamily="18" charset="0"/>
              </a:rPr>
              <a:t>j++</a:t>
            </a:r>
            <a:r>
              <a:rPr kumimoji="1" lang="en-US" altLang="zh-CN" sz="1800" dirty="0">
                <a:latin typeface="Garamond" panose="02020404030301010803" pitchFamily="18" charset="0"/>
              </a:rPr>
              <a:t>)  f[0][j] = j;</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 1;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 &lt;= n; </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a:t>
            </a:r>
          </a:p>
          <a:p>
            <a:pPr eaLnBrk="1" hangingPunct="1">
              <a:lnSpc>
                <a:spcPct val="140000"/>
              </a:lnSpc>
              <a:spcBef>
                <a:spcPct val="30000"/>
              </a:spcBef>
              <a:buNone/>
            </a:pPr>
            <a:r>
              <a:rPr kumimoji="1" lang="en-US" altLang="zh-CN" sz="1800" dirty="0">
                <a:latin typeface="Garamond" panose="02020404030301010803" pitchFamily="18" charset="0"/>
              </a:rPr>
              <a:t>	    for (</a:t>
            </a:r>
            <a:r>
              <a:rPr kumimoji="1" lang="en-US" altLang="zh-CN" sz="1800" dirty="0" err="1">
                <a:latin typeface="Garamond" panose="02020404030301010803" pitchFamily="18" charset="0"/>
              </a:rPr>
              <a:t>int</a:t>
            </a:r>
            <a:r>
              <a:rPr kumimoji="1" lang="en-US" altLang="zh-CN" sz="1800" dirty="0">
                <a:latin typeface="Garamond" panose="02020404030301010803" pitchFamily="18" charset="0"/>
              </a:rPr>
              <a:t> j = 1; j &lt;= m; </a:t>
            </a:r>
            <a:r>
              <a:rPr kumimoji="1" lang="en-US" altLang="zh-CN" sz="1800" dirty="0" err="1">
                <a:latin typeface="Garamond" panose="02020404030301010803" pitchFamily="18" charset="0"/>
              </a:rPr>
              <a:t>j++</a:t>
            </a: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if (A[i-1] == B[j-1])</a:t>
            </a:r>
          </a:p>
          <a:p>
            <a:pPr eaLnBrk="1" hangingPunct="1">
              <a:lnSpc>
                <a:spcPct val="140000"/>
              </a:lnSpc>
              <a:spcBef>
                <a:spcPct val="30000"/>
              </a:spcBef>
              <a:buNone/>
            </a:pPr>
            <a:r>
              <a:rPr kumimoji="1" lang="en-US" altLang="zh-CN" sz="1800" dirty="0">
                <a:latin typeface="Garamond" panose="02020404030301010803" pitchFamily="18" charset="0"/>
              </a:rPr>
              <a:t>		    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f[i-1][j-1];</a:t>
            </a:r>
          </a:p>
          <a:p>
            <a:pPr eaLnBrk="1" hangingPunct="1">
              <a:lnSpc>
                <a:spcPct val="140000"/>
              </a:lnSpc>
              <a:spcBef>
                <a:spcPct val="30000"/>
              </a:spcBef>
              <a:buNone/>
            </a:pPr>
            <a:r>
              <a:rPr kumimoji="1" lang="en-US" altLang="zh-CN" sz="1800" dirty="0">
                <a:latin typeface="Garamond" panose="02020404030301010803" pitchFamily="18" charset="0"/>
              </a:rPr>
              <a:t>		else</a:t>
            </a:r>
          </a:p>
          <a:p>
            <a:pPr eaLnBrk="1" hangingPunct="1">
              <a:lnSpc>
                <a:spcPct val="140000"/>
              </a:lnSpc>
              <a:spcBef>
                <a:spcPct val="30000"/>
              </a:spcBef>
              <a:buNone/>
            </a:pPr>
            <a:r>
              <a:rPr kumimoji="1" lang="en-US" altLang="zh-CN" sz="1800" dirty="0">
                <a:latin typeface="Garamond" panose="02020404030301010803" pitchFamily="18" charset="0"/>
              </a:rPr>
              <a:t>		    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 = min(f[</a:t>
            </a:r>
            <a:r>
              <a:rPr kumimoji="1" lang="en-US" altLang="zh-CN" sz="1800" dirty="0" err="1">
                <a:latin typeface="Garamond" panose="02020404030301010803" pitchFamily="18" charset="0"/>
              </a:rPr>
              <a:t>i</a:t>
            </a:r>
            <a:r>
              <a:rPr kumimoji="1" lang="en-US" altLang="zh-CN" sz="1800" dirty="0">
                <a:latin typeface="Garamond" panose="02020404030301010803" pitchFamily="18" charset="0"/>
              </a:rPr>
              <a:t>][j-1]+1, min(f[i-1][j]+1, f[i-1][j-1]+1));</a:t>
            </a:r>
          </a:p>
          <a:p>
            <a:pPr eaLnBrk="1" hangingPunct="1">
              <a:lnSpc>
                <a:spcPct val="140000"/>
              </a:lnSpc>
              <a:spcBef>
                <a:spcPct val="30000"/>
              </a:spcBef>
              <a:buNone/>
            </a:pPr>
            <a:r>
              <a:rPr kumimoji="1" lang="en-US" altLang="zh-CN" sz="1800" dirty="0">
                <a:latin typeface="Garamond" panose="02020404030301010803" pitchFamily="18" charset="0"/>
              </a:rPr>
              <a:t>	    }</a:t>
            </a:r>
          </a:p>
          <a:p>
            <a:pPr eaLnBrk="1" hangingPunct="1">
              <a:lnSpc>
                <a:spcPct val="140000"/>
              </a:lnSpc>
              <a:spcBef>
                <a:spcPct val="30000"/>
              </a:spcBef>
              <a:buNone/>
            </a:pPr>
            <a:r>
              <a:rPr kumimoji="1" lang="en-US" altLang="zh-CN" sz="1800" dirty="0">
                <a:latin typeface="Garamond" panose="02020404030301010803" pitchFamily="18" charset="0"/>
              </a:rPr>
              <a:t>	return f[n][m];</a:t>
            </a:r>
          </a:p>
          <a:p>
            <a:pPr eaLnBrk="1" hangingPunct="1">
              <a:lnSpc>
                <a:spcPct val="140000"/>
              </a:lnSpc>
              <a:spcBef>
                <a:spcPct val="30000"/>
              </a:spcBef>
              <a:buNone/>
            </a:pPr>
            <a:r>
              <a:rPr kumimoji="1" lang="en-US" altLang="zh-CN" sz="1800" dirty="0">
                <a:latin typeface="Garamond" panose="02020404030301010803" pitchFamily="18" charset="0"/>
              </a:rPr>
              <a:t>}</a:t>
            </a:r>
          </a:p>
        </p:txBody>
      </p:sp>
    </p:spTree>
    <p:extLst>
      <p:ext uri="{BB962C8B-B14F-4D97-AF65-F5344CB8AC3E}">
        <p14:creationId xmlns:p14="http://schemas.microsoft.com/office/powerpoint/2010/main" val="592744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BD764EA-4726-4654-9239-B77E38ACDA6C}" type="slidenum">
              <a:rPr lang="ar-SA" altLang="zh-CN" sz="1400">
                <a:solidFill>
                  <a:srgbClr val="FFFFFF"/>
                </a:solidFill>
              </a:rPr>
              <a:pPr/>
              <a:t>43</a:t>
            </a:fld>
            <a:endParaRPr lang="zh-CN" altLang="en-US" sz="1400">
              <a:solidFill>
                <a:srgbClr val="FFFFFF"/>
              </a:solidFill>
              <a:ea typeface="宋体" panose="02010600030101010101" pitchFamily="2" charset="-122"/>
            </a:endParaRPr>
          </a:p>
        </p:txBody>
      </p:sp>
      <p:sp>
        <p:nvSpPr>
          <p:cNvPr id="31746" name="Rectangle 2"/>
          <p:cNvSpPr>
            <a:spLocks noGrp="1" noChangeArrowheads="1"/>
          </p:cNvSpPr>
          <p:nvPr>
            <p:ph type="title"/>
          </p:nvPr>
        </p:nvSpPr>
        <p:spPr/>
        <p:txBody>
          <a:bodyPr/>
          <a:lstStyle/>
          <a:p>
            <a:pPr eaLnBrk="1" hangingPunct="1"/>
            <a:r>
              <a:rPr lang="zh-CN" altLang="en-US" dirty="0"/>
              <a:t>字符串编辑距离</a:t>
            </a:r>
            <a:r>
              <a:rPr lang="en-US" altLang="zh-CN" dirty="0"/>
              <a:t>–</a:t>
            </a:r>
            <a:r>
              <a:rPr lang="zh-CN" altLang="en-US" dirty="0"/>
              <a:t>空间优化</a:t>
            </a:r>
          </a:p>
        </p:txBody>
      </p:sp>
      <mc:AlternateContent xmlns:mc="http://schemas.openxmlformats.org/markup-compatibility/2006" xmlns:a14="http://schemas.microsoft.com/office/drawing/2010/main">
        <mc:Choice Requires="a14">
          <p:sp>
            <p:nvSpPr>
              <p:cNvPr id="31747" name="Rectangle 3"/>
              <p:cNvSpPr>
                <a:spLocks noGrp="1" noChangeArrowheads="1"/>
              </p:cNvSpPr>
              <p:nvPr>
                <p:ph type="body" idx="1"/>
              </p:nvPr>
            </p:nvSpPr>
            <p:spPr>
              <a:xfrm>
                <a:off x="1847851" y="981076"/>
                <a:ext cx="9656794" cy="5256213"/>
              </a:xfrm>
            </p:spPr>
            <p:txBody>
              <a:bodyPr/>
              <a:lstStyle/>
              <a:p>
                <a:pPr marL="469900" indent="-469900" eaLnBrk="1" hangingPunct="1">
                  <a:lnSpc>
                    <a:spcPct val="140000"/>
                  </a:lnSpc>
                  <a:spcBef>
                    <a:spcPct val="30000"/>
                  </a:spcBef>
                </a:pPr>
                <a:r>
                  <a:rPr lang="zh-CN" altLang="en-US" dirty="0"/>
                  <a:t>思考：</a:t>
                </a:r>
                <a:endParaRPr lang="en-US" altLang="zh-CN" dirty="0"/>
              </a:p>
              <a:p>
                <a:pPr marL="869950" lvl="1" indent="-469900" eaLnBrk="1" hangingPunct="1">
                  <a:lnSpc>
                    <a:spcPct val="140000"/>
                  </a:lnSpc>
                  <a:spcBef>
                    <a:spcPct val="30000"/>
                  </a:spcBef>
                </a:pPr>
                <a:r>
                  <a:rPr lang="zh-CN" altLang="en-US" sz="2400" dirty="0"/>
                  <a:t>能否参考</a:t>
                </a:r>
                <a:r>
                  <a:rPr lang="en-US" altLang="zh-CN" sz="2400" dirty="0"/>
                  <a:t>0-1</a:t>
                </a:r>
                <a:r>
                  <a:rPr lang="zh-CN" altLang="en-US" sz="2400" dirty="0"/>
                  <a:t>背包问题的思路，将空间复杂度由</a:t>
                </a:r>
                <a14:m>
                  <m:oMath xmlns:m="http://schemas.openxmlformats.org/officeDocument/2006/math">
                    <m:r>
                      <a:rPr lang="en-US" altLang="zh-CN" i="1">
                        <a:solidFill>
                          <a:srgbClr val="000000"/>
                        </a:solidFill>
                        <a:latin typeface="Cambria Math" panose="02040503050406030204" pitchFamily="18" charset="0"/>
                      </a:rPr>
                      <m:t>𝑶</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𝒏</m:t>
                        </m:r>
                        <m:r>
                          <a:rPr lang="en-US" altLang="zh-CN" i="1">
                            <a:solidFill>
                              <a:srgbClr val="000000"/>
                            </a:solidFill>
                            <a:latin typeface="Cambria Math" panose="02040503050406030204" pitchFamily="18" charset="0"/>
                            <a:ea typeface="Cambria Math" panose="02040503050406030204" pitchFamily="18" charset="0"/>
                          </a:rPr>
                          <m:t>∙</m:t>
                        </m:r>
                        <m:r>
                          <a:rPr lang="en-US" altLang="zh-CN" b="1" i="1" smtClean="0">
                            <a:solidFill>
                              <a:srgbClr val="000000"/>
                            </a:solidFill>
                            <a:latin typeface="Cambria Math" panose="02040503050406030204" pitchFamily="18" charset="0"/>
                            <a:ea typeface="Cambria Math" panose="02040503050406030204" pitchFamily="18" charset="0"/>
                          </a:rPr>
                          <m:t>𝒎</m:t>
                        </m:r>
                      </m:e>
                    </m:d>
                  </m:oMath>
                </a14:m>
                <a:r>
                  <a:rPr lang="zh-CN" altLang="en-US" sz="2400" dirty="0"/>
                  <a:t>降为</a:t>
                </a:r>
                <a14:m>
                  <m:oMath xmlns:m="http://schemas.openxmlformats.org/officeDocument/2006/math">
                    <m:r>
                      <a:rPr lang="en-US" altLang="zh-CN" i="1">
                        <a:solidFill>
                          <a:srgbClr val="000000"/>
                        </a:solidFill>
                        <a:latin typeface="Cambria Math" panose="02040503050406030204" pitchFamily="18" charset="0"/>
                      </a:rPr>
                      <m:t>𝑶</m:t>
                    </m:r>
                    <m:d>
                      <m:dPr>
                        <m:ctrlPr>
                          <a:rPr lang="en-US" altLang="zh-CN" i="1">
                            <a:solidFill>
                              <a:srgbClr val="000000"/>
                            </a:solidFill>
                            <a:latin typeface="Cambria Math" panose="02040503050406030204" pitchFamily="18" charset="0"/>
                          </a:rPr>
                        </m:ctrlPr>
                      </m:dPr>
                      <m:e>
                        <m:r>
                          <a:rPr lang="en-US" altLang="zh-CN" b="1" i="1" smtClean="0">
                            <a:solidFill>
                              <a:srgbClr val="000000"/>
                            </a:solidFill>
                            <a:latin typeface="Cambria Math" panose="02040503050406030204" pitchFamily="18" charset="0"/>
                          </a:rPr>
                          <m:t>𝒎𝒊𝒏</m:t>
                        </m:r>
                        <m:d>
                          <m:dPr>
                            <m:ctrlPr>
                              <a:rPr lang="en-US" altLang="zh-CN" b="1" i="1" smtClean="0">
                                <a:solidFill>
                                  <a:srgbClr val="000000"/>
                                </a:solidFill>
                                <a:latin typeface="Cambria Math" panose="02040503050406030204" pitchFamily="18" charset="0"/>
                              </a:rPr>
                            </m:ctrlPr>
                          </m:dPr>
                          <m:e>
                            <m:r>
                              <a:rPr lang="en-US" altLang="zh-CN" b="1" i="1" smtClean="0">
                                <a:solidFill>
                                  <a:srgbClr val="000000"/>
                                </a:solidFill>
                                <a:latin typeface="Cambria Math" panose="02040503050406030204" pitchFamily="18" charset="0"/>
                              </a:rPr>
                              <m:t>𝒏</m:t>
                            </m:r>
                            <m:r>
                              <a:rPr lang="en-US" altLang="zh-CN" b="1" i="1" smtClean="0">
                                <a:solidFill>
                                  <a:srgbClr val="000000"/>
                                </a:solidFill>
                                <a:latin typeface="Cambria Math" panose="02040503050406030204" pitchFamily="18" charset="0"/>
                              </a:rPr>
                              <m:t>, </m:t>
                            </m:r>
                            <m:r>
                              <a:rPr lang="en-US" altLang="zh-CN" b="1" i="1" smtClean="0">
                                <a:solidFill>
                                  <a:srgbClr val="000000"/>
                                </a:solidFill>
                                <a:latin typeface="Cambria Math" panose="02040503050406030204" pitchFamily="18" charset="0"/>
                              </a:rPr>
                              <m:t>𝒎</m:t>
                            </m:r>
                          </m:e>
                        </m:d>
                      </m:e>
                    </m:d>
                  </m:oMath>
                </a14:m>
                <a:r>
                  <a:rPr lang="zh-CN" altLang="en-US" sz="2400" dirty="0"/>
                  <a:t>？</a:t>
                </a:r>
              </a:p>
            </p:txBody>
          </p:sp>
        </mc:Choice>
        <mc:Fallback xmlns="">
          <p:sp>
            <p:nvSpPr>
              <p:cNvPr id="31747" name="Rectangle 3"/>
              <p:cNvSpPr>
                <a:spLocks noGrp="1" noRot="1" noChangeAspect="1" noMove="1" noResize="1" noEditPoints="1" noAdjustHandles="1" noChangeArrowheads="1" noChangeShapeType="1" noTextEdit="1"/>
              </p:cNvSpPr>
              <p:nvPr>
                <p:ph type="body" idx="1"/>
              </p:nvPr>
            </p:nvSpPr>
            <p:spPr>
              <a:xfrm>
                <a:off x="1847851" y="981076"/>
                <a:ext cx="9656794" cy="5256213"/>
              </a:xfrm>
              <a:blipFill rotWithShape="0">
                <a:blip r:embed="rId2"/>
                <a:stretch>
                  <a:fillRect l="-10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2813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8E58894A-0640-49D3-92A9-8E5276845DF1}" type="slidenum">
              <a:rPr lang="ar-SA" altLang="zh-CN" sz="1400">
                <a:solidFill>
                  <a:schemeClr val="bg1"/>
                </a:solidFill>
              </a:rPr>
              <a:pPr/>
              <a:t>44</a:t>
            </a:fld>
            <a:endParaRPr lang="zh-CN" altLang="en-US" sz="1400">
              <a:solidFill>
                <a:schemeClr val="bg1"/>
              </a:solidFill>
              <a:ea typeface="宋体" panose="02010600030101010101" pitchFamily="2" charset="-122"/>
            </a:endParaRPr>
          </a:p>
        </p:txBody>
      </p:sp>
      <p:sp>
        <p:nvSpPr>
          <p:cNvPr id="648194" name="Rectangle 2"/>
          <p:cNvSpPr>
            <a:spLocks noChangeArrowheads="1"/>
          </p:cNvSpPr>
          <p:nvPr/>
        </p:nvSpPr>
        <p:spPr bwMode="auto">
          <a:xfrm>
            <a:off x="2782889" y="2205039"/>
            <a:ext cx="5113337" cy="936625"/>
          </a:xfrm>
          <a:prstGeom prst="rect">
            <a:avLst/>
          </a:prstGeom>
          <a:noFill/>
          <a:ln w="9525">
            <a:noFill/>
            <a:miter lim="800000"/>
            <a:headEnd/>
            <a:tailEnd/>
          </a:ln>
          <a:effectLst/>
        </p:spPr>
        <p:txBody>
          <a:bodyPr lIns="182880" rIns="274320" anchor="b"/>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lang="zh-CN" altLang="en-GB" sz="48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rPr>
              <a:t>再见</a:t>
            </a:r>
            <a:r>
              <a:rPr lang="en-GB" altLang="zh-CN" sz="4800">
                <a:solidFill>
                  <a:schemeClr val="accent2"/>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48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98307" name="Group 3"/>
          <p:cNvGrpSpPr>
            <a:grpSpLocks/>
          </p:cNvGrpSpPr>
          <p:nvPr/>
        </p:nvGrpSpPr>
        <p:grpSpPr bwMode="auto">
          <a:xfrm>
            <a:off x="1524001" y="2438401"/>
            <a:ext cx="9009063" cy="1052513"/>
            <a:chOff x="0" y="1536"/>
            <a:chExt cx="5675" cy="663"/>
          </a:xfrm>
        </p:grpSpPr>
        <p:grpSp>
          <p:nvGrpSpPr>
            <p:cNvPr id="98309" name="Group 4"/>
            <p:cNvGrpSpPr>
              <a:grpSpLocks/>
            </p:cNvGrpSpPr>
            <p:nvPr/>
          </p:nvGrpSpPr>
          <p:grpSpPr bwMode="auto">
            <a:xfrm>
              <a:off x="183" y="1604"/>
              <a:ext cx="448" cy="299"/>
              <a:chOff x="720" y="336"/>
              <a:chExt cx="624" cy="432"/>
            </a:xfrm>
          </p:grpSpPr>
          <p:sp>
            <p:nvSpPr>
              <p:cNvPr id="98316" name="Rectangle 5"/>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sp>
            <p:nvSpPr>
              <p:cNvPr id="98317"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grpSp>
        <p:grpSp>
          <p:nvGrpSpPr>
            <p:cNvPr id="98310" name="Group 7"/>
            <p:cNvGrpSpPr>
              <a:grpSpLocks/>
            </p:cNvGrpSpPr>
            <p:nvPr/>
          </p:nvGrpSpPr>
          <p:grpSpPr bwMode="auto">
            <a:xfrm>
              <a:off x="261" y="1870"/>
              <a:ext cx="465" cy="299"/>
              <a:chOff x="912" y="2640"/>
              <a:chExt cx="672" cy="432"/>
            </a:xfrm>
          </p:grpSpPr>
          <p:sp>
            <p:nvSpPr>
              <p:cNvPr id="98314" name="Rectangle 8"/>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sp>
            <p:nvSpPr>
              <p:cNvPr id="98315"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grpSp>
        <p:sp>
          <p:nvSpPr>
            <p:cNvPr id="98311"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sp>
          <p:nvSpPr>
            <p:cNvPr id="98312" name="Rectangle 11"/>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sp>
          <p:nvSpPr>
            <p:cNvPr id="98313"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50000"/>
                </a:spcBef>
              </a:pPr>
              <a:endParaRPr lang="zh-CN" altLang="en-US"/>
            </a:p>
          </p:txBody>
        </p:sp>
      </p:grpSp>
      <p:sp>
        <p:nvSpPr>
          <p:cNvPr id="98308" name="Text Box 13"/>
          <p:cNvSpPr txBox="1">
            <a:spLocks noChangeArrowheads="1"/>
          </p:cNvSpPr>
          <p:nvPr/>
        </p:nvSpPr>
        <p:spPr bwMode="auto">
          <a:xfrm>
            <a:off x="3359151" y="3573463"/>
            <a:ext cx="62642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b="1" dirty="0">
                <a:solidFill>
                  <a:srgbClr val="FF0000"/>
                </a:solidFill>
                <a:latin typeface="Times New Roman" panose="02020603050405020304" pitchFamily="18" charset="0"/>
              </a:rPr>
              <a:t>联系信息：</a:t>
            </a:r>
          </a:p>
          <a:p>
            <a:pPr eaLnBrk="1" hangingPunct="1">
              <a:spcBef>
                <a:spcPct val="50000"/>
              </a:spcBef>
            </a:pPr>
            <a:r>
              <a:rPr lang="zh-CN" altLang="en-US" b="1" dirty="0">
                <a:latin typeface="Times New Roman" panose="02020603050405020304" pitchFamily="18" charset="0"/>
              </a:rPr>
              <a:t>        电子邮件：</a:t>
            </a:r>
            <a:r>
              <a:rPr lang="en-US" altLang="zh-CN" b="1" dirty="0">
                <a:latin typeface="Times New Roman" panose="02020603050405020304" pitchFamily="18" charset="0"/>
                <a:hlinkClick r:id="rId2"/>
              </a:rPr>
              <a:t>hanshuo@pku.edu.cn</a:t>
            </a:r>
            <a:endParaRPr lang="en-US" altLang="zh-CN" b="1" dirty="0">
              <a:latin typeface="Times New Roman" panose="02020603050405020304" pitchFamily="18" charset="0"/>
            </a:endParaRPr>
          </a:p>
        </p:txBody>
      </p:sp>
    </p:spTree>
    <p:extLst>
      <p:ext uri="{BB962C8B-B14F-4D97-AF65-F5344CB8AC3E}">
        <p14:creationId xmlns:p14="http://schemas.microsoft.com/office/powerpoint/2010/main" val="4048791656"/>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华文中宋"/>
        <a:ea typeface="华文中宋"/>
        <a:cs typeface="Times New Roman"/>
      </a:majorFont>
      <a:minorFont>
        <a:latin typeface="Times New Roman"/>
        <a:ea typeface="楷体_GB2312"/>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cmpd="sng">
          <a:solidFill>
            <a:srgbClr val="FF0000"/>
          </a:solidFill>
          <a:headEnd type="none" w="med" len="med"/>
          <a:tailEnd type="none" w="med" len="med"/>
        </a:ln>
      </a:spPr>
      <a:bodyPr vert="horz" wrap="square" lIns="91440" tIns="45720" rIns="91440" bIns="45720" numCol="1" rtlCol="0"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sz="2400" b="0" i="0" u="none" strike="noStrike" cap="none" normalizeH="0" baseline="0" smtClean="0">
            <a:ln>
              <a:noFill/>
            </a:ln>
            <a:solidFill>
              <a:schemeClr val="tx1"/>
            </a:solidFill>
            <a:effectLst/>
            <a:latin typeface="Arial" charset="0"/>
            <a:cs typeface="Arial" charset="0"/>
          </a:defRPr>
        </a:defPPr>
      </a:lstStyle>
      <a:style>
        <a:lnRef idx="2">
          <a:schemeClr val="accent3">
            <a:shade val="50000"/>
          </a:schemeClr>
        </a:lnRef>
        <a:fillRef idx="1">
          <a:schemeClr val="accent3"/>
        </a:fillRef>
        <a:effectRef idx="0">
          <a:schemeClr val="accent3"/>
        </a:effectRef>
        <a:fontRef idx="minor">
          <a:schemeClr val="lt1"/>
        </a:fontRef>
      </a: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华文中宋"/>
        <a:ea typeface="华文中宋"/>
        <a:cs typeface="Times New Roman"/>
      </a:majorFont>
      <a:minorFont>
        <a:latin typeface="Times New Roman"/>
        <a:ea typeface="楷体_GB2312"/>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cmpd="sng">
          <a:solidFill>
            <a:srgbClr val="FF0000"/>
          </a:solidFill>
          <a:headEnd type="none" w="med" len="med"/>
          <a:tailEnd type="none" w="med" len="med"/>
        </a:ln>
      </a:spPr>
      <a:bodyPr vert="horz" wrap="square" lIns="91440" tIns="45720" rIns="91440" bIns="45720" numCol="1" rtlCol="0"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sz="2400" b="0" i="0" u="none" strike="noStrike" cap="none" normalizeH="0" baseline="0" smtClean="0">
            <a:ln>
              <a:noFill/>
            </a:ln>
            <a:solidFill>
              <a:schemeClr val="tx1"/>
            </a:solidFill>
            <a:effectLst/>
            <a:latin typeface="Arial" charset="0"/>
            <a:cs typeface="Arial" charset="0"/>
          </a:defRPr>
        </a:defPPr>
      </a:lstStyle>
      <a:style>
        <a:lnRef idx="2">
          <a:schemeClr val="accent3">
            <a:shade val="50000"/>
          </a:schemeClr>
        </a:lnRef>
        <a:fillRef idx="1">
          <a:schemeClr val="accent3"/>
        </a:fillRef>
        <a:effectRef idx="0">
          <a:schemeClr val="accent3"/>
        </a:effectRef>
        <a:fontRef idx="minor">
          <a:schemeClr val="lt1"/>
        </a:fontRef>
      </a:style>
    </a:spDef>
    <a:lnDef>
      <a:spPr bwMode="auto">
        <a:xfrm>
          <a:off x="0" y="0"/>
          <a:ext cx="1" cy="1"/>
        </a:xfrm>
        <a:custGeom>
          <a:avLst/>
          <a:gdLst/>
          <a:ahLst/>
          <a:cxnLst/>
          <a:rect l="0" t="0" r="0" b="0"/>
          <a:pathLst/>
        </a:custGeom>
        <a:noFill/>
        <a:ln w="19050"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1620</TotalTime>
  <Words>3621</Words>
  <Application>Microsoft Macintosh PowerPoint</Application>
  <PresentationFormat>宽屏</PresentationFormat>
  <Paragraphs>587</Paragraphs>
  <Slides>44</Slides>
  <Notes>1</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1</vt:i4>
      </vt:variant>
      <vt:variant>
        <vt:lpstr>幻灯片标题</vt:lpstr>
      </vt:variant>
      <vt:variant>
        <vt:i4>44</vt:i4>
      </vt:variant>
    </vt:vector>
  </HeadingPairs>
  <TitlesOfParts>
    <vt:vector size="56" baseType="lpstr">
      <vt:lpstr>华文中宋</vt:lpstr>
      <vt:lpstr>微软雅黑</vt:lpstr>
      <vt:lpstr>Arial</vt:lpstr>
      <vt:lpstr>Calibri</vt:lpstr>
      <vt:lpstr>Cambria Math</vt:lpstr>
      <vt:lpstr>Garamond</vt:lpstr>
      <vt:lpstr>Times New Roman</vt:lpstr>
      <vt:lpstr>Wingdings</vt:lpstr>
      <vt:lpstr>Custom Design</vt:lpstr>
      <vt:lpstr>Default Design</vt:lpstr>
      <vt:lpstr>2_Default Design</vt:lpstr>
      <vt:lpstr>Clip</vt:lpstr>
      <vt:lpstr>补充课  动态规划初步</vt:lpstr>
      <vt:lpstr>课程内容</vt:lpstr>
      <vt:lpstr>数字三角形</vt:lpstr>
      <vt:lpstr>数字三角形 – 递归 </vt:lpstr>
      <vt:lpstr>数字三角形 – 递归 </vt:lpstr>
      <vt:lpstr>数字三角形 – 递归 </vt:lpstr>
      <vt:lpstr>数字三角形 – 递归 </vt:lpstr>
      <vt:lpstr>数字三角形 – “记忆化” </vt:lpstr>
      <vt:lpstr>数字三角形 – “记忆化” </vt:lpstr>
      <vt:lpstr>数字三角形 – “记忆化” </vt:lpstr>
      <vt:lpstr>数字三角形 –递推形式 </vt:lpstr>
      <vt:lpstr>数字三角形 –递推形式 </vt:lpstr>
      <vt:lpstr>数字三角形 –递推形式  </vt:lpstr>
      <vt:lpstr>动态规划– 基本概念 </vt:lpstr>
      <vt:lpstr>动态规划– 基本概念 </vt:lpstr>
      <vt:lpstr>动态规划– 基本概念 </vt:lpstr>
      <vt:lpstr>动态规划– 基本概念 </vt:lpstr>
      <vt:lpstr>动态规划– 基本概念 </vt:lpstr>
      <vt:lpstr>动态规划– 基本概念 </vt:lpstr>
      <vt:lpstr>0-1背包问题</vt:lpstr>
      <vt:lpstr>0-1背包问题</vt:lpstr>
      <vt:lpstr>0-1背包问题</vt:lpstr>
      <vt:lpstr>0-1背包问题</vt:lpstr>
      <vt:lpstr>0-1背包问题–“记忆化”递归实现</vt:lpstr>
      <vt:lpstr>0-1背包问题–“记忆化”递归实现</vt:lpstr>
      <vt:lpstr>0-1背包问题</vt:lpstr>
      <vt:lpstr>0-1背包问题</vt:lpstr>
      <vt:lpstr>0-1背包问题</vt:lpstr>
      <vt:lpstr>0-1背包问题– 递推实现</vt:lpstr>
      <vt:lpstr>0-1背包问题– 递推实现</vt:lpstr>
      <vt:lpstr>0-1背包问题 – 动态规划</vt:lpstr>
      <vt:lpstr>0-1背包问题 – 动态规划</vt:lpstr>
      <vt:lpstr>0-1背包问题 – 空间优化</vt:lpstr>
      <vt:lpstr>0-1背包问题– 递推实现空间优化</vt:lpstr>
      <vt:lpstr>0-1背包问题</vt:lpstr>
      <vt:lpstr>字符串编辑距离</vt:lpstr>
      <vt:lpstr>字符串编辑距离</vt:lpstr>
      <vt:lpstr>字符串编辑距离</vt:lpstr>
      <vt:lpstr>字符串编辑距离–“记忆化”递归实现</vt:lpstr>
      <vt:lpstr>字符串编辑距离–“记忆化”递归实现</vt:lpstr>
      <vt:lpstr>字符串编辑距离–递推实现</vt:lpstr>
      <vt:lpstr>字符串编辑距离–递推实现</vt:lpstr>
      <vt:lpstr>字符串编辑距离–空间优化</vt:lpstr>
      <vt:lpstr>PowerPoint 演示文稿</vt:lpstr>
    </vt:vector>
  </TitlesOfParts>
  <Company>PKU-ICST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Han Shuo</dc:creator>
  <cp:lastModifiedBy>薛 冰聪</cp:lastModifiedBy>
  <cp:revision>142</cp:revision>
  <dcterms:created xsi:type="dcterms:W3CDTF">2017-10-08T05:51:13Z</dcterms:created>
  <dcterms:modified xsi:type="dcterms:W3CDTF">2021-09-25T02:07:32Z</dcterms:modified>
</cp:coreProperties>
</file>