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3"/>
  </p:notesMasterIdLst>
  <p:sldIdLst>
    <p:sldId id="636" r:id="rId3"/>
    <p:sldId id="726" r:id="rId4"/>
    <p:sldId id="727" r:id="rId5"/>
    <p:sldId id="728" r:id="rId6"/>
    <p:sldId id="756" r:id="rId7"/>
    <p:sldId id="729" r:id="rId8"/>
    <p:sldId id="730" r:id="rId9"/>
    <p:sldId id="731" r:id="rId10"/>
    <p:sldId id="732" r:id="rId11"/>
    <p:sldId id="733" r:id="rId12"/>
    <p:sldId id="734" r:id="rId13"/>
    <p:sldId id="735" r:id="rId14"/>
    <p:sldId id="736" r:id="rId15"/>
    <p:sldId id="737" r:id="rId16"/>
    <p:sldId id="738" r:id="rId17"/>
    <p:sldId id="739" r:id="rId18"/>
    <p:sldId id="740" r:id="rId19"/>
    <p:sldId id="741" r:id="rId20"/>
    <p:sldId id="742" r:id="rId21"/>
    <p:sldId id="751" r:id="rId22"/>
    <p:sldId id="752" r:id="rId23"/>
    <p:sldId id="753" r:id="rId24"/>
    <p:sldId id="744" r:id="rId25"/>
    <p:sldId id="745" r:id="rId26"/>
    <p:sldId id="746" r:id="rId27"/>
    <p:sldId id="747" r:id="rId28"/>
    <p:sldId id="748" r:id="rId29"/>
    <p:sldId id="749" r:id="rId30"/>
    <p:sldId id="755" r:id="rId31"/>
    <p:sldId id="754"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0"/>
    <p:restoredTop sz="88118" autoAdjust="0"/>
  </p:normalViewPr>
  <p:slideViewPr>
    <p:cSldViewPr snapToGrid="0">
      <p:cViewPr varScale="1">
        <p:scale>
          <a:sx n="111" d="100"/>
          <a:sy n="111" d="100"/>
        </p:scale>
        <p:origin x="24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D420A0-3F76-4ED5-A491-A6D4F2E8A782}" type="datetimeFigureOut">
              <a:rPr lang="zh-CN" altLang="en-US" smtClean="0"/>
              <a:t>2021/12/22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0F472E-0071-4A33-8625-5340564E53A3}" type="slidenum">
              <a:rPr lang="zh-CN" altLang="en-US" smtClean="0"/>
              <a:t>‹#›</a:t>
            </a:fld>
            <a:endParaRPr lang="zh-CN" altLang="en-US"/>
          </a:p>
        </p:txBody>
      </p:sp>
    </p:spTree>
    <p:extLst>
      <p:ext uri="{BB962C8B-B14F-4D97-AF65-F5344CB8AC3E}">
        <p14:creationId xmlns:p14="http://schemas.microsoft.com/office/powerpoint/2010/main" val="2810171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79408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a:t>
            </a:fld>
            <a:endParaRPr lang="zh-CN" altLang="en-US"/>
          </a:p>
        </p:txBody>
      </p:sp>
    </p:spTree>
    <p:extLst>
      <p:ext uri="{BB962C8B-B14F-4D97-AF65-F5344CB8AC3E}">
        <p14:creationId xmlns:p14="http://schemas.microsoft.com/office/powerpoint/2010/main" val="2367325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3</a:t>
            </a:fld>
            <a:endParaRPr lang="zh-CN" altLang="en-US"/>
          </a:p>
        </p:txBody>
      </p:sp>
    </p:spTree>
    <p:extLst>
      <p:ext uri="{BB962C8B-B14F-4D97-AF65-F5344CB8AC3E}">
        <p14:creationId xmlns:p14="http://schemas.microsoft.com/office/powerpoint/2010/main" val="1055070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4</a:t>
            </a:fld>
            <a:endParaRPr lang="zh-CN" altLang="en-US"/>
          </a:p>
        </p:txBody>
      </p:sp>
    </p:spTree>
    <p:extLst>
      <p:ext uri="{BB962C8B-B14F-4D97-AF65-F5344CB8AC3E}">
        <p14:creationId xmlns:p14="http://schemas.microsoft.com/office/powerpoint/2010/main" val="686119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5</a:t>
            </a:fld>
            <a:endParaRPr lang="zh-CN" altLang="en-US"/>
          </a:p>
        </p:txBody>
      </p:sp>
    </p:spTree>
    <p:extLst>
      <p:ext uri="{BB962C8B-B14F-4D97-AF65-F5344CB8AC3E}">
        <p14:creationId xmlns:p14="http://schemas.microsoft.com/office/powerpoint/2010/main" val="2548136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6</a:t>
            </a:fld>
            <a:endParaRPr lang="zh-CN" altLang="en-US"/>
          </a:p>
        </p:txBody>
      </p:sp>
    </p:spTree>
    <p:extLst>
      <p:ext uri="{BB962C8B-B14F-4D97-AF65-F5344CB8AC3E}">
        <p14:creationId xmlns:p14="http://schemas.microsoft.com/office/powerpoint/2010/main" val="210493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有同学用了散列的思路解题，这次作业暂时不会扣分，但考试时还是要注意审题、按题目要求作答。</a:t>
            </a:r>
          </a:p>
        </p:txBody>
      </p:sp>
      <p:sp>
        <p:nvSpPr>
          <p:cNvPr id="4" name="灯片编号占位符 3"/>
          <p:cNvSpPr>
            <a:spLocks noGrp="1"/>
          </p:cNvSpPr>
          <p:nvPr>
            <p:ph type="sldNum" sz="quarter" idx="5"/>
          </p:nvPr>
        </p:nvSpPr>
        <p:spPr/>
        <p:txBody>
          <a:bodyPr/>
          <a:lstStyle/>
          <a:p>
            <a:fld id="{C2A75D99-2AE7-49F1-BB03-59E2BF5579C1}" type="slidenum">
              <a:rPr lang="zh-CN" altLang="en-US" smtClean="0"/>
              <a:t>7</a:t>
            </a:fld>
            <a:endParaRPr lang="zh-CN" altLang="en-US"/>
          </a:p>
        </p:txBody>
      </p:sp>
    </p:spTree>
    <p:extLst>
      <p:ext uri="{BB962C8B-B14F-4D97-AF65-F5344CB8AC3E}">
        <p14:creationId xmlns:p14="http://schemas.microsoft.com/office/powerpoint/2010/main" val="134626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8</a:t>
            </a:fld>
            <a:endParaRPr lang="zh-CN" altLang="en-US"/>
          </a:p>
        </p:txBody>
      </p:sp>
    </p:spTree>
    <p:extLst>
      <p:ext uri="{BB962C8B-B14F-4D97-AF65-F5344CB8AC3E}">
        <p14:creationId xmlns:p14="http://schemas.microsoft.com/office/powerpoint/2010/main" val="2371109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9</a:t>
            </a:fld>
            <a:endParaRPr lang="zh-CN" altLang="en-US"/>
          </a:p>
        </p:txBody>
      </p:sp>
    </p:spTree>
    <p:extLst>
      <p:ext uri="{BB962C8B-B14F-4D97-AF65-F5344CB8AC3E}">
        <p14:creationId xmlns:p14="http://schemas.microsoft.com/office/powerpoint/2010/main" val="1484346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10</a:t>
            </a:fld>
            <a:endParaRPr lang="zh-CN" altLang="en-US"/>
          </a:p>
        </p:txBody>
      </p:sp>
    </p:spTree>
    <p:extLst>
      <p:ext uri="{BB962C8B-B14F-4D97-AF65-F5344CB8AC3E}">
        <p14:creationId xmlns:p14="http://schemas.microsoft.com/office/powerpoint/2010/main" val="2143309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11</a:t>
            </a:fld>
            <a:endParaRPr lang="zh-CN" altLang="en-US"/>
          </a:p>
        </p:txBody>
      </p:sp>
    </p:spTree>
    <p:extLst>
      <p:ext uri="{BB962C8B-B14F-4D97-AF65-F5344CB8AC3E}">
        <p14:creationId xmlns:p14="http://schemas.microsoft.com/office/powerpoint/2010/main" val="1707481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12</a:t>
            </a:fld>
            <a:endParaRPr lang="zh-CN" altLang="en-US"/>
          </a:p>
        </p:txBody>
      </p:sp>
    </p:spTree>
    <p:extLst>
      <p:ext uri="{BB962C8B-B14F-4D97-AF65-F5344CB8AC3E}">
        <p14:creationId xmlns:p14="http://schemas.microsoft.com/office/powerpoint/2010/main" val="36344135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13</a:t>
            </a:fld>
            <a:endParaRPr lang="zh-CN" altLang="en-US"/>
          </a:p>
        </p:txBody>
      </p:sp>
    </p:spTree>
    <p:extLst>
      <p:ext uri="{BB962C8B-B14F-4D97-AF65-F5344CB8AC3E}">
        <p14:creationId xmlns:p14="http://schemas.microsoft.com/office/powerpoint/2010/main" val="24063513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14</a:t>
            </a:fld>
            <a:endParaRPr lang="zh-CN" altLang="en-US"/>
          </a:p>
        </p:txBody>
      </p:sp>
    </p:spTree>
    <p:extLst>
      <p:ext uri="{BB962C8B-B14F-4D97-AF65-F5344CB8AC3E}">
        <p14:creationId xmlns:p14="http://schemas.microsoft.com/office/powerpoint/2010/main" val="11833124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15</a:t>
            </a:fld>
            <a:endParaRPr lang="zh-CN" altLang="en-US"/>
          </a:p>
        </p:txBody>
      </p:sp>
    </p:spTree>
    <p:extLst>
      <p:ext uri="{BB962C8B-B14F-4D97-AF65-F5344CB8AC3E}">
        <p14:creationId xmlns:p14="http://schemas.microsoft.com/office/powerpoint/2010/main" val="26220926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16</a:t>
            </a:fld>
            <a:endParaRPr lang="zh-CN" altLang="en-US"/>
          </a:p>
        </p:txBody>
      </p:sp>
    </p:spTree>
    <p:extLst>
      <p:ext uri="{BB962C8B-B14F-4D97-AF65-F5344CB8AC3E}">
        <p14:creationId xmlns:p14="http://schemas.microsoft.com/office/powerpoint/2010/main" val="1760688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17</a:t>
            </a:fld>
            <a:endParaRPr lang="zh-CN" altLang="en-US"/>
          </a:p>
        </p:txBody>
      </p:sp>
    </p:spTree>
    <p:extLst>
      <p:ext uri="{BB962C8B-B14F-4D97-AF65-F5344CB8AC3E}">
        <p14:creationId xmlns:p14="http://schemas.microsoft.com/office/powerpoint/2010/main" val="36624755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18</a:t>
            </a:fld>
            <a:endParaRPr lang="zh-CN" altLang="en-US"/>
          </a:p>
        </p:txBody>
      </p:sp>
    </p:spTree>
    <p:extLst>
      <p:ext uri="{BB962C8B-B14F-4D97-AF65-F5344CB8AC3E}">
        <p14:creationId xmlns:p14="http://schemas.microsoft.com/office/powerpoint/2010/main" val="2081829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19</a:t>
            </a:fld>
            <a:endParaRPr lang="zh-CN" altLang="en-US"/>
          </a:p>
        </p:txBody>
      </p:sp>
    </p:spTree>
    <p:extLst>
      <p:ext uri="{BB962C8B-B14F-4D97-AF65-F5344CB8AC3E}">
        <p14:creationId xmlns:p14="http://schemas.microsoft.com/office/powerpoint/2010/main" val="17156502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20</a:t>
            </a:fld>
            <a:endParaRPr lang="zh-CN" altLang="en-US"/>
          </a:p>
        </p:txBody>
      </p:sp>
    </p:spTree>
    <p:extLst>
      <p:ext uri="{BB962C8B-B14F-4D97-AF65-F5344CB8AC3E}">
        <p14:creationId xmlns:p14="http://schemas.microsoft.com/office/powerpoint/2010/main" val="4458423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21</a:t>
            </a:fld>
            <a:endParaRPr lang="zh-CN" altLang="en-US"/>
          </a:p>
        </p:txBody>
      </p:sp>
    </p:spTree>
    <p:extLst>
      <p:ext uri="{BB962C8B-B14F-4D97-AF65-F5344CB8AC3E}">
        <p14:creationId xmlns:p14="http://schemas.microsoft.com/office/powerpoint/2010/main" val="40812949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22</a:t>
            </a:fld>
            <a:endParaRPr lang="zh-CN" altLang="en-US"/>
          </a:p>
        </p:txBody>
      </p:sp>
    </p:spTree>
    <p:extLst>
      <p:ext uri="{BB962C8B-B14F-4D97-AF65-F5344CB8AC3E}">
        <p14:creationId xmlns:p14="http://schemas.microsoft.com/office/powerpoint/2010/main" val="42771171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23</a:t>
            </a:fld>
            <a:endParaRPr lang="zh-CN" altLang="en-US"/>
          </a:p>
        </p:txBody>
      </p:sp>
    </p:spTree>
    <p:extLst>
      <p:ext uri="{BB962C8B-B14F-4D97-AF65-F5344CB8AC3E}">
        <p14:creationId xmlns:p14="http://schemas.microsoft.com/office/powerpoint/2010/main" val="33956907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24</a:t>
            </a:fld>
            <a:endParaRPr lang="zh-CN" altLang="en-US"/>
          </a:p>
        </p:txBody>
      </p:sp>
    </p:spTree>
    <p:extLst>
      <p:ext uri="{BB962C8B-B14F-4D97-AF65-F5344CB8AC3E}">
        <p14:creationId xmlns:p14="http://schemas.microsoft.com/office/powerpoint/2010/main" val="27198913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25</a:t>
            </a:fld>
            <a:endParaRPr lang="zh-CN" altLang="en-US"/>
          </a:p>
        </p:txBody>
      </p:sp>
    </p:spTree>
    <p:extLst>
      <p:ext uri="{BB962C8B-B14F-4D97-AF65-F5344CB8AC3E}">
        <p14:creationId xmlns:p14="http://schemas.microsoft.com/office/powerpoint/2010/main" val="3272485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26</a:t>
            </a:fld>
            <a:endParaRPr lang="zh-CN" altLang="en-US"/>
          </a:p>
        </p:txBody>
      </p:sp>
    </p:spTree>
    <p:extLst>
      <p:ext uri="{BB962C8B-B14F-4D97-AF65-F5344CB8AC3E}">
        <p14:creationId xmlns:p14="http://schemas.microsoft.com/office/powerpoint/2010/main" val="6465947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27</a:t>
            </a:fld>
            <a:endParaRPr lang="zh-CN" altLang="en-US"/>
          </a:p>
        </p:txBody>
      </p:sp>
    </p:spTree>
    <p:extLst>
      <p:ext uri="{BB962C8B-B14F-4D97-AF65-F5344CB8AC3E}">
        <p14:creationId xmlns:p14="http://schemas.microsoft.com/office/powerpoint/2010/main" val="20225657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28</a:t>
            </a:fld>
            <a:endParaRPr lang="zh-CN" altLang="en-US"/>
          </a:p>
        </p:txBody>
      </p:sp>
    </p:spTree>
    <p:extLst>
      <p:ext uri="{BB962C8B-B14F-4D97-AF65-F5344CB8AC3E}">
        <p14:creationId xmlns:p14="http://schemas.microsoft.com/office/powerpoint/2010/main" val="2955647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29</a:t>
            </a:fld>
            <a:endParaRPr lang="zh-CN" altLang="en-US"/>
          </a:p>
        </p:txBody>
      </p:sp>
    </p:spTree>
    <p:extLst>
      <p:ext uri="{BB962C8B-B14F-4D97-AF65-F5344CB8AC3E}">
        <p14:creationId xmlns:p14="http://schemas.microsoft.com/office/powerpoint/2010/main" val="22262039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30</a:t>
            </a:fld>
            <a:endParaRPr lang="zh-CN" altLang="en-US"/>
          </a:p>
        </p:txBody>
      </p:sp>
    </p:spTree>
    <p:extLst>
      <p:ext uri="{BB962C8B-B14F-4D97-AF65-F5344CB8AC3E}">
        <p14:creationId xmlns:p14="http://schemas.microsoft.com/office/powerpoint/2010/main" val="3268851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BCDDDB-7C04-43BB-B204-99FA124806B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8CFC805-7917-48EC-805A-2CDF4658F4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851A655-FC12-4240-BC77-7D89C7F65AFB}"/>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2CC8E920-EF2D-43B5-9513-4595EC634E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10D34B5-488D-4162-B02D-C0C02CB73BF6}"/>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607832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ED7DA1-8149-4B8D-AA7B-1F5B718BC83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A555B50-8915-463E-B918-52B377F3C70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739FFA-9327-4A3F-8200-D3B98890EF59}"/>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9472A232-10B9-41D9-8C1A-AA6845C8C3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016635C-4DD4-4BD6-9665-77FC7967D6E3}"/>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075778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0CF8C7-C500-4CD5-919A-6158C0A98BF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A622C59-50AB-4CA0-ABB4-19121B2CB9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0637927-D423-47BA-81E7-D7F673B3F9FC}"/>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DF96632F-57AF-42C2-BF3D-26EC04CD15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6EED63-73F5-4B28-85B3-EB0E111DD535}"/>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009161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A3F96F-7DD6-4BD3-A4DD-E926D908C7F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952CFA7-876F-47DC-B8BA-C85F223CF69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410C0FD-C516-4F24-9F24-F42355ED5C2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DEB56BC-AD95-4D55-9455-77D5C3830CE2}"/>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109EDFDC-ACD9-4A34-9FA4-883F5814194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6DE2F23-F480-4748-A48A-0D1246EC923B}"/>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3372377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B6208E-2116-4025-9950-D2377645E03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132A21E-D3DD-4E75-9E9D-5C87E58009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6935C11-C5A7-4027-A22E-2B5603FF2C7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17FF8F6-7481-4B06-8307-A502AAAC5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6295B9C-91E8-49F9-B732-E2DE98BBA38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025AD6A-914A-4DB7-B086-FF500B740324}"/>
              </a:ext>
            </a:extLst>
          </p:cNvPr>
          <p:cNvSpPr>
            <a:spLocks noGrp="1"/>
          </p:cNvSpPr>
          <p:nvPr>
            <p:ph type="dt" sz="half" idx="10"/>
          </p:nvPr>
        </p:nvSpPr>
        <p:spPr/>
        <p:txBody>
          <a:bodyPr/>
          <a:lstStyle/>
          <a:p>
            <a:endParaRPr lang="zh-CN" altLang="en-US"/>
          </a:p>
        </p:txBody>
      </p:sp>
      <p:sp>
        <p:nvSpPr>
          <p:cNvPr id="8" name="页脚占位符 7">
            <a:extLst>
              <a:ext uri="{FF2B5EF4-FFF2-40B4-BE49-F238E27FC236}">
                <a16:creationId xmlns:a16="http://schemas.microsoft.com/office/drawing/2014/main" id="{95E0EA91-9490-4EF3-B946-287B34C8DC5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A198CA2-E0C2-4680-A081-EBDDE080B736}"/>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966368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25F21C-2793-4194-9317-83472E45025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8DC048B-AD09-49AD-8287-8D547C72D39E}"/>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CBD866D6-52ED-4B0D-8F41-018C32C882F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86A4FCF-F27B-4CA0-B605-ADE6FFF16A4F}"/>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1529283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F059181-E631-4B1A-B924-AAE3387B4FF5}"/>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9E53192E-9287-4663-ADDB-F5AFDF1816B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8DACA25-9278-464F-8666-9DC9169A4375}"/>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3830024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64CE83-CC4A-46A2-926E-86FCE3F602C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FECA719-D570-4E10-9D1E-229A3D42CE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024995A-89A0-4592-A926-56262C1AE6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AD6E123-2FC6-4326-BA9A-07F9A90EAE0D}"/>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6A53CF9C-BAF2-4797-B080-82A6B7AD771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994C22E-DFC8-4B43-A045-AB522FF5E674}"/>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4043311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99D47B-2BDC-4EF9-AEE6-4C3EBC08CF6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369BA18-19EC-45BC-A79C-FA87924E9A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189C145-EC25-45E8-8F71-0C6B999DF4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8150F4F-EB4A-4FF4-9570-B0428773AC8B}"/>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A7579902-1D8B-45E1-9590-ACC4232962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C1B7CD1-1E91-41AC-B562-22A10AA9B185}"/>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1204651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6C5E82-EDF4-45B8-849A-A6BDAED781F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C158223-16E4-4600-9456-B701B66F7E8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BE94BA3-459C-42E9-8838-765D95B17589}"/>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CFEFDACB-73A9-48BD-BB89-6307904423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CBE8F70-83B9-4DE2-B6C3-04BB4405071C}"/>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1091367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6DCCE4-4877-48D6-A11D-F2258F91CCA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176EED3-3CCE-4E4C-AB19-B381F90F07E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5DA9827-18D4-4B85-ACD5-404A80D70D8C}"/>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467CFEE7-8E70-44B3-B67B-20953023566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F30CEA0-AC33-4CFF-84D3-425421F9E6D9}"/>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671551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06296C0-E8A8-4ABD-980C-DC99A7F42D7F}"/>
              </a:ext>
            </a:extLst>
          </p:cNvPr>
          <p:cNvPicPr>
            <a:picLocks noChangeAspect="1"/>
          </p:cNvPicPr>
          <p:nvPr userDrawn="1"/>
        </p:nvPicPr>
        <p:blipFill>
          <a:blip r:embed="rId2"/>
          <a:stretch>
            <a:fillRect/>
          </a:stretch>
        </p:blipFill>
        <p:spPr>
          <a:xfrm>
            <a:off x="0" y="0"/>
            <a:ext cx="12192000" cy="3357217"/>
          </a:xfrm>
          <a:prstGeom prst="rect">
            <a:avLst/>
          </a:prstGeom>
        </p:spPr>
      </p:pic>
      <p:sp>
        <p:nvSpPr>
          <p:cNvPr id="4" name="矩形 3">
            <a:extLst>
              <a:ext uri="{FF2B5EF4-FFF2-40B4-BE49-F238E27FC236}">
                <a16:creationId xmlns:a16="http://schemas.microsoft.com/office/drawing/2014/main" id="{4BC187F1-42E5-4383-AC3D-83B120CDE410}"/>
              </a:ext>
            </a:extLst>
          </p:cNvPr>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7087F57-B8B2-4F52-943A-08BE08AC8C9F}"/>
              </a:ext>
            </a:extLst>
          </p:cNvPr>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ACAC108B-5150-431E-B389-3B1F46A2B67E}"/>
              </a:ext>
            </a:extLst>
          </p:cNvPr>
          <p:cNvGrpSpPr/>
          <p:nvPr userDrawn="1"/>
        </p:nvGrpSpPr>
        <p:grpSpPr>
          <a:xfrm>
            <a:off x="5410200" y="2670375"/>
            <a:ext cx="1371600" cy="1368402"/>
            <a:chOff x="2105799" y="20055838"/>
            <a:chExt cx="6748090" cy="6732363"/>
          </a:xfrm>
          <a:solidFill>
            <a:srgbClr val="8B0012">
              <a:alpha val="80000"/>
            </a:srgbClr>
          </a:solidFill>
        </p:grpSpPr>
        <p:sp>
          <p:nvSpPr>
            <p:cNvPr id="7" name="Freeform 8">
              <a:extLst>
                <a:ext uri="{FF2B5EF4-FFF2-40B4-BE49-F238E27FC236}">
                  <a16:creationId xmlns:a16="http://schemas.microsoft.com/office/drawing/2014/main" id="{A4BB1E0C-3B71-494C-90A5-5E83B05763C4}"/>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8" name="Freeform 42">
              <a:extLst>
                <a:ext uri="{FF2B5EF4-FFF2-40B4-BE49-F238E27FC236}">
                  <a16:creationId xmlns:a16="http://schemas.microsoft.com/office/drawing/2014/main" id="{9C922C0C-6676-4220-A57A-6A60B760EC5E}"/>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9" name="Freeform 43">
              <a:extLst>
                <a:ext uri="{FF2B5EF4-FFF2-40B4-BE49-F238E27FC236}">
                  <a16:creationId xmlns:a16="http://schemas.microsoft.com/office/drawing/2014/main" id="{13B11B68-25F0-45BA-8167-7E67FD4D1E0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0" name="Freeform 44">
              <a:extLst>
                <a:ext uri="{FF2B5EF4-FFF2-40B4-BE49-F238E27FC236}">
                  <a16:creationId xmlns:a16="http://schemas.microsoft.com/office/drawing/2014/main" id="{3AA3C9BE-308B-42E0-B388-8B9594616391}"/>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1" name="Freeform 45">
              <a:extLst>
                <a:ext uri="{FF2B5EF4-FFF2-40B4-BE49-F238E27FC236}">
                  <a16:creationId xmlns:a16="http://schemas.microsoft.com/office/drawing/2014/main" id="{2270AF1B-A34B-4183-AA58-499F7FC92BEA}"/>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2" name="Freeform 46">
              <a:extLst>
                <a:ext uri="{FF2B5EF4-FFF2-40B4-BE49-F238E27FC236}">
                  <a16:creationId xmlns:a16="http://schemas.microsoft.com/office/drawing/2014/main" id="{1648A05A-8C9B-4DCB-ADF5-C0E9CA804EF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3" name="Freeform 47">
              <a:extLst>
                <a:ext uri="{FF2B5EF4-FFF2-40B4-BE49-F238E27FC236}">
                  <a16:creationId xmlns:a16="http://schemas.microsoft.com/office/drawing/2014/main" id="{780F1822-408A-4D9E-A7BB-5649D8459E2F}"/>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4" name="Freeform 48">
              <a:extLst>
                <a:ext uri="{FF2B5EF4-FFF2-40B4-BE49-F238E27FC236}">
                  <a16:creationId xmlns:a16="http://schemas.microsoft.com/office/drawing/2014/main" id="{D7B27305-F882-49EB-B5D1-DAD265B8F59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5" name="Freeform 49">
              <a:extLst>
                <a:ext uri="{FF2B5EF4-FFF2-40B4-BE49-F238E27FC236}">
                  <a16:creationId xmlns:a16="http://schemas.microsoft.com/office/drawing/2014/main" id="{1C88A9B0-6500-44EB-B523-6AB8CF2E5B58}"/>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6" name="Freeform 50">
              <a:extLst>
                <a:ext uri="{FF2B5EF4-FFF2-40B4-BE49-F238E27FC236}">
                  <a16:creationId xmlns:a16="http://schemas.microsoft.com/office/drawing/2014/main" id="{02B0BE86-EC4F-4A7E-B284-3AA3AEE5F3B5}"/>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7" name="Freeform 51">
              <a:extLst>
                <a:ext uri="{FF2B5EF4-FFF2-40B4-BE49-F238E27FC236}">
                  <a16:creationId xmlns:a16="http://schemas.microsoft.com/office/drawing/2014/main" id="{D646E307-5A0C-4184-9829-2D12C5F1D732}"/>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8" name="Freeform 52">
              <a:extLst>
                <a:ext uri="{FF2B5EF4-FFF2-40B4-BE49-F238E27FC236}">
                  <a16:creationId xmlns:a16="http://schemas.microsoft.com/office/drawing/2014/main" id="{1213DF27-0675-40E1-AF04-500FEC47309C}"/>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9" name="Freeform 53">
              <a:extLst>
                <a:ext uri="{FF2B5EF4-FFF2-40B4-BE49-F238E27FC236}">
                  <a16:creationId xmlns:a16="http://schemas.microsoft.com/office/drawing/2014/main" id="{78B921DD-11CC-425E-A465-F4034A5A080D}"/>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0" name="Freeform 54">
              <a:extLst>
                <a:ext uri="{FF2B5EF4-FFF2-40B4-BE49-F238E27FC236}">
                  <a16:creationId xmlns:a16="http://schemas.microsoft.com/office/drawing/2014/main" id="{E251C559-AD0A-4238-9C00-053CFAFCF5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1" name="Freeform 55">
              <a:extLst>
                <a:ext uri="{FF2B5EF4-FFF2-40B4-BE49-F238E27FC236}">
                  <a16:creationId xmlns:a16="http://schemas.microsoft.com/office/drawing/2014/main" id="{22DC21C7-7AEE-4789-B295-78B5A39F5F12}"/>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2" name="Freeform 56">
              <a:extLst>
                <a:ext uri="{FF2B5EF4-FFF2-40B4-BE49-F238E27FC236}">
                  <a16:creationId xmlns:a16="http://schemas.microsoft.com/office/drawing/2014/main" id="{2089A1EF-769C-4B32-ACB7-0843ADFE09A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3" name="Freeform 57">
              <a:extLst>
                <a:ext uri="{FF2B5EF4-FFF2-40B4-BE49-F238E27FC236}">
                  <a16:creationId xmlns:a16="http://schemas.microsoft.com/office/drawing/2014/main" id="{89065D5C-2F82-4B9C-9DCF-556527D2755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4" name="Freeform 58">
              <a:extLst>
                <a:ext uri="{FF2B5EF4-FFF2-40B4-BE49-F238E27FC236}">
                  <a16:creationId xmlns:a16="http://schemas.microsoft.com/office/drawing/2014/main" id="{63D30659-2737-4732-A71C-025BE4A9E86B}"/>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5" name="Freeform 59">
              <a:extLst>
                <a:ext uri="{FF2B5EF4-FFF2-40B4-BE49-F238E27FC236}">
                  <a16:creationId xmlns:a16="http://schemas.microsoft.com/office/drawing/2014/main" id="{26925B20-892F-495B-ACDF-9EC468A2C7C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6" name="Freeform 60">
              <a:extLst>
                <a:ext uri="{FF2B5EF4-FFF2-40B4-BE49-F238E27FC236}">
                  <a16:creationId xmlns:a16="http://schemas.microsoft.com/office/drawing/2014/main" id="{F4DFD42E-FD06-4DD4-BD5D-E8024A4948AB}"/>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7" name="Freeform 61">
              <a:extLst>
                <a:ext uri="{FF2B5EF4-FFF2-40B4-BE49-F238E27FC236}">
                  <a16:creationId xmlns:a16="http://schemas.microsoft.com/office/drawing/2014/main" id="{AFA1A6B6-4731-43D9-A6A3-8AFB9A5AE684}"/>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8" name="Freeform 62">
              <a:extLst>
                <a:ext uri="{FF2B5EF4-FFF2-40B4-BE49-F238E27FC236}">
                  <a16:creationId xmlns:a16="http://schemas.microsoft.com/office/drawing/2014/main" id="{7C89F33A-1343-45E8-91E5-F27A8457EA0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9" name="Freeform 71">
              <a:extLst>
                <a:ext uri="{FF2B5EF4-FFF2-40B4-BE49-F238E27FC236}">
                  <a16:creationId xmlns:a16="http://schemas.microsoft.com/office/drawing/2014/main" id="{592EB9D1-7BB9-4D0B-9C6E-355FA946B6E7}"/>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grpSp>
      <p:sp>
        <p:nvSpPr>
          <p:cNvPr id="36" name="文本占位符 35">
            <a:extLst>
              <a:ext uri="{FF2B5EF4-FFF2-40B4-BE49-F238E27FC236}">
                <a16:creationId xmlns:a16="http://schemas.microsoft.com/office/drawing/2014/main" id="{99EF31F4-C1DD-413E-8350-2A8F905B444F}"/>
              </a:ext>
            </a:extLst>
          </p:cNvPr>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模板</a:t>
            </a:r>
          </a:p>
        </p:txBody>
      </p:sp>
      <p:sp>
        <p:nvSpPr>
          <p:cNvPr id="41" name="文本占位符 37">
            <a:extLst>
              <a:ext uri="{FF2B5EF4-FFF2-40B4-BE49-F238E27FC236}">
                <a16:creationId xmlns:a16="http://schemas.microsoft.com/office/drawing/2014/main" id="{D6220974-BA97-4239-8B37-C87F7F2D4871}"/>
              </a:ext>
            </a:extLst>
          </p:cNvPr>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a:extLst>
              <a:ext uri="{FF2B5EF4-FFF2-40B4-BE49-F238E27FC236}">
                <a16:creationId xmlns:a16="http://schemas.microsoft.com/office/drawing/2014/main" id="{1E1C9D50-4952-418A-9BEE-D99198F6E380}"/>
              </a:ext>
            </a:extLst>
          </p:cNvPr>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a:extLst>
              <a:ext uri="{FF2B5EF4-FFF2-40B4-BE49-F238E27FC236}">
                <a16:creationId xmlns:a16="http://schemas.microsoft.com/office/drawing/2014/main" id="{62842471-F840-45CA-8087-A1D9DF3CA908}"/>
              </a:ext>
            </a:extLst>
          </p:cNvPr>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extLst>
      <p:ext uri="{BB962C8B-B14F-4D97-AF65-F5344CB8AC3E}">
        <p14:creationId xmlns:p14="http://schemas.microsoft.com/office/powerpoint/2010/main" val="2553958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a:extLst>
              <a:ext uri="{FF2B5EF4-FFF2-40B4-BE49-F238E27FC236}">
                <a16:creationId xmlns:a16="http://schemas.microsoft.com/office/drawing/2014/main" id="{4D6291A7-7416-4ABD-BDD5-1A52FB976A6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a:extLst>
              <a:ext uri="{FF2B5EF4-FFF2-40B4-BE49-F238E27FC236}">
                <a16:creationId xmlns:a16="http://schemas.microsoft.com/office/drawing/2014/main" id="{22F2AF65-774C-46B4-8BD3-F9EC13500DE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5" name="文本占位符 40">
            <a:extLst>
              <a:ext uri="{FF2B5EF4-FFF2-40B4-BE49-F238E27FC236}">
                <a16:creationId xmlns:a16="http://schemas.microsoft.com/office/drawing/2014/main" id="{E092B345-4879-4708-91A6-4E07DC6C11C0}"/>
              </a:ext>
            </a:extLst>
          </p:cNvPr>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6" name="文本占位符 40">
            <a:extLst>
              <a:ext uri="{FF2B5EF4-FFF2-40B4-BE49-F238E27FC236}">
                <a16:creationId xmlns:a16="http://schemas.microsoft.com/office/drawing/2014/main" id="{03810C05-3860-4CF4-B2C4-7B90D45455E3}"/>
              </a:ext>
            </a:extLst>
          </p:cNvPr>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7" name="文本占位符 40">
            <a:extLst>
              <a:ext uri="{FF2B5EF4-FFF2-40B4-BE49-F238E27FC236}">
                <a16:creationId xmlns:a16="http://schemas.microsoft.com/office/drawing/2014/main" id="{0A0C6CFA-9C78-45B1-B085-C2C99900D665}"/>
              </a:ext>
            </a:extLst>
          </p:cNvPr>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9" name="文本占位符 40">
            <a:extLst>
              <a:ext uri="{FF2B5EF4-FFF2-40B4-BE49-F238E27FC236}">
                <a16:creationId xmlns:a16="http://schemas.microsoft.com/office/drawing/2014/main" id="{6FA729E4-5DE0-4287-AF67-5FB2109F1BB2}"/>
              </a:ext>
            </a:extLst>
          </p:cNvPr>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50" name="文本框 49">
            <a:extLst>
              <a:ext uri="{FF2B5EF4-FFF2-40B4-BE49-F238E27FC236}">
                <a16:creationId xmlns:a16="http://schemas.microsoft.com/office/drawing/2014/main" id="{56A38F7D-163D-40CF-868C-B65E57289CD7}"/>
              </a:ext>
            </a:extLst>
          </p:cNvPr>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a:extLst>
              <a:ext uri="{FF2B5EF4-FFF2-40B4-BE49-F238E27FC236}">
                <a16:creationId xmlns:a16="http://schemas.microsoft.com/office/drawing/2014/main" id="{CDED66E5-4D15-407E-B9E9-A0489B585942}"/>
              </a:ext>
            </a:extLst>
          </p:cNvPr>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a:extLst>
              <a:ext uri="{FF2B5EF4-FFF2-40B4-BE49-F238E27FC236}">
                <a16:creationId xmlns:a16="http://schemas.microsoft.com/office/drawing/2014/main" id="{507C5DA2-D768-4F0B-A91A-C33F1FD9102B}"/>
              </a:ext>
            </a:extLst>
          </p:cNvPr>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a:extLst>
              <a:ext uri="{FF2B5EF4-FFF2-40B4-BE49-F238E27FC236}">
                <a16:creationId xmlns:a16="http://schemas.microsoft.com/office/drawing/2014/main" id="{A511A62B-B193-4739-A793-D7002B471A43}"/>
              </a:ext>
            </a:extLst>
          </p:cNvPr>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a:extLst>
              <a:ext uri="{FF2B5EF4-FFF2-40B4-BE49-F238E27FC236}">
                <a16:creationId xmlns:a16="http://schemas.microsoft.com/office/drawing/2014/main" id="{50134B45-47D8-49EC-B2C4-4ECBF0176BD7}"/>
              </a:ext>
            </a:extLst>
          </p:cNvPr>
          <p:cNvGrpSpPr/>
          <p:nvPr userDrawn="1"/>
        </p:nvGrpSpPr>
        <p:grpSpPr>
          <a:xfrm>
            <a:off x="2425132" y="3183822"/>
            <a:ext cx="1945700" cy="1941162"/>
            <a:chOff x="2105799" y="20055838"/>
            <a:chExt cx="6748090" cy="6732363"/>
          </a:xfrm>
          <a:solidFill>
            <a:schemeClr val="accent1"/>
          </a:solidFill>
        </p:grpSpPr>
        <p:sp>
          <p:nvSpPr>
            <p:cNvPr id="57" name="Freeform 8">
              <a:extLst>
                <a:ext uri="{FF2B5EF4-FFF2-40B4-BE49-F238E27FC236}">
                  <a16:creationId xmlns:a16="http://schemas.microsoft.com/office/drawing/2014/main" id="{3AFA21E4-54E4-474B-AB1C-59ABBA29DA26}"/>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42">
              <a:extLst>
                <a:ext uri="{FF2B5EF4-FFF2-40B4-BE49-F238E27FC236}">
                  <a16:creationId xmlns:a16="http://schemas.microsoft.com/office/drawing/2014/main" id="{38B24B0A-5539-4D2D-A7DD-73E521128A7A}"/>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43">
              <a:extLst>
                <a:ext uri="{FF2B5EF4-FFF2-40B4-BE49-F238E27FC236}">
                  <a16:creationId xmlns:a16="http://schemas.microsoft.com/office/drawing/2014/main" id="{E0E9CC68-E749-47CC-8EEF-B8B1D81C1F03}"/>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44">
              <a:extLst>
                <a:ext uri="{FF2B5EF4-FFF2-40B4-BE49-F238E27FC236}">
                  <a16:creationId xmlns:a16="http://schemas.microsoft.com/office/drawing/2014/main" id="{DB2F8014-13A0-4EED-9E54-018B50E7499E}"/>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45">
              <a:extLst>
                <a:ext uri="{FF2B5EF4-FFF2-40B4-BE49-F238E27FC236}">
                  <a16:creationId xmlns:a16="http://schemas.microsoft.com/office/drawing/2014/main" id="{74ABE961-157F-44CB-B98E-6BC13D4BE116}"/>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46">
              <a:extLst>
                <a:ext uri="{FF2B5EF4-FFF2-40B4-BE49-F238E27FC236}">
                  <a16:creationId xmlns:a16="http://schemas.microsoft.com/office/drawing/2014/main" id="{A8EDD165-034A-405C-8387-D78D2A7E5008}"/>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47">
              <a:extLst>
                <a:ext uri="{FF2B5EF4-FFF2-40B4-BE49-F238E27FC236}">
                  <a16:creationId xmlns:a16="http://schemas.microsoft.com/office/drawing/2014/main" id="{7B6C6F1F-1F3E-4FDB-922F-9463383773F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48">
              <a:extLst>
                <a:ext uri="{FF2B5EF4-FFF2-40B4-BE49-F238E27FC236}">
                  <a16:creationId xmlns:a16="http://schemas.microsoft.com/office/drawing/2014/main" id="{29FCF922-820E-4CDB-86F9-1B2BFFAC1EB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49">
              <a:extLst>
                <a:ext uri="{FF2B5EF4-FFF2-40B4-BE49-F238E27FC236}">
                  <a16:creationId xmlns:a16="http://schemas.microsoft.com/office/drawing/2014/main" id="{BC9F70C6-EC0D-4FF5-BC12-B628A56E4AC2}"/>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0">
              <a:extLst>
                <a:ext uri="{FF2B5EF4-FFF2-40B4-BE49-F238E27FC236}">
                  <a16:creationId xmlns:a16="http://schemas.microsoft.com/office/drawing/2014/main" id="{22C93A2B-D2C4-4B41-AED7-1C8A35C4F4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51">
              <a:extLst>
                <a:ext uri="{FF2B5EF4-FFF2-40B4-BE49-F238E27FC236}">
                  <a16:creationId xmlns:a16="http://schemas.microsoft.com/office/drawing/2014/main" id="{49AA6AE9-EE4E-4805-8DAD-3192F29A00F6}"/>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52">
              <a:extLst>
                <a:ext uri="{FF2B5EF4-FFF2-40B4-BE49-F238E27FC236}">
                  <a16:creationId xmlns:a16="http://schemas.microsoft.com/office/drawing/2014/main" id="{58F96C6B-EC74-4E2B-BEFE-85CD9E272B8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53">
              <a:extLst>
                <a:ext uri="{FF2B5EF4-FFF2-40B4-BE49-F238E27FC236}">
                  <a16:creationId xmlns:a16="http://schemas.microsoft.com/office/drawing/2014/main" id="{B0809F50-496A-4255-B4DE-C9A321AB701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54">
              <a:extLst>
                <a:ext uri="{FF2B5EF4-FFF2-40B4-BE49-F238E27FC236}">
                  <a16:creationId xmlns:a16="http://schemas.microsoft.com/office/drawing/2014/main" id="{9F87CF65-112C-4ABD-B2D1-00BAFED667A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55">
              <a:extLst>
                <a:ext uri="{FF2B5EF4-FFF2-40B4-BE49-F238E27FC236}">
                  <a16:creationId xmlns:a16="http://schemas.microsoft.com/office/drawing/2014/main" id="{51971117-C1ED-4363-98CD-BF4F681FEB2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2" name="Freeform 56">
              <a:extLst>
                <a:ext uri="{FF2B5EF4-FFF2-40B4-BE49-F238E27FC236}">
                  <a16:creationId xmlns:a16="http://schemas.microsoft.com/office/drawing/2014/main" id="{A9659DA4-2A51-43A6-922C-5D9741A264C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3" name="Freeform 57">
              <a:extLst>
                <a:ext uri="{FF2B5EF4-FFF2-40B4-BE49-F238E27FC236}">
                  <a16:creationId xmlns:a16="http://schemas.microsoft.com/office/drawing/2014/main" id="{6D2AD94D-A2FC-47E6-9333-74F53AD4AD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4" name="Freeform 58">
              <a:extLst>
                <a:ext uri="{FF2B5EF4-FFF2-40B4-BE49-F238E27FC236}">
                  <a16:creationId xmlns:a16="http://schemas.microsoft.com/office/drawing/2014/main" id="{FBF04BC2-9173-4560-A801-C3E77FAFAD0D}"/>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5" name="Freeform 59">
              <a:extLst>
                <a:ext uri="{FF2B5EF4-FFF2-40B4-BE49-F238E27FC236}">
                  <a16:creationId xmlns:a16="http://schemas.microsoft.com/office/drawing/2014/main" id="{10B5FD19-1004-4FBB-A735-BADE89DBC32F}"/>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6" name="Freeform 60">
              <a:extLst>
                <a:ext uri="{FF2B5EF4-FFF2-40B4-BE49-F238E27FC236}">
                  <a16:creationId xmlns:a16="http://schemas.microsoft.com/office/drawing/2014/main" id="{E46D3E77-3956-4899-9133-7E5AB0838600}"/>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7" name="Freeform 61">
              <a:extLst>
                <a:ext uri="{FF2B5EF4-FFF2-40B4-BE49-F238E27FC236}">
                  <a16:creationId xmlns:a16="http://schemas.microsoft.com/office/drawing/2014/main" id="{8EC0140A-1488-4FC2-A47E-78B02853636C}"/>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8" name="Freeform 62">
              <a:extLst>
                <a:ext uri="{FF2B5EF4-FFF2-40B4-BE49-F238E27FC236}">
                  <a16:creationId xmlns:a16="http://schemas.microsoft.com/office/drawing/2014/main" id="{03F5EEE1-8308-4F13-B04A-6876990D565D}"/>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9" name="Freeform 71">
              <a:extLst>
                <a:ext uri="{FF2B5EF4-FFF2-40B4-BE49-F238E27FC236}">
                  <a16:creationId xmlns:a16="http://schemas.microsoft.com/office/drawing/2014/main" id="{AB75AD00-AB3C-43A5-A617-D40ADF65DFE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1438161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71" name="矩形 70">
            <a:extLst>
              <a:ext uri="{FF2B5EF4-FFF2-40B4-BE49-F238E27FC236}">
                <a16:creationId xmlns:a16="http://schemas.microsoft.com/office/drawing/2014/main" id="{1DEB25A3-6BFF-4215-894B-71D6E2DD833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a:extLst>
              <a:ext uri="{FF2B5EF4-FFF2-40B4-BE49-F238E27FC236}">
                <a16:creationId xmlns:a16="http://schemas.microsoft.com/office/drawing/2014/main" id="{E8917928-9484-40B9-8C50-C1CA090DFE44}"/>
              </a:ext>
            </a:extLst>
          </p:cNvPr>
          <p:cNvGrpSpPr/>
          <p:nvPr userDrawn="1"/>
        </p:nvGrpSpPr>
        <p:grpSpPr>
          <a:xfrm>
            <a:off x="2425132" y="3183822"/>
            <a:ext cx="1945700" cy="1941162"/>
            <a:chOff x="2105799" y="20055838"/>
            <a:chExt cx="6748090" cy="6732363"/>
          </a:xfrm>
          <a:solidFill>
            <a:schemeClr val="accent1"/>
          </a:solidFill>
        </p:grpSpPr>
        <p:sp>
          <p:nvSpPr>
            <p:cNvPr id="48" name="Freeform 8">
              <a:extLst>
                <a:ext uri="{FF2B5EF4-FFF2-40B4-BE49-F238E27FC236}">
                  <a16:creationId xmlns:a16="http://schemas.microsoft.com/office/drawing/2014/main" id="{59086FAE-7BCE-4F42-BEAF-83E039527D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49" name="Freeform 42">
              <a:extLst>
                <a:ext uri="{FF2B5EF4-FFF2-40B4-BE49-F238E27FC236}">
                  <a16:creationId xmlns:a16="http://schemas.microsoft.com/office/drawing/2014/main" id="{10B13E90-F439-48CA-AD95-7138BB9F29B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0" name="Freeform 43">
              <a:extLst>
                <a:ext uri="{FF2B5EF4-FFF2-40B4-BE49-F238E27FC236}">
                  <a16:creationId xmlns:a16="http://schemas.microsoft.com/office/drawing/2014/main" id="{5F0B2961-18DD-4861-8D52-0A383ECCB08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1" name="Freeform 44">
              <a:extLst>
                <a:ext uri="{FF2B5EF4-FFF2-40B4-BE49-F238E27FC236}">
                  <a16:creationId xmlns:a16="http://schemas.microsoft.com/office/drawing/2014/main" id="{AB5B5CF7-72A5-4E9E-BD84-D5722080E3A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2" name="Freeform 45">
              <a:extLst>
                <a:ext uri="{FF2B5EF4-FFF2-40B4-BE49-F238E27FC236}">
                  <a16:creationId xmlns:a16="http://schemas.microsoft.com/office/drawing/2014/main" id="{B40B6773-5AF3-4B78-A875-0F1C89DBCBD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3" name="Freeform 46">
              <a:extLst>
                <a:ext uri="{FF2B5EF4-FFF2-40B4-BE49-F238E27FC236}">
                  <a16:creationId xmlns:a16="http://schemas.microsoft.com/office/drawing/2014/main" id="{211E77CF-A371-4394-80EE-A23B8E761CF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4" name="Freeform 47">
              <a:extLst>
                <a:ext uri="{FF2B5EF4-FFF2-40B4-BE49-F238E27FC236}">
                  <a16:creationId xmlns:a16="http://schemas.microsoft.com/office/drawing/2014/main" id="{24C2E5AA-B456-402D-AACB-CF50F586373D}"/>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5" name="Freeform 48">
              <a:extLst>
                <a:ext uri="{FF2B5EF4-FFF2-40B4-BE49-F238E27FC236}">
                  <a16:creationId xmlns:a16="http://schemas.microsoft.com/office/drawing/2014/main" id="{5CEFFC85-E9B5-40DB-A773-6AA641A5EA9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6" name="Freeform 49">
              <a:extLst>
                <a:ext uri="{FF2B5EF4-FFF2-40B4-BE49-F238E27FC236}">
                  <a16:creationId xmlns:a16="http://schemas.microsoft.com/office/drawing/2014/main" id="{DF550AC9-9345-4B32-A0CD-DA983D3011C1}"/>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7" name="Freeform 50">
              <a:extLst>
                <a:ext uri="{FF2B5EF4-FFF2-40B4-BE49-F238E27FC236}">
                  <a16:creationId xmlns:a16="http://schemas.microsoft.com/office/drawing/2014/main" id="{29471116-16CF-4D64-B565-49C15F226E2A}"/>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51">
              <a:extLst>
                <a:ext uri="{FF2B5EF4-FFF2-40B4-BE49-F238E27FC236}">
                  <a16:creationId xmlns:a16="http://schemas.microsoft.com/office/drawing/2014/main" id="{9E60588D-9746-4C96-BB9F-CD0875FA3CF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52">
              <a:extLst>
                <a:ext uri="{FF2B5EF4-FFF2-40B4-BE49-F238E27FC236}">
                  <a16:creationId xmlns:a16="http://schemas.microsoft.com/office/drawing/2014/main" id="{8D2145FF-BFA9-4FEA-9430-C2F6CFF9B9A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53">
              <a:extLst>
                <a:ext uri="{FF2B5EF4-FFF2-40B4-BE49-F238E27FC236}">
                  <a16:creationId xmlns:a16="http://schemas.microsoft.com/office/drawing/2014/main" id="{31731D7D-B614-4B40-BD98-92032FFEDC84}"/>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54">
              <a:extLst>
                <a:ext uri="{FF2B5EF4-FFF2-40B4-BE49-F238E27FC236}">
                  <a16:creationId xmlns:a16="http://schemas.microsoft.com/office/drawing/2014/main" id="{85133ADC-E731-46F5-90AB-E151D742530F}"/>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55">
              <a:extLst>
                <a:ext uri="{FF2B5EF4-FFF2-40B4-BE49-F238E27FC236}">
                  <a16:creationId xmlns:a16="http://schemas.microsoft.com/office/drawing/2014/main" id="{8A62A99D-E0DB-4111-9FEB-3E4F6344232D}"/>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56">
              <a:extLst>
                <a:ext uri="{FF2B5EF4-FFF2-40B4-BE49-F238E27FC236}">
                  <a16:creationId xmlns:a16="http://schemas.microsoft.com/office/drawing/2014/main" id="{F80FCAD7-78A2-4243-97E5-91414F895B41}"/>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57">
              <a:extLst>
                <a:ext uri="{FF2B5EF4-FFF2-40B4-BE49-F238E27FC236}">
                  <a16:creationId xmlns:a16="http://schemas.microsoft.com/office/drawing/2014/main" id="{BCEB97F9-5E6D-4143-A326-123BB40920E4}"/>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58">
              <a:extLst>
                <a:ext uri="{FF2B5EF4-FFF2-40B4-BE49-F238E27FC236}">
                  <a16:creationId xmlns:a16="http://schemas.microsoft.com/office/drawing/2014/main" id="{A0EC93B7-5F9E-4596-A0B4-56E551810B41}"/>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9">
              <a:extLst>
                <a:ext uri="{FF2B5EF4-FFF2-40B4-BE49-F238E27FC236}">
                  <a16:creationId xmlns:a16="http://schemas.microsoft.com/office/drawing/2014/main" id="{9CB41E21-FEE3-4D2D-9551-B88C07BC03E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60">
              <a:extLst>
                <a:ext uri="{FF2B5EF4-FFF2-40B4-BE49-F238E27FC236}">
                  <a16:creationId xmlns:a16="http://schemas.microsoft.com/office/drawing/2014/main" id="{55D43798-13B8-4DAF-98D6-284AD8D22E66}"/>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61">
              <a:extLst>
                <a:ext uri="{FF2B5EF4-FFF2-40B4-BE49-F238E27FC236}">
                  <a16:creationId xmlns:a16="http://schemas.microsoft.com/office/drawing/2014/main" id="{8CA5B0FD-C8F6-426F-AC2B-522A58FE00FD}"/>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62">
              <a:extLst>
                <a:ext uri="{FF2B5EF4-FFF2-40B4-BE49-F238E27FC236}">
                  <a16:creationId xmlns:a16="http://schemas.microsoft.com/office/drawing/2014/main" id="{F7A64D83-8794-4383-B608-9C794C6FA37F}"/>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71">
              <a:extLst>
                <a:ext uri="{FF2B5EF4-FFF2-40B4-BE49-F238E27FC236}">
                  <a16:creationId xmlns:a16="http://schemas.microsoft.com/office/drawing/2014/main" id="{98DEF15F-7ADA-4CD6-AE2B-F2091812707E}"/>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3021624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a:extLst>
              <a:ext uri="{FF2B5EF4-FFF2-40B4-BE49-F238E27FC236}">
                <a16:creationId xmlns:a16="http://schemas.microsoft.com/office/drawing/2014/main" id="{9641EC2A-644C-47E6-9137-85F1FC0E3567}"/>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grpSp>
        <p:nvGrpSpPr>
          <p:cNvPr id="11" name="组合 10">
            <a:extLst>
              <a:ext uri="{FF2B5EF4-FFF2-40B4-BE49-F238E27FC236}">
                <a16:creationId xmlns:a16="http://schemas.microsoft.com/office/drawing/2014/main" id="{58D2D447-3244-41E4-A676-38C4ED0BA81A}"/>
              </a:ext>
            </a:extLst>
          </p:cNvPr>
          <p:cNvGrpSpPr/>
          <p:nvPr userDrawn="1"/>
        </p:nvGrpSpPr>
        <p:grpSpPr>
          <a:xfrm>
            <a:off x="2425132" y="3183822"/>
            <a:ext cx="1945700" cy="1941162"/>
            <a:chOff x="2105799" y="20055838"/>
            <a:chExt cx="6748090" cy="6732363"/>
          </a:xfrm>
          <a:solidFill>
            <a:schemeClr val="accent1"/>
          </a:solidFill>
        </p:grpSpPr>
        <p:sp>
          <p:nvSpPr>
            <p:cNvPr id="12" name="Freeform 8">
              <a:extLst>
                <a:ext uri="{FF2B5EF4-FFF2-40B4-BE49-F238E27FC236}">
                  <a16:creationId xmlns:a16="http://schemas.microsoft.com/office/drawing/2014/main" id="{9AA64509-AACF-40D4-B9A9-B88859BA8568}"/>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 name="Freeform 42">
              <a:extLst>
                <a:ext uri="{FF2B5EF4-FFF2-40B4-BE49-F238E27FC236}">
                  <a16:creationId xmlns:a16="http://schemas.microsoft.com/office/drawing/2014/main" id="{F96E3831-BAD6-495D-9EB0-9AF4F9E4AA14}"/>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 name="Freeform 43">
              <a:extLst>
                <a:ext uri="{FF2B5EF4-FFF2-40B4-BE49-F238E27FC236}">
                  <a16:creationId xmlns:a16="http://schemas.microsoft.com/office/drawing/2014/main" id="{3F1B9F65-74B2-4321-AF02-F2775CA32BF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5" name="Freeform 44">
              <a:extLst>
                <a:ext uri="{FF2B5EF4-FFF2-40B4-BE49-F238E27FC236}">
                  <a16:creationId xmlns:a16="http://schemas.microsoft.com/office/drawing/2014/main" id="{FE06968D-A503-4A41-8AFB-7D81E20035B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6" name="Freeform 45">
              <a:extLst>
                <a:ext uri="{FF2B5EF4-FFF2-40B4-BE49-F238E27FC236}">
                  <a16:creationId xmlns:a16="http://schemas.microsoft.com/office/drawing/2014/main" id="{3C3EA8C8-7562-473E-AA9E-E46E885B1C6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7" name="Freeform 46">
              <a:extLst>
                <a:ext uri="{FF2B5EF4-FFF2-40B4-BE49-F238E27FC236}">
                  <a16:creationId xmlns:a16="http://schemas.microsoft.com/office/drawing/2014/main" id="{C0C84DE1-C4B4-4D09-BD06-05AEFB9791EF}"/>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8" name="Freeform 47">
              <a:extLst>
                <a:ext uri="{FF2B5EF4-FFF2-40B4-BE49-F238E27FC236}">
                  <a16:creationId xmlns:a16="http://schemas.microsoft.com/office/drawing/2014/main" id="{65F4A63D-2ED8-4FC9-B6B2-5F5EFDFB9E4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9" name="Freeform 48">
              <a:extLst>
                <a:ext uri="{FF2B5EF4-FFF2-40B4-BE49-F238E27FC236}">
                  <a16:creationId xmlns:a16="http://schemas.microsoft.com/office/drawing/2014/main" id="{30943538-8677-44DF-9F6E-134AE82AAF8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0" name="Freeform 49">
              <a:extLst>
                <a:ext uri="{FF2B5EF4-FFF2-40B4-BE49-F238E27FC236}">
                  <a16:creationId xmlns:a16="http://schemas.microsoft.com/office/drawing/2014/main" id="{13907DDE-205F-4FB4-AFBD-67ED1FEBA24B}"/>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1" name="Freeform 50">
              <a:extLst>
                <a:ext uri="{FF2B5EF4-FFF2-40B4-BE49-F238E27FC236}">
                  <a16:creationId xmlns:a16="http://schemas.microsoft.com/office/drawing/2014/main" id="{08C2EE5C-263D-44B6-9CDF-3DA614AED668}"/>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2" name="Freeform 51">
              <a:extLst>
                <a:ext uri="{FF2B5EF4-FFF2-40B4-BE49-F238E27FC236}">
                  <a16:creationId xmlns:a16="http://schemas.microsoft.com/office/drawing/2014/main" id="{1BC3085B-1BA9-42A1-8148-C79B13CD3100}"/>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3" name="Freeform 52">
              <a:extLst>
                <a:ext uri="{FF2B5EF4-FFF2-40B4-BE49-F238E27FC236}">
                  <a16:creationId xmlns:a16="http://schemas.microsoft.com/office/drawing/2014/main" id="{21A74121-72BF-4931-9059-F6BE796C5DE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4" name="Freeform 53">
              <a:extLst>
                <a:ext uri="{FF2B5EF4-FFF2-40B4-BE49-F238E27FC236}">
                  <a16:creationId xmlns:a16="http://schemas.microsoft.com/office/drawing/2014/main" id="{7BF25357-75D2-4264-87FF-6936CFBB281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5" name="Freeform 54">
              <a:extLst>
                <a:ext uri="{FF2B5EF4-FFF2-40B4-BE49-F238E27FC236}">
                  <a16:creationId xmlns:a16="http://schemas.microsoft.com/office/drawing/2014/main" id="{6706F8B4-5F38-4B1E-8AC8-060D5CAF4285}"/>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6" name="Freeform 55">
              <a:extLst>
                <a:ext uri="{FF2B5EF4-FFF2-40B4-BE49-F238E27FC236}">
                  <a16:creationId xmlns:a16="http://schemas.microsoft.com/office/drawing/2014/main" id="{DC3F3881-E2C2-4250-9657-EFA4447E80A7}"/>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7" name="Freeform 56">
              <a:extLst>
                <a:ext uri="{FF2B5EF4-FFF2-40B4-BE49-F238E27FC236}">
                  <a16:creationId xmlns:a16="http://schemas.microsoft.com/office/drawing/2014/main" id="{88FE206D-A977-476A-B4CA-99B073947EB7}"/>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8" name="Freeform 57">
              <a:extLst>
                <a:ext uri="{FF2B5EF4-FFF2-40B4-BE49-F238E27FC236}">
                  <a16:creationId xmlns:a16="http://schemas.microsoft.com/office/drawing/2014/main" id="{B06997A0-DFD7-47F0-8C39-4B885713EF3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9" name="Freeform 58">
              <a:extLst>
                <a:ext uri="{FF2B5EF4-FFF2-40B4-BE49-F238E27FC236}">
                  <a16:creationId xmlns:a16="http://schemas.microsoft.com/office/drawing/2014/main" id="{90D9C13C-38D7-4151-B068-07D32EBBA1E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0" name="Freeform 59">
              <a:extLst>
                <a:ext uri="{FF2B5EF4-FFF2-40B4-BE49-F238E27FC236}">
                  <a16:creationId xmlns:a16="http://schemas.microsoft.com/office/drawing/2014/main" id="{6C00BB8F-C378-44EC-B555-754A4EE766D8}"/>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1" name="Freeform 60">
              <a:extLst>
                <a:ext uri="{FF2B5EF4-FFF2-40B4-BE49-F238E27FC236}">
                  <a16:creationId xmlns:a16="http://schemas.microsoft.com/office/drawing/2014/main" id="{8731A85C-7C9F-4BF0-856E-375403FD4484}"/>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2" name="Freeform 61">
              <a:extLst>
                <a:ext uri="{FF2B5EF4-FFF2-40B4-BE49-F238E27FC236}">
                  <a16:creationId xmlns:a16="http://schemas.microsoft.com/office/drawing/2014/main" id="{FA502E58-9B89-4DF1-AE1D-3CFDAC1F161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3" name="Freeform 62">
              <a:extLst>
                <a:ext uri="{FF2B5EF4-FFF2-40B4-BE49-F238E27FC236}">
                  <a16:creationId xmlns:a16="http://schemas.microsoft.com/office/drawing/2014/main" id="{CCA61D46-09FC-4512-9A7A-A84ED3A0BFF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4" name="Freeform 71">
              <a:extLst>
                <a:ext uri="{FF2B5EF4-FFF2-40B4-BE49-F238E27FC236}">
                  <a16:creationId xmlns:a16="http://schemas.microsoft.com/office/drawing/2014/main" id="{8146A89A-2BA7-4B57-8E40-2BE9834C80D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a:extLst>
              <a:ext uri="{FF2B5EF4-FFF2-40B4-BE49-F238E27FC236}">
                <a16:creationId xmlns:a16="http://schemas.microsoft.com/office/drawing/2014/main" id="{DE6C1D1C-BBCF-4A55-BE60-5C9BEA569916}"/>
              </a:ext>
            </a:extLst>
          </p:cNvPr>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8" name="文本框 47">
            <a:extLst>
              <a:ext uri="{FF2B5EF4-FFF2-40B4-BE49-F238E27FC236}">
                <a16:creationId xmlns:a16="http://schemas.microsoft.com/office/drawing/2014/main" id="{9D06A1A9-0BD9-48A8-B6A6-2404F9BF51E0}"/>
              </a:ext>
            </a:extLst>
          </p:cNvPr>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extLst>
      <p:ext uri="{BB962C8B-B14F-4D97-AF65-F5344CB8AC3E}">
        <p14:creationId xmlns:p14="http://schemas.microsoft.com/office/powerpoint/2010/main" val="13630036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cxnSp>
        <p:nvCxnSpPr>
          <p:cNvPr id="70" name="直接连接符 69">
            <a:extLst>
              <a:ext uri="{FF2B5EF4-FFF2-40B4-BE49-F238E27FC236}">
                <a16:creationId xmlns:a16="http://schemas.microsoft.com/office/drawing/2014/main" id="{52622493-1C1B-4EB2-862A-4E4822408AA0}"/>
              </a:ext>
            </a:extLst>
          </p:cNvPr>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a:extLst>
              <a:ext uri="{FF2B5EF4-FFF2-40B4-BE49-F238E27FC236}">
                <a16:creationId xmlns:a16="http://schemas.microsoft.com/office/drawing/2014/main" id="{8AA9FB39-26D8-421B-89F7-86CD2AE08CD8}"/>
              </a:ext>
            </a:extLst>
          </p:cNvPr>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XX</a:t>
            </a:r>
            <a:endParaRPr lang="zh-CN" altLang="en-US" dirty="0"/>
          </a:p>
        </p:txBody>
      </p:sp>
      <p:sp>
        <p:nvSpPr>
          <p:cNvPr id="127" name="文本占位符 3">
            <a:extLst>
              <a:ext uri="{FF2B5EF4-FFF2-40B4-BE49-F238E27FC236}">
                <a16:creationId xmlns:a16="http://schemas.microsoft.com/office/drawing/2014/main" id="{2233AA7D-0112-4B75-9284-9FC6FC0D1D63}"/>
              </a:ext>
            </a:extLst>
          </p:cNvPr>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输入标题文本</a:t>
            </a:r>
          </a:p>
        </p:txBody>
      </p:sp>
      <p:pic>
        <p:nvPicPr>
          <p:cNvPr id="128" name="图形 127">
            <a:extLst>
              <a:ext uri="{FF2B5EF4-FFF2-40B4-BE49-F238E27FC236}">
                <a16:creationId xmlns:a16="http://schemas.microsoft.com/office/drawing/2014/main" id="{B6E5D4A0-9D5F-45D9-899A-F03F9DFF71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a:extLst>
              <a:ext uri="{FF2B5EF4-FFF2-40B4-BE49-F238E27FC236}">
                <a16:creationId xmlns:a16="http://schemas.microsoft.com/office/drawing/2014/main" id="{2AC37DB6-BAC9-459C-B3EE-FDA00215A951}"/>
              </a:ext>
            </a:extLst>
          </p:cNvPr>
          <p:cNvGrpSpPr/>
          <p:nvPr userDrawn="1"/>
        </p:nvGrpSpPr>
        <p:grpSpPr>
          <a:xfrm>
            <a:off x="1654090" y="1145460"/>
            <a:ext cx="1477533" cy="108755"/>
            <a:chOff x="4616246" y="3878362"/>
            <a:chExt cx="5571416" cy="410087"/>
          </a:xfrm>
          <a:solidFill>
            <a:schemeClr val="tx1">
              <a:alpha val="80000"/>
            </a:schemeClr>
          </a:solidFill>
        </p:grpSpPr>
        <p:sp>
          <p:nvSpPr>
            <p:cNvPr id="63" name="Freeform 17">
              <a:extLst>
                <a:ext uri="{FF2B5EF4-FFF2-40B4-BE49-F238E27FC236}">
                  <a16:creationId xmlns:a16="http://schemas.microsoft.com/office/drawing/2014/main" id="{504FCFA3-39FB-4B2B-9BFB-25978CCCA565}"/>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4" name="Freeform 18">
              <a:extLst>
                <a:ext uri="{FF2B5EF4-FFF2-40B4-BE49-F238E27FC236}">
                  <a16:creationId xmlns:a16="http://schemas.microsoft.com/office/drawing/2014/main" id="{A3FBFB70-9C9F-4DFE-BA7E-B2EF8E855B3E}"/>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5" name="Freeform 19">
              <a:extLst>
                <a:ext uri="{FF2B5EF4-FFF2-40B4-BE49-F238E27FC236}">
                  <a16:creationId xmlns:a16="http://schemas.microsoft.com/office/drawing/2014/main" id="{598D91F9-4849-4702-91A4-5EC21EE1F3E2}"/>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7" name="Freeform 20">
              <a:extLst>
                <a:ext uri="{FF2B5EF4-FFF2-40B4-BE49-F238E27FC236}">
                  <a16:creationId xmlns:a16="http://schemas.microsoft.com/office/drawing/2014/main" id="{A3DEDF37-FABD-4768-B994-5CFB44ACF183}"/>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8" name="Freeform 21">
              <a:extLst>
                <a:ext uri="{FF2B5EF4-FFF2-40B4-BE49-F238E27FC236}">
                  <a16:creationId xmlns:a16="http://schemas.microsoft.com/office/drawing/2014/main" id="{9366BE37-2A45-4B1D-BCB3-68A2BC16F427}"/>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22">
              <a:extLst>
                <a:ext uri="{FF2B5EF4-FFF2-40B4-BE49-F238E27FC236}">
                  <a16:creationId xmlns:a16="http://schemas.microsoft.com/office/drawing/2014/main" id="{336BE8A3-3CE2-4FF2-84AE-C2A47F66283F}"/>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1" name="Freeform 23">
              <a:extLst>
                <a:ext uri="{FF2B5EF4-FFF2-40B4-BE49-F238E27FC236}">
                  <a16:creationId xmlns:a16="http://schemas.microsoft.com/office/drawing/2014/main" id="{88041DDA-AE33-4EF1-842D-F936013FB61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29" name="Freeform 25">
              <a:extLst>
                <a:ext uri="{FF2B5EF4-FFF2-40B4-BE49-F238E27FC236}">
                  <a16:creationId xmlns:a16="http://schemas.microsoft.com/office/drawing/2014/main" id="{706182FD-3EAA-45B9-93DD-BCE1670E07FA}"/>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0" name="Freeform 27">
              <a:extLst>
                <a:ext uri="{FF2B5EF4-FFF2-40B4-BE49-F238E27FC236}">
                  <a16:creationId xmlns:a16="http://schemas.microsoft.com/office/drawing/2014/main" id="{E83B3483-EA8E-4C84-9BD1-4E5F98AA9387}"/>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1" name="Freeform 29">
              <a:extLst>
                <a:ext uri="{FF2B5EF4-FFF2-40B4-BE49-F238E27FC236}">
                  <a16:creationId xmlns:a16="http://schemas.microsoft.com/office/drawing/2014/main" id="{ABD5AC87-B621-4108-92CB-D265896F5894}"/>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2" name="Freeform 30">
              <a:extLst>
                <a:ext uri="{FF2B5EF4-FFF2-40B4-BE49-F238E27FC236}">
                  <a16:creationId xmlns:a16="http://schemas.microsoft.com/office/drawing/2014/main" id="{0BB2B514-BAFC-4B2E-9426-ACF7AAF083D8}"/>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3" name="Freeform 31">
              <a:extLst>
                <a:ext uri="{FF2B5EF4-FFF2-40B4-BE49-F238E27FC236}">
                  <a16:creationId xmlns:a16="http://schemas.microsoft.com/office/drawing/2014/main" id="{95F1D8E8-509F-457F-A39C-06F7223B846F}"/>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4" name="Freeform 32">
              <a:extLst>
                <a:ext uri="{FF2B5EF4-FFF2-40B4-BE49-F238E27FC236}">
                  <a16:creationId xmlns:a16="http://schemas.microsoft.com/office/drawing/2014/main" id="{2BDC60B4-2A03-4259-99D7-D6952CF7DC70}"/>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5" name="Freeform 33">
              <a:extLst>
                <a:ext uri="{FF2B5EF4-FFF2-40B4-BE49-F238E27FC236}">
                  <a16:creationId xmlns:a16="http://schemas.microsoft.com/office/drawing/2014/main" id="{D04146B2-3540-4B26-86A2-964C8A3808E0}"/>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6" name="Freeform 34">
              <a:extLst>
                <a:ext uri="{FF2B5EF4-FFF2-40B4-BE49-F238E27FC236}">
                  <a16:creationId xmlns:a16="http://schemas.microsoft.com/office/drawing/2014/main" id="{941B3BC6-A11E-4E3B-B07D-B7635E70A572}"/>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7" name="Freeform 35">
              <a:extLst>
                <a:ext uri="{FF2B5EF4-FFF2-40B4-BE49-F238E27FC236}">
                  <a16:creationId xmlns:a16="http://schemas.microsoft.com/office/drawing/2014/main" id="{BD558C4E-8B51-4077-9535-D4EA2266CCB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38" name="组合 137">
            <a:extLst>
              <a:ext uri="{FF2B5EF4-FFF2-40B4-BE49-F238E27FC236}">
                <a16:creationId xmlns:a16="http://schemas.microsoft.com/office/drawing/2014/main" id="{38946306-BB01-47D1-85B2-D73ED91B5724}"/>
              </a:ext>
            </a:extLst>
          </p:cNvPr>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a:extLst>
                <a:ext uri="{FF2B5EF4-FFF2-40B4-BE49-F238E27FC236}">
                  <a16:creationId xmlns:a16="http://schemas.microsoft.com/office/drawing/2014/main" id="{E18931A2-267C-4A71-BE71-C188DA79BE3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0" name="Freeform 10">
              <a:extLst>
                <a:ext uri="{FF2B5EF4-FFF2-40B4-BE49-F238E27FC236}">
                  <a16:creationId xmlns:a16="http://schemas.microsoft.com/office/drawing/2014/main" id="{703B4DA1-DADE-4E2C-A526-6A13B8A77CE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1" name="Freeform 11">
              <a:extLst>
                <a:ext uri="{FF2B5EF4-FFF2-40B4-BE49-F238E27FC236}">
                  <a16:creationId xmlns:a16="http://schemas.microsoft.com/office/drawing/2014/main" id="{1B331AD2-6B35-4E0A-A20B-4A72FE3A5968}"/>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2" name="Freeform 12">
              <a:extLst>
                <a:ext uri="{FF2B5EF4-FFF2-40B4-BE49-F238E27FC236}">
                  <a16:creationId xmlns:a16="http://schemas.microsoft.com/office/drawing/2014/main" id="{FD62C409-3631-46E2-9587-CB2E648032C0}"/>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3" name="Freeform 13">
              <a:extLst>
                <a:ext uri="{FF2B5EF4-FFF2-40B4-BE49-F238E27FC236}">
                  <a16:creationId xmlns:a16="http://schemas.microsoft.com/office/drawing/2014/main" id="{55833334-4E68-4E9E-BB6D-2E9AF330F93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4" name="Freeform 14">
              <a:extLst>
                <a:ext uri="{FF2B5EF4-FFF2-40B4-BE49-F238E27FC236}">
                  <a16:creationId xmlns:a16="http://schemas.microsoft.com/office/drawing/2014/main" id="{0541028C-AF39-4761-8CCB-ED2A4989788C}"/>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5" name="Freeform 15">
              <a:extLst>
                <a:ext uri="{FF2B5EF4-FFF2-40B4-BE49-F238E27FC236}">
                  <a16:creationId xmlns:a16="http://schemas.microsoft.com/office/drawing/2014/main" id="{029E28D3-B454-45B2-9289-2968F3EBFEE6}"/>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6" name="Freeform 16">
              <a:extLst>
                <a:ext uri="{FF2B5EF4-FFF2-40B4-BE49-F238E27FC236}">
                  <a16:creationId xmlns:a16="http://schemas.microsoft.com/office/drawing/2014/main" id="{D0BB8E3B-59F6-4A01-960E-0F7B97844633}"/>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7" name="Freeform 24">
              <a:extLst>
                <a:ext uri="{FF2B5EF4-FFF2-40B4-BE49-F238E27FC236}">
                  <a16:creationId xmlns:a16="http://schemas.microsoft.com/office/drawing/2014/main" id="{05627743-9A54-4094-B73D-287771342A31}"/>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8" name="Freeform 26">
              <a:extLst>
                <a:ext uri="{FF2B5EF4-FFF2-40B4-BE49-F238E27FC236}">
                  <a16:creationId xmlns:a16="http://schemas.microsoft.com/office/drawing/2014/main" id="{699C7083-01DE-4A4B-84DD-E90155913A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28">
              <a:extLst>
                <a:ext uri="{FF2B5EF4-FFF2-40B4-BE49-F238E27FC236}">
                  <a16:creationId xmlns:a16="http://schemas.microsoft.com/office/drawing/2014/main" id="{8B40CCE1-C62C-4D51-9D8F-C4639686629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36">
              <a:extLst>
                <a:ext uri="{FF2B5EF4-FFF2-40B4-BE49-F238E27FC236}">
                  <a16:creationId xmlns:a16="http://schemas.microsoft.com/office/drawing/2014/main" id="{61179EB0-0CBF-4D6F-AAA1-7720EA90C8E5}"/>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51" name="组合 150">
            <a:extLst>
              <a:ext uri="{FF2B5EF4-FFF2-40B4-BE49-F238E27FC236}">
                <a16:creationId xmlns:a16="http://schemas.microsoft.com/office/drawing/2014/main" id="{6B04C171-0905-4BEB-B13A-7AFFEA8524C5}"/>
              </a:ext>
            </a:extLst>
          </p:cNvPr>
          <p:cNvGrpSpPr/>
          <p:nvPr userDrawn="1"/>
        </p:nvGrpSpPr>
        <p:grpSpPr>
          <a:xfrm>
            <a:off x="882188" y="613507"/>
            <a:ext cx="664422" cy="662874"/>
            <a:chOff x="2105799" y="20055838"/>
            <a:chExt cx="6748090" cy="6732363"/>
          </a:xfrm>
          <a:solidFill>
            <a:schemeClr val="accent1">
              <a:alpha val="80000"/>
            </a:schemeClr>
          </a:solidFill>
        </p:grpSpPr>
        <p:sp>
          <p:nvSpPr>
            <p:cNvPr id="152" name="Freeform 8">
              <a:extLst>
                <a:ext uri="{FF2B5EF4-FFF2-40B4-BE49-F238E27FC236}">
                  <a16:creationId xmlns:a16="http://schemas.microsoft.com/office/drawing/2014/main" id="{CE509FB2-EF54-4D15-964E-BAE3FD9A6BFA}"/>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3" name="Freeform 42">
              <a:extLst>
                <a:ext uri="{FF2B5EF4-FFF2-40B4-BE49-F238E27FC236}">
                  <a16:creationId xmlns:a16="http://schemas.microsoft.com/office/drawing/2014/main" id="{B6C8DC3B-EE8C-45F4-A99E-60D92CFF9B3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4" name="Freeform 43">
              <a:extLst>
                <a:ext uri="{FF2B5EF4-FFF2-40B4-BE49-F238E27FC236}">
                  <a16:creationId xmlns:a16="http://schemas.microsoft.com/office/drawing/2014/main" id="{650C3229-0411-4A34-96B6-2C91F8F76571}"/>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5" name="Freeform 44">
              <a:extLst>
                <a:ext uri="{FF2B5EF4-FFF2-40B4-BE49-F238E27FC236}">
                  <a16:creationId xmlns:a16="http://schemas.microsoft.com/office/drawing/2014/main" id="{223A77F5-8164-45E2-A8A5-337C1C7D6D45}"/>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6" name="Freeform 45">
              <a:extLst>
                <a:ext uri="{FF2B5EF4-FFF2-40B4-BE49-F238E27FC236}">
                  <a16:creationId xmlns:a16="http://schemas.microsoft.com/office/drawing/2014/main" id="{60FC465B-2605-409D-B52E-3D0CB8A1D6F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7" name="Freeform 46">
              <a:extLst>
                <a:ext uri="{FF2B5EF4-FFF2-40B4-BE49-F238E27FC236}">
                  <a16:creationId xmlns:a16="http://schemas.microsoft.com/office/drawing/2014/main" id="{70666028-30B0-4A46-86FB-A42432CCF205}"/>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8" name="Freeform 47">
              <a:extLst>
                <a:ext uri="{FF2B5EF4-FFF2-40B4-BE49-F238E27FC236}">
                  <a16:creationId xmlns:a16="http://schemas.microsoft.com/office/drawing/2014/main" id="{66285623-1ECC-4019-998B-0FFEC53E1FEB}"/>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9" name="Freeform 48">
              <a:extLst>
                <a:ext uri="{FF2B5EF4-FFF2-40B4-BE49-F238E27FC236}">
                  <a16:creationId xmlns:a16="http://schemas.microsoft.com/office/drawing/2014/main" id="{DE28096A-EBC6-48DC-B28E-FDF15022B52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0" name="Freeform 49">
              <a:extLst>
                <a:ext uri="{FF2B5EF4-FFF2-40B4-BE49-F238E27FC236}">
                  <a16:creationId xmlns:a16="http://schemas.microsoft.com/office/drawing/2014/main" id="{C82365C2-71DD-4925-A67B-CAA854D300EE}"/>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1" name="Freeform 50">
              <a:extLst>
                <a:ext uri="{FF2B5EF4-FFF2-40B4-BE49-F238E27FC236}">
                  <a16:creationId xmlns:a16="http://schemas.microsoft.com/office/drawing/2014/main" id="{F69923CB-AB0E-4DAA-8CB4-05A540FC571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2" name="Freeform 51">
              <a:extLst>
                <a:ext uri="{FF2B5EF4-FFF2-40B4-BE49-F238E27FC236}">
                  <a16:creationId xmlns:a16="http://schemas.microsoft.com/office/drawing/2014/main" id="{0C9872BA-3C4D-4098-8153-AF0C234620B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3" name="Freeform 52">
              <a:extLst>
                <a:ext uri="{FF2B5EF4-FFF2-40B4-BE49-F238E27FC236}">
                  <a16:creationId xmlns:a16="http://schemas.microsoft.com/office/drawing/2014/main" id="{4137D422-E6EB-490E-9416-24F82972F9B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4" name="Freeform 53">
              <a:extLst>
                <a:ext uri="{FF2B5EF4-FFF2-40B4-BE49-F238E27FC236}">
                  <a16:creationId xmlns:a16="http://schemas.microsoft.com/office/drawing/2014/main" id="{BB0D0761-D478-4C17-815A-0A6AD74194EA}"/>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5" name="Freeform 54">
              <a:extLst>
                <a:ext uri="{FF2B5EF4-FFF2-40B4-BE49-F238E27FC236}">
                  <a16:creationId xmlns:a16="http://schemas.microsoft.com/office/drawing/2014/main" id="{4E5F6A7C-2998-4CCF-BF1E-D9077A8673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6" name="Freeform 55">
              <a:extLst>
                <a:ext uri="{FF2B5EF4-FFF2-40B4-BE49-F238E27FC236}">
                  <a16:creationId xmlns:a16="http://schemas.microsoft.com/office/drawing/2014/main" id="{B8C17893-2B8C-4402-9B0A-CFAC1EEC5BFE}"/>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7" name="Freeform 56">
              <a:extLst>
                <a:ext uri="{FF2B5EF4-FFF2-40B4-BE49-F238E27FC236}">
                  <a16:creationId xmlns:a16="http://schemas.microsoft.com/office/drawing/2014/main" id="{80A4A95E-1D12-4BFB-84A3-6E69192B6F66}"/>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8" name="Freeform 57">
              <a:extLst>
                <a:ext uri="{FF2B5EF4-FFF2-40B4-BE49-F238E27FC236}">
                  <a16:creationId xmlns:a16="http://schemas.microsoft.com/office/drawing/2014/main" id="{DE09AAE9-B869-4D14-9A6E-6B1E8F9D91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9" name="Freeform 58">
              <a:extLst>
                <a:ext uri="{FF2B5EF4-FFF2-40B4-BE49-F238E27FC236}">
                  <a16:creationId xmlns:a16="http://schemas.microsoft.com/office/drawing/2014/main" id="{DACFD2A8-35E2-4D17-A432-C4445B1DE43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0" name="Freeform 59">
              <a:extLst>
                <a:ext uri="{FF2B5EF4-FFF2-40B4-BE49-F238E27FC236}">
                  <a16:creationId xmlns:a16="http://schemas.microsoft.com/office/drawing/2014/main" id="{20394763-C255-444B-940F-5BE2CAE09593}"/>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1" name="Freeform 60">
              <a:extLst>
                <a:ext uri="{FF2B5EF4-FFF2-40B4-BE49-F238E27FC236}">
                  <a16:creationId xmlns:a16="http://schemas.microsoft.com/office/drawing/2014/main" id="{D5DB92F4-CCF4-48BD-8A77-44191933714C}"/>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2" name="Freeform 61">
              <a:extLst>
                <a:ext uri="{FF2B5EF4-FFF2-40B4-BE49-F238E27FC236}">
                  <a16:creationId xmlns:a16="http://schemas.microsoft.com/office/drawing/2014/main" id="{39B52CE4-6F33-4717-912A-6C0F2BA5318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3" name="Freeform 62">
              <a:extLst>
                <a:ext uri="{FF2B5EF4-FFF2-40B4-BE49-F238E27FC236}">
                  <a16:creationId xmlns:a16="http://schemas.microsoft.com/office/drawing/2014/main" id="{25F6B581-6C3D-4732-943C-D740A1C3671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4" name="Freeform 71">
              <a:extLst>
                <a:ext uri="{FF2B5EF4-FFF2-40B4-BE49-F238E27FC236}">
                  <a16:creationId xmlns:a16="http://schemas.microsoft.com/office/drawing/2014/main" id="{043007A9-32DC-46FF-96D2-A7D27193ED5E}"/>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sp>
        <p:nvSpPr>
          <p:cNvPr id="5" name="矩形 4">
            <a:extLst>
              <a:ext uri="{FF2B5EF4-FFF2-40B4-BE49-F238E27FC236}">
                <a16:creationId xmlns:a16="http://schemas.microsoft.com/office/drawing/2014/main" id="{3701D6A2-E0B4-4D59-BD49-A67266448E1E}"/>
              </a:ext>
            </a:extLst>
          </p:cNvPr>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F0502020204030204"/>
                <a:ea typeface="Microsoft YaHei"/>
                <a:cs typeface="+mn-ea"/>
              </a:rPr>
              <a:t>PART</a:t>
            </a:r>
            <a:endParaRPr kumimoji="0" lang="zh-CN" altLang="en-US" sz="4000" b="0" i="0" u="none" strike="noStrike" kern="1200" cap="none" spc="0" normalizeH="0" baseline="0" dirty="0">
              <a:ln>
                <a:noFill/>
              </a:ln>
              <a:solidFill>
                <a:prstClr val="white"/>
              </a:solidFill>
              <a:effectLst/>
              <a:uLnTx/>
              <a:uFillTx/>
              <a:latin typeface="Arial" panose="020F0502020204030204"/>
              <a:ea typeface="Microsoft YaHei"/>
              <a:cs typeface="+mn-ea"/>
            </a:endParaRPr>
          </a:p>
        </p:txBody>
      </p:sp>
    </p:spTree>
    <p:extLst>
      <p:ext uri="{BB962C8B-B14F-4D97-AF65-F5344CB8AC3E}">
        <p14:creationId xmlns:p14="http://schemas.microsoft.com/office/powerpoint/2010/main" val="7105243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63" name="椭圆 62">
            <a:extLst>
              <a:ext uri="{FF2B5EF4-FFF2-40B4-BE49-F238E27FC236}">
                <a16:creationId xmlns:a16="http://schemas.microsoft.com/office/drawing/2014/main" id="{F26480F6-566C-42F1-91D5-B755F6AB5120}"/>
              </a:ext>
            </a:extLst>
          </p:cNvPr>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64" name="组合 63">
            <a:extLst>
              <a:ext uri="{FF2B5EF4-FFF2-40B4-BE49-F238E27FC236}">
                <a16:creationId xmlns:a16="http://schemas.microsoft.com/office/drawing/2014/main" id="{17D64BBA-58A8-428F-887C-708E5659D46B}"/>
              </a:ext>
            </a:extLst>
          </p:cNvPr>
          <p:cNvGrpSpPr/>
          <p:nvPr/>
        </p:nvGrpSpPr>
        <p:grpSpPr>
          <a:xfrm>
            <a:off x="5317814" y="741574"/>
            <a:ext cx="1614432" cy="1610666"/>
            <a:chOff x="2105799" y="20055838"/>
            <a:chExt cx="6748090" cy="6732363"/>
          </a:xfrm>
          <a:solidFill>
            <a:schemeClr val="accent1"/>
          </a:solidFill>
        </p:grpSpPr>
        <p:sp>
          <p:nvSpPr>
            <p:cNvPr id="65" name="Freeform 8">
              <a:extLst>
                <a:ext uri="{FF2B5EF4-FFF2-40B4-BE49-F238E27FC236}">
                  <a16:creationId xmlns:a16="http://schemas.microsoft.com/office/drawing/2014/main" id="{BDD6A6EB-5C5E-45A6-BF3E-295FF9FE1D01}"/>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42">
              <a:extLst>
                <a:ext uri="{FF2B5EF4-FFF2-40B4-BE49-F238E27FC236}">
                  <a16:creationId xmlns:a16="http://schemas.microsoft.com/office/drawing/2014/main" id="{00087E73-C04B-4FF7-88CC-39D146CEE80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43">
              <a:extLst>
                <a:ext uri="{FF2B5EF4-FFF2-40B4-BE49-F238E27FC236}">
                  <a16:creationId xmlns:a16="http://schemas.microsoft.com/office/drawing/2014/main" id="{F6684CF1-760F-4F38-9B51-B2BE6F7F0E6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44">
              <a:extLst>
                <a:ext uri="{FF2B5EF4-FFF2-40B4-BE49-F238E27FC236}">
                  <a16:creationId xmlns:a16="http://schemas.microsoft.com/office/drawing/2014/main" id="{6C357B19-2185-4923-86AB-573939DB1CCB}"/>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45">
              <a:extLst>
                <a:ext uri="{FF2B5EF4-FFF2-40B4-BE49-F238E27FC236}">
                  <a16:creationId xmlns:a16="http://schemas.microsoft.com/office/drawing/2014/main" id="{745C8593-CAD2-4EAD-B82D-AA253F717155}"/>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29" name="Freeform 46">
              <a:extLst>
                <a:ext uri="{FF2B5EF4-FFF2-40B4-BE49-F238E27FC236}">
                  <a16:creationId xmlns:a16="http://schemas.microsoft.com/office/drawing/2014/main" id="{B384B41B-780D-42AB-A063-7052CC29D75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0" name="Freeform 47">
              <a:extLst>
                <a:ext uri="{FF2B5EF4-FFF2-40B4-BE49-F238E27FC236}">
                  <a16:creationId xmlns:a16="http://schemas.microsoft.com/office/drawing/2014/main" id="{62FE602F-E75B-4D93-9D94-F688FA6403DC}"/>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1" name="Freeform 48">
              <a:extLst>
                <a:ext uri="{FF2B5EF4-FFF2-40B4-BE49-F238E27FC236}">
                  <a16:creationId xmlns:a16="http://schemas.microsoft.com/office/drawing/2014/main" id="{B0340309-59C7-41A5-A975-6ED4FC69558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2" name="Freeform 49">
              <a:extLst>
                <a:ext uri="{FF2B5EF4-FFF2-40B4-BE49-F238E27FC236}">
                  <a16:creationId xmlns:a16="http://schemas.microsoft.com/office/drawing/2014/main" id="{2CF388E8-3611-4410-879E-C23BF15610B0}"/>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3" name="Freeform 50">
              <a:extLst>
                <a:ext uri="{FF2B5EF4-FFF2-40B4-BE49-F238E27FC236}">
                  <a16:creationId xmlns:a16="http://schemas.microsoft.com/office/drawing/2014/main" id="{A7E39C54-EAB6-4670-9911-865D0ABBAC33}"/>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4" name="Freeform 51">
              <a:extLst>
                <a:ext uri="{FF2B5EF4-FFF2-40B4-BE49-F238E27FC236}">
                  <a16:creationId xmlns:a16="http://schemas.microsoft.com/office/drawing/2014/main" id="{C328AEB8-604B-4FE9-95BF-7EA4E8ED5D3C}"/>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5" name="Freeform 52">
              <a:extLst>
                <a:ext uri="{FF2B5EF4-FFF2-40B4-BE49-F238E27FC236}">
                  <a16:creationId xmlns:a16="http://schemas.microsoft.com/office/drawing/2014/main" id="{81BC006C-BCD9-45CD-9774-051F478861B4}"/>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6" name="Freeform 53">
              <a:extLst>
                <a:ext uri="{FF2B5EF4-FFF2-40B4-BE49-F238E27FC236}">
                  <a16:creationId xmlns:a16="http://schemas.microsoft.com/office/drawing/2014/main" id="{086DBB45-39C4-44DE-AB86-92873FECAA8E}"/>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7" name="Freeform 54">
              <a:extLst>
                <a:ext uri="{FF2B5EF4-FFF2-40B4-BE49-F238E27FC236}">
                  <a16:creationId xmlns:a16="http://schemas.microsoft.com/office/drawing/2014/main" id="{09A277B2-A3BA-43A2-BA82-813C993033E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8" name="Freeform 55">
              <a:extLst>
                <a:ext uri="{FF2B5EF4-FFF2-40B4-BE49-F238E27FC236}">
                  <a16:creationId xmlns:a16="http://schemas.microsoft.com/office/drawing/2014/main" id="{3BBD2727-FD37-443A-B218-1F396F8598AF}"/>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9" name="Freeform 56">
              <a:extLst>
                <a:ext uri="{FF2B5EF4-FFF2-40B4-BE49-F238E27FC236}">
                  <a16:creationId xmlns:a16="http://schemas.microsoft.com/office/drawing/2014/main" id="{246B2677-07FC-46C4-AA93-81A6A49524E9}"/>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0" name="Freeform 57">
              <a:extLst>
                <a:ext uri="{FF2B5EF4-FFF2-40B4-BE49-F238E27FC236}">
                  <a16:creationId xmlns:a16="http://schemas.microsoft.com/office/drawing/2014/main" id="{3C345CC2-F3A1-4D57-A0B2-DBACACAF6DA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1" name="Freeform 58">
              <a:extLst>
                <a:ext uri="{FF2B5EF4-FFF2-40B4-BE49-F238E27FC236}">
                  <a16:creationId xmlns:a16="http://schemas.microsoft.com/office/drawing/2014/main" id="{8F6163AE-D7D4-48CF-8F56-27751A27AAE4}"/>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2" name="Freeform 59">
              <a:extLst>
                <a:ext uri="{FF2B5EF4-FFF2-40B4-BE49-F238E27FC236}">
                  <a16:creationId xmlns:a16="http://schemas.microsoft.com/office/drawing/2014/main" id="{DA1F4E85-B289-49FE-BD0A-6540821598DD}"/>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3" name="Freeform 60">
              <a:extLst>
                <a:ext uri="{FF2B5EF4-FFF2-40B4-BE49-F238E27FC236}">
                  <a16:creationId xmlns:a16="http://schemas.microsoft.com/office/drawing/2014/main" id="{DE778FDA-1390-418E-A32B-D860CAB1DDFA}"/>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4" name="Freeform 61">
              <a:extLst>
                <a:ext uri="{FF2B5EF4-FFF2-40B4-BE49-F238E27FC236}">
                  <a16:creationId xmlns:a16="http://schemas.microsoft.com/office/drawing/2014/main" id="{FCCA6383-EF4D-4BBE-B1B8-1964323BC8A8}"/>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5" name="Freeform 62">
              <a:extLst>
                <a:ext uri="{FF2B5EF4-FFF2-40B4-BE49-F238E27FC236}">
                  <a16:creationId xmlns:a16="http://schemas.microsoft.com/office/drawing/2014/main" id="{23CCBDCB-F7EF-4C6E-AFA9-224128705B98}"/>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6" name="Freeform 71">
              <a:extLst>
                <a:ext uri="{FF2B5EF4-FFF2-40B4-BE49-F238E27FC236}">
                  <a16:creationId xmlns:a16="http://schemas.microsoft.com/office/drawing/2014/main" id="{895D5DE4-D3E3-44FD-A936-3D4830CD2F66}"/>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grpSp>
      <p:sp>
        <p:nvSpPr>
          <p:cNvPr id="147" name="标题 1">
            <a:extLst>
              <a:ext uri="{FF2B5EF4-FFF2-40B4-BE49-F238E27FC236}">
                <a16:creationId xmlns:a16="http://schemas.microsoft.com/office/drawing/2014/main" id="{BD9599D0-9EF4-485D-9BF2-FE64B75665AD}"/>
              </a:ext>
            </a:extLst>
          </p:cNvPr>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F0502020204030204"/>
                <a:ea typeface="Microsoft YaHei"/>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zh-CN" altLang="en-US" dirty="0"/>
              <a:t>单击此处编辑结束语</a:t>
            </a:r>
          </a:p>
        </p:txBody>
      </p:sp>
      <p:sp>
        <p:nvSpPr>
          <p:cNvPr id="148" name="副标题 2">
            <a:extLst>
              <a:ext uri="{FF2B5EF4-FFF2-40B4-BE49-F238E27FC236}">
                <a16:creationId xmlns:a16="http://schemas.microsoft.com/office/drawing/2014/main" id="{780F498B-8C32-41D4-A1DA-41A6A68C0055}"/>
              </a:ext>
            </a:extLst>
          </p:cNvPr>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F0502020204030204"/>
                <a:ea typeface="Microsoft YaHei"/>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extLst>
      <p:ext uri="{BB962C8B-B14F-4D97-AF65-F5344CB8AC3E}">
        <p14:creationId xmlns:p14="http://schemas.microsoft.com/office/powerpoint/2010/main" val="307460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642018588"/>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676316277"/>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cxnSp>
        <p:nvCxnSpPr>
          <p:cNvPr id="71" name="直接连接符 70">
            <a:extLst>
              <a:ext uri="{FF2B5EF4-FFF2-40B4-BE49-F238E27FC236}">
                <a16:creationId xmlns:a16="http://schemas.microsoft.com/office/drawing/2014/main" id="{E65A605E-CDFB-48F0-9262-92E6FAB0F34F}"/>
              </a:ext>
            </a:extLst>
          </p:cNvPr>
          <p:cNvCxnSpPr>
            <a:cxnSpLocks/>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a:extLst>
              <a:ext uri="{FF2B5EF4-FFF2-40B4-BE49-F238E27FC236}">
                <a16:creationId xmlns:a16="http://schemas.microsoft.com/office/drawing/2014/main" id="{D1EB5750-0A9D-4CDA-8A3E-C75D4C68F34A}"/>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a:extLst>
              <a:ext uri="{FF2B5EF4-FFF2-40B4-BE49-F238E27FC236}">
                <a16:creationId xmlns:a16="http://schemas.microsoft.com/office/drawing/2014/main" id="{6D968944-E188-47DB-80CF-1FD6A7CF4922}"/>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56740207"/>
      </p:ext>
    </p:extLst>
  </p:cSld>
  <p:clrMapOvr>
    <a:masterClrMapping/>
  </p:clrMapOvr>
  <p:extLst>
    <p:ext uri="{DCECCB84-F9BA-43D5-87BE-67443E8EF086}">
      <p15:sldGuideLst xmlns:p15="http://schemas.microsoft.com/office/powerpoint/2012/main">
        <p15:guide id="4"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a:extLst>
              <a:ext uri="{FF2B5EF4-FFF2-40B4-BE49-F238E27FC236}">
                <a16:creationId xmlns:a16="http://schemas.microsoft.com/office/drawing/2014/main" id="{73F46A27-B045-491C-8492-DC2AE1277C86}"/>
              </a:ext>
            </a:extLst>
          </p:cNvPr>
          <p:cNvGrpSpPr/>
          <p:nvPr userDrawn="1"/>
        </p:nvGrpSpPr>
        <p:grpSpPr>
          <a:xfrm>
            <a:off x="528706" y="867990"/>
            <a:ext cx="2433027" cy="0"/>
            <a:chOff x="7460343" y="1311756"/>
            <a:chExt cx="2433027" cy="0"/>
          </a:xfrm>
        </p:grpSpPr>
        <p:cxnSp>
          <p:nvCxnSpPr>
            <p:cNvPr id="64" name="直接连接符 63">
              <a:extLst>
                <a:ext uri="{FF2B5EF4-FFF2-40B4-BE49-F238E27FC236}">
                  <a16:creationId xmlns:a16="http://schemas.microsoft.com/office/drawing/2014/main" id="{B77B3D24-6FB9-41AF-8DFD-6DE7FAB86A89}"/>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sp>
        <p:nvSpPr>
          <p:cNvPr id="125" name="标题 1">
            <a:extLst>
              <a:ext uri="{FF2B5EF4-FFF2-40B4-BE49-F238E27FC236}">
                <a16:creationId xmlns:a16="http://schemas.microsoft.com/office/drawing/2014/main" id="{97EAA164-D07E-4BD8-8F25-2F9AABA01D6D}"/>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a:extLst>
              <a:ext uri="{FF2B5EF4-FFF2-40B4-BE49-F238E27FC236}">
                <a16:creationId xmlns:a16="http://schemas.microsoft.com/office/drawing/2014/main" id="{A21D5F5E-4FB0-402A-AEA9-76C1EEB139D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302374986"/>
      </p:ext>
    </p:extLst>
  </p:cSld>
  <p:clrMapOvr>
    <a:masterClrMapping/>
  </p:clrMapOvr>
  <p:extLst>
    <p:ext uri="{DCECCB84-F9BA-43D5-87BE-67443E8EF086}">
      <p15:sldGuideLst xmlns:p15="http://schemas.microsoft.com/office/powerpoint/2012/main">
        <p15:guide id="2" orient="horz">
          <p15:clr>
            <a:srgbClr val="FBAE40"/>
          </p15:clr>
        </p15:guide>
        <p15:guide id="4"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57" name="灯片编号占位符 8">
            <a:extLst>
              <a:ext uri="{FF2B5EF4-FFF2-40B4-BE49-F238E27FC236}">
                <a16:creationId xmlns:a16="http://schemas.microsoft.com/office/drawing/2014/main" id="{EA30CFCD-47F5-4BDB-9235-4899110ACBB2}"/>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Tree>
    <p:extLst>
      <p:ext uri="{BB962C8B-B14F-4D97-AF65-F5344CB8AC3E}">
        <p14:creationId xmlns:p14="http://schemas.microsoft.com/office/powerpoint/2010/main" val="317532146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47342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7467291-1F4D-4401-BBE0-17BCD8258297}"/>
              </a:ext>
            </a:extLst>
          </p:cNvPr>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23479911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6EEF3A2-ACC0-4E28-9306-12EF02038760}"/>
              </a:ext>
            </a:extLst>
          </p:cNvPr>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extLst>
      <p:ext uri="{BB962C8B-B14F-4D97-AF65-F5344CB8AC3E}">
        <p14:creationId xmlns:p14="http://schemas.microsoft.com/office/powerpoint/2010/main" val="2274143159"/>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a:extLst>
              <a:ext uri="{FF2B5EF4-FFF2-40B4-BE49-F238E27FC236}">
                <a16:creationId xmlns:a16="http://schemas.microsoft.com/office/drawing/2014/main" id="{712652DD-B310-4939-8011-D71B950A1B21}"/>
              </a:ext>
            </a:extLst>
          </p:cNvPr>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extLst>
      <p:ext uri="{BB962C8B-B14F-4D97-AF65-F5344CB8AC3E}">
        <p14:creationId xmlns:p14="http://schemas.microsoft.com/office/powerpoint/2010/main" val="278707024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32218AD9-0802-4E94-A545-7752B3A5C829}"/>
              </a:ext>
            </a:extLst>
          </p:cNvPr>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extLst>
      <p:ext uri="{BB962C8B-B14F-4D97-AF65-F5344CB8AC3E}">
        <p14:creationId xmlns:p14="http://schemas.microsoft.com/office/powerpoint/2010/main" val="3921120085"/>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931C1FA-5FE8-40DF-AC6E-9B6B0E4CC26F}"/>
              </a:ext>
            </a:extLst>
          </p:cNvPr>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a:extLst>
              <a:ext uri="{FF2B5EF4-FFF2-40B4-BE49-F238E27FC236}">
                <a16:creationId xmlns:a16="http://schemas.microsoft.com/office/drawing/2014/main" id="{C7AF3ED8-1DE9-44A2-B853-FD2803EEAA0D}"/>
              </a:ext>
            </a:extLst>
          </p:cNvPr>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a:extLst>
              <a:ext uri="{FF2B5EF4-FFF2-40B4-BE49-F238E27FC236}">
                <a16:creationId xmlns:a16="http://schemas.microsoft.com/office/drawing/2014/main" id="{DB0BFE19-92E2-432D-9E06-36F2A8747397}"/>
              </a:ext>
            </a:extLst>
          </p:cNvPr>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a:extLst>
              <a:ext uri="{FF2B5EF4-FFF2-40B4-BE49-F238E27FC236}">
                <a16:creationId xmlns:a16="http://schemas.microsoft.com/office/drawing/2014/main" id="{F6FF85A4-C3A0-4D0C-92AF-6F4762E6DED8}"/>
              </a:ext>
            </a:extLst>
          </p:cNvPr>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extLst>
      <p:ext uri="{BB962C8B-B14F-4D97-AF65-F5344CB8AC3E}">
        <p14:creationId xmlns:p14="http://schemas.microsoft.com/office/powerpoint/2010/main" val="147247552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24439797-4BE0-4F81-A8CC-64A6D9187FF8}"/>
              </a:ext>
            </a:extLst>
          </p:cNvPr>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382842858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E936D758-58FF-4E8C-86BD-EB1FD279A69D}"/>
              </a:ext>
            </a:extLst>
          </p:cNvPr>
          <p:cNvSpPr>
            <a:spLocks noGrp="1"/>
          </p:cNvSpPr>
          <p:nvPr>
            <p:ph type="pic" idx="10"/>
          </p:nvPr>
        </p:nvSpPr>
        <p:spPr>
          <a:xfrm>
            <a:off x="2546350" y="1186670"/>
            <a:ext cx="6170930" cy="2242330"/>
          </a:xfrm>
        </p:spPr>
        <p:txBody>
          <a:bodyPr/>
          <a:lstStyle/>
          <a:p>
            <a:endParaRPr lang="zh-CN" altLang="en-US"/>
          </a:p>
        </p:txBody>
      </p:sp>
      <p:sp>
        <p:nvSpPr>
          <p:cNvPr id="3" name="图片占位符 2">
            <a:extLst>
              <a:ext uri="{FF2B5EF4-FFF2-40B4-BE49-F238E27FC236}">
                <a16:creationId xmlns:a16="http://schemas.microsoft.com/office/drawing/2014/main" id="{E5320648-7829-4F87-AE28-FE15F9A53BCF}"/>
              </a:ext>
            </a:extLst>
          </p:cNvPr>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a:extLst>
              <a:ext uri="{FF2B5EF4-FFF2-40B4-BE49-F238E27FC236}">
                <a16:creationId xmlns:a16="http://schemas.microsoft.com/office/drawing/2014/main" id="{A979AC8D-DFBA-44CD-BCB5-C9CCA905B1FD}"/>
              </a:ext>
            </a:extLst>
          </p:cNvPr>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a:extLst>
              <a:ext uri="{FF2B5EF4-FFF2-40B4-BE49-F238E27FC236}">
                <a16:creationId xmlns:a16="http://schemas.microsoft.com/office/drawing/2014/main" id="{B9DFBE81-F4AD-4D53-B8CE-49E335DF6821}"/>
              </a:ext>
            </a:extLst>
          </p:cNvPr>
          <p:cNvSpPr>
            <a:spLocks noGrp="1"/>
          </p:cNvSpPr>
          <p:nvPr>
            <p:ph type="pic" sz="quarter" idx="13"/>
          </p:nvPr>
        </p:nvSpPr>
        <p:spPr>
          <a:xfrm>
            <a:off x="8839200" y="1186670"/>
            <a:ext cx="2499360" cy="4767090"/>
          </a:xfrm>
          <a:prstGeom prst="rect">
            <a:avLst/>
          </a:prstGeom>
        </p:spPr>
        <p:txBody>
          <a:bodyPr/>
          <a:lstStyle/>
          <a:p>
            <a:endParaRPr lang="zh-CN" altLang="en-US"/>
          </a:p>
        </p:txBody>
      </p:sp>
    </p:spTree>
    <p:extLst>
      <p:ext uri="{BB962C8B-B14F-4D97-AF65-F5344CB8AC3E}">
        <p14:creationId xmlns:p14="http://schemas.microsoft.com/office/powerpoint/2010/main" val="277855067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35FCF2F-C01A-4F00-99E1-57D953605B1F}"/>
              </a:ext>
            </a:extLst>
          </p:cNvPr>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extLst>
      <p:ext uri="{BB962C8B-B14F-4D97-AF65-F5344CB8AC3E}">
        <p14:creationId xmlns:p14="http://schemas.microsoft.com/office/powerpoint/2010/main" val="38028280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heme" Target="../theme/theme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63455C0-832D-42B5-87CA-98983ACE7F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F2D6243-D774-493B-A6CB-55BA5AC174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EDB6C0E-2F8F-4954-AD0C-342D16865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a:extLst>
              <a:ext uri="{FF2B5EF4-FFF2-40B4-BE49-F238E27FC236}">
                <a16:creationId xmlns:a16="http://schemas.microsoft.com/office/drawing/2014/main" id="{FCB4F914-6D13-4D21-B73D-FFA3F0B9DF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6C55A3A-A704-474B-876D-9A80CCBAA8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3001298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602065-9875-489D-9807-49A056F14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D4D4825-E8D7-49E3-9C98-FB2E3CB1C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482996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9.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1.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60D80825-8C48-474D-87A6-364ABCC81FF0}"/>
              </a:ext>
            </a:extLst>
          </p:cNvPr>
          <p:cNvSpPr/>
          <p:nvPr/>
        </p:nvSpPr>
        <p:spPr>
          <a:xfrm>
            <a:off x="1" y="2698230"/>
            <a:ext cx="12192000" cy="17355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3" name="矩形 122">
            <a:extLst>
              <a:ext uri="{FF2B5EF4-FFF2-40B4-BE49-F238E27FC236}">
                <a16:creationId xmlns:a16="http://schemas.microsoft.com/office/drawing/2014/main" id="{A83A5D28-9D83-48F5-9E5A-9FE4B0EEFCD2}"/>
              </a:ext>
            </a:extLst>
          </p:cNvPr>
          <p:cNvSpPr/>
          <p:nvPr/>
        </p:nvSpPr>
        <p:spPr>
          <a:xfrm>
            <a:off x="1622712" y="3182291"/>
            <a:ext cx="8944132" cy="767390"/>
          </a:xfrm>
          <a:prstGeom prst="rect">
            <a:avLst/>
          </a:prstGeom>
        </p:spPr>
        <p:txBody>
          <a:bodyPr wrap="square">
            <a:spAutoFit/>
          </a:bodyPr>
          <a:lstStyle/>
          <a:p>
            <a:pPr algn="ctr">
              <a:lnSpc>
                <a:spcPct val="120000"/>
              </a:lnSpc>
              <a:defRPr sz="4000" b="1" spc="300">
                <a:solidFill>
                  <a:srgbClr val="FFFFFF"/>
                </a:solidFill>
                <a:latin typeface="Arial"/>
                <a:ea typeface="Arial"/>
                <a:cs typeface="Arial"/>
                <a:sym typeface="Arial"/>
              </a:defRPr>
            </a:pPr>
            <a:r>
              <a:rPr lang="en-US" altLang="zh-CN" dirty="0">
                <a:latin typeface="Microsoft YaHei"/>
                <a:ea typeface="Microsoft YaHei"/>
                <a:cs typeface="Microsoft YaHei"/>
                <a:sym typeface="Microsoft YaHei"/>
              </a:rPr>
              <a:t>2021</a:t>
            </a:r>
            <a:r>
              <a:rPr lang="zh-CN" altLang="en-US" dirty="0">
                <a:latin typeface="Microsoft YaHei"/>
                <a:ea typeface="Microsoft YaHei"/>
                <a:cs typeface="Microsoft YaHei"/>
                <a:sym typeface="Microsoft YaHei"/>
              </a:rPr>
              <a:t>数算第十</a:t>
            </a:r>
            <a:r>
              <a:rPr lang="en-US" altLang="zh-CN" dirty="0">
                <a:latin typeface="Microsoft YaHei"/>
                <a:ea typeface="Microsoft YaHei"/>
                <a:cs typeface="Microsoft YaHei"/>
                <a:sym typeface="Microsoft YaHei"/>
              </a:rPr>
              <a:t>-</a:t>
            </a:r>
            <a:r>
              <a:rPr lang="zh-CN" altLang="en-US" dirty="0">
                <a:latin typeface="Microsoft YaHei"/>
                <a:ea typeface="Microsoft YaHei"/>
                <a:cs typeface="Microsoft YaHei"/>
                <a:sym typeface="Microsoft YaHei"/>
              </a:rPr>
              <a:t>十二章习题课</a:t>
            </a:r>
          </a:p>
        </p:txBody>
      </p:sp>
      <p:grpSp>
        <p:nvGrpSpPr>
          <p:cNvPr id="119" name="组合 118">
            <a:extLst>
              <a:ext uri="{FF2B5EF4-FFF2-40B4-BE49-F238E27FC236}">
                <a16:creationId xmlns:a16="http://schemas.microsoft.com/office/drawing/2014/main" id="{6112D7F5-0BB5-439E-BE56-6514A6EF151C}"/>
              </a:ext>
            </a:extLst>
          </p:cNvPr>
          <p:cNvGrpSpPr/>
          <p:nvPr/>
        </p:nvGrpSpPr>
        <p:grpSpPr>
          <a:xfrm>
            <a:off x="5049188" y="326210"/>
            <a:ext cx="2093624" cy="2088742"/>
            <a:chOff x="2105799" y="20055838"/>
            <a:chExt cx="6748090" cy="6732363"/>
          </a:xfrm>
          <a:solidFill>
            <a:schemeClr val="accent1"/>
          </a:solidFill>
        </p:grpSpPr>
        <p:sp>
          <p:nvSpPr>
            <p:cNvPr id="120" name="Freeform 8">
              <a:extLst>
                <a:ext uri="{FF2B5EF4-FFF2-40B4-BE49-F238E27FC236}">
                  <a16:creationId xmlns:a16="http://schemas.microsoft.com/office/drawing/2014/main" id="{E2C71814-3CD5-4384-BD75-5B90DC1171A9}"/>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4" name="Freeform 42">
              <a:extLst>
                <a:ext uri="{FF2B5EF4-FFF2-40B4-BE49-F238E27FC236}">
                  <a16:creationId xmlns:a16="http://schemas.microsoft.com/office/drawing/2014/main" id="{26FE1644-E9DD-4D51-80EE-783310CEF052}"/>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5" name="Freeform 43">
              <a:extLst>
                <a:ext uri="{FF2B5EF4-FFF2-40B4-BE49-F238E27FC236}">
                  <a16:creationId xmlns:a16="http://schemas.microsoft.com/office/drawing/2014/main" id="{FD497158-79D6-46F7-966F-3425FA2B755F}"/>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6" name="Freeform 44">
              <a:extLst>
                <a:ext uri="{FF2B5EF4-FFF2-40B4-BE49-F238E27FC236}">
                  <a16:creationId xmlns:a16="http://schemas.microsoft.com/office/drawing/2014/main" id="{CFF5618C-E761-44F7-896F-4FE288C508CA}"/>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7" name="Freeform 45">
              <a:extLst>
                <a:ext uri="{FF2B5EF4-FFF2-40B4-BE49-F238E27FC236}">
                  <a16:creationId xmlns:a16="http://schemas.microsoft.com/office/drawing/2014/main" id="{D7446E18-F17A-4984-BCC6-B7E1F52DBA2C}"/>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8" name="Freeform 46">
              <a:extLst>
                <a:ext uri="{FF2B5EF4-FFF2-40B4-BE49-F238E27FC236}">
                  <a16:creationId xmlns:a16="http://schemas.microsoft.com/office/drawing/2014/main" id="{F6E61D19-7B2C-4497-B399-701EFE5F4B46}"/>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9" name="Freeform 47">
              <a:extLst>
                <a:ext uri="{FF2B5EF4-FFF2-40B4-BE49-F238E27FC236}">
                  <a16:creationId xmlns:a16="http://schemas.microsoft.com/office/drawing/2014/main" id="{7BAC70CB-898B-4A15-B1F7-C4CE85925914}"/>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0" name="Freeform 48">
              <a:extLst>
                <a:ext uri="{FF2B5EF4-FFF2-40B4-BE49-F238E27FC236}">
                  <a16:creationId xmlns:a16="http://schemas.microsoft.com/office/drawing/2014/main" id="{9F1A83BD-85A3-469B-AC00-6602A68BA1D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1" name="Freeform 49">
              <a:extLst>
                <a:ext uri="{FF2B5EF4-FFF2-40B4-BE49-F238E27FC236}">
                  <a16:creationId xmlns:a16="http://schemas.microsoft.com/office/drawing/2014/main" id="{F32EB500-90B0-4205-82ED-166B57C7E8B2}"/>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2" name="Freeform 50">
              <a:extLst>
                <a:ext uri="{FF2B5EF4-FFF2-40B4-BE49-F238E27FC236}">
                  <a16:creationId xmlns:a16="http://schemas.microsoft.com/office/drawing/2014/main" id="{4F617127-BCBB-4A32-AAA8-36502E80FCF6}"/>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3" name="Freeform 51">
              <a:extLst>
                <a:ext uri="{FF2B5EF4-FFF2-40B4-BE49-F238E27FC236}">
                  <a16:creationId xmlns:a16="http://schemas.microsoft.com/office/drawing/2014/main" id="{897B8C90-DEB2-4158-B384-343B9267466E}"/>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4" name="Freeform 52">
              <a:extLst>
                <a:ext uri="{FF2B5EF4-FFF2-40B4-BE49-F238E27FC236}">
                  <a16:creationId xmlns:a16="http://schemas.microsoft.com/office/drawing/2014/main" id="{CB13675F-D179-44C4-BC0A-462F3976992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5" name="Freeform 53">
              <a:extLst>
                <a:ext uri="{FF2B5EF4-FFF2-40B4-BE49-F238E27FC236}">
                  <a16:creationId xmlns:a16="http://schemas.microsoft.com/office/drawing/2014/main" id="{E70B5CC0-D928-4EFD-B2C5-2F6F0CE8DBC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6" name="Freeform 54">
              <a:extLst>
                <a:ext uri="{FF2B5EF4-FFF2-40B4-BE49-F238E27FC236}">
                  <a16:creationId xmlns:a16="http://schemas.microsoft.com/office/drawing/2014/main" id="{4FBB0DCE-F889-4809-ACE2-3F2CF7BF7265}"/>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7" name="Freeform 55">
              <a:extLst>
                <a:ext uri="{FF2B5EF4-FFF2-40B4-BE49-F238E27FC236}">
                  <a16:creationId xmlns:a16="http://schemas.microsoft.com/office/drawing/2014/main" id="{EFCD19A0-81A0-4BA3-B910-84F8654B5E34}"/>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8" name="Freeform 56">
              <a:extLst>
                <a:ext uri="{FF2B5EF4-FFF2-40B4-BE49-F238E27FC236}">
                  <a16:creationId xmlns:a16="http://schemas.microsoft.com/office/drawing/2014/main" id="{2CA3269D-9C7D-4B20-A5AE-325A8A0D4DB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9" name="Freeform 57">
              <a:extLst>
                <a:ext uri="{FF2B5EF4-FFF2-40B4-BE49-F238E27FC236}">
                  <a16:creationId xmlns:a16="http://schemas.microsoft.com/office/drawing/2014/main" id="{1B5FE221-3E48-4E96-B8E5-5FE1CD6CFF13}"/>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0" name="Freeform 58">
              <a:extLst>
                <a:ext uri="{FF2B5EF4-FFF2-40B4-BE49-F238E27FC236}">
                  <a16:creationId xmlns:a16="http://schemas.microsoft.com/office/drawing/2014/main" id="{0C80588D-DFE1-4FB4-962E-E3C92D9E11E7}"/>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1" name="Freeform 59">
              <a:extLst>
                <a:ext uri="{FF2B5EF4-FFF2-40B4-BE49-F238E27FC236}">
                  <a16:creationId xmlns:a16="http://schemas.microsoft.com/office/drawing/2014/main" id="{320EA19E-5EAD-4B80-911A-EBF3A28694B6}"/>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2" name="Freeform 60">
              <a:extLst>
                <a:ext uri="{FF2B5EF4-FFF2-40B4-BE49-F238E27FC236}">
                  <a16:creationId xmlns:a16="http://schemas.microsoft.com/office/drawing/2014/main" id="{CE249F1C-D798-4BD0-8FB9-089BB37E767F}"/>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3" name="Freeform 61">
              <a:extLst>
                <a:ext uri="{FF2B5EF4-FFF2-40B4-BE49-F238E27FC236}">
                  <a16:creationId xmlns:a16="http://schemas.microsoft.com/office/drawing/2014/main" id="{BC1A26E3-0AA5-4CA3-9984-A9FA381A1C0A}"/>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4" name="Freeform 62">
              <a:extLst>
                <a:ext uri="{FF2B5EF4-FFF2-40B4-BE49-F238E27FC236}">
                  <a16:creationId xmlns:a16="http://schemas.microsoft.com/office/drawing/2014/main" id="{019A6925-DD6B-4C29-B18F-663928AE5C79}"/>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5" name="Freeform 71">
              <a:extLst>
                <a:ext uri="{FF2B5EF4-FFF2-40B4-BE49-F238E27FC236}">
                  <a16:creationId xmlns:a16="http://schemas.microsoft.com/office/drawing/2014/main" id="{4E677B05-5C62-4629-A766-3F659E7E1A6A}"/>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sp>
        <p:nvSpPr>
          <p:cNvPr id="2" name="文本框 1">
            <a:extLst>
              <a:ext uri="{FF2B5EF4-FFF2-40B4-BE49-F238E27FC236}">
                <a16:creationId xmlns:a16="http://schemas.microsoft.com/office/drawing/2014/main" id="{4803BD50-60D5-1E4D-AB2A-3FB1716057C4}"/>
              </a:ext>
            </a:extLst>
          </p:cNvPr>
          <p:cNvSpPr txBox="1"/>
          <p:nvPr/>
        </p:nvSpPr>
        <p:spPr>
          <a:xfrm>
            <a:off x="2429177" y="5719230"/>
            <a:ext cx="7572778" cy="943528"/>
          </a:xfrm>
          <a:prstGeom prst="rect">
            <a:avLst/>
          </a:prstGeom>
          <a:noFill/>
        </p:spPr>
        <p:txBody>
          <a:bodyPr wrap="square" rtlCol="0">
            <a:spAutoFit/>
          </a:bodyPr>
          <a:lstStyle/>
          <a:p>
            <a:pPr algn="ctr">
              <a:lnSpc>
                <a:spcPct val="150000"/>
              </a:lnSpc>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庞悦（助教） </a:t>
            </a:r>
            <a:endPar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endParaRPr>
          </a:p>
          <a:p>
            <a:pPr algn="ctr">
              <a:lnSpc>
                <a:spcPct val="150000"/>
              </a:lnSpc>
            </a:pPr>
            <a:r>
              <a:rPr kumimoji="1" lang="en-US" altLang="zh-CN" sz="2000" dirty="0" err="1">
                <a:latin typeface="SimSun" panose="02010600030101010101" pitchFamily="2" charset="-122"/>
                <a:ea typeface="SimSun" panose="02010600030101010101" pitchFamily="2" charset="-122"/>
                <a:cs typeface="+mn-ea"/>
                <a:sym typeface="Arial" panose="020B0604020202020204" pitchFamily="34" charset="0"/>
              </a:rPr>
              <a:t>michelle.py@pku.edu.cn</a:t>
            </a:r>
            <a:endPar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endParaRPr>
          </a:p>
        </p:txBody>
      </p:sp>
    </p:spTree>
    <p:extLst>
      <p:ext uri="{BB962C8B-B14F-4D97-AF65-F5344CB8AC3E}">
        <p14:creationId xmlns:p14="http://schemas.microsoft.com/office/powerpoint/2010/main" val="101857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目录</a:t>
            </a: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1536446"/>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第十章 检索</a:t>
            </a: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第十一章 索引技术</a:t>
            </a: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第十二章 高级数据结构</a:t>
            </a:r>
            <a:endParaRPr lang="en-US" altLang="zh-CN" sz="2200" kern="100" dirty="0">
              <a:latin typeface="宋体" panose="02010600030101010101" pitchFamily="2" charset="-122"/>
              <a:ea typeface="宋体" panose="02010600030101010101" pitchFamily="2" charset="-122"/>
            </a:endParaRP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4031305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3</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4675639"/>
              </a:xfrm>
              <a:prstGeom prst="rect">
                <a:avLst/>
              </a:prstGeom>
            </p:spPr>
            <p:txBody>
              <a:bodyPr wrap="square">
                <a:spAutoFit/>
              </a:bodyPr>
              <a:lstStyle/>
              <a:p>
                <a:pPr marL="514350" lvl="0" indent="-514350">
                  <a:lnSpc>
                    <a:spcPct val="90000"/>
                  </a:lnSpc>
                  <a:spcBef>
                    <a:spcPts val="1000"/>
                  </a:spcBef>
                  <a:buFont typeface="+mj-lt"/>
                  <a:buAutoNum type="arabicPeriod"/>
                </a:pPr>
                <a:r>
                  <a:rPr kumimoji="1" lang="zh-CN" altLang="en-US" sz="2000" dirty="0">
                    <a:solidFill>
                      <a:prstClr val="black"/>
                    </a:solidFill>
                    <a:latin typeface="SimSun" panose="02010600030101010101" pitchFamily="2" charset="-122"/>
                    <a:ea typeface="SimSun" panose="02010600030101010101" pitchFamily="2" charset="-122"/>
                  </a:rPr>
                  <a:t>考虑用双向链表实现一个有序表，使得能在这个表中进行正向和反向顺序检索，其中的元素升序排列。若指针</a:t>
                </a:r>
                <a:r>
                  <a:rPr kumimoji="1" lang="en-US" altLang="zh-CN" sz="2000" dirty="0">
                    <a:solidFill>
                      <a:prstClr val="black"/>
                    </a:solidFill>
                    <a:latin typeface="SimSun" panose="02010600030101010101" pitchFamily="2" charset="-122"/>
                    <a:ea typeface="SimSun" panose="02010600030101010101" pitchFamily="2" charset="-122"/>
                  </a:rPr>
                  <a:t>p</a:t>
                </a:r>
                <a:r>
                  <a:rPr kumimoji="1" lang="zh-CN" altLang="en-US" sz="2000" dirty="0">
                    <a:solidFill>
                      <a:prstClr val="black"/>
                    </a:solidFill>
                    <a:latin typeface="SimSun" panose="02010600030101010101" pitchFamily="2" charset="-122"/>
                    <a:ea typeface="SimSun" panose="02010600030101010101" pitchFamily="2" charset="-122"/>
                  </a:rPr>
                  <a:t>总是指向最后成功检索到的结点，检索可以从</a:t>
                </a:r>
                <a:r>
                  <a:rPr kumimoji="1" lang="en-US" altLang="zh-CN" sz="2000" dirty="0">
                    <a:solidFill>
                      <a:prstClr val="black"/>
                    </a:solidFill>
                    <a:latin typeface="SimSun" panose="02010600030101010101" pitchFamily="2" charset="-122"/>
                    <a:ea typeface="SimSun" panose="02010600030101010101" pitchFamily="2" charset="-122"/>
                  </a:rPr>
                  <a:t>p</a:t>
                </a:r>
                <a:r>
                  <a:rPr kumimoji="1" lang="zh-CN" altLang="en-US" sz="2000" dirty="0">
                    <a:solidFill>
                      <a:prstClr val="black"/>
                    </a:solidFill>
                    <a:latin typeface="SimSun" panose="02010600030101010101" pitchFamily="2" charset="-122"/>
                    <a:ea typeface="SimSun" panose="02010600030101010101" pitchFamily="2" charset="-122"/>
                  </a:rPr>
                  <a:t>指示的结点出发沿任一方向进行。</a:t>
                </a:r>
                <a:endParaRPr kumimoji="1" lang="en-US" altLang="zh-CN" sz="2000" dirty="0">
                  <a:solidFill>
                    <a:prstClr val="black"/>
                  </a:solidFill>
                  <a:latin typeface="SimSun" panose="02010600030101010101" pitchFamily="2" charset="-122"/>
                  <a:ea typeface="SimSun" panose="02010600030101010101" pitchFamily="2" charset="-122"/>
                </a:endParaRPr>
              </a:p>
              <a:p>
                <a:pPr lvl="1">
                  <a:lnSpc>
                    <a:spcPct val="90000"/>
                  </a:lnSpc>
                  <a:spcBef>
                    <a:spcPts val="500"/>
                  </a:spcBef>
                </a:pPr>
                <a:r>
                  <a:rPr kumimoji="1" lang="en-US" altLang="zh-CN" sz="2000" dirty="0">
                    <a:solidFill>
                      <a:prstClr val="black"/>
                    </a:solidFill>
                    <a:latin typeface="SimSun" panose="02010600030101010101" pitchFamily="2" charset="-122"/>
                    <a:ea typeface="SimSun" panose="02010600030101010101" pitchFamily="2" charset="-122"/>
                  </a:rPr>
                  <a:t>(1) </a:t>
                </a:r>
                <a:r>
                  <a:rPr kumimoji="1" lang="zh-CN" altLang="en-US" sz="2000" dirty="0">
                    <a:solidFill>
                      <a:prstClr val="black"/>
                    </a:solidFill>
                    <a:latin typeface="SimSun" panose="02010600030101010101" pitchFamily="2" charset="-122"/>
                    <a:ea typeface="SimSun" panose="02010600030101010101" pitchFamily="2" charset="-122"/>
                  </a:rPr>
                  <a:t>请编写一个函数</a:t>
                </a:r>
                <a:r>
                  <a:rPr kumimoji="1" lang="en-US" altLang="zh-CN" sz="2000" dirty="0">
                    <a:solidFill>
                      <a:prstClr val="black"/>
                    </a:solidFill>
                    <a:latin typeface="SimSun" panose="02010600030101010101" pitchFamily="2" charset="-122"/>
                    <a:ea typeface="SimSun" panose="02010600030101010101" pitchFamily="2" charset="-122"/>
                  </a:rPr>
                  <a:t>search(head, p, K)</a:t>
                </a:r>
                <a:r>
                  <a:rPr kumimoji="1" lang="zh-CN" altLang="en-US" sz="2000" dirty="0">
                    <a:solidFill>
                      <a:prstClr val="black"/>
                    </a:solidFill>
                    <a:latin typeface="SimSun" panose="02010600030101010101" pitchFamily="2" charset="-122"/>
                    <a:ea typeface="SimSun" panose="02010600030101010101" pitchFamily="2" charset="-122"/>
                  </a:rPr>
                  <a:t>，检索有关键码</a:t>
                </a:r>
                <a:r>
                  <a:rPr kumimoji="1" lang="en-US" altLang="zh-CN" sz="2000" dirty="0">
                    <a:solidFill>
                      <a:prstClr val="black"/>
                    </a:solidFill>
                    <a:latin typeface="SimSun" panose="02010600030101010101" pitchFamily="2" charset="-122"/>
                    <a:ea typeface="SimSun" panose="02010600030101010101" pitchFamily="2" charset="-122"/>
                  </a:rPr>
                  <a:t>K</a:t>
                </a:r>
                <a:r>
                  <a:rPr kumimoji="1" lang="zh-CN" altLang="en-US" sz="2000" dirty="0">
                    <a:solidFill>
                      <a:prstClr val="black"/>
                    </a:solidFill>
                    <a:latin typeface="SimSun" panose="02010600030101010101" pitchFamily="2" charset="-122"/>
                    <a:ea typeface="SimSun" panose="02010600030101010101" pitchFamily="2" charset="-122"/>
                  </a:rPr>
                  <a:t>的结点，并相应地修改</a:t>
                </a:r>
                <a:r>
                  <a:rPr kumimoji="1" lang="en-US" altLang="zh-CN" sz="2000" dirty="0">
                    <a:solidFill>
                      <a:prstClr val="black"/>
                    </a:solidFill>
                    <a:latin typeface="SimSun" panose="02010600030101010101" pitchFamily="2" charset="-122"/>
                    <a:ea typeface="SimSun" panose="02010600030101010101" pitchFamily="2" charset="-122"/>
                  </a:rPr>
                  <a:t>p</a:t>
                </a:r>
                <a:r>
                  <a:rPr kumimoji="1" lang="zh-CN" altLang="en-US" sz="2000" dirty="0">
                    <a:solidFill>
                      <a:prstClr val="black"/>
                    </a:solidFill>
                    <a:latin typeface="SimSun" panose="02010600030101010101" pitchFamily="2" charset="-122"/>
                    <a:ea typeface="SimSun" panose="02010600030101010101" pitchFamily="2" charset="-122"/>
                  </a:rPr>
                  <a:t>。</a:t>
                </a:r>
                <a:endParaRPr kumimoji="1" lang="en-US" altLang="zh-CN" sz="2000" dirty="0">
                  <a:solidFill>
                    <a:prstClr val="black"/>
                  </a:solidFill>
                  <a:latin typeface="SimSun" panose="02010600030101010101" pitchFamily="2" charset="-122"/>
                  <a:ea typeface="SimSun" panose="02010600030101010101" pitchFamily="2" charset="-122"/>
                </a:endParaRPr>
              </a:p>
              <a:p>
                <a:pPr lvl="1">
                  <a:lnSpc>
                    <a:spcPct val="90000"/>
                  </a:lnSpc>
                  <a:spcBef>
                    <a:spcPts val="500"/>
                  </a:spcBef>
                </a:pPr>
                <a:r>
                  <a:rPr kumimoji="1" lang="en-US" altLang="zh-CN" sz="2000" dirty="0">
                    <a:solidFill>
                      <a:prstClr val="black"/>
                    </a:solidFill>
                    <a:latin typeface="SimSun" panose="02010600030101010101" pitchFamily="2" charset="-122"/>
                    <a:ea typeface="SimSun" panose="02010600030101010101" pitchFamily="2" charset="-122"/>
                  </a:rPr>
                  <a:t>(2) </a:t>
                </a:r>
                <a:r>
                  <a:rPr kumimoji="1" lang="zh-CN" altLang="en-US" sz="2000" dirty="0">
                    <a:solidFill>
                      <a:prstClr val="black"/>
                    </a:solidFill>
                    <a:latin typeface="SimSun" panose="02010600030101010101" pitchFamily="2" charset="-122"/>
                    <a:ea typeface="SimSun" panose="02010600030101010101" pitchFamily="2" charset="-122"/>
                  </a:rPr>
                  <a:t>假设有序表中元素个数为</a:t>
                </a:r>
                <a:r>
                  <a:rPr kumimoji="1" lang="en-US" altLang="zh-CN" sz="2000" dirty="0">
                    <a:solidFill>
                      <a:prstClr val="black"/>
                    </a:solidFill>
                    <a:latin typeface="SimSun" panose="02010600030101010101" pitchFamily="2" charset="-122"/>
                    <a:ea typeface="SimSun" panose="02010600030101010101" pitchFamily="2" charset="-122"/>
                  </a:rPr>
                  <a:t>n</a:t>
                </a:r>
                <a:r>
                  <a:rPr kumimoji="1" lang="zh-CN" altLang="en-US" sz="2000" dirty="0">
                    <a:solidFill>
                      <a:prstClr val="black"/>
                    </a:solidFill>
                    <a:latin typeface="SimSun" panose="02010600030101010101" pitchFamily="2" charset="-122"/>
                    <a:ea typeface="SimSun" panose="02010600030101010101" pitchFamily="2" charset="-122"/>
                  </a:rPr>
                  <a:t>，请给出等概率情况下检索成功时的平均检索长度。</a:t>
                </a:r>
                <a:endParaRPr kumimoji="1" lang="en-US" altLang="zh-CN" sz="2000" dirty="0">
                  <a:solidFill>
                    <a:prstClr val="black"/>
                  </a:solidFill>
                  <a:latin typeface="SimSun" panose="02010600030101010101" pitchFamily="2" charset="-122"/>
                  <a:ea typeface="SimSun" panose="02010600030101010101" pitchFamily="2" charset="-122"/>
                </a:endParaRPr>
              </a:p>
              <a:p>
                <a:pPr>
                  <a:lnSpc>
                    <a:spcPct val="90000"/>
                  </a:lnSpc>
                  <a:spcBef>
                    <a:spcPts val="500"/>
                  </a:spcBef>
                </a:pPr>
                <a:endParaRPr kumimoji="1" lang="en-US" altLang="zh-CN" sz="2000" dirty="0">
                  <a:solidFill>
                    <a:prstClr val="black"/>
                  </a:solidFill>
                  <a:latin typeface="SimSun" panose="02010600030101010101" pitchFamily="2" charset="-122"/>
                  <a:ea typeface="SimSun" panose="02010600030101010101" pitchFamily="2" charset="-122"/>
                </a:endParaRPr>
              </a:p>
              <a:p>
                <a:pPr>
                  <a:lnSpc>
                    <a:spcPct val="90000"/>
                  </a:lnSpc>
                  <a:spcBef>
                    <a:spcPts val="500"/>
                  </a:spcBef>
                </a:pPr>
                <a:r>
                  <a:rPr kumimoji="1" lang="zh-CN" altLang="en-US" sz="2000" dirty="0">
                    <a:solidFill>
                      <a:prstClr val="black"/>
                    </a:solidFill>
                    <a:latin typeface="SimSun" panose="02010600030101010101" pitchFamily="2" charset="-122"/>
                    <a:ea typeface="SimSun" panose="02010600030101010101" pitchFamily="2" charset="-122"/>
                  </a:rPr>
                  <a:t>审题：</a:t>
                </a:r>
                <a:r>
                  <a:rPr kumimoji="1" lang="zh-CN" altLang="en-US" sz="2000" b="1" u="sng" dirty="0">
                    <a:solidFill>
                      <a:prstClr val="black"/>
                    </a:solidFill>
                    <a:latin typeface="SimSun" panose="02010600030101010101" pitchFamily="2" charset="-122"/>
                    <a:ea typeface="SimSun" panose="02010600030101010101" pitchFamily="2" charset="-122"/>
                  </a:rPr>
                  <a:t>最后</a:t>
                </a:r>
                <a:r>
                  <a:rPr kumimoji="1" lang="zh-CN" altLang="en-US" sz="2000" dirty="0">
                    <a:solidFill>
                      <a:prstClr val="black"/>
                    </a:solidFill>
                    <a:latin typeface="SimSun" panose="02010600030101010101" pitchFamily="2" charset="-122"/>
                    <a:ea typeface="SimSun" panose="02010600030101010101" pitchFamily="2" charset="-122"/>
                  </a:rPr>
                  <a:t>成功检索到的结点（有重复元素时需要检索到最后一个）</a:t>
                </a:r>
                <a:endParaRPr kumimoji="1" lang="en-US" altLang="zh-CN" sz="2000" dirty="0">
                  <a:solidFill>
                    <a:prstClr val="black"/>
                  </a:solidFill>
                  <a:latin typeface="SimSun" panose="02010600030101010101" pitchFamily="2" charset="-122"/>
                  <a:ea typeface="SimSun" panose="02010600030101010101" pitchFamily="2" charset="-122"/>
                </a:endParaRPr>
              </a:p>
              <a:p>
                <a:pPr>
                  <a:lnSpc>
                    <a:spcPct val="90000"/>
                  </a:lnSpc>
                  <a:spcBef>
                    <a:spcPts val="500"/>
                  </a:spcBef>
                </a:pPr>
                <a:r>
                  <a:rPr kumimoji="1" lang="zh-CN" altLang="en-US" sz="2000" dirty="0">
                    <a:solidFill>
                      <a:prstClr val="black"/>
                    </a:solidFill>
                    <a:latin typeface="SimSun" panose="02010600030101010101" pitchFamily="2" charset="-122"/>
                    <a:ea typeface="SimSun" panose="02010600030101010101" pitchFamily="2" charset="-122"/>
                  </a:rPr>
                  <a:t>在实践中，一般检索到首个满足条件的结点就可以返回</a:t>
                </a:r>
                <a:endParaRPr kumimoji="1" lang="en-US" altLang="zh-CN" sz="2000" dirty="0">
                  <a:solidFill>
                    <a:prstClr val="black"/>
                  </a:solidFill>
                  <a:latin typeface="SimSun" panose="02010600030101010101" pitchFamily="2" charset="-122"/>
                  <a:ea typeface="SimSun" panose="02010600030101010101" pitchFamily="2" charset="-122"/>
                </a:endParaRPr>
              </a:p>
              <a:p>
                <a:pPr>
                  <a:lnSpc>
                    <a:spcPct val="90000"/>
                  </a:lnSpc>
                  <a:spcBef>
                    <a:spcPts val="500"/>
                  </a:spcBef>
                </a:pPr>
                <a:r>
                  <a:rPr kumimoji="1" lang="zh-CN" altLang="en-US" sz="2000" dirty="0">
                    <a:solidFill>
                      <a:prstClr val="black"/>
                    </a:solidFill>
                    <a:latin typeface="SimSun" panose="02010600030101010101" pitchFamily="2" charset="-122"/>
                    <a:ea typeface="SimSun" panose="02010600030101010101" pitchFamily="2" charset="-122"/>
                  </a:rPr>
                  <a:t>伪代码中注意处理边界条件</a:t>
                </a:r>
                <a:endParaRPr kumimoji="1" lang="en-US" altLang="zh-CN" sz="2000" dirty="0">
                  <a:solidFill>
                    <a:prstClr val="black"/>
                  </a:solidFill>
                  <a:latin typeface="SimSun" panose="02010600030101010101" pitchFamily="2" charset="-122"/>
                  <a:ea typeface="SimSun" panose="02010600030101010101" pitchFamily="2" charset="-122"/>
                </a:endParaRPr>
              </a:p>
              <a:p>
                <a:pPr>
                  <a:lnSpc>
                    <a:spcPct val="90000"/>
                  </a:lnSpc>
                  <a:spcBef>
                    <a:spcPts val="500"/>
                  </a:spcBef>
                </a:pPr>
                <a:r>
                  <a:rPr kumimoji="1" lang="zh-CN" altLang="en-US" sz="2000" dirty="0">
                    <a:solidFill>
                      <a:prstClr val="black"/>
                    </a:solidFill>
                    <a:latin typeface="SimSun" panose="02010600030101010101" pitchFamily="2" charset="-122"/>
                    <a:ea typeface="SimSun" panose="02010600030101010101" pitchFamily="2" charset="-122"/>
                  </a:rPr>
                  <a:t>检索长度即为比较次数；</a:t>
                </a:r>
                <a:endParaRPr kumimoji="1" lang="en-US" altLang="zh-CN" sz="2000" dirty="0">
                  <a:solidFill>
                    <a:prstClr val="black"/>
                  </a:solidFill>
                  <a:latin typeface="SimSun" panose="02010600030101010101" pitchFamily="2" charset="-122"/>
                  <a:ea typeface="SimSun" panose="02010600030101010101" pitchFamily="2" charset="-122"/>
                </a:endParaRPr>
              </a:p>
              <a:p>
                <a:pPr>
                  <a:lnSpc>
                    <a:spcPct val="90000"/>
                  </a:lnSpc>
                  <a:spcBef>
                    <a:spcPts val="500"/>
                  </a:spcBef>
                </a:pPr>
                <a:r>
                  <a:rPr kumimoji="1" lang="en-US" altLang="zh-CN" sz="2000" dirty="0">
                    <a:solidFill>
                      <a:prstClr val="black"/>
                    </a:solidFill>
                    <a:latin typeface="SimSun" panose="02010600030101010101" pitchFamily="2" charset="-122"/>
                    <a:ea typeface="SimSun" panose="02010600030101010101" pitchFamily="2" charset="-122"/>
                  </a:rPr>
                  <a:t>ASL</a:t>
                </a:r>
                <a:r>
                  <a:rPr kumimoji="1" lang="zh-CN" altLang="en-US" sz="2000" dirty="0">
                    <a:solidFill>
                      <a:prstClr val="black"/>
                    </a:solidFill>
                    <a:latin typeface="SimSun" panose="02010600030101010101" pitchFamily="2" charset="-122"/>
                    <a:ea typeface="SimSun" panose="02010600030101010101" pitchFamily="2" charset="-122"/>
                  </a:rPr>
                  <a:t> </a:t>
                </a:r>
                <a:r>
                  <a:rPr kumimoji="1" lang="en-US" altLang="zh-CN" sz="2000" dirty="0">
                    <a:solidFill>
                      <a:prstClr val="black"/>
                    </a:solidFill>
                    <a:latin typeface="SimSun" panose="02010600030101010101" pitchFamily="2" charset="-122"/>
                    <a:ea typeface="SimSun" panose="02010600030101010101" pitchFamily="2" charset="-122"/>
                  </a:rPr>
                  <a:t>=</a:t>
                </a:r>
                <a14:m>
                  <m:oMath xmlns:m="http://schemas.openxmlformats.org/officeDocument/2006/math">
                    <m:r>
                      <a:rPr kumimoji="1" lang="en-US" altLang="zh-CN" sz="2000" b="0" i="0" smtClean="0">
                        <a:solidFill>
                          <a:prstClr val="black"/>
                        </a:solidFill>
                        <a:latin typeface="Cambria Math" panose="02040503050406030204" pitchFamily="18" charset="0"/>
                        <a:ea typeface="SimSun" panose="02010600030101010101" pitchFamily="2" charset="-122"/>
                      </a:rPr>
                      <m:t> </m:t>
                    </m:r>
                    <m:r>
                      <m:rPr>
                        <m:sty m:val="p"/>
                      </m:rPr>
                      <a:rPr kumimoji="1" lang="en-US" altLang="zh-CN" sz="2000" b="0" i="0" smtClean="0">
                        <a:solidFill>
                          <a:prstClr val="black"/>
                        </a:solidFill>
                        <a:latin typeface="Cambria Math" panose="02040503050406030204" pitchFamily="18" charset="0"/>
                        <a:ea typeface="SimSun" panose="02010600030101010101" pitchFamily="2" charset="-122"/>
                      </a:rPr>
                      <m:t>Σ</m:t>
                    </m:r>
                  </m:oMath>
                </a14:m>
                <a:r>
                  <a:rPr kumimoji="1" lang="en-US" altLang="zh-CN" sz="2000" dirty="0">
                    <a:solidFill>
                      <a:prstClr val="black"/>
                    </a:solidFill>
                    <a:latin typeface="SimSun" panose="02010600030101010101" pitchFamily="2" charset="-122"/>
                    <a:ea typeface="SimSun" panose="02010600030101010101" pitchFamily="2" charset="-122"/>
                  </a:rPr>
                  <a:t> </a:t>
                </a:r>
                <a:r>
                  <a:rPr kumimoji="1" lang="zh-CN" altLang="en-US" sz="2000" dirty="0">
                    <a:solidFill>
                      <a:prstClr val="black"/>
                    </a:solidFill>
                    <a:latin typeface="SimSun" panose="02010600030101010101" pitchFamily="2" charset="-122"/>
                    <a:ea typeface="SimSun" panose="02010600030101010101" pitchFamily="2" charset="-122"/>
                  </a:rPr>
                  <a:t>某种情形发生的概率 * 此种情形下的检索长度</a:t>
                </a:r>
                <a:endParaRPr kumimoji="1" lang="en-US" altLang="zh-CN" sz="2000" dirty="0">
                  <a:solidFill>
                    <a:prstClr val="black"/>
                  </a:solidFill>
                  <a:latin typeface="SimSun" panose="02010600030101010101" pitchFamily="2" charset="-122"/>
                  <a:ea typeface="SimSun" panose="02010600030101010101" pitchFamily="2" charset="-122"/>
                </a:endParaRPr>
              </a:p>
              <a:p>
                <a:pPr>
                  <a:lnSpc>
                    <a:spcPct val="90000"/>
                  </a:lnSpc>
                  <a:spcBef>
                    <a:spcPts val="500"/>
                  </a:spcBef>
                </a:pPr>
                <a:r>
                  <a:rPr kumimoji="1" lang="zh-CN" altLang="en-US" sz="2000" dirty="0">
                    <a:solidFill>
                      <a:prstClr val="black"/>
                    </a:solidFill>
                    <a:latin typeface="SimSun" panose="02010600030101010101" pitchFamily="2" charset="-122"/>
                    <a:ea typeface="SimSun" panose="02010600030101010101" pitchFamily="2" charset="-122"/>
                  </a:rPr>
                  <a:t>随机事件：输入的</a:t>
                </a:r>
                <a:r>
                  <a:rPr kumimoji="1" lang="en-US" altLang="zh-CN" sz="2000" dirty="0">
                    <a:solidFill>
                      <a:prstClr val="black"/>
                    </a:solidFill>
                    <a:latin typeface="SimSun" panose="02010600030101010101" pitchFamily="2" charset="-122"/>
                    <a:ea typeface="SimSun" panose="02010600030101010101" pitchFamily="2" charset="-122"/>
                  </a:rPr>
                  <a:t>p</a:t>
                </a:r>
                <a:r>
                  <a:rPr kumimoji="1" lang="zh-CN" altLang="en-US" sz="2000" dirty="0">
                    <a:solidFill>
                      <a:prstClr val="black"/>
                    </a:solidFill>
                    <a:latin typeface="SimSun" panose="02010600030101010101" pitchFamily="2" charset="-122"/>
                    <a:ea typeface="SimSun" panose="02010600030101010101" pitchFamily="2" charset="-122"/>
                  </a:rPr>
                  <a:t>和</a:t>
                </a:r>
                <a:r>
                  <a:rPr kumimoji="1" lang="en-US" altLang="zh-CN" sz="2000" dirty="0">
                    <a:solidFill>
                      <a:prstClr val="black"/>
                    </a:solidFill>
                    <a:latin typeface="SimSun" panose="02010600030101010101" pitchFamily="2" charset="-122"/>
                    <a:ea typeface="SimSun" panose="02010600030101010101" pitchFamily="2" charset="-122"/>
                  </a:rPr>
                  <a:t>K</a:t>
                </a:r>
              </a:p>
              <a:p>
                <a:pPr>
                  <a:lnSpc>
                    <a:spcPct val="90000"/>
                  </a:lnSpc>
                  <a:spcBef>
                    <a:spcPts val="500"/>
                  </a:spcBef>
                </a:pPr>
                <a:r>
                  <a:rPr kumimoji="1" lang="zh-CN" altLang="en-US" sz="2000" dirty="0">
                    <a:solidFill>
                      <a:prstClr val="black"/>
                    </a:solidFill>
                    <a:latin typeface="SimSun" panose="02010600030101010101" pitchFamily="2" charset="-122"/>
                    <a:ea typeface="SimSun" panose="02010600030101010101" pitchFamily="2" charset="-122"/>
                  </a:rPr>
                  <a:t>等概率假设：</a:t>
                </a:r>
                <a:r>
                  <a:rPr kumimoji="1" lang="en-US" altLang="zh-CN" sz="2000" dirty="0">
                    <a:solidFill>
                      <a:prstClr val="black"/>
                    </a:solidFill>
                    <a:latin typeface="SimSun" panose="02010600030101010101" pitchFamily="2" charset="-122"/>
                    <a:ea typeface="SimSun" panose="02010600030101010101" pitchFamily="2" charset="-122"/>
                  </a:rPr>
                  <a:t>p</a:t>
                </a:r>
                <a:r>
                  <a:rPr kumimoji="1" lang="zh-CN" altLang="en-US" sz="2000" dirty="0">
                    <a:solidFill>
                      <a:prstClr val="black"/>
                    </a:solidFill>
                    <a:latin typeface="SimSun" panose="02010600030101010101" pitchFamily="2" charset="-122"/>
                    <a:ea typeface="SimSun" panose="02010600030101010101" pitchFamily="2" charset="-122"/>
                  </a:rPr>
                  <a:t>指向任意位置的概率是平均的，</a:t>
                </a:r>
                <a:r>
                  <a:rPr kumimoji="1" lang="en-US" altLang="zh-CN" sz="2000" dirty="0">
                    <a:solidFill>
                      <a:prstClr val="black"/>
                    </a:solidFill>
                    <a:latin typeface="SimSun" panose="02010600030101010101" pitchFamily="2" charset="-122"/>
                    <a:ea typeface="SimSun" panose="02010600030101010101" pitchFamily="2" charset="-122"/>
                  </a:rPr>
                  <a:t>K</a:t>
                </a:r>
                <a:r>
                  <a:rPr kumimoji="1" lang="zh-CN" altLang="en-US" sz="2000" dirty="0">
                    <a:solidFill>
                      <a:prstClr val="black"/>
                    </a:solidFill>
                    <a:latin typeface="SimSun" panose="02010600030101010101" pitchFamily="2" charset="-122"/>
                    <a:ea typeface="SimSun" panose="02010600030101010101" pitchFamily="2" charset="-122"/>
                  </a:rPr>
                  <a:t>在任意位置的概率也是平均的</a:t>
                </a:r>
                <a:endParaRPr kumimoji="1" lang="en-US" altLang="zh-CN" sz="2000" dirty="0">
                  <a:solidFill>
                    <a:prstClr val="black"/>
                  </a:solidFill>
                  <a:latin typeface="SimSun" panose="02010600030101010101" pitchFamily="2" charset="-122"/>
                  <a:ea typeface="SimSun" panose="02010600030101010101" pitchFamily="2" charset="-122"/>
                </a:endParaRPr>
              </a:p>
              <a:p>
                <a:pPr>
                  <a:lnSpc>
                    <a:spcPct val="90000"/>
                  </a:lnSpc>
                  <a:spcBef>
                    <a:spcPts val="500"/>
                  </a:spcBef>
                </a:pPr>
                <a:r>
                  <a:rPr kumimoji="1" lang="zh-CN" altLang="en-US" sz="2000" dirty="0">
                    <a:solidFill>
                      <a:prstClr val="black"/>
                    </a:solidFill>
                    <a:latin typeface="SimSun" panose="02010600030101010101" pitchFamily="2" charset="-122"/>
                    <a:ea typeface="SimSun" panose="02010600030101010101" pitchFamily="2" charset="-122"/>
                  </a:rPr>
                  <a:t>（由此可以推断在</a:t>
                </a:r>
                <a:r>
                  <a:rPr kumimoji="1" lang="en-US" altLang="zh-CN" sz="2000" dirty="0">
                    <a:solidFill>
                      <a:prstClr val="black"/>
                    </a:solidFill>
                    <a:latin typeface="SimSun" panose="02010600030101010101" pitchFamily="2" charset="-122"/>
                    <a:ea typeface="SimSun" panose="02010600030101010101" pitchFamily="2" charset="-122"/>
                  </a:rPr>
                  <a:t>(2)</a:t>
                </a:r>
                <a:r>
                  <a:rPr kumimoji="1" lang="zh-CN" altLang="en-US" sz="2000" dirty="0">
                    <a:solidFill>
                      <a:prstClr val="black"/>
                    </a:solidFill>
                    <a:latin typeface="SimSun" panose="02010600030101010101" pitchFamily="2" charset="-122"/>
                    <a:ea typeface="SimSun" panose="02010600030101010101" pitchFamily="2" charset="-122"/>
                  </a:rPr>
                  <a:t>中不需要考虑有重复元素的情况）</a:t>
                </a:r>
                <a:endParaRPr kumimoji="1" lang="en-US" altLang="zh-CN" sz="2000" dirty="0">
                  <a:solidFill>
                    <a:prstClr val="black"/>
                  </a:solidFill>
                  <a:latin typeface="SimSun" panose="02010600030101010101" pitchFamily="2" charset="-122"/>
                  <a:ea typeface="SimSun" panose="02010600030101010101" pitchFamily="2" charset="-122"/>
                </a:endParaRPr>
              </a:p>
            </p:txBody>
          </p:sp>
        </mc:Choice>
        <mc:Fallback xmlns="">
          <p:sp>
            <p:nvSpPr>
              <p:cNvPr id="6" name="矩形 5">
                <a:extLst>
                  <a:ext uri="{FF2B5EF4-FFF2-40B4-BE49-F238E27FC236}">
                    <a16:creationId xmlns:a16="http://schemas.microsoft.com/office/drawing/2014/main" id="{3C3F0337-28A5-4F58-B1B9-5F649DD54FE9}"/>
                  </a:ext>
                </a:extLst>
              </p:cNvPr>
              <p:cNvSpPr>
                <a:spLocks noRot="1" noChangeAspect="1" noMove="1" noResize="1" noEditPoints="1" noAdjustHandles="1" noChangeArrowheads="1" noChangeShapeType="1" noTextEdit="1"/>
              </p:cNvSpPr>
              <p:nvPr/>
            </p:nvSpPr>
            <p:spPr>
              <a:xfrm>
                <a:off x="1024646" y="1206681"/>
                <a:ext cx="10142708" cy="4675639"/>
              </a:xfrm>
              <a:prstGeom prst="rect">
                <a:avLst/>
              </a:prstGeom>
              <a:blipFill>
                <a:blip r:embed="rId3"/>
                <a:stretch>
                  <a:fillRect l="-625" t="-1626" r="-125" b="-13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25035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4</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397032"/>
          </a:xfrm>
          <a:prstGeom prst="rect">
            <a:avLst/>
          </a:prstGeom>
        </p:spPr>
        <p:txBody>
          <a:bodyPr wrap="square">
            <a:spAutoFit/>
          </a:bodyPr>
          <a:lstStyle/>
          <a:p>
            <a:pPr lvl="0">
              <a:lnSpc>
                <a:spcPct val="90000"/>
              </a:lnSpc>
              <a:spcBef>
                <a:spcPts val="1000"/>
              </a:spcBef>
            </a:pPr>
            <a:r>
              <a:rPr kumimoji="1" lang="en-US" altLang="zh-CN" sz="2200" dirty="0">
                <a:solidFill>
                  <a:prstClr val="black"/>
                </a:solidFill>
                <a:latin typeface="SimSun" panose="02010600030101010101" pitchFamily="2" charset="-122"/>
                <a:ea typeface="SimSun" panose="02010600030101010101" pitchFamily="2" charset="-122"/>
              </a:rPr>
              <a:t>(1)</a:t>
            </a:r>
            <a:endParaRPr kumimoji="1" lang="zh-CN" altLang="en-US" sz="2200" dirty="0">
              <a:solidFill>
                <a:prstClr val="black"/>
              </a:solidFill>
              <a:latin typeface="SimSun" panose="02010600030101010101" pitchFamily="2" charset="-122"/>
              <a:ea typeface="SimSun" panose="02010600030101010101" pitchFamily="2" charset="-122"/>
            </a:endParaRP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7" name="图片 6">
            <a:extLst>
              <a:ext uri="{FF2B5EF4-FFF2-40B4-BE49-F238E27FC236}">
                <a16:creationId xmlns:a16="http://schemas.microsoft.com/office/drawing/2014/main" id="{D29B39B2-DEC9-BF43-A34B-248E5B29060E}"/>
              </a:ext>
            </a:extLst>
          </p:cNvPr>
          <p:cNvPicPr>
            <a:picLocks noChangeAspect="1"/>
          </p:cNvPicPr>
          <p:nvPr/>
        </p:nvPicPr>
        <p:blipFill>
          <a:blip r:embed="rId3"/>
          <a:stretch>
            <a:fillRect/>
          </a:stretch>
        </p:blipFill>
        <p:spPr>
          <a:xfrm>
            <a:off x="2045524" y="1206681"/>
            <a:ext cx="8100951" cy="4712489"/>
          </a:xfrm>
          <a:prstGeom prst="rect">
            <a:avLst/>
          </a:prstGeom>
        </p:spPr>
      </p:pic>
    </p:spTree>
    <p:extLst>
      <p:ext uri="{BB962C8B-B14F-4D97-AF65-F5344CB8AC3E}">
        <p14:creationId xmlns:p14="http://schemas.microsoft.com/office/powerpoint/2010/main" val="1548680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5</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397032"/>
          </a:xfrm>
          <a:prstGeom prst="rect">
            <a:avLst/>
          </a:prstGeom>
        </p:spPr>
        <p:txBody>
          <a:bodyPr wrap="square">
            <a:spAutoFit/>
          </a:bodyPr>
          <a:lstStyle/>
          <a:p>
            <a:pPr lvl="0">
              <a:lnSpc>
                <a:spcPct val="90000"/>
              </a:lnSpc>
              <a:spcBef>
                <a:spcPts val="1000"/>
              </a:spcBef>
            </a:pPr>
            <a:r>
              <a:rPr kumimoji="1" lang="en-US" altLang="zh-CN" sz="2200" dirty="0">
                <a:solidFill>
                  <a:prstClr val="black"/>
                </a:solidFill>
                <a:latin typeface="SimSun" panose="02010600030101010101" pitchFamily="2" charset="-122"/>
                <a:ea typeface="SimSun" panose="02010600030101010101" pitchFamily="2" charset="-122"/>
              </a:rPr>
              <a:t>(1)</a:t>
            </a:r>
            <a:endParaRPr kumimoji="1" lang="zh-CN" altLang="en-US" sz="2200" dirty="0">
              <a:solidFill>
                <a:prstClr val="black"/>
              </a:solidFill>
              <a:latin typeface="SimSun" panose="02010600030101010101" pitchFamily="2" charset="-122"/>
              <a:ea typeface="SimSun" panose="02010600030101010101" pitchFamily="2" charset="-122"/>
            </a:endParaRP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5" name="图片 4">
            <a:extLst>
              <a:ext uri="{FF2B5EF4-FFF2-40B4-BE49-F238E27FC236}">
                <a16:creationId xmlns:a16="http://schemas.microsoft.com/office/drawing/2014/main" id="{FD787D6F-9F54-5647-BA4D-994B05E045A0}"/>
              </a:ext>
            </a:extLst>
          </p:cNvPr>
          <p:cNvPicPr>
            <a:picLocks noChangeAspect="1"/>
          </p:cNvPicPr>
          <p:nvPr/>
        </p:nvPicPr>
        <p:blipFill>
          <a:blip r:embed="rId3"/>
          <a:stretch>
            <a:fillRect/>
          </a:stretch>
        </p:blipFill>
        <p:spPr>
          <a:xfrm>
            <a:off x="3292274" y="0"/>
            <a:ext cx="5037826" cy="6858000"/>
          </a:xfrm>
          <a:prstGeom prst="rect">
            <a:avLst/>
          </a:prstGeom>
        </p:spPr>
      </p:pic>
    </p:spTree>
    <p:extLst>
      <p:ext uri="{BB962C8B-B14F-4D97-AF65-F5344CB8AC3E}">
        <p14:creationId xmlns:p14="http://schemas.microsoft.com/office/powerpoint/2010/main" val="1875418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6</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3249544"/>
              </a:xfrm>
              <a:prstGeom prst="rect">
                <a:avLst/>
              </a:prstGeom>
            </p:spPr>
            <p:txBody>
              <a:bodyPr wrap="square">
                <a:spAutoFit/>
              </a:bodyPr>
              <a:lstStyle/>
              <a:p>
                <a:pPr lvl="0">
                  <a:lnSpc>
                    <a:spcPct val="90000"/>
                  </a:lnSpc>
                  <a:spcBef>
                    <a:spcPts val="1000"/>
                  </a:spcBef>
                </a:pPr>
                <a:r>
                  <a:rPr kumimoji="1" lang="en-US" altLang="zh-CN" sz="2200" dirty="0">
                    <a:solidFill>
                      <a:prstClr val="black"/>
                    </a:solidFill>
                    <a:latin typeface="SimSun" panose="02010600030101010101" pitchFamily="2" charset="-122"/>
                    <a:ea typeface="SimSun" panose="02010600030101010101" pitchFamily="2" charset="-122"/>
                  </a:rPr>
                  <a:t>(2)</a:t>
                </a:r>
                <a:r>
                  <a:rPr kumimoji="1" lang="zh-CN" altLang="en-US" sz="2400" dirty="0">
                    <a:solidFill>
                      <a:prstClr val="black"/>
                    </a:solidFill>
                    <a:latin typeface="SimSun" panose="02010600030101010101" pitchFamily="2" charset="-122"/>
                    <a:ea typeface="SimSun" panose="02010600030101010101" pitchFamily="2" charset="-122"/>
                  </a:rPr>
                  <a:t>当</a:t>
                </a:r>
                <a:r>
                  <a:rPr kumimoji="1" lang="en-US" altLang="zh-CN" sz="2400" dirty="0">
                    <a:solidFill>
                      <a:prstClr val="black"/>
                    </a:solidFill>
                    <a:latin typeface="SimSun" panose="02010600030101010101" pitchFamily="2" charset="-122"/>
                    <a:ea typeface="SimSun" panose="02010600030101010101" pitchFamily="2" charset="-122"/>
                  </a:rPr>
                  <a:t>p</a:t>
                </a:r>
                <a:r>
                  <a:rPr kumimoji="1" lang="zh-CN" altLang="en-US" sz="2400" dirty="0">
                    <a:solidFill>
                      <a:prstClr val="black"/>
                    </a:solidFill>
                    <a:latin typeface="SimSun" panose="02010600030101010101" pitchFamily="2" charset="-122"/>
                    <a:ea typeface="SimSun" panose="02010600030101010101" pitchFamily="2" charset="-122"/>
                  </a:rPr>
                  <a:t>指向有序表中的第</a:t>
                </a:r>
                <a:r>
                  <a:rPr kumimoji="1" lang="en-US" altLang="zh-CN" sz="2400" dirty="0" err="1">
                    <a:solidFill>
                      <a:prstClr val="black"/>
                    </a:solidFill>
                    <a:latin typeface="SimSun" panose="02010600030101010101" pitchFamily="2" charset="-122"/>
                    <a:ea typeface="SimSun" panose="02010600030101010101" pitchFamily="2" charset="-122"/>
                  </a:rPr>
                  <a:t>i</a:t>
                </a:r>
                <a:r>
                  <a:rPr kumimoji="1" lang="zh-CN" altLang="en-US" sz="2400" dirty="0">
                    <a:solidFill>
                      <a:prstClr val="black"/>
                    </a:solidFill>
                    <a:latin typeface="SimSun" panose="02010600030101010101" pitchFamily="2" charset="-122"/>
                    <a:ea typeface="SimSun" panose="02010600030101010101" pitchFamily="2" charset="-122"/>
                  </a:rPr>
                  <a:t>个位置、</a:t>
                </a:r>
                <a:r>
                  <a:rPr kumimoji="1" lang="en-US" altLang="zh-CN" sz="2400" dirty="0">
                    <a:solidFill>
                      <a:prstClr val="black"/>
                    </a:solidFill>
                    <a:latin typeface="SimSun" panose="02010600030101010101" pitchFamily="2" charset="-122"/>
                    <a:ea typeface="SimSun" panose="02010600030101010101" pitchFamily="2" charset="-122"/>
                  </a:rPr>
                  <a:t>key</a:t>
                </a:r>
                <a:r>
                  <a:rPr kumimoji="1" lang="zh-CN" altLang="en-US" sz="2400" dirty="0">
                    <a:solidFill>
                      <a:prstClr val="black"/>
                    </a:solidFill>
                    <a:latin typeface="SimSun" panose="02010600030101010101" pitchFamily="2" charset="-122"/>
                    <a:ea typeface="SimSun" panose="02010600030101010101" pitchFamily="2" charset="-122"/>
                  </a:rPr>
                  <a:t>在第</a:t>
                </a:r>
                <a:r>
                  <a:rPr kumimoji="1" lang="en-US" altLang="zh-CN" sz="2400" dirty="0">
                    <a:solidFill>
                      <a:prstClr val="black"/>
                    </a:solidFill>
                    <a:latin typeface="SimSun" panose="02010600030101010101" pitchFamily="2" charset="-122"/>
                    <a:ea typeface="SimSun" panose="02010600030101010101" pitchFamily="2" charset="-122"/>
                  </a:rPr>
                  <a:t>j</a:t>
                </a:r>
                <a:r>
                  <a:rPr kumimoji="1" lang="zh-CN" altLang="en-US" sz="2400" dirty="0">
                    <a:solidFill>
                      <a:prstClr val="black"/>
                    </a:solidFill>
                    <a:latin typeface="SimSun" panose="02010600030101010101" pitchFamily="2" charset="-122"/>
                    <a:ea typeface="SimSun" panose="02010600030101010101" pitchFamily="2" charset="-122"/>
                  </a:rPr>
                  <a:t>个位置（从</a:t>
                </a:r>
                <a:r>
                  <a:rPr kumimoji="1" lang="en-US" altLang="zh-CN" sz="2400" dirty="0">
                    <a:solidFill>
                      <a:prstClr val="black"/>
                    </a:solidFill>
                    <a:latin typeface="SimSun" panose="02010600030101010101" pitchFamily="2" charset="-122"/>
                    <a:ea typeface="SimSun" panose="02010600030101010101" pitchFamily="2" charset="-122"/>
                  </a:rPr>
                  <a:t>0</a:t>
                </a:r>
                <a:r>
                  <a:rPr kumimoji="1" lang="zh-CN" altLang="en-US" sz="2400" dirty="0">
                    <a:solidFill>
                      <a:prstClr val="black"/>
                    </a:solidFill>
                    <a:latin typeface="SimSun" panose="02010600030101010101" pitchFamily="2" charset="-122"/>
                    <a:ea typeface="SimSun" panose="02010600030101010101" pitchFamily="2" charset="-122"/>
                  </a:rPr>
                  <a:t>开始编号）时，检索长度为</a:t>
                </a:r>
                <a14:m>
                  <m:oMath xmlns:m="http://schemas.openxmlformats.org/officeDocument/2006/math">
                    <m:d>
                      <m:dPr>
                        <m:begChr m:val="|"/>
                        <m:endChr m:val="|"/>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𝑖</m:t>
                        </m:r>
                        <m:r>
                          <a:rPr kumimoji="1" lang="en-US" altLang="zh-CN" sz="2400" i="1">
                            <a:solidFill>
                              <a:prstClr val="black"/>
                            </a:solidFill>
                            <a:latin typeface="Cambria Math" panose="02040503050406030204" pitchFamily="18" charset="0"/>
                          </a:rPr>
                          <m:t>−</m:t>
                        </m:r>
                        <m:r>
                          <a:rPr kumimoji="1" lang="en-US" altLang="zh-CN" sz="2400" i="1">
                            <a:solidFill>
                              <a:prstClr val="black"/>
                            </a:solidFill>
                            <a:latin typeface="Cambria Math" panose="02040503050406030204" pitchFamily="18" charset="0"/>
                          </a:rPr>
                          <m:t>𝑗</m:t>
                        </m:r>
                      </m:e>
                    </m:d>
                    <m:r>
                      <a:rPr kumimoji="1" lang="en-US" altLang="zh-CN" sz="2400" i="1">
                        <a:solidFill>
                          <a:prstClr val="black"/>
                        </a:solidFill>
                        <a:latin typeface="Cambria Math" panose="02040503050406030204" pitchFamily="18" charset="0"/>
                      </a:rPr>
                      <m:t>+1</m:t>
                    </m:r>
                  </m:oMath>
                </a14:m>
                <a:r>
                  <a:rPr kumimoji="1" lang="en-US" altLang="zh-CN" sz="2400" dirty="0">
                    <a:solidFill>
                      <a:prstClr val="black"/>
                    </a:solidFill>
                    <a:latin typeface="SimSun" panose="02010600030101010101" pitchFamily="2" charset="-122"/>
                    <a:ea typeface="SimSun" panose="02010600030101010101" pitchFamily="2" charset="-122"/>
                  </a:rPr>
                  <a:t>.</a:t>
                </a:r>
              </a:p>
              <a:p>
                <a:pPr lvl="0">
                  <a:lnSpc>
                    <a:spcPct val="90000"/>
                  </a:lnSpc>
                  <a:spcBef>
                    <a:spcPts val="1000"/>
                  </a:spcBef>
                </a:pPr>
                <a:r>
                  <a:rPr kumimoji="1" lang="zh-CN" altLang="en-US" sz="2400" dirty="0">
                    <a:solidFill>
                      <a:prstClr val="black"/>
                    </a:solidFill>
                    <a:latin typeface="SimSun" panose="02010600030101010101" pitchFamily="2" charset="-122"/>
                    <a:ea typeface="SimSun" panose="02010600030101010101" pitchFamily="2" charset="-122"/>
                  </a:rPr>
                  <a:t>假设</a:t>
                </a:r>
                <a:r>
                  <a:rPr kumimoji="1" lang="en-US" altLang="zh-CN" sz="2400" dirty="0">
                    <a:solidFill>
                      <a:prstClr val="black"/>
                    </a:solidFill>
                    <a:latin typeface="SimSun" panose="02010600030101010101" pitchFamily="2" charset="-122"/>
                    <a:ea typeface="SimSun" panose="02010600030101010101" pitchFamily="2" charset="-122"/>
                  </a:rPr>
                  <a:t>p</a:t>
                </a:r>
                <a:r>
                  <a:rPr kumimoji="1" lang="zh-CN" altLang="en-US" sz="2400" dirty="0">
                    <a:solidFill>
                      <a:prstClr val="black"/>
                    </a:solidFill>
                    <a:latin typeface="SimSun" panose="02010600030101010101" pitchFamily="2" charset="-122"/>
                    <a:ea typeface="SimSun" panose="02010600030101010101" pitchFamily="2" charset="-122"/>
                  </a:rPr>
                  <a:t>指向任意位置的概率是平均的，</a:t>
                </a:r>
                <a:r>
                  <a:rPr kumimoji="1" lang="en-US" altLang="zh-CN" sz="2400" dirty="0">
                    <a:solidFill>
                      <a:prstClr val="black"/>
                    </a:solidFill>
                    <a:latin typeface="SimSun" panose="02010600030101010101" pitchFamily="2" charset="-122"/>
                    <a:ea typeface="SimSun" panose="02010600030101010101" pitchFamily="2" charset="-122"/>
                  </a:rPr>
                  <a:t>key</a:t>
                </a:r>
                <a:r>
                  <a:rPr kumimoji="1" lang="zh-CN" altLang="en-US" sz="2400" dirty="0">
                    <a:solidFill>
                      <a:prstClr val="black"/>
                    </a:solidFill>
                    <a:latin typeface="SimSun" panose="02010600030101010101" pitchFamily="2" charset="-122"/>
                    <a:ea typeface="SimSun" panose="02010600030101010101" pitchFamily="2" charset="-122"/>
                  </a:rPr>
                  <a:t>在任意位置的概率也是平均的。</a:t>
                </a:r>
                <a:r>
                  <a:rPr kumimoji="1" lang="en-US" altLang="zh-CN" sz="2400" dirty="0">
                    <a:solidFill>
                      <a:prstClr val="black"/>
                    </a:solidFill>
                    <a:latin typeface="SimSun" panose="02010600030101010101" pitchFamily="2" charset="-122"/>
                    <a:ea typeface="SimSun" panose="02010600030101010101" pitchFamily="2" charset="-122"/>
                  </a:rPr>
                  <a:t>p</a:t>
                </a:r>
                <a:r>
                  <a:rPr kumimoji="1" lang="zh-CN" altLang="en-US" sz="2400" dirty="0">
                    <a:solidFill>
                      <a:prstClr val="black"/>
                    </a:solidFill>
                    <a:latin typeface="SimSun" panose="02010600030101010101" pitchFamily="2" charset="-122"/>
                    <a:ea typeface="SimSun" panose="02010600030101010101" pitchFamily="2" charset="-122"/>
                  </a:rPr>
                  <a:t>和</a:t>
                </a:r>
                <a:r>
                  <a:rPr kumimoji="1" lang="en-US" altLang="zh-CN" sz="2400" dirty="0">
                    <a:solidFill>
                      <a:prstClr val="black"/>
                    </a:solidFill>
                    <a:latin typeface="SimSun" panose="02010600030101010101" pitchFamily="2" charset="-122"/>
                    <a:ea typeface="SimSun" panose="02010600030101010101" pitchFamily="2" charset="-122"/>
                  </a:rPr>
                  <a:t>key</a:t>
                </a:r>
                <a:r>
                  <a:rPr kumimoji="1" lang="zh-CN" altLang="en-US" sz="2400" dirty="0">
                    <a:solidFill>
                      <a:prstClr val="black"/>
                    </a:solidFill>
                    <a:latin typeface="SimSun" panose="02010600030101010101" pitchFamily="2" charset="-122"/>
                    <a:ea typeface="SimSun" panose="02010600030101010101" pitchFamily="2" charset="-122"/>
                  </a:rPr>
                  <a:t>均有</a:t>
                </a:r>
                <a:r>
                  <a:rPr kumimoji="1" lang="en-US" altLang="zh-CN" sz="2400" dirty="0">
                    <a:solidFill>
                      <a:prstClr val="black"/>
                    </a:solidFill>
                    <a:latin typeface="SimSun" panose="02010600030101010101" pitchFamily="2" charset="-122"/>
                    <a:ea typeface="SimSun" panose="02010600030101010101" pitchFamily="2" charset="-122"/>
                  </a:rPr>
                  <a:t>n</a:t>
                </a:r>
                <a:r>
                  <a:rPr kumimoji="1" lang="zh-CN" altLang="en-US" sz="2400" dirty="0">
                    <a:solidFill>
                      <a:prstClr val="black"/>
                    </a:solidFill>
                    <a:latin typeface="SimSun" panose="02010600030101010101" pitchFamily="2" charset="-122"/>
                    <a:ea typeface="SimSun" panose="02010600030101010101" pitchFamily="2" charset="-122"/>
                  </a:rPr>
                  <a:t>个可能位置。</a:t>
                </a:r>
              </a:p>
              <a:p>
                <a:pPr lvl="0">
                  <a:lnSpc>
                    <a:spcPct val="90000"/>
                  </a:lnSpc>
                  <a:spcBef>
                    <a:spcPts val="1000"/>
                  </a:spcBef>
                </a:pPr>
                <a:r>
                  <a:rPr kumimoji="1" lang="zh-CN" altLang="en-US" sz="2400" dirty="0">
                    <a:solidFill>
                      <a:prstClr val="black"/>
                    </a:solidFill>
                    <a:latin typeface="SimSun" panose="02010600030101010101" pitchFamily="2" charset="-122"/>
                    <a:ea typeface="SimSun" panose="02010600030101010101" pitchFamily="2" charset="-122"/>
                  </a:rPr>
                  <a:t>则</a:t>
                </a:r>
                <a14:m>
                  <m:oMath xmlns:m="http://schemas.openxmlformats.org/officeDocument/2006/math">
                    <m:r>
                      <a:rPr kumimoji="1" lang="en-US" altLang="zh-CN" sz="2400" i="1">
                        <a:solidFill>
                          <a:prstClr val="black"/>
                        </a:solidFill>
                        <a:latin typeface="Cambria Math" panose="02040503050406030204" pitchFamily="18" charset="0"/>
                      </a:rPr>
                      <m:t>𝐴𝑆𝐿</m:t>
                    </m:r>
                    <m:r>
                      <a:rPr kumimoji="1" lang="en-US" altLang="zh-CN" sz="2400" i="1">
                        <a:solidFill>
                          <a:prstClr val="black"/>
                        </a:solidFill>
                        <a:latin typeface="Cambria Math" panose="02040503050406030204" pitchFamily="18" charset="0"/>
                      </a:rPr>
                      <m:t>=</m:t>
                    </m:r>
                    <m:f>
                      <m:fPr>
                        <m:ctrlPr>
                          <a:rPr kumimoji="1" lang="en-US" altLang="zh-CN" sz="2400" i="1">
                            <a:solidFill>
                              <a:prstClr val="black"/>
                            </a:solidFill>
                            <a:latin typeface="Cambria Math" panose="02040503050406030204" pitchFamily="18" charset="0"/>
                          </a:rPr>
                        </m:ctrlPr>
                      </m:fPr>
                      <m:num>
                        <m:r>
                          <a:rPr kumimoji="1" lang="en-US" altLang="zh-CN" sz="2400" i="1">
                            <a:solidFill>
                              <a:prstClr val="black"/>
                            </a:solidFill>
                            <a:latin typeface="Cambria Math" panose="02040503050406030204" pitchFamily="18" charset="0"/>
                          </a:rPr>
                          <m:t>1</m:t>
                        </m:r>
                      </m:num>
                      <m:den>
                        <m:r>
                          <a:rPr kumimoji="1" lang="en-US" altLang="zh-CN" sz="2400" i="1">
                            <a:solidFill>
                              <a:prstClr val="black"/>
                            </a:solidFill>
                            <a:latin typeface="Cambria Math" panose="02040503050406030204" pitchFamily="18" charset="0"/>
                          </a:rPr>
                          <m:t>𝑛</m:t>
                        </m:r>
                      </m:den>
                    </m:f>
                    <m:nary>
                      <m:naryPr>
                        <m:chr m:val="∑"/>
                        <m:ctrlPr>
                          <a:rPr kumimoji="1" lang="en-US" altLang="zh-CN" sz="2400" i="1">
                            <a:solidFill>
                              <a:prstClr val="black"/>
                            </a:solidFill>
                            <a:latin typeface="Cambria Math" panose="02040503050406030204" pitchFamily="18" charset="0"/>
                          </a:rPr>
                        </m:ctrlPr>
                      </m:naryPr>
                      <m:sub>
                        <m:r>
                          <m:rPr>
                            <m:brk m:alnAt="23"/>
                          </m:rPr>
                          <a:rPr kumimoji="1" lang="en-US" altLang="zh-CN" sz="2400" i="1">
                            <a:solidFill>
                              <a:prstClr val="black"/>
                            </a:solidFill>
                            <a:latin typeface="Cambria Math" panose="02040503050406030204" pitchFamily="18" charset="0"/>
                          </a:rPr>
                          <m:t>𝑖</m:t>
                        </m:r>
                        <m:r>
                          <a:rPr kumimoji="1" lang="en-US" altLang="zh-CN" sz="2400" i="1">
                            <a:solidFill>
                              <a:prstClr val="black"/>
                            </a:solidFill>
                            <a:latin typeface="Cambria Math" panose="02040503050406030204" pitchFamily="18" charset="0"/>
                          </a:rPr>
                          <m:t>=0</m:t>
                        </m:r>
                      </m:sub>
                      <m:sup>
                        <m:r>
                          <a:rPr kumimoji="1" lang="en-US" altLang="zh-CN" sz="2400" i="1">
                            <a:solidFill>
                              <a:prstClr val="black"/>
                            </a:solidFill>
                            <a:latin typeface="Cambria Math" panose="02040503050406030204" pitchFamily="18" charset="0"/>
                          </a:rPr>
                          <m:t>𝑛</m:t>
                        </m:r>
                        <m:r>
                          <a:rPr kumimoji="1" lang="en-US" altLang="zh-CN" sz="2400" i="1">
                            <a:solidFill>
                              <a:prstClr val="black"/>
                            </a:solidFill>
                            <a:latin typeface="Cambria Math" panose="02040503050406030204" pitchFamily="18" charset="0"/>
                          </a:rPr>
                          <m:t>−1</m:t>
                        </m:r>
                      </m:sup>
                      <m:e>
                        <m:f>
                          <m:fPr>
                            <m:ctrlPr>
                              <a:rPr kumimoji="1" lang="en-US" altLang="zh-CN" sz="2400" i="1">
                                <a:solidFill>
                                  <a:prstClr val="black"/>
                                </a:solidFill>
                                <a:latin typeface="Cambria Math" panose="02040503050406030204" pitchFamily="18" charset="0"/>
                              </a:rPr>
                            </m:ctrlPr>
                          </m:fPr>
                          <m:num>
                            <m:r>
                              <a:rPr kumimoji="1" lang="en-US" altLang="zh-CN" sz="2400" i="1">
                                <a:solidFill>
                                  <a:prstClr val="black"/>
                                </a:solidFill>
                                <a:latin typeface="Cambria Math" panose="02040503050406030204" pitchFamily="18" charset="0"/>
                              </a:rPr>
                              <m:t>1</m:t>
                            </m:r>
                          </m:num>
                          <m:den>
                            <m:r>
                              <a:rPr kumimoji="1" lang="en-US" altLang="zh-CN" sz="2400" i="1">
                                <a:solidFill>
                                  <a:prstClr val="black"/>
                                </a:solidFill>
                                <a:latin typeface="Cambria Math" panose="02040503050406030204" pitchFamily="18" charset="0"/>
                              </a:rPr>
                              <m:t>𝑛</m:t>
                            </m:r>
                          </m:den>
                        </m:f>
                        <m:r>
                          <a:rPr kumimoji="1" lang="en-US" altLang="zh-CN" sz="2400" i="1">
                            <a:solidFill>
                              <a:prstClr val="black"/>
                            </a:solidFill>
                            <a:latin typeface="Cambria Math" panose="02040503050406030204" pitchFamily="18" charset="0"/>
                          </a:rPr>
                          <m:t>(</m:t>
                        </m:r>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𝑖</m:t>
                            </m:r>
                            <m:r>
                              <a:rPr kumimoji="1" lang="en-US" altLang="zh-CN" sz="2400" i="1">
                                <a:solidFill>
                                  <a:prstClr val="black"/>
                                </a:solidFill>
                                <a:latin typeface="Cambria Math" panose="02040503050406030204" pitchFamily="18" charset="0"/>
                              </a:rPr>
                              <m:t>+1</m:t>
                            </m:r>
                          </m:e>
                        </m:d>
                        <m:r>
                          <a:rPr kumimoji="1" lang="en-US" altLang="zh-CN" sz="2400" i="1">
                            <a:solidFill>
                              <a:prstClr val="black"/>
                            </a:solidFill>
                            <a:latin typeface="Cambria Math" panose="02040503050406030204" pitchFamily="18" charset="0"/>
                          </a:rPr>
                          <m:t>+</m:t>
                        </m:r>
                        <m:r>
                          <a:rPr kumimoji="1" lang="en-US" altLang="zh-CN" sz="2400" i="1">
                            <a:solidFill>
                              <a:prstClr val="black"/>
                            </a:solidFill>
                            <a:latin typeface="Cambria Math" panose="02040503050406030204" pitchFamily="18" charset="0"/>
                          </a:rPr>
                          <m:t>𝑖</m:t>
                        </m:r>
                        <m:r>
                          <a:rPr kumimoji="1" lang="en-US" altLang="zh-CN" sz="2400" i="1">
                            <a:solidFill>
                              <a:prstClr val="black"/>
                            </a:solidFill>
                            <a:latin typeface="Cambria Math" panose="02040503050406030204" pitchFamily="18" charset="0"/>
                          </a:rPr>
                          <m:t>+…+2+1+2+…+</m:t>
                        </m:r>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𝑛</m:t>
                            </m:r>
                            <m:r>
                              <a:rPr kumimoji="1" lang="en-US" altLang="zh-CN" sz="2400" i="1">
                                <a:solidFill>
                                  <a:prstClr val="black"/>
                                </a:solidFill>
                                <a:latin typeface="Cambria Math" panose="02040503050406030204" pitchFamily="18" charset="0"/>
                              </a:rPr>
                              <m:t>−</m:t>
                            </m:r>
                            <m:r>
                              <a:rPr kumimoji="1" lang="en-US" altLang="zh-CN" sz="2400" i="1">
                                <a:solidFill>
                                  <a:prstClr val="black"/>
                                </a:solidFill>
                                <a:latin typeface="Cambria Math" panose="02040503050406030204" pitchFamily="18" charset="0"/>
                              </a:rPr>
                              <m:t>𝑖</m:t>
                            </m:r>
                          </m:e>
                        </m:d>
                        <m:r>
                          <a:rPr kumimoji="1" lang="en-US" altLang="zh-CN" sz="2400" i="1">
                            <a:solidFill>
                              <a:prstClr val="black"/>
                            </a:solidFill>
                            <a:latin typeface="Cambria Math" panose="02040503050406030204" pitchFamily="18" charset="0"/>
                          </a:rPr>
                          <m:t>)</m:t>
                        </m:r>
                      </m:e>
                    </m:nary>
                  </m:oMath>
                </a14:m>
                <a:r>
                  <a:rPr kumimoji="1" lang="en-US" altLang="zh-CN" sz="2400" dirty="0">
                    <a:solidFill>
                      <a:prstClr val="black"/>
                    </a:solidFill>
                    <a:latin typeface="SimSun" panose="02010600030101010101" pitchFamily="2" charset="-122"/>
                    <a:ea typeface="SimSun" panose="02010600030101010101" pitchFamily="2" charset="-122"/>
                  </a:rPr>
                  <a:t>, </a:t>
                </a:r>
                <a:r>
                  <a:rPr kumimoji="1" lang="zh-CN" altLang="en-US" sz="2400" dirty="0">
                    <a:solidFill>
                      <a:prstClr val="black"/>
                    </a:solidFill>
                    <a:latin typeface="SimSun" panose="02010600030101010101" pitchFamily="2" charset="-122"/>
                    <a:ea typeface="SimSun" panose="02010600030101010101" pitchFamily="2" charset="-122"/>
                  </a:rPr>
                  <a:t>其中外层的</a:t>
                </a:r>
                <a14:m>
                  <m:oMath xmlns:m="http://schemas.openxmlformats.org/officeDocument/2006/math">
                    <m:f>
                      <m:fPr>
                        <m:ctrlPr>
                          <a:rPr kumimoji="1" lang="en-US" altLang="zh-CN" sz="2400" i="1">
                            <a:solidFill>
                              <a:prstClr val="black"/>
                            </a:solidFill>
                            <a:latin typeface="Cambria Math" panose="02040503050406030204" pitchFamily="18" charset="0"/>
                          </a:rPr>
                        </m:ctrlPr>
                      </m:fPr>
                      <m:num>
                        <m:r>
                          <a:rPr kumimoji="1" lang="en-US" altLang="zh-CN" sz="2400" i="1">
                            <a:solidFill>
                              <a:prstClr val="black"/>
                            </a:solidFill>
                            <a:latin typeface="Cambria Math" panose="02040503050406030204" pitchFamily="18" charset="0"/>
                          </a:rPr>
                          <m:t>1</m:t>
                        </m:r>
                      </m:num>
                      <m:den>
                        <m:r>
                          <a:rPr kumimoji="1" lang="en-US" altLang="zh-CN" sz="2400" i="1">
                            <a:solidFill>
                              <a:prstClr val="black"/>
                            </a:solidFill>
                            <a:latin typeface="Cambria Math" panose="02040503050406030204" pitchFamily="18" charset="0"/>
                          </a:rPr>
                          <m:t>𝑛</m:t>
                        </m:r>
                      </m:den>
                    </m:f>
                  </m:oMath>
                </a14:m>
                <a:r>
                  <a:rPr kumimoji="1" lang="zh-CN" altLang="en-US" sz="2400" dirty="0">
                    <a:solidFill>
                      <a:prstClr val="black"/>
                    </a:solidFill>
                    <a:latin typeface="SimSun" panose="02010600030101010101" pitchFamily="2" charset="-122"/>
                    <a:ea typeface="SimSun" panose="02010600030101010101" pitchFamily="2" charset="-122"/>
                  </a:rPr>
                  <a:t>表示</a:t>
                </a:r>
                <a:r>
                  <a:rPr kumimoji="1" lang="en-US" altLang="zh-CN" sz="2400" dirty="0">
                    <a:solidFill>
                      <a:prstClr val="black"/>
                    </a:solidFill>
                    <a:latin typeface="SimSun" panose="02010600030101010101" pitchFamily="2" charset="-122"/>
                    <a:ea typeface="SimSun" panose="02010600030101010101" pitchFamily="2" charset="-122"/>
                  </a:rPr>
                  <a:t>p</a:t>
                </a:r>
                <a:r>
                  <a:rPr kumimoji="1" lang="zh-CN" altLang="en-US" sz="2400" dirty="0">
                    <a:solidFill>
                      <a:prstClr val="black"/>
                    </a:solidFill>
                    <a:latin typeface="SimSun" panose="02010600030101010101" pitchFamily="2" charset="-122"/>
                    <a:ea typeface="SimSun" panose="02010600030101010101" pitchFamily="2" charset="-122"/>
                  </a:rPr>
                  <a:t>指向任意位置的概率，内层的</a:t>
                </a:r>
                <a14:m>
                  <m:oMath xmlns:m="http://schemas.openxmlformats.org/officeDocument/2006/math">
                    <m:f>
                      <m:fPr>
                        <m:ctrlPr>
                          <a:rPr kumimoji="1" lang="en-US" altLang="zh-CN" sz="2400" i="1">
                            <a:solidFill>
                              <a:prstClr val="black"/>
                            </a:solidFill>
                            <a:latin typeface="Cambria Math" panose="02040503050406030204" pitchFamily="18" charset="0"/>
                          </a:rPr>
                        </m:ctrlPr>
                      </m:fPr>
                      <m:num>
                        <m:r>
                          <a:rPr kumimoji="1" lang="en-US" altLang="zh-CN" sz="2400" i="1">
                            <a:solidFill>
                              <a:prstClr val="black"/>
                            </a:solidFill>
                            <a:latin typeface="Cambria Math" panose="02040503050406030204" pitchFamily="18" charset="0"/>
                          </a:rPr>
                          <m:t>1</m:t>
                        </m:r>
                      </m:num>
                      <m:den>
                        <m:r>
                          <a:rPr kumimoji="1" lang="en-US" altLang="zh-CN" sz="2400" i="1">
                            <a:solidFill>
                              <a:prstClr val="black"/>
                            </a:solidFill>
                            <a:latin typeface="Cambria Math" panose="02040503050406030204" pitchFamily="18" charset="0"/>
                          </a:rPr>
                          <m:t>𝑛</m:t>
                        </m:r>
                      </m:den>
                    </m:f>
                  </m:oMath>
                </a14:m>
                <a:r>
                  <a:rPr kumimoji="1" lang="zh-CN" altLang="en-US" sz="2400" dirty="0">
                    <a:solidFill>
                      <a:prstClr val="black"/>
                    </a:solidFill>
                    <a:latin typeface="SimSun" panose="02010600030101010101" pitchFamily="2" charset="-122"/>
                    <a:ea typeface="SimSun" panose="02010600030101010101" pitchFamily="2" charset="-122"/>
                  </a:rPr>
                  <a:t>表示</a:t>
                </a:r>
                <a:r>
                  <a:rPr kumimoji="1" lang="en-US" altLang="zh-CN" sz="2400" dirty="0">
                    <a:solidFill>
                      <a:prstClr val="black"/>
                    </a:solidFill>
                    <a:latin typeface="SimSun" panose="02010600030101010101" pitchFamily="2" charset="-122"/>
                    <a:ea typeface="SimSun" panose="02010600030101010101" pitchFamily="2" charset="-122"/>
                  </a:rPr>
                  <a:t>key</a:t>
                </a:r>
                <a:r>
                  <a:rPr kumimoji="1" lang="zh-CN" altLang="en-US" sz="2400" dirty="0">
                    <a:solidFill>
                      <a:prstClr val="black"/>
                    </a:solidFill>
                    <a:latin typeface="SimSun" panose="02010600030101010101" pitchFamily="2" charset="-122"/>
                    <a:ea typeface="SimSun" panose="02010600030101010101" pitchFamily="2" charset="-122"/>
                  </a:rPr>
                  <a:t>在任意位置的概率。</a:t>
                </a:r>
                <a:endParaRPr kumimoji="1" lang="en-US" altLang="zh-CN" sz="2400" dirty="0">
                  <a:solidFill>
                    <a:prstClr val="black"/>
                  </a:solidFill>
                  <a:latin typeface="SimSun" panose="02010600030101010101" pitchFamily="2" charset="-122"/>
                  <a:ea typeface="SimSun" panose="02010600030101010101" pitchFamily="2" charset="-122"/>
                </a:endParaRPr>
              </a:p>
              <a:p>
                <a:pPr lvl="0">
                  <a:lnSpc>
                    <a:spcPct val="90000"/>
                  </a:lnSpc>
                  <a:spcBef>
                    <a:spcPts val="1000"/>
                  </a:spcBef>
                </a:pPr>
                <a:r>
                  <a:rPr kumimoji="1" lang="zh-CN" altLang="en-US" sz="2400" dirty="0">
                    <a:solidFill>
                      <a:prstClr val="black"/>
                    </a:solidFill>
                    <a:latin typeface="SimSun" panose="02010600030101010101" pitchFamily="2" charset="-122"/>
                    <a:ea typeface="SimSun" panose="02010600030101010101" pitchFamily="2" charset="-122"/>
                  </a:rPr>
                  <a:t>计算得</a:t>
                </a:r>
                <a14:m>
                  <m:oMath xmlns:m="http://schemas.openxmlformats.org/officeDocument/2006/math">
                    <m:r>
                      <a:rPr kumimoji="1" lang="en-US" altLang="zh-CN" sz="2400" i="1">
                        <a:solidFill>
                          <a:prstClr val="black"/>
                        </a:solidFill>
                        <a:latin typeface="Cambria Math" panose="02040503050406030204" pitchFamily="18" charset="0"/>
                      </a:rPr>
                      <m:t>𝐴𝑆𝐿</m:t>
                    </m:r>
                    <m:r>
                      <a:rPr kumimoji="1" lang="en-US" altLang="zh-CN" sz="2400" i="1">
                        <a:solidFill>
                          <a:prstClr val="black"/>
                        </a:solidFill>
                        <a:latin typeface="Cambria Math" panose="02040503050406030204" pitchFamily="18" charset="0"/>
                      </a:rPr>
                      <m:t>=</m:t>
                    </m:r>
                    <m:f>
                      <m:fPr>
                        <m:ctrlPr>
                          <a:rPr kumimoji="1" lang="en-US" altLang="zh-CN" sz="2400" i="1">
                            <a:solidFill>
                              <a:prstClr val="black"/>
                            </a:solidFill>
                            <a:latin typeface="Cambria Math" panose="02040503050406030204" pitchFamily="18" charset="0"/>
                          </a:rPr>
                        </m:ctrlPr>
                      </m:fPr>
                      <m:num>
                        <m:r>
                          <a:rPr kumimoji="1" lang="en-US" altLang="zh-CN" sz="2400" i="1">
                            <a:solidFill>
                              <a:prstClr val="black"/>
                            </a:solidFill>
                            <a:latin typeface="Cambria Math" panose="02040503050406030204" pitchFamily="18" charset="0"/>
                          </a:rPr>
                          <m:t>𝑛</m:t>
                        </m:r>
                      </m:num>
                      <m:den>
                        <m:r>
                          <a:rPr kumimoji="1" lang="en-US" altLang="zh-CN" sz="2400" i="1">
                            <a:solidFill>
                              <a:prstClr val="black"/>
                            </a:solidFill>
                            <a:latin typeface="Cambria Math" panose="02040503050406030204" pitchFamily="18" charset="0"/>
                          </a:rPr>
                          <m:t>3</m:t>
                        </m:r>
                      </m:den>
                    </m:f>
                    <m:r>
                      <a:rPr kumimoji="1" lang="en-US" altLang="zh-CN" sz="2400" i="1">
                        <a:solidFill>
                          <a:prstClr val="black"/>
                        </a:solidFill>
                        <a:latin typeface="Cambria Math" panose="02040503050406030204" pitchFamily="18" charset="0"/>
                      </a:rPr>
                      <m:t>+1−</m:t>
                    </m:r>
                    <m:f>
                      <m:fPr>
                        <m:ctrlPr>
                          <a:rPr kumimoji="1" lang="en-US" altLang="zh-CN" sz="2400" i="1">
                            <a:solidFill>
                              <a:prstClr val="black"/>
                            </a:solidFill>
                            <a:latin typeface="Cambria Math" panose="02040503050406030204" pitchFamily="18" charset="0"/>
                          </a:rPr>
                        </m:ctrlPr>
                      </m:fPr>
                      <m:num>
                        <m:r>
                          <a:rPr kumimoji="1" lang="en-US" altLang="zh-CN" sz="2400" i="1">
                            <a:solidFill>
                              <a:prstClr val="black"/>
                            </a:solidFill>
                            <a:latin typeface="Cambria Math" panose="02040503050406030204" pitchFamily="18" charset="0"/>
                          </a:rPr>
                          <m:t>1</m:t>
                        </m:r>
                      </m:num>
                      <m:den>
                        <m:r>
                          <a:rPr kumimoji="1" lang="en-US" altLang="zh-CN" sz="2400" i="1">
                            <a:solidFill>
                              <a:prstClr val="black"/>
                            </a:solidFill>
                            <a:latin typeface="Cambria Math" panose="02040503050406030204" pitchFamily="18" charset="0"/>
                          </a:rPr>
                          <m:t>3</m:t>
                        </m:r>
                        <m:r>
                          <a:rPr kumimoji="1" lang="en-US" altLang="zh-CN" sz="2400" i="1">
                            <a:solidFill>
                              <a:prstClr val="black"/>
                            </a:solidFill>
                            <a:latin typeface="Cambria Math" panose="02040503050406030204" pitchFamily="18" charset="0"/>
                          </a:rPr>
                          <m:t>𝑛</m:t>
                        </m:r>
                      </m:den>
                    </m:f>
                  </m:oMath>
                </a14:m>
                <a:r>
                  <a:rPr kumimoji="1" lang="en-US" altLang="zh-CN" sz="2400" dirty="0">
                    <a:solidFill>
                      <a:prstClr val="black"/>
                    </a:solidFill>
                    <a:latin typeface="SimSun" panose="02010600030101010101" pitchFamily="2" charset="-122"/>
                    <a:ea typeface="SimSun" panose="02010600030101010101" pitchFamily="2" charset="-122"/>
                  </a:rPr>
                  <a:t>. </a:t>
                </a:r>
                <a:r>
                  <a:rPr kumimoji="1" lang="zh-CN" altLang="en-US" sz="2400" dirty="0">
                    <a:solidFill>
                      <a:prstClr val="black"/>
                    </a:solidFill>
                    <a:latin typeface="SimSun" panose="02010600030101010101" pitchFamily="2" charset="-122"/>
                    <a:ea typeface="SimSun" panose="02010600030101010101" pitchFamily="2" charset="-122"/>
                  </a:rPr>
                  <a:t>（提示：用到公式</a:t>
                </a:r>
                <a14:m>
                  <m:oMath xmlns:m="http://schemas.openxmlformats.org/officeDocument/2006/math">
                    <m:nary>
                      <m:naryPr>
                        <m:chr m:val="∑"/>
                        <m:ctrlPr>
                          <a:rPr kumimoji="1" lang="zh-CN" altLang="en-US" sz="2400" i="1">
                            <a:solidFill>
                              <a:prstClr val="black"/>
                            </a:solidFill>
                            <a:latin typeface="Cambria Math" panose="02040503050406030204" pitchFamily="18" charset="0"/>
                          </a:rPr>
                        </m:ctrlPr>
                      </m:naryPr>
                      <m:sub>
                        <m:r>
                          <m:rPr>
                            <m:brk m:alnAt="23"/>
                          </m:rPr>
                          <a:rPr kumimoji="1" lang="en-US" altLang="zh-CN" sz="2400" i="1">
                            <a:solidFill>
                              <a:prstClr val="black"/>
                            </a:solidFill>
                            <a:latin typeface="Cambria Math" panose="02040503050406030204" pitchFamily="18" charset="0"/>
                          </a:rPr>
                          <m:t>𝑖</m:t>
                        </m:r>
                        <m:r>
                          <a:rPr kumimoji="1" lang="en-US" altLang="zh-CN" sz="2400" i="1">
                            <a:solidFill>
                              <a:prstClr val="black"/>
                            </a:solidFill>
                            <a:latin typeface="Cambria Math" panose="02040503050406030204" pitchFamily="18" charset="0"/>
                          </a:rPr>
                          <m:t>=1</m:t>
                        </m:r>
                      </m:sub>
                      <m:sup>
                        <m:r>
                          <a:rPr kumimoji="1" lang="en-US" altLang="zh-CN" sz="2400" i="1">
                            <a:solidFill>
                              <a:prstClr val="black"/>
                            </a:solidFill>
                            <a:latin typeface="Cambria Math" panose="02040503050406030204" pitchFamily="18" charset="0"/>
                          </a:rPr>
                          <m:t>𝑛</m:t>
                        </m:r>
                      </m:sup>
                      <m:e>
                        <m:sSup>
                          <m:sSupPr>
                            <m:ctrlPr>
                              <a:rPr kumimoji="1" lang="en-US" altLang="zh-CN" sz="2400" i="1">
                                <a:solidFill>
                                  <a:prstClr val="black"/>
                                </a:solidFill>
                                <a:latin typeface="Cambria Math" panose="02040503050406030204" pitchFamily="18" charset="0"/>
                              </a:rPr>
                            </m:ctrlPr>
                          </m:sSupPr>
                          <m:e>
                            <m:r>
                              <a:rPr kumimoji="1" lang="en-US" altLang="zh-CN" sz="2400" i="1">
                                <a:solidFill>
                                  <a:prstClr val="black"/>
                                </a:solidFill>
                                <a:latin typeface="Cambria Math" panose="02040503050406030204" pitchFamily="18" charset="0"/>
                              </a:rPr>
                              <m:t>𝑖</m:t>
                            </m:r>
                          </m:e>
                          <m:sup>
                            <m:r>
                              <a:rPr kumimoji="1" lang="en-US" altLang="zh-CN" sz="2400" i="1">
                                <a:solidFill>
                                  <a:prstClr val="black"/>
                                </a:solidFill>
                                <a:latin typeface="Cambria Math" panose="02040503050406030204" pitchFamily="18" charset="0"/>
                              </a:rPr>
                              <m:t>2</m:t>
                            </m:r>
                          </m:sup>
                        </m:sSup>
                      </m:e>
                    </m:nary>
                    <m:r>
                      <a:rPr kumimoji="1" lang="en-US" altLang="zh-CN" sz="2400" i="1">
                        <a:solidFill>
                          <a:prstClr val="black"/>
                        </a:solidFill>
                        <a:latin typeface="Cambria Math" panose="02040503050406030204" pitchFamily="18" charset="0"/>
                      </a:rPr>
                      <m:t>=</m:t>
                    </m:r>
                    <m:f>
                      <m:fPr>
                        <m:ctrlPr>
                          <a:rPr kumimoji="1" lang="en-US" altLang="zh-CN" sz="2400" i="1">
                            <a:solidFill>
                              <a:prstClr val="black"/>
                            </a:solidFill>
                            <a:latin typeface="Cambria Math" panose="02040503050406030204" pitchFamily="18" charset="0"/>
                          </a:rPr>
                        </m:ctrlPr>
                      </m:fPr>
                      <m:num>
                        <m:r>
                          <a:rPr kumimoji="1" lang="en-US" altLang="zh-CN" sz="2400" i="1">
                            <a:solidFill>
                              <a:prstClr val="black"/>
                            </a:solidFill>
                            <a:latin typeface="Cambria Math" panose="02040503050406030204" pitchFamily="18" charset="0"/>
                          </a:rPr>
                          <m:t>𝑛</m:t>
                        </m:r>
                        <m:r>
                          <a:rPr kumimoji="1" lang="en-US" altLang="zh-CN" sz="2400" i="1">
                            <a:solidFill>
                              <a:prstClr val="black"/>
                            </a:solidFill>
                            <a:latin typeface="Cambria Math" panose="02040503050406030204" pitchFamily="18" charset="0"/>
                          </a:rPr>
                          <m:t>(</m:t>
                        </m:r>
                        <m:r>
                          <a:rPr kumimoji="1" lang="en-US" altLang="zh-CN" sz="2400" i="1">
                            <a:solidFill>
                              <a:prstClr val="black"/>
                            </a:solidFill>
                            <a:latin typeface="Cambria Math" panose="02040503050406030204" pitchFamily="18" charset="0"/>
                          </a:rPr>
                          <m:t>𝑛</m:t>
                        </m:r>
                        <m:r>
                          <a:rPr kumimoji="1" lang="en-US" altLang="zh-CN" sz="2400" i="1">
                            <a:solidFill>
                              <a:prstClr val="black"/>
                            </a:solidFill>
                            <a:latin typeface="Cambria Math" panose="02040503050406030204" pitchFamily="18" charset="0"/>
                          </a:rPr>
                          <m:t>+1)(2</m:t>
                        </m:r>
                        <m:r>
                          <a:rPr kumimoji="1" lang="en-US" altLang="zh-CN" sz="2400" i="1">
                            <a:solidFill>
                              <a:prstClr val="black"/>
                            </a:solidFill>
                            <a:latin typeface="Cambria Math" panose="02040503050406030204" pitchFamily="18" charset="0"/>
                          </a:rPr>
                          <m:t>𝑛</m:t>
                        </m:r>
                        <m:r>
                          <a:rPr kumimoji="1" lang="en-US" altLang="zh-CN" sz="2400" i="1">
                            <a:solidFill>
                              <a:prstClr val="black"/>
                            </a:solidFill>
                            <a:latin typeface="Cambria Math" panose="02040503050406030204" pitchFamily="18" charset="0"/>
                          </a:rPr>
                          <m:t>+1)</m:t>
                        </m:r>
                      </m:num>
                      <m:den>
                        <m:r>
                          <a:rPr kumimoji="1" lang="en-US" altLang="zh-CN" sz="2400" i="1">
                            <a:solidFill>
                              <a:prstClr val="black"/>
                            </a:solidFill>
                            <a:latin typeface="Cambria Math" panose="02040503050406030204" pitchFamily="18" charset="0"/>
                          </a:rPr>
                          <m:t>6</m:t>
                        </m:r>
                      </m:den>
                    </m:f>
                  </m:oMath>
                </a14:m>
                <a:r>
                  <a:rPr kumimoji="1" lang="zh-CN" altLang="en-US" sz="2400" dirty="0">
                    <a:solidFill>
                      <a:prstClr val="black"/>
                    </a:solidFill>
                    <a:latin typeface="SimSun" panose="02010600030101010101" pitchFamily="2" charset="-122"/>
                    <a:ea typeface="SimSun" panose="02010600030101010101" pitchFamily="2" charset="-122"/>
                  </a:rPr>
                  <a:t>）</a:t>
                </a:r>
              </a:p>
            </p:txBody>
          </p:sp>
        </mc:Choice>
        <mc:Fallback xmlns="">
          <p:sp>
            <p:nvSpPr>
              <p:cNvPr id="6" name="矩形 5">
                <a:extLst>
                  <a:ext uri="{FF2B5EF4-FFF2-40B4-BE49-F238E27FC236}">
                    <a16:creationId xmlns:a16="http://schemas.microsoft.com/office/drawing/2014/main" id="{3C3F0337-28A5-4F58-B1B9-5F649DD54FE9}"/>
                  </a:ext>
                </a:extLst>
              </p:cNvPr>
              <p:cNvSpPr>
                <a:spLocks noRot="1" noChangeAspect="1" noMove="1" noResize="1" noEditPoints="1" noAdjustHandles="1" noChangeArrowheads="1" noChangeShapeType="1" noTextEdit="1"/>
              </p:cNvSpPr>
              <p:nvPr/>
            </p:nvSpPr>
            <p:spPr>
              <a:xfrm>
                <a:off x="1024646" y="1206681"/>
                <a:ext cx="10142708" cy="3249544"/>
              </a:xfrm>
              <a:prstGeom prst="rect">
                <a:avLst/>
              </a:prstGeom>
              <a:blipFill>
                <a:blip r:embed="rId3"/>
                <a:stretch>
                  <a:fillRect l="-1000" t="-2734" r="-375" b="-24609"/>
                </a:stretch>
              </a:blipFill>
            </p:spPr>
            <p:txBody>
              <a:bodyPr/>
              <a:lstStyle/>
              <a:p>
                <a:r>
                  <a:rPr lang="zh-CN" altLang="en-US">
                    <a:noFill/>
                  </a:rPr>
                  <a:t> </a:t>
                </a:r>
              </a:p>
            </p:txBody>
          </p:sp>
        </mc:Fallback>
      </mc:AlternateContent>
      <p:grpSp>
        <p:nvGrpSpPr>
          <p:cNvPr id="17" name="组合 16">
            <a:extLst>
              <a:ext uri="{FF2B5EF4-FFF2-40B4-BE49-F238E27FC236}">
                <a16:creationId xmlns:a16="http://schemas.microsoft.com/office/drawing/2014/main" id="{E65B6336-E4D5-F448-ABE6-046A6E0A7B4D}"/>
              </a:ext>
            </a:extLst>
          </p:cNvPr>
          <p:cNvGrpSpPr/>
          <p:nvPr/>
        </p:nvGrpSpPr>
        <p:grpSpPr>
          <a:xfrm>
            <a:off x="3187977" y="5257643"/>
            <a:ext cx="1110342" cy="370114"/>
            <a:chOff x="989739" y="4870118"/>
            <a:chExt cx="1110342" cy="370114"/>
          </a:xfrm>
        </p:grpSpPr>
        <p:sp>
          <p:nvSpPr>
            <p:cNvPr id="11" name="矩形 10">
              <a:extLst>
                <a:ext uri="{FF2B5EF4-FFF2-40B4-BE49-F238E27FC236}">
                  <a16:creationId xmlns:a16="http://schemas.microsoft.com/office/drawing/2014/main" id="{93903626-C2C6-DB4B-AD00-A78DE755D103}"/>
                </a:ext>
              </a:extLst>
            </p:cNvPr>
            <p:cNvSpPr/>
            <p:nvPr/>
          </p:nvSpPr>
          <p:spPr>
            <a:xfrm>
              <a:off x="989739" y="4870118"/>
              <a:ext cx="370114" cy="3701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1"/>
                </a:solidFill>
              </a:endParaRPr>
            </a:p>
          </p:txBody>
        </p:sp>
        <p:sp>
          <p:nvSpPr>
            <p:cNvPr id="12" name="矩形 11">
              <a:extLst>
                <a:ext uri="{FF2B5EF4-FFF2-40B4-BE49-F238E27FC236}">
                  <a16:creationId xmlns:a16="http://schemas.microsoft.com/office/drawing/2014/main" id="{0F476D44-E800-934F-B9CB-FCA8B8F5992B}"/>
                </a:ext>
              </a:extLst>
            </p:cNvPr>
            <p:cNvSpPr/>
            <p:nvPr/>
          </p:nvSpPr>
          <p:spPr>
            <a:xfrm>
              <a:off x="1359853" y="4870118"/>
              <a:ext cx="370114" cy="3701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 name="矩形 12">
              <a:extLst>
                <a:ext uri="{FF2B5EF4-FFF2-40B4-BE49-F238E27FC236}">
                  <a16:creationId xmlns:a16="http://schemas.microsoft.com/office/drawing/2014/main" id="{9561FACD-44DC-EB40-BB04-B455F492CDB5}"/>
                </a:ext>
              </a:extLst>
            </p:cNvPr>
            <p:cNvSpPr/>
            <p:nvPr/>
          </p:nvSpPr>
          <p:spPr>
            <a:xfrm>
              <a:off x="1729967" y="4870118"/>
              <a:ext cx="370114" cy="3701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cxnSp>
        <p:nvCxnSpPr>
          <p:cNvPr id="10" name="直线箭头连接符 9">
            <a:extLst>
              <a:ext uri="{FF2B5EF4-FFF2-40B4-BE49-F238E27FC236}">
                <a16:creationId xmlns:a16="http://schemas.microsoft.com/office/drawing/2014/main" id="{A687B6E5-590F-0244-A6F1-61759CF40052}"/>
              </a:ext>
            </a:extLst>
          </p:cNvPr>
          <p:cNvCxnSpPr/>
          <p:nvPr/>
        </p:nvCxnSpPr>
        <p:spPr>
          <a:xfrm>
            <a:off x="4123325" y="5367750"/>
            <a:ext cx="4898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线箭头连接符 13">
            <a:extLst>
              <a:ext uri="{FF2B5EF4-FFF2-40B4-BE49-F238E27FC236}">
                <a16:creationId xmlns:a16="http://schemas.microsoft.com/office/drawing/2014/main" id="{501F44CC-FF97-C346-A3F3-8F2238135897}"/>
              </a:ext>
            </a:extLst>
          </p:cNvPr>
          <p:cNvCxnSpPr/>
          <p:nvPr/>
        </p:nvCxnSpPr>
        <p:spPr>
          <a:xfrm>
            <a:off x="2943048" y="5442700"/>
            <a:ext cx="4898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58871B82-F79A-5649-BB8A-D4176A26EC13}"/>
              </a:ext>
            </a:extLst>
          </p:cNvPr>
          <p:cNvCxnSpPr>
            <a:cxnSpLocks/>
          </p:cNvCxnSpPr>
          <p:nvPr/>
        </p:nvCxnSpPr>
        <p:spPr>
          <a:xfrm flipH="1">
            <a:off x="4108335" y="5517650"/>
            <a:ext cx="4898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 name="组合 17">
            <a:extLst>
              <a:ext uri="{FF2B5EF4-FFF2-40B4-BE49-F238E27FC236}">
                <a16:creationId xmlns:a16="http://schemas.microsoft.com/office/drawing/2014/main" id="{64E81E85-FB87-EC4B-908C-10A9FAB2FC2F}"/>
              </a:ext>
            </a:extLst>
          </p:cNvPr>
          <p:cNvGrpSpPr/>
          <p:nvPr/>
        </p:nvGrpSpPr>
        <p:grpSpPr>
          <a:xfrm>
            <a:off x="4478449" y="5257643"/>
            <a:ext cx="1110342" cy="370114"/>
            <a:chOff x="989739" y="4870118"/>
            <a:chExt cx="1110342" cy="370114"/>
          </a:xfrm>
        </p:grpSpPr>
        <p:sp>
          <p:nvSpPr>
            <p:cNvPr id="19" name="矩形 18">
              <a:extLst>
                <a:ext uri="{FF2B5EF4-FFF2-40B4-BE49-F238E27FC236}">
                  <a16:creationId xmlns:a16="http://schemas.microsoft.com/office/drawing/2014/main" id="{BFE00992-25A3-CB42-A33C-45DAF46472CB}"/>
                </a:ext>
              </a:extLst>
            </p:cNvPr>
            <p:cNvSpPr/>
            <p:nvPr/>
          </p:nvSpPr>
          <p:spPr>
            <a:xfrm>
              <a:off x="989739" y="4870118"/>
              <a:ext cx="370114" cy="3701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1"/>
                </a:solidFill>
              </a:endParaRPr>
            </a:p>
          </p:txBody>
        </p:sp>
        <p:sp>
          <p:nvSpPr>
            <p:cNvPr id="20" name="矩形 19">
              <a:extLst>
                <a:ext uri="{FF2B5EF4-FFF2-40B4-BE49-F238E27FC236}">
                  <a16:creationId xmlns:a16="http://schemas.microsoft.com/office/drawing/2014/main" id="{FB2D17A7-27F1-2442-8D9B-B2794BB95723}"/>
                </a:ext>
              </a:extLst>
            </p:cNvPr>
            <p:cNvSpPr/>
            <p:nvPr/>
          </p:nvSpPr>
          <p:spPr>
            <a:xfrm>
              <a:off x="1359853" y="4870118"/>
              <a:ext cx="370114" cy="3701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1" name="矩形 20">
              <a:extLst>
                <a:ext uri="{FF2B5EF4-FFF2-40B4-BE49-F238E27FC236}">
                  <a16:creationId xmlns:a16="http://schemas.microsoft.com/office/drawing/2014/main" id="{42EC19D3-B439-6845-A925-E4255DBCE946}"/>
                </a:ext>
              </a:extLst>
            </p:cNvPr>
            <p:cNvSpPr/>
            <p:nvPr/>
          </p:nvSpPr>
          <p:spPr>
            <a:xfrm>
              <a:off x="1729967" y="4870118"/>
              <a:ext cx="370114" cy="3701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cxnSp>
        <p:nvCxnSpPr>
          <p:cNvPr id="22" name="直线箭头连接符 21">
            <a:extLst>
              <a:ext uri="{FF2B5EF4-FFF2-40B4-BE49-F238E27FC236}">
                <a16:creationId xmlns:a16="http://schemas.microsoft.com/office/drawing/2014/main" id="{697C2550-284C-834D-964E-D8313D22A588}"/>
              </a:ext>
            </a:extLst>
          </p:cNvPr>
          <p:cNvCxnSpPr/>
          <p:nvPr/>
        </p:nvCxnSpPr>
        <p:spPr>
          <a:xfrm>
            <a:off x="5403734" y="5367750"/>
            <a:ext cx="4898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线箭头连接符 22">
            <a:extLst>
              <a:ext uri="{FF2B5EF4-FFF2-40B4-BE49-F238E27FC236}">
                <a16:creationId xmlns:a16="http://schemas.microsoft.com/office/drawing/2014/main" id="{47C6B512-FEC8-ED44-844B-0198F730026F}"/>
              </a:ext>
            </a:extLst>
          </p:cNvPr>
          <p:cNvCxnSpPr>
            <a:cxnSpLocks/>
          </p:cNvCxnSpPr>
          <p:nvPr/>
        </p:nvCxnSpPr>
        <p:spPr>
          <a:xfrm flipH="1">
            <a:off x="5388744" y="5517650"/>
            <a:ext cx="4898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组合 23">
            <a:extLst>
              <a:ext uri="{FF2B5EF4-FFF2-40B4-BE49-F238E27FC236}">
                <a16:creationId xmlns:a16="http://schemas.microsoft.com/office/drawing/2014/main" id="{5758DADD-FFEF-8746-8EB3-9F43376A0E9A}"/>
              </a:ext>
            </a:extLst>
          </p:cNvPr>
          <p:cNvGrpSpPr/>
          <p:nvPr/>
        </p:nvGrpSpPr>
        <p:grpSpPr>
          <a:xfrm>
            <a:off x="5746555" y="5257643"/>
            <a:ext cx="1110342" cy="370114"/>
            <a:chOff x="989739" y="4870118"/>
            <a:chExt cx="1110342" cy="370114"/>
          </a:xfrm>
        </p:grpSpPr>
        <p:sp>
          <p:nvSpPr>
            <p:cNvPr id="25" name="矩形 24">
              <a:extLst>
                <a:ext uri="{FF2B5EF4-FFF2-40B4-BE49-F238E27FC236}">
                  <a16:creationId xmlns:a16="http://schemas.microsoft.com/office/drawing/2014/main" id="{3BC98ACA-4C92-D24A-8754-89693146F5C3}"/>
                </a:ext>
              </a:extLst>
            </p:cNvPr>
            <p:cNvSpPr/>
            <p:nvPr/>
          </p:nvSpPr>
          <p:spPr>
            <a:xfrm>
              <a:off x="989739" y="4870118"/>
              <a:ext cx="370114" cy="3701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1"/>
                </a:solidFill>
              </a:endParaRPr>
            </a:p>
          </p:txBody>
        </p:sp>
        <p:sp>
          <p:nvSpPr>
            <p:cNvPr id="26" name="矩形 25">
              <a:extLst>
                <a:ext uri="{FF2B5EF4-FFF2-40B4-BE49-F238E27FC236}">
                  <a16:creationId xmlns:a16="http://schemas.microsoft.com/office/drawing/2014/main" id="{9B52233F-160E-3042-8622-BA876CED5901}"/>
                </a:ext>
              </a:extLst>
            </p:cNvPr>
            <p:cNvSpPr/>
            <p:nvPr/>
          </p:nvSpPr>
          <p:spPr>
            <a:xfrm>
              <a:off x="1359853" y="4870118"/>
              <a:ext cx="370114" cy="3701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7" name="矩形 26">
              <a:extLst>
                <a:ext uri="{FF2B5EF4-FFF2-40B4-BE49-F238E27FC236}">
                  <a16:creationId xmlns:a16="http://schemas.microsoft.com/office/drawing/2014/main" id="{EDE8C306-3465-684B-9C62-247658A01DB8}"/>
                </a:ext>
              </a:extLst>
            </p:cNvPr>
            <p:cNvSpPr/>
            <p:nvPr/>
          </p:nvSpPr>
          <p:spPr>
            <a:xfrm>
              <a:off x="1729967" y="4870118"/>
              <a:ext cx="370114" cy="3701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cxnSp>
        <p:nvCxnSpPr>
          <p:cNvPr id="28" name="直线箭头连接符 27">
            <a:extLst>
              <a:ext uri="{FF2B5EF4-FFF2-40B4-BE49-F238E27FC236}">
                <a16:creationId xmlns:a16="http://schemas.microsoft.com/office/drawing/2014/main" id="{35AFEF61-0CBA-4341-916B-7FAEA4A5C348}"/>
              </a:ext>
            </a:extLst>
          </p:cNvPr>
          <p:cNvCxnSpPr/>
          <p:nvPr/>
        </p:nvCxnSpPr>
        <p:spPr>
          <a:xfrm>
            <a:off x="6679718" y="5367750"/>
            <a:ext cx="4898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线箭头连接符 28">
            <a:extLst>
              <a:ext uri="{FF2B5EF4-FFF2-40B4-BE49-F238E27FC236}">
                <a16:creationId xmlns:a16="http://schemas.microsoft.com/office/drawing/2014/main" id="{B986F54D-6888-4143-A903-8B202BE17690}"/>
              </a:ext>
            </a:extLst>
          </p:cNvPr>
          <p:cNvCxnSpPr>
            <a:cxnSpLocks/>
          </p:cNvCxnSpPr>
          <p:nvPr/>
        </p:nvCxnSpPr>
        <p:spPr>
          <a:xfrm flipH="1">
            <a:off x="6664728" y="5517650"/>
            <a:ext cx="4898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0" name="组合 29">
            <a:extLst>
              <a:ext uri="{FF2B5EF4-FFF2-40B4-BE49-F238E27FC236}">
                <a16:creationId xmlns:a16="http://schemas.microsoft.com/office/drawing/2014/main" id="{88BFFF79-C264-7B4E-9E43-665E00DA28C1}"/>
              </a:ext>
            </a:extLst>
          </p:cNvPr>
          <p:cNvGrpSpPr/>
          <p:nvPr/>
        </p:nvGrpSpPr>
        <p:grpSpPr>
          <a:xfrm>
            <a:off x="7034842" y="5257643"/>
            <a:ext cx="1110342" cy="370114"/>
            <a:chOff x="989739" y="4870118"/>
            <a:chExt cx="1110342" cy="370114"/>
          </a:xfrm>
        </p:grpSpPr>
        <p:sp>
          <p:nvSpPr>
            <p:cNvPr id="31" name="矩形 30">
              <a:extLst>
                <a:ext uri="{FF2B5EF4-FFF2-40B4-BE49-F238E27FC236}">
                  <a16:creationId xmlns:a16="http://schemas.microsoft.com/office/drawing/2014/main" id="{79F9ADF6-CA2C-3D45-A5F0-DB950632DA12}"/>
                </a:ext>
              </a:extLst>
            </p:cNvPr>
            <p:cNvSpPr/>
            <p:nvPr/>
          </p:nvSpPr>
          <p:spPr>
            <a:xfrm>
              <a:off x="989739" y="4870118"/>
              <a:ext cx="370114" cy="3701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1"/>
                </a:solidFill>
              </a:endParaRPr>
            </a:p>
          </p:txBody>
        </p:sp>
        <p:sp>
          <p:nvSpPr>
            <p:cNvPr id="32" name="矩形 31">
              <a:extLst>
                <a:ext uri="{FF2B5EF4-FFF2-40B4-BE49-F238E27FC236}">
                  <a16:creationId xmlns:a16="http://schemas.microsoft.com/office/drawing/2014/main" id="{EB407E41-429C-A948-9CF3-8CA8A8984BDB}"/>
                </a:ext>
              </a:extLst>
            </p:cNvPr>
            <p:cNvSpPr/>
            <p:nvPr/>
          </p:nvSpPr>
          <p:spPr>
            <a:xfrm>
              <a:off x="1359853" y="4870118"/>
              <a:ext cx="370114" cy="3701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3" name="矩形 32">
              <a:extLst>
                <a:ext uri="{FF2B5EF4-FFF2-40B4-BE49-F238E27FC236}">
                  <a16:creationId xmlns:a16="http://schemas.microsoft.com/office/drawing/2014/main" id="{8A14D59C-6ED6-0E4F-AE65-4692D296441A}"/>
                </a:ext>
              </a:extLst>
            </p:cNvPr>
            <p:cNvSpPr/>
            <p:nvPr/>
          </p:nvSpPr>
          <p:spPr>
            <a:xfrm>
              <a:off x="1729967" y="4870118"/>
              <a:ext cx="370114" cy="3701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a:t>
              </a:r>
              <a:endParaRPr kumimoji="1" lang="zh-CN" altLang="en-US" dirty="0">
                <a:solidFill>
                  <a:schemeClr val="tx1"/>
                </a:solidFill>
              </a:endParaRPr>
            </a:p>
          </p:txBody>
        </p:sp>
      </p:grpSp>
      <p:cxnSp>
        <p:nvCxnSpPr>
          <p:cNvPr id="60" name="直线箭头连接符 59">
            <a:extLst>
              <a:ext uri="{FF2B5EF4-FFF2-40B4-BE49-F238E27FC236}">
                <a16:creationId xmlns:a16="http://schemas.microsoft.com/office/drawing/2014/main" id="{3AF261FD-89E9-AA4F-8575-8CA123A0FBE0}"/>
              </a:ext>
            </a:extLst>
          </p:cNvPr>
          <p:cNvCxnSpPr>
            <a:endCxn id="19" idx="0"/>
          </p:cNvCxnSpPr>
          <p:nvPr/>
        </p:nvCxnSpPr>
        <p:spPr>
          <a:xfrm flipH="1">
            <a:off x="4663506" y="4946752"/>
            <a:ext cx="358198" cy="3108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69ADCC96-18B0-3D4A-8B84-E9752412F7D0}"/>
              </a:ext>
            </a:extLst>
          </p:cNvPr>
          <p:cNvSpPr txBox="1"/>
          <p:nvPr/>
        </p:nvSpPr>
        <p:spPr>
          <a:xfrm>
            <a:off x="5021704" y="4673379"/>
            <a:ext cx="327334" cy="400110"/>
          </a:xfrm>
          <a:prstGeom prst="rect">
            <a:avLst/>
          </a:prstGeom>
          <a:noFill/>
        </p:spPr>
        <p:txBody>
          <a:bodyPr wrap="none" rtlCol="0">
            <a:spAutoFit/>
          </a:bodyPr>
          <a:lstStyle/>
          <a:p>
            <a:pPr algn="ctr"/>
            <a:r>
              <a:rPr kumimoji="1" lang="en-US" altLang="zh-CN" sz="2000" dirty="0">
                <a:latin typeface="Arial" panose="020B0604020202020204" pitchFamily="34" charset="0"/>
                <a:ea typeface="微软雅黑" panose="020B0503020204020204" pitchFamily="34" charset="-122"/>
                <a:cs typeface="+mn-ea"/>
                <a:sym typeface="Arial" panose="020B0604020202020204" pitchFamily="34" charset="0"/>
              </a:rPr>
              <a:t>p</a:t>
            </a:r>
            <a:endParaRPr kumimoji="1" lang="zh-CN" altLang="en-US" sz="2000" dirty="0">
              <a:latin typeface="Arial" panose="020B0604020202020204" pitchFamily="34" charset="0"/>
              <a:ea typeface="微软雅黑" panose="020B0503020204020204" pitchFamily="34" charset="-122"/>
              <a:cs typeface="+mn-ea"/>
              <a:sym typeface="Arial" panose="020B0604020202020204" pitchFamily="34" charset="0"/>
            </a:endParaRPr>
          </a:p>
        </p:txBody>
      </p:sp>
    </p:spTree>
    <p:extLst>
      <p:ext uri="{BB962C8B-B14F-4D97-AF65-F5344CB8AC3E}">
        <p14:creationId xmlns:p14="http://schemas.microsoft.com/office/powerpoint/2010/main" val="1593540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7</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4493538"/>
              </a:xfrm>
              <a:prstGeom prst="rect">
                <a:avLst/>
              </a:prstGeom>
            </p:spPr>
            <p:txBody>
              <a:bodyPr wrap="square">
                <a:spAutoFit/>
              </a:bodyPr>
              <a:lstStyle/>
              <a:p>
                <a:pPr marL="514350" indent="-514350">
                  <a:buFont typeface="+mj-lt"/>
                  <a:buAutoNum type="arabicPeriod" startAt="2"/>
                </a:pPr>
                <a:r>
                  <a:rPr kumimoji="1" lang="zh-CN" altLang="en-US" sz="2200" dirty="0">
                    <a:latin typeface="SimSun" panose="02010600030101010101" pitchFamily="2" charset="-122"/>
                    <a:ea typeface="SimSun" panose="02010600030101010101" pitchFamily="2" charset="-122"/>
                  </a:rPr>
                  <a:t>两个整数集合</a:t>
                </a:r>
                <a14:m>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𝑆</m:t>
                        </m:r>
                      </m:e>
                      <m:sub>
                        <m:r>
                          <a:rPr kumimoji="1" lang="en-US" altLang="zh-CN" sz="2200" i="1">
                            <a:latin typeface="Cambria Math" panose="02040503050406030204" pitchFamily="18" charset="0"/>
                          </a:rPr>
                          <m:t>1</m:t>
                        </m:r>
                      </m:sub>
                    </m:sSub>
                  </m:oMath>
                </a14:m>
                <a:r>
                  <a:rPr kumimoji="1" lang="zh-CN" altLang="en-US" sz="2200" dirty="0">
                    <a:latin typeface="SimSun" panose="02010600030101010101" pitchFamily="2" charset="-122"/>
                    <a:ea typeface="SimSun" panose="02010600030101010101" pitchFamily="2" charset="-122"/>
                  </a:rPr>
                  <a:t>、</a:t>
                </a:r>
                <a14:m>
                  <m:oMath xmlns:m="http://schemas.openxmlformats.org/officeDocument/2006/math">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2</m:t>
                        </m:r>
                      </m:sub>
                    </m:sSub>
                  </m:oMath>
                </a14:m>
                <a:r>
                  <a:rPr kumimoji="1" lang="zh-CN" altLang="en-US" sz="2200" dirty="0">
                    <a:latin typeface="SimSun" panose="02010600030101010101" pitchFamily="2" charset="-122"/>
                    <a:ea typeface="SimSun" panose="02010600030101010101" pitchFamily="2" charset="-122"/>
                  </a:rPr>
                  <a:t>，大小分别为</a:t>
                </a:r>
                <a14:m>
                  <m:oMath xmlns:m="http://schemas.openxmlformats.org/officeDocument/2006/math">
                    <m:r>
                      <a:rPr kumimoji="1" lang="en-US" altLang="zh-CN" sz="2200" i="1">
                        <a:latin typeface="Cambria Math" panose="02040503050406030204" pitchFamily="18" charset="0"/>
                      </a:rPr>
                      <m:t>𝑁</m:t>
                    </m:r>
                  </m:oMath>
                </a14:m>
                <a:r>
                  <a:rPr kumimoji="1" lang="zh-CN" altLang="en-US" sz="2200" dirty="0">
                    <a:latin typeface="SimSun" panose="02010600030101010101" pitchFamily="2" charset="-122"/>
                    <a:ea typeface="SimSun" panose="02010600030101010101" pitchFamily="2" charset="-122"/>
                  </a:rPr>
                  <a:t>、</a:t>
                </a:r>
                <a14:m>
                  <m:oMath xmlns:m="http://schemas.openxmlformats.org/officeDocument/2006/math">
                    <m:r>
                      <a:rPr kumimoji="1" lang="en-US" altLang="zh-CN" sz="2200" i="1" dirty="0">
                        <a:latin typeface="Cambria Math" panose="02040503050406030204" pitchFamily="18" charset="0"/>
                      </a:rPr>
                      <m:t>𝑀</m:t>
                    </m:r>
                  </m:oMath>
                </a14:m>
                <a:r>
                  <a:rPr kumimoji="1" lang="zh-CN" altLang="en-US" sz="2200" dirty="0">
                    <a:latin typeface="SimSun" panose="02010600030101010101" pitchFamily="2" charset="-122"/>
                    <a:ea typeface="SimSun" panose="02010600030101010101" pitchFamily="2" charset="-122"/>
                  </a:rPr>
                  <a:t>，</a:t>
                </a:r>
                <a14:m>
                  <m:oMath xmlns:m="http://schemas.openxmlformats.org/officeDocument/2006/math">
                    <m:r>
                      <a:rPr kumimoji="1" lang="en-US" altLang="zh-CN" sz="2200" i="1" dirty="0">
                        <a:latin typeface="Cambria Math" panose="02040503050406030204" pitchFamily="18" charset="0"/>
                      </a:rPr>
                      <m:t>𝑀</m:t>
                    </m:r>
                    <m:r>
                      <a:rPr kumimoji="1" lang="en-US" altLang="zh-CN" sz="2200" i="1" dirty="0">
                        <a:latin typeface="Cambria Math" panose="02040503050406030204" pitchFamily="18" charset="0"/>
                      </a:rPr>
                      <m:t>=</m:t>
                    </m:r>
                    <m:r>
                      <a:rPr kumimoji="1" lang="en-US" altLang="zh-CN" sz="2200" i="1" dirty="0">
                        <a:latin typeface="Cambria Math" panose="02040503050406030204" pitchFamily="18" charset="0"/>
                      </a:rPr>
                      <m:t>𝑂</m:t>
                    </m:r>
                    <m:r>
                      <a:rPr kumimoji="1" lang="en-US" altLang="zh-CN" sz="2200" i="1" dirty="0">
                        <a:latin typeface="Cambria Math" panose="02040503050406030204" pitchFamily="18" charset="0"/>
                      </a:rPr>
                      <m:t>(</m:t>
                    </m:r>
                    <m:func>
                      <m:funcPr>
                        <m:ctrlPr>
                          <a:rPr kumimoji="1" lang="en-US" altLang="zh-CN" sz="2200" i="1" dirty="0">
                            <a:latin typeface="Cambria Math" panose="02040503050406030204" pitchFamily="18" charset="0"/>
                          </a:rPr>
                        </m:ctrlPr>
                      </m:funcPr>
                      <m:fName>
                        <m:r>
                          <m:rPr>
                            <m:sty m:val="p"/>
                          </m:rPr>
                          <a:rPr kumimoji="1" lang="en-US" altLang="zh-CN" sz="2200" dirty="0">
                            <a:latin typeface="Cambria Math" panose="02040503050406030204" pitchFamily="18" charset="0"/>
                          </a:rPr>
                          <m:t>log</m:t>
                        </m:r>
                      </m:fName>
                      <m:e>
                        <m:r>
                          <a:rPr kumimoji="1" lang="en-US" altLang="zh-CN" sz="2200" i="1" dirty="0">
                            <a:latin typeface="Cambria Math" panose="02040503050406030204" pitchFamily="18" charset="0"/>
                          </a:rPr>
                          <m:t>𝑁</m:t>
                        </m:r>
                      </m:e>
                    </m:func>
                    <m:r>
                      <a:rPr kumimoji="1" lang="en-US" altLang="zh-CN" sz="2200" i="1" dirty="0">
                        <a:latin typeface="Cambria Math" panose="02040503050406030204" pitchFamily="18" charset="0"/>
                      </a:rPr>
                      <m:t>)</m:t>
                    </m:r>
                  </m:oMath>
                </a14:m>
                <a:r>
                  <a:rPr kumimoji="1" lang="zh-CN" altLang="en-US" sz="2200" dirty="0">
                    <a:latin typeface="SimSun" panose="02010600030101010101" pitchFamily="2" charset="-122"/>
                    <a:ea typeface="SimSun" panose="02010600030101010101" pitchFamily="2" charset="-122"/>
                  </a:rPr>
                  <a:t>，试</a:t>
                </a:r>
                <a:r>
                  <a:rPr kumimoji="1" lang="zh-CN" altLang="en-US" sz="2200" u="sng" dirty="0">
                    <a:latin typeface="SimSun" panose="02010600030101010101" pitchFamily="2" charset="-122"/>
                    <a:ea typeface="SimSun" panose="02010600030101010101" pitchFamily="2" charset="-122"/>
                  </a:rPr>
                  <a:t>借助于排序</a:t>
                </a:r>
                <a:r>
                  <a:rPr kumimoji="1" lang="zh-CN" altLang="en-US" sz="2200" dirty="0">
                    <a:latin typeface="SimSun" panose="02010600030101010101" pitchFamily="2" charset="-122"/>
                    <a:ea typeface="SimSun" panose="02010600030101010101" pitchFamily="2" charset="-122"/>
                  </a:rPr>
                  <a:t>来求</a:t>
                </a:r>
                <a14:m>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𝑆</m:t>
                        </m:r>
                      </m:e>
                      <m:sub>
                        <m:r>
                          <a:rPr kumimoji="1" lang="en-US" altLang="zh-CN" sz="2200" i="1">
                            <a:latin typeface="Cambria Math" panose="02040503050406030204" pitchFamily="18" charset="0"/>
                          </a:rPr>
                          <m:t>1</m:t>
                        </m:r>
                      </m:sub>
                    </m:sSub>
                    <m:r>
                      <a:rPr kumimoji="1" lang="zh-CN" altLang="en-US" sz="2200" i="1">
                        <a:latin typeface="Cambria Math" panose="02040503050406030204" pitchFamily="18" charset="0"/>
                      </a:rPr>
                      <m:t>和</m:t>
                    </m:r>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2</m:t>
                        </m:r>
                      </m:sub>
                    </m:sSub>
                  </m:oMath>
                </a14:m>
                <a:r>
                  <a:rPr kumimoji="1" lang="zh-CN" altLang="en-US" sz="2200" dirty="0">
                    <a:latin typeface="SimSun" panose="02010600030101010101" pitchFamily="2" charset="-122"/>
                    <a:ea typeface="SimSun" panose="02010600030101010101" pitchFamily="2" charset="-122"/>
                  </a:rPr>
                  <a:t>的交集。请给出算法思想、伪代码描述和时间复杂度分析。</a:t>
                </a:r>
              </a:p>
              <a:p>
                <a:endParaRPr kumimoji="1" lang="en-US" altLang="zh-CN" sz="2200" dirty="0">
                  <a:latin typeface="SimSun" panose="02010600030101010101" pitchFamily="2" charset="-122"/>
                  <a:ea typeface="SimSun" panose="02010600030101010101" pitchFamily="2" charset="-122"/>
                </a:endParaRPr>
              </a:p>
              <a:p>
                <a:r>
                  <a:rPr kumimoji="1" lang="zh-CN" altLang="en-US" sz="2200" dirty="0">
                    <a:latin typeface="SimSun" panose="02010600030101010101" pitchFamily="2" charset="-122"/>
                    <a:ea typeface="SimSun" panose="02010600030101010101" pitchFamily="2" charset="-122"/>
                  </a:rPr>
                  <a:t>算法</a:t>
                </a:r>
                <a:r>
                  <a:rPr kumimoji="1" lang="en-US" altLang="zh-CN" sz="2200" dirty="0">
                    <a:latin typeface="SimSun" panose="02010600030101010101" pitchFamily="2" charset="-122"/>
                    <a:ea typeface="SimSun" panose="02010600030101010101" pitchFamily="2" charset="-122"/>
                  </a:rPr>
                  <a:t>(1)</a:t>
                </a:r>
                <a:r>
                  <a:rPr kumimoji="1" lang="zh-CN" altLang="en-US" sz="2200" dirty="0">
                    <a:latin typeface="SimSun" panose="02010600030101010101" pitchFamily="2" charset="-122"/>
                    <a:ea typeface="SimSun" panose="02010600030101010101" pitchFamily="2" charset="-122"/>
                  </a:rPr>
                  <a:t>：只对</a:t>
                </a:r>
                <a14:m>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𝑆</m:t>
                        </m:r>
                      </m:e>
                      <m:sub>
                        <m:r>
                          <a:rPr kumimoji="1" lang="en-US" altLang="zh-CN" sz="2200" i="1">
                            <a:latin typeface="Cambria Math" panose="02040503050406030204" pitchFamily="18" charset="0"/>
                          </a:rPr>
                          <m:t>1</m:t>
                        </m:r>
                      </m:sub>
                    </m:sSub>
                  </m:oMath>
                </a14:m>
                <a:r>
                  <a:rPr kumimoji="1" lang="zh-CN" altLang="en-US" sz="2200" dirty="0">
                    <a:latin typeface="SimSun" panose="02010600030101010101" pitchFamily="2" charset="-122"/>
                    <a:ea typeface="SimSun" panose="02010600030101010101" pitchFamily="2" charset="-122"/>
                  </a:rPr>
                  <a:t>进行排序，然后遍历</a:t>
                </a:r>
                <a14:m>
                  <m:oMath xmlns:m="http://schemas.openxmlformats.org/officeDocument/2006/math">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2</m:t>
                        </m:r>
                      </m:sub>
                    </m:sSub>
                  </m:oMath>
                </a14:m>
                <a:r>
                  <a:rPr kumimoji="1" lang="zh-CN" altLang="en-US" sz="2200" dirty="0">
                    <a:latin typeface="SimSun" panose="02010600030101010101" pitchFamily="2" charset="-122"/>
                    <a:ea typeface="SimSun" panose="02010600030101010101" pitchFamily="2" charset="-122"/>
                  </a:rPr>
                  <a:t>，在</a:t>
                </a:r>
                <a14:m>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𝑆</m:t>
                        </m:r>
                      </m:e>
                      <m:sub>
                        <m:r>
                          <a:rPr kumimoji="1" lang="en-US" altLang="zh-CN" sz="2200" i="1">
                            <a:latin typeface="Cambria Math" panose="02040503050406030204" pitchFamily="18" charset="0"/>
                          </a:rPr>
                          <m:t>1</m:t>
                        </m:r>
                      </m:sub>
                    </m:sSub>
                  </m:oMath>
                </a14:m>
                <a:r>
                  <a:rPr kumimoji="1" lang="zh-CN" altLang="en-US" sz="2200" dirty="0">
                    <a:latin typeface="SimSun" panose="02010600030101010101" pitchFamily="2" charset="-122"/>
                    <a:ea typeface="SimSun" panose="02010600030101010101" pitchFamily="2" charset="-122"/>
                  </a:rPr>
                  <a:t>中使用二分查找来判断</a:t>
                </a:r>
                <a14:m>
                  <m:oMath xmlns:m="http://schemas.openxmlformats.org/officeDocument/2006/math">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2</m:t>
                        </m:r>
                      </m:sub>
                    </m:sSub>
                  </m:oMath>
                </a14:m>
                <a:r>
                  <a:rPr kumimoji="1" lang="zh-CN" altLang="en-US" sz="2200" dirty="0">
                    <a:latin typeface="SimSun" panose="02010600030101010101" pitchFamily="2" charset="-122"/>
                    <a:ea typeface="SimSun" panose="02010600030101010101" pitchFamily="2" charset="-122"/>
                  </a:rPr>
                  <a:t>中的元素是否也在</a:t>
                </a:r>
                <a14:m>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𝑆</m:t>
                        </m:r>
                      </m:e>
                      <m:sub>
                        <m:r>
                          <a:rPr kumimoji="1" lang="en-US" altLang="zh-CN" sz="2200" i="1">
                            <a:latin typeface="Cambria Math" panose="02040503050406030204" pitchFamily="18" charset="0"/>
                          </a:rPr>
                          <m:t>1</m:t>
                        </m:r>
                      </m:sub>
                    </m:sSub>
                  </m:oMath>
                </a14:m>
                <a:r>
                  <a:rPr kumimoji="1" lang="zh-CN" altLang="en-US" sz="2200" dirty="0">
                    <a:latin typeface="SimSun" panose="02010600030101010101" pitchFamily="2" charset="-122"/>
                    <a:ea typeface="SimSun" panose="02010600030101010101" pitchFamily="2" charset="-122"/>
                  </a:rPr>
                  <a:t>中出现。时间复杂度：</a:t>
                </a:r>
                <a14:m>
                  <m:oMath xmlns:m="http://schemas.openxmlformats.org/officeDocument/2006/math">
                    <m:r>
                      <a:rPr kumimoji="1" lang="en-US" altLang="zh-CN" sz="2200" i="1">
                        <a:latin typeface="Cambria Math" panose="02040503050406030204" pitchFamily="18" charset="0"/>
                      </a:rPr>
                      <m:t>𝑁</m:t>
                    </m:r>
                    <m:r>
                      <a:rPr kumimoji="1" lang="en-US" altLang="zh-CN" sz="2200" i="1">
                        <a:latin typeface="Cambria Math" panose="02040503050406030204" pitchFamily="18" charset="0"/>
                      </a:rPr>
                      <m:t>∗</m:t>
                    </m:r>
                    <m:func>
                      <m:funcPr>
                        <m:ctrlPr>
                          <a:rPr kumimoji="1" lang="en-US" altLang="zh-CN" sz="2200" i="1">
                            <a:latin typeface="Cambria Math" panose="02040503050406030204" pitchFamily="18" charset="0"/>
                          </a:rPr>
                        </m:ctrlPr>
                      </m:funcPr>
                      <m:fName>
                        <m:r>
                          <m:rPr>
                            <m:sty m:val="p"/>
                          </m:rPr>
                          <a:rPr kumimoji="1" lang="en-US" altLang="zh-CN" sz="2200">
                            <a:latin typeface="Cambria Math" panose="02040503050406030204" pitchFamily="18" charset="0"/>
                          </a:rPr>
                          <m:t>log</m:t>
                        </m:r>
                      </m:fName>
                      <m:e>
                        <m:r>
                          <a:rPr kumimoji="1" lang="en-US" altLang="zh-CN" sz="2200" i="1">
                            <a:latin typeface="Cambria Math" panose="02040503050406030204" pitchFamily="18" charset="0"/>
                          </a:rPr>
                          <m:t>𝑁</m:t>
                        </m:r>
                      </m:e>
                    </m:func>
                  </m:oMath>
                </a14:m>
                <a:r>
                  <a:rPr kumimoji="1" lang="zh-CN" altLang="en-US" sz="2200" dirty="0">
                    <a:latin typeface="SimSun" panose="02010600030101010101" pitchFamily="2" charset="-122"/>
                    <a:ea typeface="SimSun" panose="02010600030101010101" pitchFamily="2" charset="-122"/>
                  </a:rPr>
                  <a:t>（对</a:t>
                </a:r>
                <a14:m>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𝑆</m:t>
                        </m:r>
                      </m:e>
                      <m:sub>
                        <m:r>
                          <a:rPr kumimoji="1" lang="en-US" altLang="zh-CN" sz="2200" i="1">
                            <a:latin typeface="Cambria Math" panose="02040503050406030204" pitchFamily="18" charset="0"/>
                          </a:rPr>
                          <m:t>1</m:t>
                        </m:r>
                      </m:sub>
                    </m:sSub>
                  </m:oMath>
                </a14:m>
                <a:r>
                  <a:rPr kumimoji="1" lang="zh-CN" altLang="en-US" sz="2200" dirty="0">
                    <a:latin typeface="SimSun" panose="02010600030101010101" pitchFamily="2" charset="-122"/>
                    <a:ea typeface="SimSun" panose="02010600030101010101" pitchFamily="2" charset="-122"/>
                  </a:rPr>
                  <a:t>排序）</a:t>
                </a:r>
                <a14:m>
                  <m:oMath xmlns:m="http://schemas.openxmlformats.org/officeDocument/2006/math">
                    <m:r>
                      <a:rPr kumimoji="1" lang="en-US" altLang="zh-CN" sz="2200" i="1">
                        <a:latin typeface="Cambria Math" panose="02040503050406030204" pitchFamily="18" charset="0"/>
                      </a:rPr>
                      <m:t>+</m:t>
                    </m:r>
                    <m:r>
                      <a:rPr kumimoji="1" lang="en-US" altLang="zh-CN" sz="2200" i="1">
                        <a:latin typeface="Cambria Math" panose="02040503050406030204" pitchFamily="18" charset="0"/>
                      </a:rPr>
                      <m:t>𝑀</m:t>
                    </m:r>
                    <m:r>
                      <a:rPr kumimoji="1" lang="en-US" altLang="zh-CN" sz="2200" i="1">
                        <a:latin typeface="Cambria Math" panose="02040503050406030204" pitchFamily="18" charset="0"/>
                      </a:rPr>
                      <m:t>∗</m:t>
                    </m:r>
                    <m:func>
                      <m:funcPr>
                        <m:ctrlPr>
                          <a:rPr kumimoji="1" lang="en-US" altLang="zh-CN" sz="2200" i="1">
                            <a:latin typeface="Cambria Math" panose="02040503050406030204" pitchFamily="18" charset="0"/>
                          </a:rPr>
                        </m:ctrlPr>
                      </m:funcPr>
                      <m:fName>
                        <m:r>
                          <m:rPr>
                            <m:sty m:val="p"/>
                          </m:rPr>
                          <a:rPr kumimoji="1" lang="en-US" altLang="zh-CN" sz="2200">
                            <a:latin typeface="Cambria Math" panose="02040503050406030204" pitchFamily="18" charset="0"/>
                          </a:rPr>
                          <m:t>log</m:t>
                        </m:r>
                      </m:fName>
                      <m:e>
                        <m:r>
                          <a:rPr kumimoji="1" lang="en-US" altLang="zh-CN" sz="2200" i="1">
                            <a:latin typeface="Cambria Math" panose="02040503050406030204" pitchFamily="18" charset="0"/>
                          </a:rPr>
                          <m:t>𝑁</m:t>
                        </m:r>
                      </m:e>
                    </m:func>
                  </m:oMath>
                </a14:m>
                <a:r>
                  <a:rPr kumimoji="1" lang="zh-CN" altLang="en-US" sz="2200" dirty="0">
                    <a:latin typeface="SimSun" panose="02010600030101010101" pitchFamily="2" charset="-122"/>
                    <a:ea typeface="SimSun" panose="02010600030101010101" pitchFamily="2" charset="-122"/>
                  </a:rPr>
                  <a:t>（二分查找），即</a:t>
                </a:r>
                <a14:m>
                  <m:oMath xmlns:m="http://schemas.openxmlformats.org/officeDocument/2006/math">
                    <m:r>
                      <a:rPr kumimoji="1" lang="en-US" altLang="zh-CN" sz="2200" i="1">
                        <a:latin typeface="Cambria Math" panose="02040503050406030204" pitchFamily="18" charset="0"/>
                      </a:rPr>
                      <m:t>𝑂</m:t>
                    </m:r>
                    <m:r>
                      <a:rPr kumimoji="1" lang="en-US" altLang="zh-CN" sz="2200" i="1">
                        <a:latin typeface="Cambria Math" panose="02040503050406030204" pitchFamily="18" charset="0"/>
                      </a:rPr>
                      <m:t>(</m:t>
                    </m:r>
                    <m:r>
                      <a:rPr kumimoji="1" lang="en-US" altLang="zh-CN" sz="2200" i="1">
                        <a:latin typeface="Cambria Math" panose="02040503050406030204" pitchFamily="18" charset="0"/>
                      </a:rPr>
                      <m:t>𝑁</m:t>
                    </m:r>
                    <m:func>
                      <m:funcPr>
                        <m:ctrlPr>
                          <a:rPr kumimoji="1" lang="en-US" altLang="zh-CN" sz="2200" i="1">
                            <a:latin typeface="Cambria Math" panose="02040503050406030204" pitchFamily="18" charset="0"/>
                          </a:rPr>
                        </m:ctrlPr>
                      </m:funcPr>
                      <m:fName>
                        <m:r>
                          <m:rPr>
                            <m:sty m:val="p"/>
                          </m:rPr>
                          <a:rPr kumimoji="1" lang="en-US" altLang="zh-CN" sz="2200">
                            <a:latin typeface="Cambria Math" panose="02040503050406030204" pitchFamily="18" charset="0"/>
                          </a:rPr>
                          <m:t>log</m:t>
                        </m:r>
                      </m:fName>
                      <m:e>
                        <m:r>
                          <a:rPr kumimoji="1" lang="en-US" altLang="zh-CN" sz="2200" i="1">
                            <a:latin typeface="Cambria Math" panose="02040503050406030204" pitchFamily="18" charset="0"/>
                          </a:rPr>
                          <m:t>𝑁</m:t>
                        </m:r>
                      </m:e>
                    </m:func>
                    <m:r>
                      <a:rPr kumimoji="1" lang="en-US" altLang="zh-CN" sz="2200" i="1">
                        <a:latin typeface="Cambria Math" panose="02040503050406030204" pitchFamily="18" charset="0"/>
                      </a:rPr>
                      <m:t>)</m:t>
                    </m:r>
                  </m:oMath>
                </a14:m>
                <a:r>
                  <a:rPr kumimoji="1" lang="zh-CN" altLang="en-US" sz="2200" dirty="0">
                    <a:latin typeface="SimSun" panose="02010600030101010101" pitchFamily="2" charset="-122"/>
                    <a:ea typeface="SimSun" panose="02010600030101010101" pitchFamily="2" charset="-122"/>
                  </a:rPr>
                  <a:t>。</a:t>
                </a:r>
                <a:endParaRPr kumimoji="1" lang="en-US" altLang="zh-CN" sz="2200" dirty="0">
                  <a:latin typeface="SimSun" panose="02010600030101010101" pitchFamily="2" charset="-122"/>
                  <a:ea typeface="SimSun" panose="02010600030101010101" pitchFamily="2" charset="-122"/>
                </a:endParaRPr>
              </a:p>
              <a:p>
                <a:r>
                  <a:rPr kumimoji="1" lang="zh-CN" altLang="en-US" sz="2200" dirty="0">
                    <a:latin typeface="SimSun" panose="02010600030101010101" pitchFamily="2" charset="-122"/>
                    <a:ea typeface="SimSun" panose="02010600030101010101" pitchFamily="2" charset="-122"/>
                  </a:rPr>
                  <a:t>算法</a:t>
                </a:r>
                <a:r>
                  <a:rPr kumimoji="1" lang="en-US" altLang="zh-CN" sz="2200" dirty="0">
                    <a:latin typeface="SimSun" panose="02010600030101010101" pitchFamily="2" charset="-122"/>
                    <a:ea typeface="SimSun" panose="02010600030101010101" pitchFamily="2" charset="-122"/>
                  </a:rPr>
                  <a:t>(2)</a:t>
                </a:r>
                <a:r>
                  <a:rPr kumimoji="1" lang="zh-CN" altLang="en-US" sz="2200" dirty="0">
                    <a:latin typeface="SimSun" panose="02010600030101010101" pitchFamily="2" charset="-122"/>
                    <a:ea typeface="SimSun" panose="02010600030101010101" pitchFamily="2" charset="-122"/>
                  </a:rPr>
                  <a:t>：对</a:t>
                </a:r>
                <a14:m>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𝑆</m:t>
                        </m:r>
                      </m:e>
                      <m:sub>
                        <m:r>
                          <a:rPr kumimoji="1" lang="en-US" altLang="zh-CN" sz="2200" i="1">
                            <a:latin typeface="Cambria Math" panose="02040503050406030204" pitchFamily="18" charset="0"/>
                          </a:rPr>
                          <m:t>1</m:t>
                        </m:r>
                      </m:sub>
                    </m:sSub>
                  </m:oMath>
                </a14:m>
                <a:r>
                  <a:rPr kumimoji="1" lang="zh-CN" altLang="en-US" sz="2200" dirty="0">
                    <a:latin typeface="SimSun" panose="02010600030101010101" pitchFamily="2" charset="-122"/>
                    <a:ea typeface="SimSun" panose="02010600030101010101" pitchFamily="2" charset="-122"/>
                  </a:rPr>
                  <a:t>、</a:t>
                </a:r>
                <a14:m>
                  <m:oMath xmlns:m="http://schemas.openxmlformats.org/officeDocument/2006/math">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2</m:t>
                        </m:r>
                      </m:sub>
                    </m:sSub>
                  </m:oMath>
                </a14:m>
                <a:r>
                  <a:rPr kumimoji="1" lang="zh-CN" altLang="en-US" sz="2200" dirty="0">
                    <a:latin typeface="SimSun" panose="02010600030101010101" pitchFamily="2" charset="-122"/>
                    <a:ea typeface="SimSun" panose="02010600030101010101" pitchFamily="2" charset="-122"/>
                  </a:rPr>
                  <a:t>分别排序，然后遍历</a:t>
                </a:r>
                <a14:m>
                  <m:oMath xmlns:m="http://schemas.openxmlformats.org/officeDocument/2006/math">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2</m:t>
                        </m:r>
                      </m:sub>
                    </m:sSub>
                    <m:r>
                      <a:rPr kumimoji="1" lang="en-US" altLang="zh-CN" sz="2200" i="1" dirty="0">
                        <a:latin typeface="Cambria Math" panose="02040503050406030204" pitchFamily="18" charset="0"/>
                      </a:rPr>
                      <m:t> </m:t>
                    </m:r>
                  </m:oMath>
                </a14:m>
                <a:r>
                  <a:rPr kumimoji="1" lang="zh-CN" altLang="en-US" sz="2200" dirty="0">
                    <a:latin typeface="SimSun" panose="02010600030101010101" pitchFamily="2" charset="-122"/>
                    <a:ea typeface="SimSun" panose="02010600030101010101" pitchFamily="2" charset="-122"/>
                  </a:rPr>
                  <a:t>，对于</a:t>
                </a:r>
                <a14:m>
                  <m:oMath xmlns:m="http://schemas.openxmlformats.org/officeDocument/2006/math">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2</m:t>
                        </m:r>
                      </m:sub>
                    </m:sSub>
                  </m:oMath>
                </a14:m>
                <a:r>
                  <a:rPr kumimoji="1" lang="zh-CN" altLang="en-US" sz="2200" dirty="0">
                    <a:latin typeface="SimSun" panose="02010600030101010101" pitchFamily="2" charset="-122"/>
                    <a:ea typeface="SimSun" panose="02010600030101010101" pitchFamily="2" charset="-122"/>
                  </a:rPr>
                  <a:t>的每一个元素</a:t>
                </a:r>
                <a14:m>
                  <m:oMath xmlns:m="http://schemas.openxmlformats.org/officeDocument/2006/math">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2</m:t>
                        </m:r>
                      </m:sub>
                    </m:sSub>
                    <m:r>
                      <a:rPr kumimoji="1" lang="en-US" altLang="zh-CN" sz="2200" i="1" dirty="0">
                        <a:latin typeface="Cambria Math" panose="02040503050406030204" pitchFamily="18" charset="0"/>
                      </a:rPr>
                      <m:t>[</m:t>
                    </m:r>
                    <m:r>
                      <a:rPr kumimoji="1" lang="en-US" altLang="zh-CN" sz="2200" i="1" dirty="0">
                        <a:latin typeface="Cambria Math" panose="02040503050406030204" pitchFamily="18" charset="0"/>
                      </a:rPr>
                      <m:t>𝑖</m:t>
                    </m:r>
                    <m:r>
                      <a:rPr kumimoji="1" lang="en-US" altLang="zh-CN" sz="2200" i="1" dirty="0">
                        <a:latin typeface="Cambria Math" panose="02040503050406030204" pitchFamily="18" charset="0"/>
                      </a:rPr>
                      <m:t>] </m:t>
                    </m:r>
                  </m:oMath>
                </a14:m>
                <a:r>
                  <a:rPr kumimoji="1" lang="zh-CN" altLang="en-US" sz="2200" dirty="0">
                    <a:latin typeface="SimSun" panose="02010600030101010101" pitchFamily="2" charset="-122"/>
                    <a:ea typeface="SimSun" panose="02010600030101010101" pitchFamily="2" charset="-122"/>
                  </a:rPr>
                  <a:t>，在</a:t>
                </a:r>
                <a14:m>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𝑆</m:t>
                        </m:r>
                      </m:e>
                      <m:sub>
                        <m:r>
                          <a:rPr kumimoji="1" lang="en-US" altLang="zh-CN" sz="2200" i="1">
                            <a:latin typeface="Cambria Math" panose="02040503050406030204" pitchFamily="18" charset="0"/>
                          </a:rPr>
                          <m:t>1</m:t>
                        </m:r>
                      </m:sub>
                    </m:sSub>
                  </m:oMath>
                </a14:m>
                <a:r>
                  <a:rPr kumimoji="1" lang="zh-CN" altLang="en-US" sz="2200" dirty="0">
                    <a:latin typeface="SimSun" panose="02010600030101010101" pitchFamily="2" charset="-122"/>
                    <a:ea typeface="SimSun" panose="02010600030101010101" pitchFamily="2" charset="-122"/>
                  </a:rPr>
                  <a:t>中使用二分查找来找到大于等于</a:t>
                </a:r>
                <a14:m>
                  <m:oMath xmlns:m="http://schemas.openxmlformats.org/officeDocument/2006/math">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2</m:t>
                        </m:r>
                      </m:sub>
                    </m:sSub>
                    <m:r>
                      <a:rPr kumimoji="1" lang="en-US" altLang="zh-CN" sz="2200" i="1" dirty="0">
                        <a:latin typeface="Cambria Math" panose="02040503050406030204" pitchFamily="18" charset="0"/>
                      </a:rPr>
                      <m:t>[</m:t>
                    </m:r>
                    <m:r>
                      <a:rPr kumimoji="1" lang="en-US" altLang="zh-CN" sz="2200" i="1" dirty="0">
                        <a:latin typeface="Cambria Math" panose="02040503050406030204" pitchFamily="18" charset="0"/>
                      </a:rPr>
                      <m:t>𝑖</m:t>
                    </m:r>
                    <m:r>
                      <a:rPr kumimoji="1" lang="en-US" altLang="zh-CN" sz="2200" i="1" dirty="0">
                        <a:latin typeface="Cambria Math" panose="02040503050406030204" pitchFamily="18" charset="0"/>
                      </a:rPr>
                      <m:t>]</m:t>
                    </m:r>
                  </m:oMath>
                </a14:m>
                <a:r>
                  <a:rPr kumimoji="1" lang="zh-CN" altLang="en-US" sz="2200" dirty="0">
                    <a:latin typeface="SimSun" panose="02010600030101010101" pitchFamily="2" charset="-122"/>
                    <a:ea typeface="SimSun" panose="02010600030101010101" pitchFamily="2" charset="-122"/>
                  </a:rPr>
                  <a:t>的第一个元素</a:t>
                </a:r>
                <a14:m>
                  <m:oMath xmlns:m="http://schemas.openxmlformats.org/officeDocument/2006/math">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1</m:t>
                        </m:r>
                      </m:sub>
                    </m:sSub>
                    <m:r>
                      <a:rPr kumimoji="1" lang="en-US" altLang="zh-CN" sz="2200" i="1" dirty="0">
                        <a:latin typeface="Cambria Math" panose="02040503050406030204" pitchFamily="18" charset="0"/>
                      </a:rPr>
                      <m:t>[</m:t>
                    </m:r>
                    <m:r>
                      <a:rPr kumimoji="1" lang="en-US" altLang="zh-CN" sz="2200" i="1" dirty="0">
                        <a:latin typeface="Cambria Math" panose="02040503050406030204" pitchFamily="18" charset="0"/>
                      </a:rPr>
                      <m:t>𝑗</m:t>
                    </m:r>
                    <m:r>
                      <a:rPr kumimoji="1" lang="en-US" altLang="zh-CN" sz="2200" i="1" dirty="0">
                        <a:latin typeface="Cambria Math" panose="02040503050406030204" pitchFamily="18" charset="0"/>
                      </a:rPr>
                      <m:t>] </m:t>
                    </m:r>
                  </m:oMath>
                </a14:m>
                <a:r>
                  <a:rPr kumimoji="1" lang="zh-CN" altLang="en-US" sz="2200" dirty="0">
                    <a:latin typeface="SimSun" panose="02010600030101010101" pitchFamily="2" charset="-122"/>
                    <a:ea typeface="SimSun" panose="02010600030101010101" pitchFamily="2" charset="-122"/>
                  </a:rPr>
                  <a:t>，若</a:t>
                </a:r>
                <a14:m>
                  <m:oMath xmlns:m="http://schemas.openxmlformats.org/officeDocument/2006/math">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2</m:t>
                        </m:r>
                      </m:sub>
                    </m:sSub>
                    <m:d>
                      <m:dPr>
                        <m:begChr m:val="["/>
                        <m:endChr m:val="]"/>
                        <m:ctrlPr>
                          <a:rPr kumimoji="1" lang="en-US" altLang="zh-CN" sz="2200" i="1" dirty="0">
                            <a:latin typeface="Cambria Math" panose="02040503050406030204" pitchFamily="18" charset="0"/>
                          </a:rPr>
                        </m:ctrlPr>
                      </m:dPr>
                      <m:e>
                        <m:r>
                          <a:rPr kumimoji="1" lang="en-US" altLang="zh-CN" sz="2200" i="1" dirty="0">
                            <a:latin typeface="Cambria Math" panose="02040503050406030204" pitchFamily="18" charset="0"/>
                          </a:rPr>
                          <m:t>𝑖</m:t>
                        </m:r>
                      </m:e>
                    </m:d>
                    <m:r>
                      <a:rPr kumimoji="1" lang="en-US" altLang="zh-CN" sz="2200" i="1" dirty="0">
                        <a:latin typeface="Cambria Math" panose="02040503050406030204" pitchFamily="18" charset="0"/>
                      </a:rPr>
                      <m:t>=</m:t>
                    </m:r>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1</m:t>
                        </m:r>
                      </m:sub>
                    </m:sSub>
                    <m:r>
                      <a:rPr kumimoji="1" lang="en-US" altLang="zh-CN" sz="2200" i="1" dirty="0">
                        <a:latin typeface="Cambria Math" panose="02040503050406030204" pitchFamily="18" charset="0"/>
                      </a:rPr>
                      <m:t>[</m:t>
                    </m:r>
                    <m:r>
                      <a:rPr kumimoji="1" lang="en-US" altLang="zh-CN" sz="2200" i="1" dirty="0">
                        <a:latin typeface="Cambria Math" panose="02040503050406030204" pitchFamily="18" charset="0"/>
                      </a:rPr>
                      <m:t>𝑗</m:t>
                    </m:r>
                    <m:r>
                      <a:rPr kumimoji="1" lang="en-US" altLang="zh-CN" sz="2200" i="1" dirty="0">
                        <a:latin typeface="Cambria Math" panose="02040503050406030204" pitchFamily="18" charset="0"/>
                      </a:rPr>
                      <m:t>]</m:t>
                    </m:r>
                  </m:oMath>
                </a14:m>
                <a:r>
                  <a:rPr kumimoji="1" lang="zh-CN" altLang="en-US" sz="2200" dirty="0">
                    <a:latin typeface="SimSun" panose="02010600030101010101" pitchFamily="2" charset="-122"/>
                    <a:ea typeface="SimSun" panose="02010600030101010101" pitchFamily="2" charset="-122"/>
                  </a:rPr>
                  <a:t>，则</a:t>
                </a:r>
                <a14:m>
                  <m:oMath xmlns:m="http://schemas.openxmlformats.org/officeDocument/2006/math">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2</m:t>
                        </m:r>
                      </m:sub>
                    </m:sSub>
                    <m:r>
                      <a:rPr kumimoji="1" lang="en-US" altLang="zh-CN" sz="2200" i="1" dirty="0">
                        <a:latin typeface="Cambria Math" panose="02040503050406030204" pitchFamily="18" charset="0"/>
                      </a:rPr>
                      <m:t>[</m:t>
                    </m:r>
                    <m:r>
                      <a:rPr kumimoji="1" lang="en-US" altLang="zh-CN" sz="2200" i="1" dirty="0">
                        <a:latin typeface="Cambria Math" panose="02040503050406030204" pitchFamily="18" charset="0"/>
                      </a:rPr>
                      <m:t>𝑖</m:t>
                    </m:r>
                    <m:r>
                      <a:rPr kumimoji="1" lang="en-US" altLang="zh-CN" sz="2200" i="1" dirty="0">
                        <a:latin typeface="Cambria Math" panose="02040503050406030204" pitchFamily="18" charset="0"/>
                      </a:rPr>
                      <m:t>]</m:t>
                    </m:r>
                  </m:oMath>
                </a14:m>
                <a:r>
                  <a:rPr kumimoji="1" lang="zh-CN" altLang="en-US" sz="2200" dirty="0">
                    <a:latin typeface="SimSun" panose="02010600030101010101" pitchFamily="2" charset="-122"/>
                    <a:ea typeface="SimSun" panose="02010600030101010101" pitchFamily="2" charset="-122"/>
                  </a:rPr>
                  <a:t>放入结果集合。由于</a:t>
                </a:r>
                <a14:m>
                  <m:oMath xmlns:m="http://schemas.openxmlformats.org/officeDocument/2006/math">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2</m:t>
                        </m:r>
                      </m:sub>
                    </m:sSub>
                  </m:oMath>
                </a14:m>
                <a:r>
                  <a:rPr kumimoji="1" lang="zh-CN" altLang="en-US" sz="2200" dirty="0">
                    <a:latin typeface="SimSun" panose="02010600030101010101" pitchFamily="2" charset="-122"/>
                    <a:ea typeface="SimSun" panose="02010600030101010101" pitchFamily="2" charset="-122"/>
                  </a:rPr>
                  <a:t>也已排好序，下一次二分查找的初始下界为</a:t>
                </a:r>
                <a14:m>
                  <m:oMath xmlns:m="http://schemas.openxmlformats.org/officeDocument/2006/math">
                    <m:r>
                      <a:rPr kumimoji="1" lang="en-US" altLang="zh-CN" sz="2200" i="1">
                        <a:latin typeface="Cambria Math" panose="02040503050406030204" pitchFamily="18" charset="0"/>
                      </a:rPr>
                      <m:t>𝑗</m:t>
                    </m:r>
                    <m:r>
                      <a:rPr kumimoji="1" lang="en-US" altLang="zh-CN" sz="2200" i="1">
                        <a:latin typeface="Cambria Math" panose="02040503050406030204" pitchFamily="18" charset="0"/>
                      </a:rPr>
                      <m:t>+1</m:t>
                    </m:r>
                  </m:oMath>
                </a14:m>
                <a:r>
                  <a:rPr kumimoji="1" lang="zh-CN" altLang="en-US" sz="2200" dirty="0">
                    <a:latin typeface="SimSun" panose="02010600030101010101" pitchFamily="2" charset="-122"/>
                    <a:ea typeface="SimSun" panose="02010600030101010101" pitchFamily="2" charset="-122"/>
                  </a:rPr>
                  <a:t>。时间复杂度分析与算法</a:t>
                </a:r>
                <a:r>
                  <a:rPr kumimoji="1" lang="en-US" altLang="zh-CN" sz="2200" dirty="0">
                    <a:latin typeface="SimSun" panose="02010600030101010101" pitchFamily="2" charset="-122"/>
                    <a:ea typeface="SimSun" panose="02010600030101010101" pitchFamily="2" charset="-122"/>
                  </a:rPr>
                  <a:t>(1)</a:t>
                </a:r>
                <a:r>
                  <a:rPr kumimoji="1" lang="zh-CN" altLang="en-US" sz="2200" dirty="0">
                    <a:latin typeface="SimSun" panose="02010600030101010101" pitchFamily="2" charset="-122"/>
                    <a:ea typeface="SimSun" panose="02010600030101010101" pitchFamily="2" charset="-122"/>
                  </a:rPr>
                  <a:t>类似。</a:t>
                </a:r>
                <a:endParaRPr kumimoji="1" lang="en-US" altLang="zh-CN" sz="2200" dirty="0">
                  <a:latin typeface="SimSun" panose="02010600030101010101" pitchFamily="2" charset="-122"/>
                  <a:ea typeface="SimSun" panose="02010600030101010101" pitchFamily="2" charset="-122"/>
                </a:endParaRPr>
              </a:p>
              <a:p>
                <a:r>
                  <a:rPr kumimoji="1" lang="zh-CN" altLang="en-US" sz="2200" dirty="0">
                    <a:latin typeface="SimSun" panose="02010600030101010101" pitchFamily="2" charset="-122"/>
                    <a:ea typeface="SimSun" panose="02010600030101010101" pitchFamily="2" charset="-122"/>
                  </a:rPr>
                  <a:t>算法</a:t>
                </a:r>
                <a:r>
                  <a:rPr kumimoji="1" lang="en-US" altLang="zh-CN" sz="2200" dirty="0">
                    <a:latin typeface="SimSun" panose="02010600030101010101" pitchFamily="2" charset="-122"/>
                    <a:ea typeface="SimSun" panose="02010600030101010101" pitchFamily="2" charset="-122"/>
                  </a:rPr>
                  <a:t>(3)</a:t>
                </a:r>
                <a:r>
                  <a:rPr kumimoji="1" lang="zh-CN" altLang="en-US" sz="2200" dirty="0">
                    <a:latin typeface="SimSun" panose="02010600030101010101" pitchFamily="2" charset="-122"/>
                    <a:ea typeface="SimSun" panose="02010600030101010101" pitchFamily="2" charset="-122"/>
                  </a:rPr>
                  <a:t>：对</a:t>
                </a:r>
                <a14:m>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𝑆</m:t>
                        </m:r>
                      </m:e>
                      <m:sub>
                        <m:r>
                          <a:rPr kumimoji="1" lang="en-US" altLang="zh-CN" sz="2200" i="1">
                            <a:latin typeface="Cambria Math" panose="02040503050406030204" pitchFamily="18" charset="0"/>
                          </a:rPr>
                          <m:t>1</m:t>
                        </m:r>
                      </m:sub>
                    </m:sSub>
                  </m:oMath>
                </a14:m>
                <a:r>
                  <a:rPr kumimoji="1" lang="zh-CN" altLang="en-US" sz="2200" dirty="0">
                    <a:latin typeface="SimSun" panose="02010600030101010101" pitchFamily="2" charset="-122"/>
                    <a:ea typeface="SimSun" panose="02010600030101010101" pitchFamily="2" charset="-122"/>
                  </a:rPr>
                  <a:t>、</a:t>
                </a:r>
                <a14:m>
                  <m:oMath xmlns:m="http://schemas.openxmlformats.org/officeDocument/2006/math">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2</m:t>
                        </m:r>
                      </m:sub>
                    </m:sSub>
                  </m:oMath>
                </a14:m>
                <a:r>
                  <a:rPr kumimoji="1" lang="zh-CN" altLang="en-US" sz="2200" dirty="0">
                    <a:latin typeface="SimSun" panose="02010600030101010101" pitchFamily="2" charset="-122"/>
                    <a:ea typeface="SimSun" panose="02010600030101010101" pitchFamily="2" charset="-122"/>
                  </a:rPr>
                  <a:t>分别排序，然后使用归并排序的思路求</a:t>
                </a:r>
                <a14:m>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𝑆</m:t>
                        </m:r>
                      </m:e>
                      <m:sub>
                        <m:r>
                          <a:rPr kumimoji="1" lang="en-US" altLang="zh-CN" sz="2200" i="1">
                            <a:latin typeface="Cambria Math" panose="02040503050406030204" pitchFamily="18" charset="0"/>
                          </a:rPr>
                          <m:t>1</m:t>
                        </m:r>
                      </m:sub>
                    </m:sSub>
                  </m:oMath>
                </a14:m>
                <a:r>
                  <a:rPr kumimoji="1" lang="zh-CN" altLang="en-US" sz="2200" dirty="0">
                    <a:latin typeface="SimSun" panose="02010600030101010101" pitchFamily="2" charset="-122"/>
                    <a:ea typeface="SimSun" panose="02010600030101010101" pitchFamily="2" charset="-122"/>
                  </a:rPr>
                  <a:t>、</a:t>
                </a:r>
                <a14:m>
                  <m:oMath xmlns:m="http://schemas.openxmlformats.org/officeDocument/2006/math">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2</m:t>
                        </m:r>
                      </m:sub>
                    </m:sSub>
                  </m:oMath>
                </a14:m>
                <a:r>
                  <a:rPr kumimoji="1" lang="zh-CN" altLang="en-US" sz="2200" dirty="0">
                    <a:latin typeface="SimSun" panose="02010600030101010101" pitchFamily="2" charset="-122"/>
                    <a:ea typeface="SimSun" panose="02010600030101010101" pitchFamily="2" charset="-122"/>
                  </a:rPr>
                  <a:t>的交集。时间复杂度分析：</a:t>
                </a:r>
                <a14:m>
                  <m:oMath xmlns:m="http://schemas.openxmlformats.org/officeDocument/2006/math">
                    <m:r>
                      <a:rPr kumimoji="1" lang="en-US" altLang="zh-CN" sz="2200" i="1">
                        <a:latin typeface="Cambria Math" panose="02040503050406030204" pitchFamily="18" charset="0"/>
                      </a:rPr>
                      <m:t>𝑁</m:t>
                    </m:r>
                    <m:func>
                      <m:funcPr>
                        <m:ctrlPr>
                          <a:rPr kumimoji="1" lang="en-US" altLang="zh-CN" sz="2200" i="1">
                            <a:latin typeface="Cambria Math" panose="02040503050406030204" pitchFamily="18" charset="0"/>
                          </a:rPr>
                        </m:ctrlPr>
                      </m:funcPr>
                      <m:fName>
                        <m:r>
                          <m:rPr>
                            <m:sty m:val="p"/>
                          </m:rPr>
                          <a:rPr kumimoji="1" lang="en-US" altLang="zh-CN" sz="2200">
                            <a:latin typeface="Cambria Math" panose="02040503050406030204" pitchFamily="18" charset="0"/>
                          </a:rPr>
                          <m:t>log</m:t>
                        </m:r>
                      </m:fName>
                      <m:e>
                        <m:r>
                          <a:rPr kumimoji="1" lang="en-US" altLang="zh-CN" sz="2200" i="1">
                            <a:latin typeface="Cambria Math" panose="02040503050406030204" pitchFamily="18" charset="0"/>
                          </a:rPr>
                          <m:t>𝑁</m:t>
                        </m:r>
                      </m:e>
                    </m:func>
                  </m:oMath>
                </a14:m>
                <a:r>
                  <a:rPr kumimoji="1" lang="zh-CN" altLang="en-US" sz="2200" dirty="0">
                    <a:latin typeface="SimSun" panose="02010600030101010101" pitchFamily="2" charset="-122"/>
                    <a:ea typeface="SimSun" panose="02010600030101010101" pitchFamily="2" charset="-122"/>
                  </a:rPr>
                  <a:t>（对</a:t>
                </a:r>
                <a14:m>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𝑆</m:t>
                        </m:r>
                      </m:e>
                      <m:sub>
                        <m:r>
                          <a:rPr kumimoji="1" lang="en-US" altLang="zh-CN" sz="2200" i="1">
                            <a:latin typeface="Cambria Math" panose="02040503050406030204" pitchFamily="18" charset="0"/>
                          </a:rPr>
                          <m:t>1</m:t>
                        </m:r>
                      </m:sub>
                    </m:sSub>
                  </m:oMath>
                </a14:m>
                <a:r>
                  <a:rPr kumimoji="1" lang="zh-CN" altLang="en-US" sz="2200" dirty="0">
                    <a:latin typeface="SimSun" panose="02010600030101010101" pitchFamily="2" charset="-122"/>
                    <a:ea typeface="SimSun" panose="02010600030101010101" pitchFamily="2" charset="-122"/>
                  </a:rPr>
                  <a:t>排序）</a:t>
                </a:r>
                <a14:m>
                  <m:oMath xmlns:m="http://schemas.openxmlformats.org/officeDocument/2006/math">
                    <m:r>
                      <a:rPr kumimoji="1" lang="en-US" altLang="zh-CN" sz="2200" i="1">
                        <a:latin typeface="Cambria Math" panose="02040503050406030204" pitchFamily="18" charset="0"/>
                      </a:rPr>
                      <m:t>+</m:t>
                    </m:r>
                    <m:r>
                      <a:rPr kumimoji="1" lang="en-US" altLang="zh-CN" sz="2200" i="1">
                        <a:latin typeface="Cambria Math" panose="02040503050406030204" pitchFamily="18" charset="0"/>
                      </a:rPr>
                      <m:t>𝑀</m:t>
                    </m:r>
                    <m:func>
                      <m:funcPr>
                        <m:ctrlPr>
                          <a:rPr kumimoji="1" lang="en-US" altLang="zh-CN" sz="2200" i="1">
                            <a:latin typeface="Cambria Math" panose="02040503050406030204" pitchFamily="18" charset="0"/>
                          </a:rPr>
                        </m:ctrlPr>
                      </m:funcPr>
                      <m:fName>
                        <m:r>
                          <m:rPr>
                            <m:sty m:val="p"/>
                          </m:rPr>
                          <a:rPr kumimoji="1" lang="en-US" altLang="zh-CN" sz="2200">
                            <a:latin typeface="Cambria Math" panose="02040503050406030204" pitchFamily="18" charset="0"/>
                          </a:rPr>
                          <m:t>log</m:t>
                        </m:r>
                      </m:fName>
                      <m:e>
                        <m:r>
                          <a:rPr kumimoji="1" lang="en-US" altLang="zh-CN" sz="2200" i="1">
                            <a:latin typeface="Cambria Math" panose="02040503050406030204" pitchFamily="18" charset="0"/>
                          </a:rPr>
                          <m:t>𝑀</m:t>
                        </m:r>
                      </m:e>
                    </m:func>
                  </m:oMath>
                </a14:m>
                <a:r>
                  <a:rPr kumimoji="1" lang="zh-CN" altLang="en-US" sz="2200" dirty="0">
                    <a:latin typeface="SimSun" panose="02010600030101010101" pitchFamily="2" charset="-122"/>
                    <a:ea typeface="SimSun" panose="02010600030101010101" pitchFamily="2" charset="-122"/>
                  </a:rPr>
                  <a:t>（对</a:t>
                </a:r>
                <a14:m>
                  <m:oMath xmlns:m="http://schemas.openxmlformats.org/officeDocument/2006/math">
                    <m:sSub>
                      <m:sSubPr>
                        <m:ctrlPr>
                          <a:rPr kumimoji="1" lang="en-US" altLang="zh-CN" sz="2200" i="1" dirty="0">
                            <a:latin typeface="Cambria Math" panose="02040503050406030204" pitchFamily="18" charset="0"/>
                          </a:rPr>
                        </m:ctrlPr>
                      </m:sSubPr>
                      <m:e>
                        <m:r>
                          <a:rPr kumimoji="1" lang="en-US" altLang="zh-CN" sz="2200" i="1" dirty="0">
                            <a:latin typeface="Cambria Math" panose="02040503050406030204" pitchFamily="18" charset="0"/>
                          </a:rPr>
                          <m:t>𝑆</m:t>
                        </m:r>
                      </m:e>
                      <m:sub>
                        <m:r>
                          <a:rPr kumimoji="1" lang="en-US" altLang="zh-CN" sz="2200" i="1" dirty="0">
                            <a:latin typeface="Cambria Math" panose="02040503050406030204" pitchFamily="18" charset="0"/>
                          </a:rPr>
                          <m:t>2</m:t>
                        </m:r>
                      </m:sub>
                    </m:sSub>
                  </m:oMath>
                </a14:m>
                <a:r>
                  <a:rPr kumimoji="1" lang="zh-CN" altLang="en-US" sz="2200" dirty="0">
                    <a:latin typeface="SimSun" panose="02010600030101010101" pitchFamily="2" charset="-122"/>
                    <a:ea typeface="SimSun" panose="02010600030101010101" pitchFamily="2" charset="-122"/>
                  </a:rPr>
                  <a:t>排序）</a:t>
                </a:r>
                <a14:m>
                  <m:oMath xmlns:m="http://schemas.openxmlformats.org/officeDocument/2006/math">
                    <m:r>
                      <a:rPr kumimoji="1" lang="en-US" altLang="zh-CN" sz="2200" i="1">
                        <a:latin typeface="Cambria Math" panose="02040503050406030204" pitchFamily="18" charset="0"/>
                      </a:rPr>
                      <m:t>+</m:t>
                    </m:r>
                    <m:r>
                      <a:rPr kumimoji="1" lang="en-US" altLang="zh-CN" sz="2200" i="1">
                        <a:latin typeface="Cambria Math" panose="02040503050406030204" pitchFamily="18" charset="0"/>
                      </a:rPr>
                      <m:t>𝑁</m:t>
                    </m:r>
                    <m:r>
                      <a:rPr kumimoji="1" lang="en-US" altLang="zh-CN" sz="2200" i="1">
                        <a:latin typeface="Cambria Math" panose="02040503050406030204" pitchFamily="18" charset="0"/>
                      </a:rPr>
                      <m:t>+</m:t>
                    </m:r>
                    <m:r>
                      <a:rPr kumimoji="1" lang="en-US" altLang="zh-CN" sz="2200" i="1">
                        <a:latin typeface="Cambria Math" panose="02040503050406030204" pitchFamily="18" charset="0"/>
                      </a:rPr>
                      <m:t>𝑀</m:t>
                    </m:r>
                  </m:oMath>
                </a14:m>
                <a:r>
                  <a:rPr kumimoji="1" lang="zh-CN" altLang="en-US" sz="2200" dirty="0">
                    <a:latin typeface="SimSun" panose="02010600030101010101" pitchFamily="2" charset="-122"/>
                    <a:ea typeface="SimSun" panose="02010600030101010101" pitchFamily="2" charset="-122"/>
                  </a:rPr>
                  <a:t>（归并），即</a:t>
                </a:r>
                <a14:m>
                  <m:oMath xmlns:m="http://schemas.openxmlformats.org/officeDocument/2006/math">
                    <m:r>
                      <a:rPr kumimoji="1" lang="en-US" altLang="zh-CN" sz="2200" i="1">
                        <a:latin typeface="Cambria Math" panose="02040503050406030204" pitchFamily="18" charset="0"/>
                      </a:rPr>
                      <m:t>𝑂</m:t>
                    </m:r>
                    <m:r>
                      <a:rPr kumimoji="1" lang="en-US" altLang="zh-CN" sz="2200" i="1">
                        <a:latin typeface="Cambria Math" panose="02040503050406030204" pitchFamily="18" charset="0"/>
                      </a:rPr>
                      <m:t>(</m:t>
                    </m:r>
                    <m:r>
                      <a:rPr kumimoji="1" lang="en-US" altLang="zh-CN" sz="2200" i="1">
                        <a:latin typeface="Cambria Math" panose="02040503050406030204" pitchFamily="18" charset="0"/>
                      </a:rPr>
                      <m:t>𝑁</m:t>
                    </m:r>
                    <m:func>
                      <m:funcPr>
                        <m:ctrlPr>
                          <a:rPr kumimoji="1" lang="en-US" altLang="zh-CN" sz="2200" i="1">
                            <a:latin typeface="Cambria Math" panose="02040503050406030204" pitchFamily="18" charset="0"/>
                          </a:rPr>
                        </m:ctrlPr>
                      </m:funcPr>
                      <m:fName>
                        <m:r>
                          <m:rPr>
                            <m:sty m:val="p"/>
                          </m:rPr>
                          <a:rPr kumimoji="1" lang="en-US" altLang="zh-CN" sz="2200">
                            <a:latin typeface="Cambria Math" panose="02040503050406030204" pitchFamily="18" charset="0"/>
                          </a:rPr>
                          <m:t>log</m:t>
                        </m:r>
                      </m:fName>
                      <m:e>
                        <m:r>
                          <a:rPr kumimoji="1" lang="en-US" altLang="zh-CN" sz="2200" i="1">
                            <a:latin typeface="Cambria Math" panose="02040503050406030204" pitchFamily="18" charset="0"/>
                          </a:rPr>
                          <m:t>𝑁</m:t>
                        </m:r>
                      </m:e>
                    </m:func>
                    <m:r>
                      <a:rPr kumimoji="1" lang="en-US" altLang="zh-CN" sz="2200" i="1">
                        <a:latin typeface="Cambria Math" panose="02040503050406030204" pitchFamily="18" charset="0"/>
                      </a:rPr>
                      <m:t>) </m:t>
                    </m:r>
                  </m:oMath>
                </a14:m>
                <a:r>
                  <a:rPr kumimoji="1" lang="zh-CN" altLang="en-US" sz="2200" dirty="0">
                    <a:latin typeface="SimSun" panose="02010600030101010101" pitchFamily="2" charset="-122"/>
                    <a:ea typeface="SimSun" panose="02010600030101010101" pitchFamily="2" charset="-122"/>
                  </a:rPr>
                  <a:t>。</a:t>
                </a:r>
                <a:endParaRPr kumimoji="1" lang="en-US" altLang="zh-CN" sz="2200" dirty="0">
                  <a:latin typeface="SimSun" panose="02010600030101010101" pitchFamily="2" charset="-122"/>
                  <a:ea typeface="SimSun" panose="02010600030101010101" pitchFamily="2" charset="-122"/>
                </a:endParaRPr>
              </a:p>
            </p:txBody>
          </p:sp>
        </mc:Choice>
        <mc:Fallback xmlns="">
          <p:sp>
            <p:nvSpPr>
              <p:cNvPr id="6" name="矩形 5">
                <a:extLst>
                  <a:ext uri="{FF2B5EF4-FFF2-40B4-BE49-F238E27FC236}">
                    <a16:creationId xmlns:a16="http://schemas.microsoft.com/office/drawing/2014/main" id="{3C3F0337-28A5-4F58-B1B9-5F649DD54FE9}"/>
                  </a:ext>
                </a:extLst>
              </p:cNvPr>
              <p:cNvSpPr>
                <a:spLocks noRot="1" noChangeAspect="1" noMove="1" noResize="1" noEditPoints="1" noAdjustHandles="1" noChangeArrowheads="1" noChangeShapeType="1" noTextEdit="1"/>
              </p:cNvSpPr>
              <p:nvPr/>
            </p:nvSpPr>
            <p:spPr>
              <a:xfrm>
                <a:off x="1024646" y="1206681"/>
                <a:ext cx="10142708" cy="4493538"/>
              </a:xfrm>
              <a:prstGeom prst="rect">
                <a:avLst/>
              </a:prstGeom>
              <a:blipFill>
                <a:blip r:embed="rId3"/>
                <a:stretch>
                  <a:fillRect l="-750" t="-1412" r="-3500" b="-1977"/>
                </a:stretch>
              </a:blipFill>
            </p:spPr>
            <p:txBody>
              <a:bodyPr/>
              <a:lstStyle/>
              <a:p>
                <a:r>
                  <a:rPr lang="zh-CN" altLang="en-US">
                    <a:noFill/>
                  </a:rPr>
                  <a:t> </a:t>
                </a:r>
              </a:p>
            </p:txBody>
          </p:sp>
        </mc:Fallback>
      </mc:AlternateContent>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600821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8</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4875694"/>
              </a:xfrm>
              <a:prstGeom prst="rect">
                <a:avLst/>
              </a:prstGeom>
            </p:spPr>
            <p:txBody>
              <a:bodyPr wrap="square">
                <a:spAutoFit/>
              </a:bodyPr>
              <a:lstStyle/>
              <a:p>
                <a:pPr marL="514350" indent="-514350">
                  <a:buFont typeface="+mj-lt"/>
                  <a:buAutoNum type="arabicPeriod" startAt="3"/>
                </a:pPr>
                <a:r>
                  <a:rPr kumimoji="1" lang="zh-CN" altLang="en-US" sz="2200" dirty="0">
                    <a:latin typeface="SimSun" panose="02010600030101010101" pitchFamily="2" charset="-122"/>
                    <a:ea typeface="SimSun" panose="02010600030101010101" pitchFamily="2" charset="-122"/>
                  </a:rPr>
                  <a:t>将关键字序列</a:t>
                </a:r>
                <a:r>
                  <a:rPr kumimoji="1" lang="en-US" altLang="zh-CN" sz="2200" dirty="0">
                    <a:latin typeface="SimSun" panose="02010600030101010101" pitchFamily="2" charset="-122"/>
                    <a:ea typeface="SimSun" panose="02010600030101010101" pitchFamily="2" charset="-122"/>
                  </a:rPr>
                  <a:t>(9, 37, 21, 20, 3, 14, 5)</a:t>
                </a:r>
                <a:r>
                  <a:rPr kumimoji="1" lang="zh-CN" altLang="en-US" sz="2200" dirty="0">
                    <a:latin typeface="SimSun" panose="02010600030101010101" pitchFamily="2" charset="-122"/>
                    <a:ea typeface="SimSun" panose="02010600030101010101" pitchFamily="2" charset="-122"/>
                  </a:rPr>
                  <a:t>散列存储到散列表</a:t>
                </a:r>
                <a14:m>
                  <m:oMath xmlns:m="http://schemas.openxmlformats.org/officeDocument/2006/math">
                    <m:r>
                      <a:rPr kumimoji="1" lang="en-US" altLang="zh-CN" sz="2200" i="1">
                        <a:latin typeface="Cambria Math" panose="02040503050406030204" pitchFamily="18" charset="0"/>
                      </a:rPr>
                      <m:t>𝐻𝑇</m:t>
                    </m:r>
                    <m:r>
                      <a:rPr kumimoji="1" lang="en-US" altLang="zh-CN" sz="2200" i="1">
                        <a:latin typeface="Cambria Math" panose="02040503050406030204" pitchFamily="18" charset="0"/>
                      </a:rPr>
                      <m:t>[10]</m:t>
                    </m:r>
                  </m:oMath>
                </a14:m>
                <a:r>
                  <a:rPr kumimoji="1" lang="zh-CN" altLang="en-US" sz="2200" dirty="0">
                    <a:latin typeface="SimSun" panose="02010600030101010101" pitchFamily="2" charset="-122"/>
                    <a:ea typeface="SimSun" panose="02010600030101010101" pitchFamily="2" charset="-122"/>
                  </a:rPr>
                  <a:t>中，散列函数为：</a:t>
                </a:r>
                <a14:m>
                  <m:oMath xmlns:m="http://schemas.openxmlformats.org/officeDocument/2006/math">
                    <m:r>
                      <a:rPr kumimoji="1" lang="en-US" altLang="zh-CN" sz="2200" i="1">
                        <a:latin typeface="Cambria Math" panose="02040503050406030204" pitchFamily="18" charset="0"/>
                      </a:rPr>
                      <m:t>h</m:t>
                    </m:r>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𝑘𝑒𝑦</m:t>
                        </m:r>
                      </m:e>
                    </m:d>
                    <m:r>
                      <a:rPr kumimoji="1" lang="en-US" altLang="zh-CN" sz="2200" i="1">
                        <a:latin typeface="Cambria Math" panose="02040503050406030204" pitchFamily="18" charset="0"/>
                      </a:rPr>
                      <m:t>=</m:t>
                    </m:r>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𝑘𝑒𝑦</m:t>
                        </m:r>
                        <m:r>
                          <a:rPr kumimoji="1" lang="en-US" altLang="zh-CN" sz="2200" i="1">
                            <a:latin typeface="Cambria Math" panose="02040503050406030204" pitchFamily="18" charset="0"/>
                          </a:rPr>
                          <m:t>∗3</m:t>
                        </m:r>
                      </m:e>
                    </m:d>
                    <m:r>
                      <a:rPr kumimoji="1" lang="en-US" altLang="zh-CN" sz="2200" i="1">
                        <a:latin typeface="Cambria Math" panose="02040503050406030204" pitchFamily="18" charset="0"/>
                      </a:rPr>
                      <m:t>%7</m:t>
                    </m:r>
                  </m:oMath>
                </a14:m>
                <a:r>
                  <a:rPr kumimoji="1" lang="zh-CN" altLang="en-US" sz="2200" dirty="0">
                    <a:latin typeface="SimSun" panose="02010600030101010101" pitchFamily="2" charset="-122"/>
                    <a:ea typeface="SimSun" panose="02010600030101010101" pitchFamily="2" charset="-122"/>
                  </a:rPr>
                  <a:t>。对以下两种冲突处理方案，请分别画出所构造的散列表，并计算等概率情况下检索成功时的平均检索长度：</a:t>
                </a:r>
                <a:endParaRPr kumimoji="1" lang="en-US" altLang="zh-CN" sz="2200" dirty="0">
                  <a:latin typeface="SimSun" panose="02010600030101010101" pitchFamily="2" charset="-122"/>
                  <a:ea typeface="SimSun" panose="02010600030101010101" pitchFamily="2" charset="-122"/>
                </a:endParaRPr>
              </a:p>
              <a:p>
                <a:pPr lvl="1"/>
                <a:r>
                  <a:rPr kumimoji="1" lang="zh-CN" altLang="en-US" sz="2200" dirty="0">
                    <a:latin typeface="SimSun" panose="02010600030101010101" pitchFamily="2" charset="-122"/>
                    <a:ea typeface="SimSun" panose="02010600030101010101" pitchFamily="2" charset="-122"/>
                  </a:rPr>
                  <a:t>  </a:t>
                </a:r>
                <a:r>
                  <a:rPr kumimoji="1" lang="en-US" altLang="zh-CN" sz="2200" dirty="0">
                    <a:latin typeface="SimSun" panose="02010600030101010101" pitchFamily="2" charset="-122"/>
                    <a:ea typeface="SimSun" panose="02010600030101010101" pitchFamily="2" charset="-122"/>
                  </a:rPr>
                  <a:t>(1) </a:t>
                </a:r>
                <a:r>
                  <a:rPr kumimoji="1" lang="zh-CN" altLang="en-US" sz="2200" dirty="0">
                    <a:latin typeface="SimSun" panose="02010600030101010101" pitchFamily="2" charset="-122"/>
                    <a:ea typeface="SimSun" panose="02010600030101010101" pitchFamily="2" charset="-122"/>
                  </a:rPr>
                  <a:t>线性探查法；</a:t>
                </a:r>
                <a:endParaRPr kumimoji="1" lang="en-US" altLang="zh-CN" sz="2200" dirty="0">
                  <a:latin typeface="SimSun" panose="02010600030101010101" pitchFamily="2" charset="-122"/>
                  <a:ea typeface="SimSun" panose="02010600030101010101" pitchFamily="2" charset="-122"/>
                </a:endParaRPr>
              </a:p>
              <a:p>
                <a:pPr lvl="1"/>
                <a:r>
                  <a:rPr kumimoji="1" lang="zh-CN" altLang="en-US" sz="2200" dirty="0">
                    <a:latin typeface="SimSun" panose="02010600030101010101" pitchFamily="2" charset="-122"/>
                    <a:ea typeface="SimSun" panose="02010600030101010101" pitchFamily="2" charset="-122"/>
                  </a:rPr>
                  <a:t> </a:t>
                </a:r>
                <a:r>
                  <a:rPr kumimoji="1" lang="en-US" altLang="zh-CN" sz="2200" dirty="0">
                    <a:latin typeface="SimSun" panose="02010600030101010101" pitchFamily="2" charset="-122"/>
                    <a:ea typeface="SimSun" panose="02010600030101010101" pitchFamily="2" charset="-122"/>
                  </a:rPr>
                  <a:t> (2) </a:t>
                </a:r>
                <a:r>
                  <a:rPr kumimoji="1" lang="zh-CN" altLang="en-US" sz="2200" dirty="0">
                    <a:latin typeface="SimSun" panose="02010600030101010101" pitchFamily="2" charset="-122"/>
                    <a:ea typeface="SimSun" panose="02010600030101010101" pitchFamily="2" charset="-122"/>
                  </a:rPr>
                  <a:t>双散列法，散列函数为</a:t>
                </a:r>
                <a14:m>
                  <m:oMath xmlns:m="http://schemas.openxmlformats.org/officeDocument/2006/math">
                    <m:r>
                      <a:rPr kumimoji="1" lang="en-US" altLang="zh-CN" sz="2200" i="1">
                        <a:latin typeface="Cambria Math" panose="02040503050406030204" pitchFamily="18" charset="0"/>
                      </a:rPr>
                      <m:t>𝑟h</m:t>
                    </m:r>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𝑘𝑒𝑦</m:t>
                        </m:r>
                      </m:e>
                    </m:d>
                    <m:r>
                      <a:rPr kumimoji="1" lang="en-US" altLang="zh-CN" sz="2200" i="1">
                        <a:latin typeface="Cambria Math" panose="02040503050406030204" pitchFamily="18" charset="0"/>
                      </a:rPr>
                      <m:t>=</m:t>
                    </m:r>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𝑘𝑒𝑦</m:t>
                        </m:r>
                        <m:r>
                          <a:rPr kumimoji="1" lang="en-US" altLang="zh-CN" sz="2200" i="1">
                            <a:latin typeface="Cambria Math" panose="02040503050406030204" pitchFamily="18" charset="0"/>
                          </a:rPr>
                          <m:t>∗3</m:t>
                        </m:r>
                      </m:e>
                    </m:d>
                    <m:r>
                      <a:rPr kumimoji="1" lang="en-US" altLang="zh-CN" sz="2200" i="1">
                        <a:latin typeface="Cambria Math" panose="02040503050406030204" pitchFamily="18" charset="0"/>
                      </a:rPr>
                      <m:t>%5+1</m:t>
                    </m:r>
                  </m:oMath>
                </a14:m>
                <a:r>
                  <a:rPr kumimoji="1" lang="zh-CN" altLang="en-US" sz="2200" dirty="0">
                    <a:latin typeface="SimSun" panose="02010600030101010101" pitchFamily="2" charset="-122"/>
                    <a:ea typeface="SimSun" panose="02010600030101010101" pitchFamily="2" charset="-122"/>
                  </a:rPr>
                  <a:t>，寻找下一个空位的公式为</a:t>
                </a:r>
                <a14:m>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h</m:t>
                        </m:r>
                      </m:e>
                      <m:sub>
                        <m:r>
                          <a:rPr kumimoji="1" lang="en-US" altLang="zh-CN" sz="2200" i="1">
                            <a:latin typeface="Cambria Math" panose="02040503050406030204" pitchFamily="18" charset="0"/>
                          </a:rPr>
                          <m:t>𝑖</m:t>
                        </m:r>
                      </m:sub>
                    </m:sSub>
                    <m:r>
                      <a:rPr kumimoji="1" lang="en-US" altLang="zh-CN" sz="2200" i="1">
                        <a:latin typeface="Cambria Math" panose="02040503050406030204" pitchFamily="18" charset="0"/>
                      </a:rPr>
                      <m:t>=</m:t>
                    </m:r>
                    <m:d>
                      <m:dPr>
                        <m:ctrlPr>
                          <a:rPr kumimoji="1" lang="en-US" altLang="zh-CN" sz="2200" i="1">
                            <a:latin typeface="Cambria Math" panose="02040503050406030204" pitchFamily="18" charset="0"/>
                          </a:rPr>
                        </m:ctrlPr>
                      </m:dPr>
                      <m:e>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h</m:t>
                            </m:r>
                          </m:e>
                          <m:sub>
                            <m:r>
                              <a:rPr kumimoji="1" lang="en-US" altLang="zh-CN" sz="2200" i="1">
                                <a:latin typeface="Cambria Math" panose="02040503050406030204" pitchFamily="18" charset="0"/>
                              </a:rPr>
                              <m:t>𝑖</m:t>
                            </m:r>
                            <m:r>
                              <a:rPr kumimoji="1" lang="en-US" altLang="zh-CN" sz="2200" i="1">
                                <a:latin typeface="Cambria Math" panose="02040503050406030204" pitchFamily="18" charset="0"/>
                              </a:rPr>
                              <m:t>−1</m:t>
                            </m:r>
                          </m:sub>
                        </m:sSub>
                        <m:r>
                          <a:rPr kumimoji="1" lang="en-US" altLang="zh-CN" sz="2200" i="1">
                            <a:latin typeface="Cambria Math" panose="02040503050406030204" pitchFamily="18" charset="0"/>
                          </a:rPr>
                          <m:t>+</m:t>
                        </m:r>
                        <m:r>
                          <a:rPr kumimoji="1" lang="en-US" altLang="zh-CN" sz="2200" i="1">
                            <a:latin typeface="Cambria Math" panose="02040503050406030204" pitchFamily="18" charset="0"/>
                          </a:rPr>
                          <m:t>𝑟h</m:t>
                        </m:r>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𝑘𝑒𝑦</m:t>
                            </m:r>
                          </m:e>
                        </m:d>
                      </m:e>
                    </m:d>
                    <m:r>
                      <a:rPr kumimoji="1" lang="en-US" altLang="zh-CN" sz="2200" i="1">
                        <a:latin typeface="Cambria Math" panose="02040503050406030204" pitchFamily="18" charset="0"/>
                      </a:rPr>
                      <m:t>%10, </m:t>
                    </m:r>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h</m:t>
                        </m:r>
                      </m:e>
                      <m:sub>
                        <m:r>
                          <a:rPr kumimoji="1" lang="en-US" altLang="zh-CN" sz="2200" i="1">
                            <a:latin typeface="Cambria Math" panose="02040503050406030204" pitchFamily="18" charset="0"/>
                          </a:rPr>
                          <m:t>1</m:t>
                        </m:r>
                      </m:sub>
                    </m:sSub>
                    <m:r>
                      <a:rPr kumimoji="1" lang="en-US" altLang="zh-CN" sz="2200" i="1">
                        <a:latin typeface="Cambria Math" panose="02040503050406030204" pitchFamily="18" charset="0"/>
                      </a:rPr>
                      <m:t>=</m:t>
                    </m:r>
                    <m:r>
                      <a:rPr kumimoji="1" lang="en-US" altLang="zh-CN" sz="2200" i="1">
                        <a:latin typeface="Cambria Math" panose="02040503050406030204" pitchFamily="18" charset="0"/>
                      </a:rPr>
                      <m:t>h</m:t>
                    </m:r>
                    <m:r>
                      <a:rPr kumimoji="1" lang="en-US" altLang="zh-CN" sz="2200" i="1">
                        <a:latin typeface="Cambria Math" panose="02040503050406030204" pitchFamily="18" charset="0"/>
                      </a:rPr>
                      <m:t>(</m:t>
                    </m:r>
                    <m:r>
                      <a:rPr kumimoji="1" lang="en-US" altLang="zh-CN" sz="2200" i="1">
                        <a:latin typeface="Cambria Math" panose="02040503050406030204" pitchFamily="18" charset="0"/>
                      </a:rPr>
                      <m:t>𝑘𝑒𝑦</m:t>
                    </m:r>
                    <m:r>
                      <a:rPr kumimoji="1" lang="en-US" altLang="zh-CN" sz="2200" i="1">
                        <a:latin typeface="Cambria Math" panose="02040503050406030204" pitchFamily="18" charset="0"/>
                      </a:rPr>
                      <m:t>)</m:t>
                    </m:r>
                  </m:oMath>
                </a14:m>
                <a:r>
                  <a:rPr kumimoji="1" lang="zh-CN" altLang="en-US" sz="2200" dirty="0">
                    <a:latin typeface="SimSun" panose="02010600030101010101" pitchFamily="2" charset="-122"/>
                    <a:ea typeface="SimSun" panose="02010600030101010101" pitchFamily="2" charset="-122"/>
                  </a:rPr>
                  <a:t>。</a:t>
                </a:r>
                <a:endParaRPr kumimoji="1" lang="en-US" altLang="zh-CN" sz="2200" dirty="0">
                  <a:latin typeface="SimSun" panose="02010600030101010101" pitchFamily="2" charset="-122"/>
                  <a:ea typeface="SimSun" panose="02010600030101010101" pitchFamily="2" charset="-122"/>
                </a:endParaRPr>
              </a:p>
              <a:p>
                <a:endParaRPr kumimoji="1" lang="en-US" altLang="zh-CN" sz="2200" dirty="0">
                  <a:latin typeface="SimSun" panose="02010600030101010101" pitchFamily="2" charset="-122"/>
                  <a:ea typeface="SimSun" panose="02010600030101010101" pitchFamily="2" charset="-122"/>
                </a:endParaRPr>
              </a:p>
              <a:p>
                <a:r>
                  <a:rPr kumimoji="1" lang="zh-CN" altLang="en-US" sz="2200" dirty="0">
                    <a:latin typeface="SimSun" panose="02010600030101010101" pitchFamily="2" charset="-122"/>
                    <a:ea typeface="SimSun" panose="02010600030101010101" pitchFamily="2" charset="-122"/>
                  </a:rPr>
                  <a:t>散列表：将关键码代入到散列函数中，即可得到其在散列表中的位置</a:t>
                </a:r>
                <a:endParaRPr kumimoji="1" lang="en-US" altLang="zh-CN" sz="2200" dirty="0">
                  <a:latin typeface="SimSun" panose="02010600030101010101" pitchFamily="2" charset="-122"/>
                  <a:ea typeface="SimSun" panose="02010600030101010101" pitchFamily="2" charset="-122"/>
                </a:endParaRPr>
              </a:p>
              <a:p>
                <a:r>
                  <a:rPr kumimoji="1" lang="zh-CN" altLang="en-US" sz="2200" dirty="0">
                    <a:latin typeface="SimSun" panose="02010600030101010101" pitchFamily="2" charset="-122"/>
                    <a:ea typeface="SimSun" panose="02010600030101010101" pitchFamily="2" charset="-122"/>
                  </a:rPr>
                  <a:t>由于不同的关键码可能对应相同的散列值，因此需要处理冲突（冲突率越低，散列函数的质量越好）</a:t>
                </a:r>
                <a:endParaRPr kumimoji="1" lang="en-US" altLang="zh-CN" sz="2200" dirty="0">
                  <a:latin typeface="SimSun" panose="02010600030101010101" pitchFamily="2" charset="-122"/>
                  <a:ea typeface="SimSun" panose="02010600030101010101" pitchFamily="2" charset="-122"/>
                </a:endParaRPr>
              </a:p>
              <a:p>
                <a:r>
                  <a:rPr kumimoji="1" lang="zh-CN" altLang="en-US" sz="2200" dirty="0">
                    <a:latin typeface="SimSun" panose="02010600030101010101" pitchFamily="2" charset="-122"/>
                    <a:ea typeface="SimSun" panose="02010600030101010101" pitchFamily="2" charset="-122"/>
                  </a:rPr>
                  <a:t>在无冲突的情况下，</a:t>
                </a:r>
                <a:r>
                  <a:rPr kumimoji="1" lang="en-US" altLang="zh-CN" sz="2200" dirty="0">
                    <a:latin typeface="SimSun" panose="02010600030101010101" pitchFamily="2" charset="-122"/>
                    <a:ea typeface="SimSun" panose="02010600030101010101" pitchFamily="2" charset="-122"/>
                  </a:rPr>
                  <a:t>ASL</a:t>
                </a:r>
                <a:r>
                  <a:rPr kumimoji="1" lang="zh-CN" altLang="en-US" sz="2200" dirty="0">
                    <a:latin typeface="SimSun" panose="02010600030101010101" pitchFamily="2" charset="-122"/>
                    <a:ea typeface="SimSun" panose="02010600030101010101" pitchFamily="2" charset="-122"/>
                  </a:rPr>
                  <a:t> </a:t>
                </a:r>
                <a:r>
                  <a:rPr kumimoji="1" lang="en-US" altLang="zh-CN" sz="2200" dirty="0">
                    <a:latin typeface="SimSun" panose="02010600030101010101" pitchFamily="2" charset="-122"/>
                    <a:ea typeface="SimSun" panose="02010600030101010101" pitchFamily="2" charset="-122"/>
                  </a:rPr>
                  <a:t>=</a:t>
                </a:r>
                <a:r>
                  <a:rPr kumimoji="1" lang="zh-CN" altLang="en-US" sz="2200" dirty="0">
                    <a:latin typeface="SimSun" panose="02010600030101010101" pitchFamily="2" charset="-122"/>
                    <a:ea typeface="SimSun" panose="02010600030101010101" pitchFamily="2" charset="-122"/>
                  </a:rPr>
                  <a:t> </a:t>
                </a:r>
                <a:r>
                  <a:rPr kumimoji="1" lang="en-US" altLang="zh-CN" sz="2200" dirty="0">
                    <a:latin typeface="SimSun" panose="02010600030101010101" pitchFamily="2" charset="-122"/>
                    <a:ea typeface="SimSun" panose="02010600030101010101" pitchFamily="2" charset="-122"/>
                  </a:rPr>
                  <a:t>1</a:t>
                </a:r>
              </a:p>
              <a:p>
                <a:r>
                  <a:rPr kumimoji="1" lang="zh-CN" altLang="en-US" sz="2200" dirty="0">
                    <a:latin typeface="SimSun" panose="02010600030101010101" pitchFamily="2" charset="-122"/>
                    <a:ea typeface="SimSun" panose="02010600030101010101" pitchFamily="2" charset="-122"/>
                  </a:rPr>
                  <a:t>线性探查法：从散列值对应的位置开始向后遍历，插入到第一个空位置</a:t>
                </a:r>
                <a:endParaRPr kumimoji="1" lang="en-US" altLang="zh-CN" sz="2200" dirty="0">
                  <a:latin typeface="SimSun" panose="02010600030101010101" pitchFamily="2" charset="-122"/>
                  <a:ea typeface="SimSun" panose="02010600030101010101" pitchFamily="2" charset="-122"/>
                </a:endParaRPr>
              </a:p>
              <a:p>
                <a:r>
                  <a:rPr kumimoji="1" lang="zh-CN" altLang="en-US" sz="2200" dirty="0">
                    <a:latin typeface="SimSun" panose="02010600030101010101" pitchFamily="2" charset="-122"/>
                    <a:ea typeface="SimSun" panose="02010600030101010101" pitchFamily="2" charset="-122"/>
                  </a:rPr>
                  <a:t>双散列法：使用一个额外的散列函数，发生冲突时对当前位置和这个散列值进行运算得到下一个位置，直到找到空位置</a:t>
                </a:r>
                <a:endParaRPr kumimoji="1" lang="en-US" altLang="zh-CN" sz="2200" dirty="0">
                  <a:latin typeface="SimSun" panose="02010600030101010101" pitchFamily="2" charset="-122"/>
                  <a:ea typeface="SimSun" panose="02010600030101010101" pitchFamily="2" charset="-122"/>
                </a:endParaRPr>
              </a:p>
            </p:txBody>
          </p:sp>
        </mc:Choice>
        <mc:Fallback xmlns="">
          <p:sp>
            <p:nvSpPr>
              <p:cNvPr id="6" name="矩形 5">
                <a:extLst>
                  <a:ext uri="{FF2B5EF4-FFF2-40B4-BE49-F238E27FC236}">
                    <a16:creationId xmlns:a16="http://schemas.microsoft.com/office/drawing/2014/main" id="{3C3F0337-28A5-4F58-B1B9-5F649DD54FE9}"/>
                  </a:ext>
                </a:extLst>
              </p:cNvPr>
              <p:cNvSpPr>
                <a:spLocks noRot="1" noChangeAspect="1" noMove="1" noResize="1" noEditPoints="1" noAdjustHandles="1" noChangeArrowheads="1" noChangeShapeType="1" noTextEdit="1"/>
              </p:cNvSpPr>
              <p:nvPr/>
            </p:nvSpPr>
            <p:spPr>
              <a:xfrm>
                <a:off x="1024646" y="1206681"/>
                <a:ext cx="10142708" cy="4875694"/>
              </a:xfrm>
              <a:prstGeom prst="rect">
                <a:avLst/>
              </a:prstGeom>
              <a:blipFill>
                <a:blip r:embed="rId3"/>
                <a:stretch>
                  <a:fillRect l="-750" t="-1299" r="-500" b="-1299"/>
                </a:stretch>
              </a:blipFill>
            </p:spPr>
            <p:txBody>
              <a:bodyPr/>
              <a:lstStyle/>
              <a:p>
                <a:r>
                  <a:rPr lang="zh-CN" altLang="en-US">
                    <a:noFill/>
                  </a:rPr>
                  <a:t> </a:t>
                </a:r>
              </a:p>
            </p:txBody>
          </p:sp>
        </mc:Fallback>
      </mc:AlternateContent>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079260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9</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4633576"/>
              </a:xfrm>
              <a:prstGeom prst="rect">
                <a:avLst/>
              </a:prstGeom>
            </p:spPr>
            <p:txBody>
              <a:bodyPr wrap="square">
                <a:spAutoFit/>
              </a:bodyPr>
              <a:lstStyle/>
              <a:p>
                <a:r>
                  <a:rPr kumimoji="1" lang="zh-CN" altLang="en-US" sz="2200" dirty="0">
                    <a:latin typeface="SimSun" panose="02010600030101010101" pitchFamily="2" charset="-122"/>
                    <a:ea typeface="SimSun" panose="02010600030101010101" pitchFamily="2" charset="-122"/>
                  </a:rPr>
                  <a:t>散列值如下（仅给出了必要的</a:t>
                </a:r>
                <a14:m>
                  <m:oMath xmlns:m="http://schemas.openxmlformats.org/officeDocument/2006/math">
                    <m:r>
                      <a:rPr kumimoji="1" lang="en-US" altLang="zh-CN" sz="2200" i="1">
                        <a:latin typeface="Cambria Math" panose="02040503050406030204" pitchFamily="18" charset="0"/>
                      </a:rPr>
                      <m:t>𝑟h</m:t>
                    </m:r>
                  </m:oMath>
                </a14:m>
                <a:r>
                  <a:rPr kumimoji="1" lang="zh-CN" altLang="en-US" sz="2200" dirty="0">
                    <a:latin typeface="SimSun" panose="02010600030101010101" pitchFamily="2" charset="-122"/>
                    <a:ea typeface="SimSun" panose="02010600030101010101" pitchFamily="2" charset="-122"/>
                  </a:rPr>
                  <a:t>值）：</a:t>
                </a:r>
                <a:endParaRPr kumimoji="1" lang="en-US" altLang="zh-CN" sz="2200" dirty="0">
                  <a:latin typeface="SimSun" panose="02010600030101010101" pitchFamily="2" charset="-122"/>
                  <a:ea typeface="SimSun" panose="02010600030101010101" pitchFamily="2" charset="-122"/>
                </a:endParaRPr>
              </a:p>
              <a:p>
                <a:endParaRPr kumimoji="1" lang="en-US" altLang="zh-CN" sz="2200" dirty="0">
                  <a:latin typeface="SimSun" panose="02010600030101010101" pitchFamily="2" charset="-122"/>
                  <a:ea typeface="SimSun" panose="02010600030101010101" pitchFamily="2" charset="-122"/>
                </a:endParaRPr>
              </a:p>
              <a:p>
                <a:endParaRPr kumimoji="1" lang="en-US" altLang="zh-CN" sz="2200" dirty="0">
                  <a:latin typeface="SimSun" panose="02010600030101010101" pitchFamily="2" charset="-122"/>
                  <a:ea typeface="SimSun" panose="02010600030101010101" pitchFamily="2" charset="-122"/>
                </a:endParaRPr>
              </a:p>
              <a:p>
                <a:endParaRPr kumimoji="1" lang="en-US" altLang="zh-CN" sz="2200" dirty="0">
                  <a:latin typeface="SimSun" panose="02010600030101010101" pitchFamily="2" charset="-122"/>
                  <a:ea typeface="SimSun" panose="02010600030101010101" pitchFamily="2" charset="-122"/>
                </a:endParaRPr>
              </a:p>
              <a:p>
                <a:endParaRPr kumimoji="1" lang="en-US" altLang="zh-CN" sz="2200" dirty="0">
                  <a:latin typeface="SimSun" panose="02010600030101010101" pitchFamily="2" charset="-122"/>
                  <a:ea typeface="SimSun" panose="02010600030101010101" pitchFamily="2" charset="-122"/>
                </a:endParaRPr>
              </a:p>
              <a:p>
                <a:pPr marL="514350" indent="-514350">
                  <a:buAutoNum type="arabicParenBoth"/>
                </a:pPr>
                <a:endParaRPr kumimoji="1" lang="en-US" altLang="zh-CN" sz="2200" dirty="0">
                  <a:latin typeface="SimSun" panose="02010600030101010101" pitchFamily="2" charset="-122"/>
                  <a:ea typeface="SimSun" panose="02010600030101010101" pitchFamily="2" charset="-122"/>
                </a:endParaRPr>
              </a:p>
              <a:p>
                <a:pPr marL="514350" indent="-514350">
                  <a:buAutoNum type="arabicParenBoth"/>
                </a:pPr>
                <a:r>
                  <a:rPr kumimoji="1" lang="zh-CN" altLang="en-US" sz="2200" dirty="0">
                    <a:latin typeface="SimSun" panose="02010600030101010101" pitchFamily="2" charset="-122"/>
                    <a:ea typeface="SimSun" panose="02010600030101010101" pitchFamily="2" charset="-122"/>
                  </a:rPr>
                  <a:t>线性探查法</a:t>
                </a:r>
                <a:endParaRPr kumimoji="1" lang="en-US" altLang="zh-CN" sz="2200" dirty="0">
                  <a:latin typeface="SimSun" panose="02010600030101010101" pitchFamily="2" charset="-122"/>
                  <a:ea typeface="SimSun" panose="02010600030101010101" pitchFamily="2" charset="-122"/>
                </a:endParaRPr>
              </a:p>
              <a:p>
                <a:r>
                  <a:rPr kumimoji="1" lang="zh-CN" altLang="en-US" sz="2200" dirty="0">
                    <a:latin typeface="SimSun" panose="02010600030101010101" pitchFamily="2" charset="-122"/>
                    <a:ea typeface="SimSun" panose="02010600030101010101" pitchFamily="2" charset="-122"/>
                  </a:rPr>
                  <a:t>散列表：</a:t>
                </a:r>
                <a:endParaRPr kumimoji="1" lang="en-US" altLang="zh-CN" sz="2200" dirty="0">
                  <a:latin typeface="SimSun" panose="02010600030101010101" pitchFamily="2" charset="-122"/>
                  <a:ea typeface="SimSun" panose="02010600030101010101" pitchFamily="2" charset="-122"/>
                </a:endParaRPr>
              </a:p>
              <a:p>
                <a:endParaRPr kumimoji="1" lang="en-US" altLang="zh-CN" sz="2200" dirty="0">
                  <a:latin typeface="SimSun" panose="02010600030101010101" pitchFamily="2" charset="-122"/>
                  <a:ea typeface="SimSun" panose="02010600030101010101" pitchFamily="2" charset="-122"/>
                </a:endParaRPr>
              </a:p>
              <a:p>
                <a:endParaRPr kumimoji="1" lang="en-US" altLang="zh-CN" sz="2200" dirty="0">
                  <a:latin typeface="SimSun" panose="02010600030101010101" pitchFamily="2" charset="-122"/>
                  <a:ea typeface="SimSun" panose="02010600030101010101" pitchFamily="2" charset="-122"/>
                </a:endParaRPr>
              </a:p>
              <a:p>
                <a:r>
                  <a:rPr kumimoji="1" lang="zh-CN" altLang="en-US" sz="2200" dirty="0">
                    <a:latin typeface="SimSun" panose="02010600030101010101" pitchFamily="2" charset="-122"/>
                    <a:ea typeface="SimSun" panose="02010600030101010101" pitchFamily="2" charset="-122"/>
                  </a:rPr>
                  <a:t>其中</a:t>
                </a:r>
                <a:r>
                  <a:rPr kumimoji="1" lang="en-US" altLang="zh-CN" sz="2200" dirty="0">
                    <a:latin typeface="SimSun" panose="02010600030101010101" pitchFamily="2" charset="-122"/>
                    <a:ea typeface="SimSun" panose="02010600030101010101" pitchFamily="2" charset="-122"/>
                  </a:rPr>
                  <a:t>5</a:t>
                </a:r>
                <a:r>
                  <a:rPr kumimoji="1" lang="zh-CN" altLang="en-US" sz="2200" dirty="0">
                    <a:latin typeface="SimSun" panose="02010600030101010101" pitchFamily="2" charset="-122"/>
                    <a:ea typeface="SimSun" panose="02010600030101010101" pitchFamily="2" charset="-122"/>
                  </a:rPr>
                  <a:t>的检索长度为</a:t>
                </a:r>
                <a:r>
                  <a:rPr kumimoji="1" lang="en-US" altLang="zh-CN" sz="2200" dirty="0">
                    <a:latin typeface="SimSun" panose="02010600030101010101" pitchFamily="2" charset="-122"/>
                    <a:ea typeface="SimSun" panose="02010600030101010101" pitchFamily="2" charset="-122"/>
                  </a:rPr>
                  <a:t>3</a:t>
                </a:r>
                <a:r>
                  <a:rPr kumimoji="1" lang="zh-CN" altLang="en-US" sz="2200" dirty="0">
                    <a:latin typeface="SimSun" panose="02010600030101010101" pitchFamily="2" charset="-122"/>
                    <a:ea typeface="SimSun" panose="02010600030101010101" pitchFamily="2" charset="-122"/>
                  </a:rPr>
                  <a:t>，</a:t>
                </a:r>
                <a:r>
                  <a:rPr kumimoji="1" lang="en-US" altLang="zh-CN" sz="2200" dirty="0">
                    <a:latin typeface="SimSun" panose="02010600030101010101" pitchFamily="2" charset="-122"/>
                    <a:ea typeface="SimSun" panose="02010600030101010101" pitchFamily="2" charset="-122"/>
                  </a:rPr>
                  <a:t>14</a:t>
                </a:r>
                <a:r>
                  <a:rPr kumimoji="1" lang="zh-CN" altLang="en-US" sz="2200" dirty="0">
                    <a:latin typeface="SimSun" panose="02010600030101010101" pitchFamily="2" charset="-122"/>
                    <a:ea typeface="SimSun" panose="02010600030101010101" pitchFamily="2" charset="-122"/>
                  </a:rPr>
                  <a:t>和</a:t>
                </a:r>
                <a:r>
                  <a:rPr kumimoji="1" lang="en-US" altLang="zh-CN" sz="2200" dirty="0">
                    <a:latin typeface="SimSun" panose="02010600030101010101" pitchFamily="2" charset="-122"/>
                    <a:ea typeface="SimSun" panose="02010600030101010101" pitchFamily="2" charset="-122"/>
                  </a:rPr>
                  <a:t>37</a:t>
                </a:r>
                <a:r>
                  <a:rPr kumimoji="1" lang="zh-CN" altLang="en-US" sz="2200" dirty="0">
                    <a:latin typeface="SimSun" panose="02010600030101010101" pitchFamily="2" charset="-122"/>
                    <a:ea typeface="SimSun" panose="02010600030101010101" pitchFamily="2" charset="-122"/>
                  </a:rPr>
                  <a:t>的检索长度为</a:t>
                </a:r>
                <a:r>
                  <a:rPr kumimoji="1" lang="en-US" altLang="zh-CN" sz="2200" dirty="0">
                    <a:latin typeface="SimSun" panose="02010600030101010101" pitchFamily="2" charset="-122"/>
                    <a:ea typeface="SimSun" panose="02010600030101010101" pitchFamily="2" charset="-122"/>
                  </a:rPr>
                  <a:t>2</a:t>
                </a:r>
                <a:r>
                  <a:rPr kumimoji="1" lang="zh-CN" altLang="en-US" sz="2200" dirty="0">
                    <a:latin typeface="SimSun" panose="02010600030101010101" pitchFamily="2" charset="-122"/>
                    <a:ea typeface="SimSun" panose="02010600030101010101" pitchFamily="2" charset="-122"/>
                  </a:rPr>
                  <a:t>，其余元素的检索长度均为</a:t>
                </a:r>
                <a:r>
                  <a:rPr kumimoji="1" lang="en-US" altLang="zh-CN" sz="2200" dirty="0">
                    <a:latin typeface="SimSun" panose="02010600030101010101" pitchFamily="2" charset="-122"/>
                    <a:ea typeface="SimSun" panose="02010600030101010101" pitchFamily="2" charset="-122"/>
                  </a:rPr>
                  <a:t>1. </a:t>
                </a:r>
                <a:r>
                  <a:rPr kumimoji="1" lang="zh-CN" altLang="en-US" sz="2200" dirty="0">
                    <a:latin typeface="SimSun" panose="02010600030101010101" pitchFamily="2" charset="-122"/>
                    <a:ea typeface="SimSun" panose="02010600030101010101" pitchFamily="2" charset="-122"/>
                  </a:rPr>
                  <a:t>因此等概率情况下检索成功时的</a:t>
                </a:r>
                <a14:m>
                  <m:oMath xmlns:m="http://schemas.openxmlformats.org/officeDocument/2006/math">
                    <m:r>
                      <a:rPr kumimoji="1" lang="en-US" altLang="zh-CN" sz="2200" i="1">
                        <a:latin typeface="Cambria Math" panose="02040503050406030204" pitchFamily="18" charset="0"/>
                      </a:rPr>
                      <m:t>𝐴𝑆𝐿</m:t>
                    </m:r>
                    <m:r>
                      <a:rPr kumimoji="1" lang="en-US" altLang="zh-CN" sz="2200" i="1">
                        <a:latin typeface="Cambria Math" panose="02040503050406030204" pitchFamily="18" charset="0"/>
                      </a:rPr>
                      <m:t>=</m:t>
                    </m:r>
                    <m:f>
                      <m:fPr>
                        <m:ctrlPr>
                          <a:rPr kumimoji="1" lang="en-US" altLang="zh-CN" sz="2200" i="1">
                            <a:latin typeface="Cambria Math" panose="02040503050406030204" pitchFamily="18" charset="0"/>
                          </a:rPr>
                        </m:ctrlPr>
                      </m:fPr>
                      <m:num>
                        <m:r>
                          <a:rPr kumimoji="1" lang="en-US" altLang="zh-CN" sz="2200" i="1">
                            <a:latin typeface="Cambria Math" panose="02040503050406030204" pitchFamily="18" charset="0"/>
                          </a:rPr>
                          <m:t>1</m:t>
                        </m:r>
                      </m:num>
                      <m:den>
                        <m:r>
                          <a:rPr kumimoji="1" lang="en-US" altLang="zh-CN" sz="2200" i="1">
                            <a:latin typeface="Cambria Math" panose="02040503050406030204" pitchFamily="18" charset="0"/>
                          </a:rPr>
                          <m:t>7</m:t>
                        </m:r>
                      </m:den>
                    </m:f>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4×1+2×2+1×3</m:t>
                        </m:r>
                      </m:e>
                    </m:d>
                    <m:r>
                      <a:rPr kumimoji="1" lang="en-US" altLang="zh-CN" sz="2200" i="1">
                        <a:latin typeface="Cambria Math" panose="02040503050406030204" pitchFamily="18" charset="0"/>
                      </a:rPr>
                      <m:t>=</m:t>
                    </m:r>
                    <m:f>
                      <m:fPr>
                        <m:ctrlPr>
                          <a:rPr kumimoji="1" lang="en-US" altLang="zh-CN" sz="2200" i="1">
                            <a:latin typeface="Cambria Math" panose="02040503050406030204" pitchFamily="18" charset="0"/>
                          </a:rPr>
                        </m:ctrlPr>
                      </m:fPr>
                      <m:num>
                        <m:r>
                          <a:rPr kumimoji="1" lang="en-US" altLang="zh-CN" sz="2200" i="1">
                            <a:latin typeface="Cambria Math" panose="02040503050406030204" pitchFamily="18" charset="0"/>
                          </a:rPr>
                          <m:t>11</m:t>
                        </m:r>
                      </m:num>
                      <m:den>
                        <m:r>
                          <a:rPr kumimoji="1" lang="en-US" altLang="zh-CN" sz="2200" i="1">
                            <a:latin typeface="Cambria Math" panose="02040503050406030204" pitchFamily="18" charset="0"/>
                          </a:rPr>
                          <m:t>7</m:t>
                        </m:r>
                      </m:den>
                    </m:f>
                  </m:oMath>
                </a14:m>
                <a:r>
                  <a:rPr kumimoji="1" lang="en-US" altLang="zh-CN" sz="2200" dirty="0">
                    <a:latin typeface="SimSun" panose="02010600030101010101" pitchFamily="2" charset="-122"/>
                    <a:ea typeface="SimSun" panose="02010600030101010101" pitchFamily="2" charset="-122"/>
                  </a:rPr>
                  <a:t>.</a:t>
                </a:r>
              </a:p>
              <a:p>
                <a:endParaRPr kumimoji="1" lang="zh-CN" altLang="en-US" sz="2200" dirty="0">
                  <a:latin typeface="SimSun" panose="02010600030101010101" pitchFamily="2" charset="-122"/>
                  <a:ea typeface="SimSun" panose="02010600030101010101" pitchFamily="2" charset="-122"/>
                </a:endParaRPr>
              </a:p>
            </p:txBody>
          </p:sp>
        </mc:Choice>
        <mc:Fallback xmlns="">
          <p:sp>
            <p:nvSpPr>
              <p:cNvPr id="6" name="矩形 5">
                <a:extLst>
                  <a:ext uri="{FF2B5EF4-FFF2-40B4-BE49-F238E27FC236}">
                    <a16:creationId xmlns:a16="http://schemas.microsoft.com/office/drawing/2014/main" id="{3C3F0337-28A5-4F58-B1B9-5F649DD54FE9}"/>
                  </a:ext>
                </a:extLst>
              </p:cNvPr>
              <p:cNvSpPr>
                <a:spLocks noRot="1" noChangeAspect="1" noMove="1" noResize="1" noEditPoints="1" noAdjustHandles="1" noChangeArrowheads="1" noChangeShapeType="1" noTextEdit="1"/>
              </p:cNvSpPr>
              <p:nvPr/>
            </p:nvSpPr>
            <p:spPr>
              <a:xfrm>
                <a:off x="1024646" y="1206681"/>
                <a:ext cx="10142708" cy="4633576"/>
              </a:xfrm>
              <a:prstGeom prst="rect">
                <a:avLst/>
              </a:prstGeom>
              <a:blipFill>
                <a:blip r:embed="rId3"/>
                <a:stretch>
                  <a:fillRect l="-750" t="-1370"/>
                </a:stretch>
              </a:blipFill>
            </p:spPr>
            <p:txBody>
              <a:bodyPr/>
              <a:lstStyle/>
              <a:p>
                <a:r>
                  <a:rPr lang="zh-CN" altLang="en-US">
                    <a:noFill/>
                  </a:rPr>
                  <a:t> </a:t>
                </a:r>
              </a:p>
            </p:txBody>
          </p:sp>
        </mc:Fallback>
      </mc:AlternateContent>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graphicFrame>
            <p:nvGraphicFramePr>
              <p:cNvPr id="7" name="表格 7">
                <a:extLst>
                  <a:ext uri="{FF2B5EF4-FFF2-40B4-BE49-F238E27FC236}">
                    <a16:creationId xmlns:a16="http://schemas.microsoft.com/office/drawing/2014/main" id="{6D369E00-FE3A-F34A-90A0-13D259CE41A6}"/>
                  </a:ext>
                </a:extLst>
              </p:cNvPr>
              <p:cNvGraphicFramePr>
                <a:graphicFrameLocks noGrp="1"/>
              </p:cNvGraphicFramePr>
              <p:nvPr>
                <p:extLst>
                  <p:ext uri="{D42A27DB-BD31-4B8C-83A1-F6EECF244321}">
                    <p14:modId xmlns:p14="http://schemas.microsoft.com/office/powerpoint/2010/main" val="2144545861"/>
                  </p:ext>
                </p:extLst>
              </p:nvPr>
            </p:nvGraphicFramePr>
            <p:xfrm>
              <a:off x="2281950" y="1712927"/>
              <a:ext cx="7463096" cy="1362016"/>
            </p:xfrm>
            <a:graphic>
              <a:graphicData uri="http://schemas.openxmlformats.org/drawingml/2006/table">
                <a:tbl>
                  <a:tblPr firstRow="1" bandRow="1">
                    <a:tableStyleId>{5C22544A-7EE6-4342-B048-85BDC9FD1C3A}</a:tableStyleId>
                  </a:tblPr>
                  <a:tblGrid>
                    <a:gridCol w="932887">
                      <a:extLst>
                        <a:ext uri="{9D8B030D-6E8A-4147-A177-3AD203B41FA5}">
                          <a16:colId xmlns:a16="http://schemas.microsoft.com/office/drawing/2014/main" val="2454861973"/>
                        </a:ext>
                      </a:extLst>
                    </a:gridCol>
                    <a:gridCol w="932887">
                      <a:extLst>
                        <a:ext uri="{9D8B030D-6E8A-4147-A177-3AD203B41FA5}">
                          <a16:colId xmlns:a16="http://schemas.microsoft.com/office/drawing/2014/main" val="2045833956"/>
                        </a:ext>
                      </a:extLst>
                    </a:gridCol>
                    <a:gridCol w="932887">
                      <a:extLst>
                        <a:ext uri="{9D8B030D-6E8A-4147-A177-3AD203B41FA5}">
                          <a16:colId xmlns:a16="http://schemas.microsoft.com/office/drawing/2014/main" val="2694073020"/>
                        </a:ext>
                      </a:extLst>
                    </a:gridCol>
                    <a:gridCol w="932887">
                      <a:extLst>
                        <a:ext uri="{9D8B030D-6E8A-4147-A177-3AD203B41FA5}">
                          <a16:colId xmlns:a16="http://schemas.microsoft.com/office/drawing/2014/main" val="663347442"/>
                        </a:ext>
                      </a:extLst>
                    </a:gridCol>
                    <a:gridCol w="932887">
                      <a:extLst>
                        <a:ext uri="{9D8B030D-6E8A-4147-A177-3AD203B41FA5}">
                          <a16:colId xmlns:a16="http://schemas.microsoft.com/office/drawing/2014/main" val="151101909"/>
                        </a:ext>
                      </a:extLst>
                    </a:gridCol>
                    <a:gridCol w="932887">
                      <a:extLst>
                        <a:ext uri="{9D8B030D-6E8A-4147-A177-3AD203B41FA5}">
                          <a16:colId xmlns:a16="http://schemas.microsoft.com/office/drawing/2014/main" val="3568002599"/>
                        </a:ext>
                      </a:extLst>
                    </a:gridCol>
                    <a:gridCol w="932887">
                      <a:extLst>
                        <a:ext uri="{9D8B030D-6E8A-4147-A177-3AD203B41FA5}">
                          <a16:colId xmlns:a16="http://schemas.microsoft.com/office/drawing/2014/main" val="2603070470"/>
                        </a:ext>
                      </a:extLst>
                    </a:gridCol>
                    <a:gridCol w="932887">
                      <a:extLst>
                        <a:ext uri="{9D8B030D-6E8A-4147-A177-3AD203B41FA5}">
                          <a16:colId xmlns:a16="http://schemas.microsoft.com/office/drawing/2014/main" val="3783146791"/>
                        </a:ext>
                      </a:extLst>
                    </a:gridCol>
                  </a:tblGrid>
                  <a:tr h="340504">
                    <a:tc>
                      <a:txBody>
                        <a:bodyPr/>
                        <a:lstStyle/>
                        <a:p>
                          <a:endParaRPr lang="zh-CN" altLang="en-US" sz="1600" dirty="0"/>
                        </a:p>
                      </a:txBody>
                      <a:tcPr marL="83960" marR="83960" marT="41980" marB="41980"/>
                    </a:tc>
                    <a:tc>
                      <a:txBody>
                        <a:bodyPr/>
                        <a:lstStyle/>
                        <a:p>
                          <a:r>
                            <a:rPr lang="en-US" altLang="zh-CN" sz="1600" dirty="0"/>
                            <a:t>9</a:t>
                          </a:r>
                          <a:endParaRPr lang="zh-CN" altLang="en-US" sz="1600" dirty="0"/>
                        </a:p>
                      </a:txBody>
                      <a:tcPr marL="83960" marR="83960" marT="41980" marB="41980"/>
                    </a:tc>
                    <a:tc>
                      <a:txBody>
                        <a:bodyPr/>
                        <a:lstStyle/>
                        <a:p>
                          <a:r>
                            <a:rPr lang="en-US" altLang="zh-CN" sz="1600" dirty="0"/>
                            <a:t>37</a:t>
                          </a:r>
                          <a:endParaRPr lang="zh-CN" altLang="en-US" sz="1600" dirty="0"/>
                        </a:p>
                      </a:txBody>
                      <a:tcPr marL="83960" marR="83960" marT="41980" marB="41980"/>
                    </a:tc>
                    <a:tc>
                      <a:txBody>
                        <a:bodyPr/>
                        <a:lstStyle/>
                        <a:p>
                          <a:r>
                            <a:rPr lang="en-US" altLang="zh-CN" sz="1600" dirty="0"/>
                            <a:t>21</a:t>
                          </a:r>
                          <a:endParaRPr lang="zh-CN" altLang="en-US" sz="1600" dirty="0"/>
                        </a:p>
                      </a:txBody>
                      <a:tcPr marL="83960" marR="83960" marT="41980" marB="41980"/>
                    </a:tc>
                    <a:tc>
                      <a:txBody>
                        <a:bodyPr/>
                        <a:lstStyle/>
                        <a:p>
                          <a:r>
                            <a:rPr lang="en-US" altLang="zh-CN" sz="1600" dirty="0"/>
                            <a:t>20</a:t>
                          </a:r>
                          <a:endParaRPr lang="zh-CN" altLang="en-US" sz="1600" dirty="0"/>
                        </a:p>
                      </a:txBody>
                      <a:tcPr marL="83960" marR="83960" marT="41980" marB="41980"/>
                    </a:tc>
                    <a:tc>
                      <a:txBody>
                        <a:bodyPr/>
                        <a:lstStyle/>
                        <a:p>
                          <a:r>
                            <a:rPr lang="en-US" altLang="zh-CN" sz="1600" dirty="0"/>
                            <a:t>3</a:t>
                          </a:r>
                          <a:endParaRPr lang="zh-CN" altLang="en-US" sz="1600" dirty="0"/>
                        </a:p>
                      </a:txBody>
                      <a:tcPr marL="83960" marR="83960" marT="41980" marB="41980"/>
                    </a:tc>
                    <a:tc>
                      <a:txBody>
                        <a:bodyPr/>
                        <a:lstStyle/>
                        <a:p>
                          <a:r>
                            <a:rPr lang="en-US" altLang="zh-CN" sz="1600" dirty="0"/>
                            <a:t>14</a:t>
                          </a:r>
                          <a:endParaRPr lang="zh-CN" altLang="en-US" sz="1600" dirty="0"/>
                        </a:p>
                      </a:txBody>
                      <a:tcPr marL="83960" marR="83960" marT="41980" marB="41980"/>
                    </a:tc>
                    <a:tc>
                      <a:txBody>
                        <a:bodyPr/>
                        <a:lstStyle/>
                        <a:p>
                          <a:r>
                            <a:rPr lang="en-US" altLang="zh-CN" sz="1600" dirty="0"/>
                            <a:t>5</a:t>
                          </a:r>
                          <a:endParaRPr lang="zh-CN" altLang="en-US" sz="1600" dirty="0"/>
                        </a:p>
                      </a:txBody>
                      <a:tcPr marL="83960" marR="83960" marT="41980" marB="41980"/>
                    </a:tc>
                    <a:extLst>
                      <a:ext uri="{0D108BD9-81ED-4DB2-BD59-A6C34878D82A}">
                        <a16:rowId xmlns:a16="http://schemas.microsoft.com/office/drawing/2014/main" val="4165777326"/>
                      </a:ext>
                    </a:extLst>
                  </a:tr>
                  <a:tr h="340504">
                    <a:tc>
                      <a:txBody>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h</m:t>
                                </m:r>
                                <m:r>
                                  <a:rPr lang="en-US" altLang="zh-CN" sz="1600" b="0" i="1" smtClean="0">
                                    <a:latin typeface="Cambria Math" panose="02040503050406030204" pitchFamily="18" charset="0"/>
                                  </a:rPr>
                                  <m:t>(⋅)</m:t>
                                </m:r>
                              </m:oMath>
                            </m:oMathPara>
                          </a14:m>
                          <a:endParaRPr lang="zh-CN" altLang="en-US" sz="1600" dirty="0"/>
                        </a:p>
                      </a:txBody>
                      <a:tcPr marL="83960" marR="83960" marT="41980" marB="41980"/>
                    </a:tc>
                    <a:tc>
                      <a:txBody>
                        <a:bodyPr/>
                        <a:lstStyle/>
                        <a:p>
                          <a:r>
                            <a:rPr lang="en-US" altLang="zh-CN" sz="1600" dirty="0"/>
                            <a:t>6</a:t>
                          </a:r>
                          <a:endParaRPr lang="zh-CN" altLang="en-US" sz="1600" dirty="0"/>
                        </a:p>
                      </a:txBody>
                      <a:tcPr marL="83960" marR="83960" marT="41980" marB="41980"/>
                    </a:tc>
                    <a:tc>
                      <a:txBody>
                        <a:bodyPr/>
                        <a:lstStyle/>
                        <a:p>
                          <a:r>
                            <a:rPr lang="en-US" altLang="zh-CN" sz="1600" dirty="0"/>
                            <a:t>6</a:t>
                          </a:r>
                          <a:endParaRPr lang="zh-CN" altLang="en-US" sz="1600" dirty="0"/>
                        </a:p>
                      </a:txBody>
                      <a:tcPr marL="83960" marR="83960" marT="41980" marB="41980"/>
                    </a:tc>
                    <a:tc>
                      <a:txBody>
                        <a:bodyPr/>
                        <a:lstStyle/>
                        <a:p>
                          <a:r>
                            <a:rPr lang="en-US" altLang="zh-CN" sz="1600" dirty="0"/>
                            <a:t>0</a:t>
                          </a:r>
                          <a:endParaRPr lang="zh-CN" altLang="en-US" sz="1600" dirty="0"/>
                        </a:p>
                      </a:txBody>
                      <a:tcPr marL="83960" marR="83960" marT="41980" marB="41980"/>
                    </a:tc>
                    <a:tc>
                      <a:txBody>
                        <a:bodyPr/>
                        <a:lstStyle/>
                        <a:p>
                          <a:r>
                            <a:rPr lang="en-US" altLang="zh-CN" sz="1600" dirty="0"/>
                            <a:t>4</a:t>
                          </a:r>
                          <a:endParaRPr lang="zh-CN" altLang="en-US" sz="1600" dirty="0"/>
                        </a:p>
                      </a:txBody>
                      <a:tcPr marL="83960" marR="83960" marT="41980" marB="41980"/>
                    </a:tc>
                    <a:tc>
                      <a:txBody>
                        <a:bodyPr/>
                        <a:lstStyle/>
                        <a:p>
                          <a:r>
                            <a:rPr lang="en-US" altLang="zh-CN" sz="1600" dirty="0"/>
                            <a:t>2</a:t>
                          </a:r>
                          <a:endParaRPr lang="zh-CN" altLang="en-US" sz="1600" dirty="0"/>
                        </a:p>
                      </a:txBody>
                      <a:tcPr marL="83960" marR="83960" marT="41980" marB="41980"/>
                    </a:tc>
                    <a:tc>
                      <a:txBody>
                        <a:bodyPr/>
                        <a:lstStyle/>
                        <a:p>
                          <a:r>
                            <a:rPr lang="en-US" altLang="zh-CN" sz="1600" dirty="0"/>
                            <a:t>0</a:t>
                          </a:r>
                          <a:endParaRPr lang="zh-CN" altLang="en-US" sz="1600" dirty="0"/>
                        </a:p>
                      </a:txBody>
                      <a:tcPr marL="83960" marR="83960" marT="41980" marB="41980"/>
                    </a:tc>
                    <a:tc>
                      <a:txBody>
                        <a:bodyPr/>
                        <a:lstStyle/>
                        <a:p>
                          <a:r>
                            <a:rPr lang="en-US" altLang="zh-CN" sz="1600" dirty="0"/>
                            <a:t>1</a:t>
                          </a:r>
                          <a:endParaRPr lang="zh-CN" altLang="en-US" sz="1600" dirty="0"/>
                        </a:p>
                      </a:txBody>
                      <a:tcPr marL="83960" marR="83960" marT="41980" marB="41980"/>
                    </a:tc>
                    <a:extLst>
                      <a:ext uri="{0D108BD9-81ED-4DB2-BD59-A6C34878D82A}">
                        <a16:rowId xmlns:a16="http://schemas.microsoft.com/office/drawing/2014/main" val="2405359637"/>
                      </a:ext>
                    </a:extLst>
                  </a:tr>
                  <a:tr h="340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𝑟h</m:t>
                                </m:r>
                                <m:r>
                                  <a:rPr lang="en-US" altLang="zh-CN" sz="1600" b="0" i="1" smtClean="0">
                                    <a:latin typeface="Cambria Math" panose="02040503050406030204" pitchFamily="18" charset="0"/>
                                  </a:rPr>
                                  <m:t>(⋅)</m:t>
                                </m:r>
                              </m:oMath>
                            </m:oMathPara>
                          </a14:m>
                          <a:endParaRPr lang="zh-CN" altLang="en-US" sz="1600" dirty="0"/>
                        </a:p>
                      </a:txBody>
                      <a:tcPr marL="83960" marR="83960" marT="41980" marB="41980"/>
                    </a:tc>
                    <a:tc>
                      <a:txBody>
                        <a:bodyPr/>
                        <a:lstStyle/>
                        <a:p>
                          <a:endParaRPr lang="zh-CN" altLang="en-US" sz="1600"/>
                        </a:p>
                      </a:txBody>
                      <a:tcPr marL="83960" marR="83960" marT="41980" marB="41980"/>
                    </a:tc>
                    <a:tc>
                      <a:txBody>
                        <a:bodyPr/>
                        <a:lstStyle/>
                        <a:p>
                          <a:r>
                            <a:rPr lang="en-US" altLang="zh-CN" sz="1600" dirty="0"/>
                            <a:t>2</a:t>
                          </a:r>
                          <a:endParaRPr lang="zh-CN" altLang="en-US" sz="1600" dirty="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r>
                            <a:rPr lang="en-US" altLang="zh-CN" sz="1600" dirty="0"/>
                            <a:t>3</a:t>
                          </a:r>
                          <a:endParaRPr lang="zh-CN" altLang="en-US" sz="1600" dirty="0"/>
                        </a:p>
                      </a:txBody>
                      <a:tcPr marL="83960" marR="83960" marT="41980" marB="41980"/>
                    </a:tc>
                    <a:tc>
                      <a:txBody>
                        <a:bodyPr/>
                        <a:lstStyle/>
                        <a:p>
                          <a:endParaRPr lang="zh-CN" altLang="en-US" sz="1600"/>
                        </a:p>
                      </a:txBody>
                      <a:tcPr marL="83960" marR="83960" marT="41980" marB="41980"/>
                    </a:tc>
                    <a:extLst>
                      <a:ext uri="{0D108BD9-81ED-4DB2-BD59-A6C34878D82A}">
                        <a16:rowId xmlns:a16="http://schemas.microsoft.com/office/drawing/2014/main" val="3712762100"/>
                      </a:ext>
                    </a:extLst>
                  </a:tr>
                  <a:tr h="340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h</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oMath>
                            </m:oMathPara>
                          </a14:m>
                          <a:endParaRPr lang="zh-CN" altLang="en-US" sz="1600" dirty="0"/>
                        </a:p>
                      </a:txBody>
                      <a:tcPr marL="83960" marR="83960" marT="41980" marB="41980"/>
                    </a:tc>
                    <a:tc>
                      <a:txBody>
                        <a:bodyPr/>
                        <a:lstStyle/>
                        <a:p>
                          <a:endParaRPr lang="zh-CN" altLang="en-US" sz="1600"/>
                        </a:p>
                      </a:txBody>
                      <a:tcPr marL="83960" marR="83960" marT="41980" marB="41980"/>
                    </a:tc>
                    <a:tc>
                      <a:txBody>
                        <a:bodyPr/>
                        <a:lstStyle/>
                        <a:p>
                          <a:r>
                            <a:rPr lang="en-US" altLang="zh-CN" sz="1600" dirty="0"/>
                            <a:t>8</a:t>
                          </a:r>
                          <a:endParaRPr lang="zh-CN" altLang="en-US" sz="1600" dirty="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r>
                            <a:rPr lang="en-US" altLang="zh-CN" sz="1600" dirty="0"/>
                            <a:t>3</a:t>
                          </a:r>
                          <a:endParaRPr lang="zh-CN" altLang="en-US" sz="1600" dirty="0"/>
                        </a:p>
                      </a:txBody>
                      <a:tcPr marL="83960" marR="83960" marT="41980" marB="41980"/>
                    </a:tc>
                    <a:tc>
                      <a:txBody>
                        <a:bodyPr/>
                        <a:lstStyle/>
                        <a:p>
                          <a:endParaRPr lang="zh-CN" altLang="en-US" sz="1600" dirty="0"/>
                        </a:p>
                      </a:txBody>
                      <a:tcPr marL="83960" marR="83960" marT="41980" marB="41980"/>
                    </a:tc>
                    <a:extLst>
                      <a:ext uri="{0D108BD9-81ED-4DB2-BD59-A6C34878D82A}">
                        <a16:rowId xmlns:a16="http://schemas.microsoft.com/office/drawing/2014/main" val="1528045431"/>
                      </a:ext>
                    </a:extLst>
                  </a:tr>
                </a:tbl>
              </a:graphicData>
            </a:graphic>
          </p:graphicFrame>
        </mc:Choice>
        <mc:Fallback xmlns="">
          <p:graphicFrame>
            <p:nvGraphicFramePr>
              <p:cNvPr id="7" name="表格 7">
                <a:extLst>
                  <a:ext uri="{FF2B5EF4-FFF2-40B4-BE49-F238E27FC236}">
                    <a16:creationId xmlns:a16="http://schemas.microsoft.com/office/drawing/2014/main" id="{6D369E00-FE3A-F34A-90A0-13D259CE41A6}"/>
                  </a:ext>
                </a:extLst>
              </p:cNvPr>
              <p:cNvGraphicFramePr>
                <a:graphicFrameLocks noGrp="1"/>
              </p:cNvGraphicFramePr>
              <p:nvPr>
                <p:extLst>
                  <p:ext uri="{D42A27DB-BD31-4B8C-83A1-F6EECF244321}">
                    <p14:modId xmlns:p14="http://schemas.microsoft.com/office/powerpoint/2010/main" val="2144545861"/>
                  </p:ext>
                </p:extLst>
              </p:nvPr>
            </p:nvGraphicFramePr>
            <p:xfrm>
              <a:off x="2281950" y="1712927"/>
              <a:ext cx="7463096" cy="1362016"/>
            </p:xfrm>
            <a:graphic>
              <a:graphicData uri="http://schemas.openxmlformats.org/drawingml/2006/table">
                <a:tbl>
                  <a:tblPr firstRow="1" bandRow="1">
                    <a:tableStyleId>{5C22544A-7EE6-4342-B048-85BDC9FD1C3A}</a:tableStyleId>
                  </a:tblPr>
                  <a:tblGrid>
                    <a:gridCol w="932887">
                      <a:extLst>
                        <a:ext uri="{9D8B030D-6E8A-4147-A177-3AD203B41FA5}">
                          <a16:colId xmlns:a16="http://schemas.microsoft.com/office/drawing/2014/main" val="2454861973"/>
                        </a:ext>
                      </a:extLst>
                    </a:gridCol>
                    <a:gridCol w="932887">
                      <a:extLst>
                        <a:ext uri="{9D8B030D-6E8A-4147-A177-3AD203B41FA5}">
                          <a16:colId xmlns:a16="http://schemas.microsoft.com/office/drawing/2014/main" val="2045833956"/>
                        </a:ext>
                      </a:extLst>
                    </a:gridCol>
                    <a:gridCol w="932887">
                      <a:extLst>
                        <a:ext uri="{9D8B030D-6E8A-4147-A177-3AD203B41FA5}">
                          <a16:colId xmlns:a16="http://schemas.microsoft.com/office/drawing/2014/main" val="2694073020"/>
                        </a:ext>
                      </a:extLst>
                    </a:gridCol>
                    <a:gridCol w="932887">
                      <a:extLst>
                        <a:ext uri="{9D8B030D-6E8A-4147-A177-3AD203B41FA5}">
                          <a16:colId xmlns:a16="http://schemas.microsoft.com/office/drawing/2014/main" val="663347442"/>
                        </a:ext>
                      </a:extLst>
                    </a:gridCol>
                    <a:gridCol w="932887">
                      <a:extLst>
                        <a:ext uri="{9D8B030D-6E8A-4147-A177-3AD203B41FA5}">
                          <a16:colId xmlns:a16="http://schemas.microsoft.com/office/drawing/2014/main" val="151101909"/>
                        </a:ext>
                      </a:extLst>
                    </a:gridCol>
                    <a:gridCol w="932887">
                      <a:extLst>
                        <a:ext uri="{9D8B030D-6E8A-4147-A177-3AD203B41FA5}">
                          <a16:colId xmlns:a16="http://schemas.microsoft.com/office/drawing/2014/main" val="3568002599"/>
                        </a:ext>
                      </a:extLst>
                    </a:gridCol>
                    <a:gridCol w="932887">
                      <a:extLst>
                        <a:ext uri="{9D8B030D-6E8A-4147-A177-3AD203B41FA5}">
                          <a16:colId xmlns:a16="http://schemas.microsoft.com/office/drawing/2014/main" val="2603070470"/>
                        </a:ext>
                      </a:extLst>
                    </a:gridCol>
                    <a:gridCol w="932887">
                      <a:extLst>
                        <a:ext uri="{9D8B030D-6E8A-4147-A177-3AD203B41FA5}">
                          <a16:colId xmlns:a16="http://schemas.microsoft.com/office/drawing/2014/main" val="3783146791"/>
                        </a:ext>
                      </a:extLst>
                    </a:gridCol>
                  </a:tblGrid>
                  <a:tr h="340504">
                    <a:tc>
                      <a:txBody>
                        <a:bodyPr/>
                        <a:lstStyle/>
                        <a:p>
                          <a:endParaRPr lang="zh-CN" altLang="en-US" sz="1600" dirty="0"/>
                        </a:p>
                      </a:txBody>
                      <a:tcPr marL="83960" marR="83960" marT="41980" marB="41980"/>
                    </a:tc>
                    <a:tc>
                      <a:txBody>
                        <a:bodyPr/>
                        <a:lstStyle/>
                        <a:p>
                          <a:r>
                            <a:rPr lang="en-US" altLang="zh-CN" sz="1600" dirty="0"/>
                            <a:t>9</a:t>
                          </a:r>
                          <a:endParaRPr lang="zh-CN" altLang="en-US" sz="1600" dirty="0"/>
                        </a:p>
                      </a:txBody>
                      <a:tcPr marL="83960" marR="83960" marT="41980" marB="41980"/>
                    </a:tc>
                    <a:tc>
                      <a:txBody>
                        <a:bodyPr/>
                        <a:lstStyle/>
                        <a:p>
                          <a:r>
                            <a:rPr lang="en-US" altLang="zh-CN" sz="1600" dirty="0"/>
                            <a:t>37</a:t>
                          </a:r>
                          <a:endParaRPr lang="zh-CN" altLang="en-US" sz="1600" dirty="0"/>
                        </a:p>
                      </a:txBody>
                      <a:tcPr marL="83960" marR="83960" marT="41980" marB="41980"/>
                    </a:tc>
                    <a:tc>
                      <a:txBody>
                        <a:bodyPr/>
                        <a:lstStyle/>
                        <a:p>
                          <a:r>
                            <a:rPr lang="en-US" altLang="zh-CN" sz="1600" dirty="0"/>
                            <a:t>21</a:t>
                          </a:r>
                          <a:endParaRPr lang="zh-CN" altLang="en-US" sz="1600" dirty="0"/>
                        </a:p>
                      </a:txBody>
                      <a:tcPr marL="83960" marR="83960" marT="41980" marB="41980"/>
                    </a:tc>
                    <a:tc>
                      <a:txBody>
                        <a:bodyPr/>
                        <a:lstStyle/>
                        <a:p>
                          <a:r>
                            <a:rPr lang="en-US" altLang="zh-CN" sz="1600" dirty="0"/>
                            <a:t>20</a:t>
                          </a:r>
                          <a:endParaRPr lang="zh-CN" altLang="en-US" sz="1600" dirty="0"/>
                        </a:p>
                      </a:txBody>
                      <a:tcPr marL="83960" marR="83960" marT="41980" marB="41980"/>
                    </a:tc>
                    <a:tc>
                      <a:txBody>
                        <a:bodyPr/>
                        <a:lstStyle/>
                        <a:p>
                          <a:r>
                            <a:rPr lang="en-US" altLang="zh-CN" sz="1600" dirty="0"/>
                            <a:t>3</a:t>
                          </a:r>
                          <a:endParaRPr lang="zh-CN" altLang="en-US" sz="1600" dirty="0"/>
                        </a:p>
                      </a:txBody>
                      <a:tcPr marL="83960" marR="83960" marT="41980" marB="41980"/>
                    </a:tc>
                    <a:tc>
                      <a:txBody>
                        <a:bodyPr/>
                        <a:lstStyle/>
                        <a:p>
                          <a:r>
                            <a:rPr lang="en-US" altLang="zh-CN" sz="1600" dirty="0"/>
                            <a:t>14</a:t>
                          </a:r>
                          <a:endParaRPr lang="zh-CN" altLang="en-US" sz="1600" dirty="0"/>
                        </a:p>
                      </a:txBody>
                      <a:tcPr marL="83960" marR="83960" marT="41980" marB="41980"/>
                    </a:tc>
                    <a:tc>
                      <a:txBody>
                        <a:bodyPr/>
                        <a:lstStyle/>
                        <a:p>
                          <a:r>
                            <a:rPr lang="en-US" altLang="zh-CN" sz="1600" dirty="0"/>
                            <a:t>5</a:t>
                          </a:r>
                          <a:endParaRPr lang="zh-CN" altLang="en-US" sz="1600" dirty="0"/>
                        </a:p>
                      </a:txBody>
                      <a:tcPr marL="83960" marR="83960" marT="41980" marB="41980"/>
                    </a:tc>
                    <a:extLst>
                      <a:ext uri="{0D108BD9-81ED-4DB2-BD59-A6C34878D82A}">
                        <a16:rowId xmlns:a16="http://schemas.microsoft.com/office/drawing/2014/main" val="4165777326"/>
                      </a:ext>
                    </a:extLst>
                  </a:tr>
                  <a:tr h="340504">
                    <a:tc>
                      <a:txBody>
                        <a:bodyPr/>
                        <a:lstStyle/>
                        <a:p>
                          <a:endParaRPr lang="zh-CN"/>
                        </a:p>
                      </a:txBody>
                      <a:tcPr marL="83960" marR="83960" marT="41980" marB="41980">
                        <a:blipFill>
                          <a:blip r:embed="rId4"/>
                          <a:stretch>
                            <a:fillRect t="-103571" r="-698649" b="-214286"/>
                          </a:stretch>
                        </a:blipFill>
                      </a:tcPr>
                    </a:tc>
                    <a:tc>
                      <a:txBody>
                        <a:bodyPr/>
                        <a:lstStyle/>
                        <a:p>
                          <a:r>
                            <a:rPr lang="en-US" altLang="zh-CN" sz="1600" dirty="0"/>
                            <a:t>6</a:t>
                          </a:r>
                          <a:endParaRPr lang="zh-CN" altLang="en-US" sz="1600" dirty="0"/>
                        </a:p>
                      </a:txBody>
                      <a:tcPr marL="83960" marR="83960" marT="41980" marB="41980"/>
                    </a:tc>
                    <a:tc>
                      <a:txBody>
                        <a:bodyPr/>
                        <a:lstStyle/>
                        <a:p>
                          <a:r>
                            <a:rPr lang="en-US" altLang="zh-CN" sz="1600" dirty="0"/>
                            <a:t>6</a:t>
                          </a:r>
                          <a:endParaRPr lang="zh-CN" altLang="en-US" sz="1600" dirty="0"/>
                        </a:p>
                      </a:txBody>
                      <a:tcPr marL="83960" marR="83960" marT="41980" marB="41980"/>
                    </a:tc>
                    <a:tc>
                      <a:txBody>
                        <a:bodyPr/>
                        <a:lstStyle/>
                        <a:p>
                          <a:r>
                            <a:rPr lang="en-US" altLang="zh-CN" sz="1600" dirty="0"/>
                            <a:t>0</a:t>
                          </a:r>
                          <a:endParaRPr lang="zh-CN" altLang="en-US" sz="1600" dirty="0"/>
                        </a:p>
                      </a:txBody>
                      <a:tcPr marL="83960" marR="83960" marT="41980" marB="41980"/>
                    </a:tc>
                    <a:tc>
                      <a:txBody>
                        <a:bodyPr/>
                        <a:lstStyle/>
                        <a:p>
                          <a:r>
                            <a:rPr lang="en-US" altLang="zh-CN" sz="1600" dirty="0"/>
                            <a:t>4</a:t>
                          </a:r>
                          <a:endParaRPr lang="zh-CN" altLang="en-US" sz="1600" dirty="0"/>
                        </a:p>
                      </a:txBody>
                      <a:tcPr marL="83960" marR="83960" marT="41980" marB="41980"/>
                    </a:tc>
                    <a:tc>
                      <a:txBody>
                        <a:bodyPr/>
                        <a:lstStyle/>
                        <a:p>
                          <a:r>
                            <a:rPr lang="en-US" altLang="zh-CN" sz="1600" dirty="0"/>
                            <a:t>2</a:t>
                          </a:r>
                          <a:endParaRPr lang="zh-CN" altLang="en-US" sz="1600" dirty="0"/>
                        </a:p>
                      </a:txBody>
                      <a:tcPr marL="83960" marR="83960" marT="41980" marB="41980"/>
                    </a:tc>
                    <a:tc>
                      <a:txBody>
                        <a:bodyPr/>
                        <a:lstStyle/>
                        <a:p>
                          <a:r>
                            <a:rPr lang="en-US" altLang="zh-CN" sz="1600" dirty="0"/>
                            <a:t>0</a:t>
                          </a:r>
                          <a:endParaRPr lang="zh-CN" altLang="en-US" sz="1600" dirty="0"/>
                        </a:p>
                      </a:txBody>
                      <a:tcPr marL="83960" marR="83960" marT="41980" marB="41980"/>
                    </a:tc>
                    <a:tc>
                      <a:txBody>
                        <a:bodyPr/>
                        <a:lstStyle/>
                        <a:p>
                          <a:r>
                            <a:rPr lang="en-US" altLang="zh-CN" sz="1600" dirty="0"/>
                            <a:t>1</a:t>
                          </a:r>
                          <a:endParaRPr lang="zh-CN" altLang="en-US" sz="1600" dirty="0"/>
                        </a:p>
                      </a:txBody>
                      <a:tcPr marL="83960" marR="83960" marT="41980" marB="41980"/>
                    </a:tc>
                    <a:extLst>
                      <a:ext uri="{0D108BD9-81ED-4DB2-BD59-A6C34878D82A}">
                        <a16:rowId xmlns:a16="http://schemas.microsoft.com/office/drawing/2014/main" val="2405359637"/>
                      </a:ext>
                    </a:extLst>
                  </a:tr>
                  <a:tr h="340504">
                    <a:tc>
                      <a:txBody>
                        <a:bodyPr/>
                        <a:lstStyle/>
                        <a:p>
                          <a:endParaRPr lang="zh-CN"/>
                        </a:p>
                      </a:txBody>
                      <a:tcPr marL="83960" marR="83960" marT="41980" marB="41980">
                        <a:blipFill>
                          <a:blip r:embed="rId4"/>
                          <a:stretch>
                            <a:fillRect t="-211111" r="-698649" b="-122222"/>
                          </a:stretch>
                        </a:blipFill>
                      </a:tcPr>
                    </a:tc>
                    <a:tc>
                      <a:txBody>
                        <a:bodyPr/>
                        <a:lstStyle/>
                        <a:p>
                          <a:endParaRPr lang="zh-CN" altLang="en-US" sz="1600"/>
                        </a:p>
                      </a:txBody>
                      <a:tcPr marL="83960" marR="83960" marT="41980" marB="41980"/>
                    </a:tc>
                    <a:tc>
                      <a:txBody>
                        <a:bodyPr/>
                        <a:lstStyle/>
                        <a:p>
                          <a:r>
                            <a:rPr lang="en-US" altLang="zh-CN" sz="1600" dirty="0"/>
                            <a:t>2</a:t>
                          </a:r>
                          <a:endParaRPr lang="zh-CN" altLang="en-US" sz="1600" dirty="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r>
                            <a:rPr lang="en-US" altLang="zh-CN" sz="1600" dirty="0"/>
                            <a:t>3</a:t>
                          </a:r>
                          <a:endParaRPr lang="zh-CN" altLang="en-US" sz="1600" dirty="0"/>
                        </a:p>
                      </a:txBody>
                      <a:tcPr marL="83960" marR="83960" marT="41980" marB="41980"/>
                    </a:tc>
                    <a:tc>
                      <a:txBody>
                        <a:bodyPr/>
                        <a:lstStyle/>
                        <a:p>
                          <a:endParaRPr lang="zh-CN" altLang="en-US" sz="1600"/>
                        </a:p>
                      </a:txBody>
                      <a:tcPr marL="83960" marR="83960" marT="41980" marB="41980"/>
                    </a:tc>
                    <a:extLst>
                      <a:ext uri="{0D108BD9-81ED-4DB2-BD59-A6C34878D82A}">
                        <a16:rowId xmlns:a16="http://schemas.microsoft.com/office/drawing/2014/main" val="3712762100"/>
                      </a:ext>
                    </a:extLst>
                  </a:tr>
                  <a:tr h="340504">
                    <a:tc>
                      <a:txBody>
                        <a:bodyPr/>
                        <a:lstStyle/>
                        <a:p>
                          <a:endParaRPr lang="zh-CN"/>
                        </a:p>
                      </a:txBody>
                      <a:tcPr marL="83960" marR="83960" marT="41980" marB="41980">
                        <a:blipFill>
                          <a:blip r:embed="rId4"/>
                          <a:stretch>
                            <a:fillRect t="-311111" r="-698649" b="-22222"/>
                          </a:stretch>
                        </a:blipFill>
                      </a:tcPr>
                    </a:tc>
                    <a:tc>
                      <a:txBody>
                        <a:bodyPr/>
                        <a:lstStyle/>
                        <a:p>
                          <a:endParaRPr lang="zh-CN" altLang="en-US" sz="1600"/>
                        </a:p>
                      </a:txBody>
                      <a:tcPr marL="83960" marR="83960" marT="41980" marB="41980"/>
                    </a:tc>
                    <a:tc>
                      <a:txBody>
                        <a:bodyPr/>
                        <a:lstStyle/>
                        <a:p>
                          <a:r>
                            <a:rPr lang="en-US" altLang="zh-CN" sz="1600" dirty="0"/>
                            <a:t>8</a:t>
                          </a:r>
                          <a:endParaRPr lang="zh-CN" altLang="en-US" sz="1600" dirty="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r>
                            <a:rPr lang="en-US" altLang="zh-CN" sz="1600" dirty="0"/>
                            <a:t>3</a:t>
                          </a:r>
                          <a:endParaRPr lang="zh-CN" altLang="en-US" sz="1600" dirty="0"/>
                        </a:p>
                      </a:txBody>
                      <a:tcPr marL="83960" marR="83960" marT="41980" marB="41980"/>
                    </a:tc>
                    <a:tc>
                      <a:txBody>
                        <a:bodyPr/>
                        <a:lstStyle/>
                        <a:p>
                          <a:endParaRPr lang="zh-CN" altLang="en-US" sz="1600" dirty="0"/>
                        </a:p>
                      </a:txBody>
                      <a:tcPr marL="83960" marR="83960" marT="41980" marB="41980"/>
                    </a:tc>
                    <a:extLst>
                      <a:ext uri="{0D108BD9-81ED-4DB2-BD59-A6C34878D82A}">
                        <a16:rowId xmlns:a16="http://schemas.microsoft.com/office/drawing/2014/main" val="1528045431"/>
                      </a:ext>
                    </a:extLst>
                  </a:tr>
                </a:tbl>
              </a:graphicData>
            </a:graphic>
          </p:graphicFrame>
        </mc:Fallback>
      </mc:AlternateContent>
      <p:graphicFrame>
        <p:nvGraphicFramePr>
          <p:cNvPr id="9" name="表格 8">
            <a:extLst>
              <a:ext uri="{FF2B5EF4-FFF2-40B4-BE49-F238E27FC236}">
                <a16:creationId xmlns:a16="http://schemas.microsoft.com/office/drawing/2014/main" id="{670C3468-7730-594D-B2AE-FC75B485FD86}"/>
              </a:ext>
            </a:extLst>
          </p:cNvPr>
          <p:cNvGraphicFramePr>
            <a:graphicFrameLocks noGrp="1"/>
          </p:cNvGraphicFramePr>
          <p:nvPr>
            <p:extLst>
              <p:ext uri="{D42A27DB-BD31-4B8C-83A1-F6EECF244321}">
                <p14:modId xmlns:p14="http://schemas.microsoft.com/office/powerpoint/2010/main" val="234164068"/>
              </p:ext>
            </p:extLst>
          </p:nvPr>
        </p:nvGraphicFramePr>
        <p:xfrm>
          <a:off x="2124835" y="3799477"/>
          <a:ext cx="7942330" cy="727344"/>
        </p:xfrm>
        <a:graphic>
          <a:graphicData uri="http://schemas.openxmlformats.org/drawingml/2006/table">
            <a:tbl>
              <a:tblPr firstRow="1" bandRow="1">
                <a:tableStyleId>{5C22544A-7EE6-4342-B048-85BDC9FD1C3A}</a:tableStyleId>
              </a:tblPr>
              <a:tblGrid>
                <a:gridCol w="794233">
                  <a:extLst>
                    <a:ext uri="{9D8B030D-6E8A-4147-A177-3AD203B41FA5}">
                      <a16:colId xmlns:a16="http://schemas.microsoft.com/office/drawing/2014/main" val="3075027732"/>
                    </a:ext>
                  </a:extLst>
                </a:gridCol>
                <a:gridCol w="794233">
                  <a:extLst>
                    <a:ext uri="{9D8B030D-6E8A-4147-A177-3AD203B41FA5}">
                      <a16:colId xmlns:a16="http://schemas.microsoft.com/office/drawing/2014/main" val="3117746449"/>
                    </a:ext>
                  </a:extLst>
                </a:gridCol>
                <a:gridCol w="794233">
                  <a:extLst>
                    <a:ext uri="{9D8B030D-6E8A-4147-A177-3AD203B41FA5}">
                      <a16:colId xmlns:a16="http://schemas.microsoft.com/office/drawing/2014/main" val="1810385056"/>
                    </a:ext>
                  </a:extLst>
                </a:gridCol>
                <a:gridCol w="794233">
                  <a:extLst>
                    <a:ext uri="{9D8B030D-6E8A-4147-A177-3AD203B41FA5}">
                      <a16:colId xmlns:a16="http://schemas.microsoft.com/office/drawing/2014/main" val="1673547724"/>
                    </a:ext>
                  </a:extLst>
                </a:gridCol>
                <a:gridCol w="794233">
                  <a:extLst>
                    <a:ext uri="{9D8B030D-6E8A-4147-A177-3AD203B41FA5}">
                      <a16:colId xmlns:a16="http://schemas.microsoft.com/office/drawing/2014/main" val="4269826386"/>
                    </a:ext>
                  </a:extLst>
                </a:gridCol>
                <a:gridCol w="794233">
                  <a:extLst>
                    <a:ext uri="{9D8B030D-6E8A-4147-A177-3AD203B41FA5}">
                      <a16:colId xmlns:a16="http://schemas.microsoft.com/office/drawing/2014/main" val="1057866251"/>
                    </a:ext>
                  </a:extLst>
                </a:gridCol>
                <a:gridCol w="794233">
                  <a:extLst>
                    <a:ext uri="{9D8B030D-6E8A-4147-A177-3AD203B41FA5}">
                      <a16:colId xmlns:a16="http://schemas.microsoft.com/office/drawing/2014/main" val="4130299171"/>
                    </a:ext>
                  </a:extLst>
                </a:gridCol>
                <a:gridCol w="794233">
                  <a:extLst>
                    <a:ext uri="{9D8B030D-6E8A-4147-A177-3AD203B41FA5}">
                      <a16:colId xmlns:a16="http://schemas.microsoft.com/office/drawing/2014/main" val="2067509815"/>
                    </a:ext>
                  </a:extLst>
                </a:gridCol>
                <a:gridCol w="794233">
                  <a:extLst>
                    <a:ext uri="{9D8B030D-6E8A-4147-A177-3AD203B41FA5}">
                      <a16:colId xmlns:a16="http://schemas.microsoft.com/office/drawing/2014/main" val="2000875365"/>
                    </a:ext>
                  </a:extLst>
                </a:gridCol>
                <a:gridCol w="794233">
                  <a:extLst>
                    <a:ext uri="{9D8B030D-6E8A-4147-A177-3AD203B41FA5}">
                      <a16:colId xmlns:a16="http://schemas.microsoft.com/office/drawing/2014/main" val="2851080435"/>
                    </a:ext>
                  </a:extLst>
                </a:gridCol>
              </a:tblGrid>
              <a:tr h="362369">
                <a:tc>
                  <a:txBody>
                    <a:bodyPr/>
                    <a:lstStyle/>
                    <a:p>
                      <a:r>
                        <a:rPr lang="en-US" altLang="zh-CN" sz="1800" dirty="0"/>
                        <a:t>0</a:t>
                      </a:r>
                      <a:endParaRPr lang="zh-CN" altLang="en-US" sz="1800" dirty="0"/>
                    </a:p>
                  </a:txBody>
                  <a:tcPr marL="89351" marR="89351" marT="44676" marB="44676"/>
                </a:tc>
                <a:tc>
                  <a:txBody>
                    <a:bodyPr/>
                    <a:lstStyle/>
                    <a:p>
                      <a:r>
                        <a:rPr lang="en-US" altLang="zh-CN" sz="1800" dirty="0"/>
                        <a:t>1</a:t>
                      </a:r>
                      <a:endParaRPr lang="zh-CN" altLang="en-US" sz="1800" dirty="0"/>
                    </a:p>
                  </a:txBody>
                  <a:tcPr marL="89351" marR="89351" marT="44676" marB="44676"/>
                </a:tc>
                <a:tc>
                  <a:txBody>
                    <a:bodyPr/>
                    <a:lstStyle/>
                    <a:p>
                      <a:r>
                        <a:rPr lang="en-US" altLang="zh-CN" sz="1800" dirty="0"/>
                        <a:t>2</a:t>
                      </a:r>
                      <a:endParaRPr lang="zh-CN" altLang="en-US" sz="1800" dirty="0"/>
                    </a:p>
                  </a:txBody>
                  <a:tcPr marL="89351" marR="89351" marT="44676" marB="44676"/>
                </a:tc>
                <a:tc>
                  <a:txBody>
                    <a:bodyPr/>
                    <a:lstStyle/>
                    <a:p>
                      <a:r>
                        <a:rPr lang="en-US" altLang="zh-CN" sz="1800" dirty="0"/>
                        <a:t>3</a:t>
                      </a:r>
                      <a:endParaRPr lang="zh-CN" altLang="en-US" sz="1800" dirty="0"/>
                    </a:p>
                  </a:txBody>
                  <a:tcPr marL="89351" marR="89351" marT="44676" marB="44676"/>
                </a:tc>
                <a:tc>
                  <a:txBody>
                    <a:bodyPr/>
                    <a:lstStyle/>
                    <a:p>
                      <a:r>
                        <a:rPr lang="en-US" altLang="zh-CN" sz="1800" dirty="0"/>
                        <a:t>4</a:t>
                      </a:r>
                      <a:endParaRPr lang="zh-CN" altLang="en-US" sz="1800" dirty="0"/>
                    </a:p>
                  </a:txBody>
                  <a:tcPr marL="89351" marR="89351" marT="44676" marB="44676"/>
                </a:tc>
                <a:tc>
                  <a:txBody>
                    <a:bodyPr/>
                    <a:lstStyle/>
                    <a:p>
                      <a:r>
                        <a:rPr lang="en-US" altLang="zh-CN" sz="1800" dirty="0"/>
                        <a:t>5</a:t>
                      </a:r>
                      <a:endParaRPr lang="zh-CN" altLang="en-US" sz="1800" dirty="0"/>
                    </a:p>
                  </a:txBody>
                  <a:tcPr marL="89351" marR="89351" marT="44676" marB="44676"/>
                </a:tc>
                <a:tc>
                  <a:txBody>
                    <a:bodyPr/>
                    <a:lstStyle/>
                    <a:p>
                      <a:r>
                        <a:rPr lang="en-US" altLang="zh-CN" sz="1800" dirty="0"/>
                        <a:t>6</a:t>
                      </a:r>
                      <a:endParaRPr lang="zh-CN" altLang="en-US" sz="1800" dirty="0"/>
                    </a:p>
                  </a:txBody>
                  <a:tcPr marL="89351" marR="89351" marT="44676" marB="44676"/>
                </a:tc>
                <a:tc>
                  <a:txBody>
                    <a:bodyPr/>
                    <a:lstStyle/>
                    <a:p>
                      <a:r>
                        <a:rPr lang="en-US" altLang="zh-CN" sz="1800" dirty="0"/>
                        <a:t>7</a:t>
                      </a:r>
                      <a:endParaRPr lang="zh-CN" altLang="en-US" sz="1800" dirty="0"/>
                    </a:p>
                  </a:txBody>
                  <a:tcPr marL="89351" marR="89351" marT="44676" marB="44676"/>
                </a:tc>
                <a:tc>
                  <a:txBody>
                    <a:bodyPr/>
                    <a:lstStyle/>
                    <a:p>
                      <a:r>
                        <a:rPr lang="en-US" altLang="zh-CN" sz="1800" dirty="0"/>
                        <a:t>8</a:t>
                      </a:r>
                      <a:endParaRPr lang="zh-CN" altLang="en-US" sz="1800" dirty="0"/>
                    </a:p>
                  </a:txBody>
                  <a:tcPr marL="89351" marR="89351" marT="44676" marB="44676"/>
                </a:tc>
                <a:tc>
                  <a:txBody>
                    <a:bodyPr/>
                    <a:lstStyle/>
                    <a:p>
                      <a:r>
                        <a:rPr lang="en-US" altLang="zh-CN" sz="1800" dirty="0"/>
                        <a:t>9</a:t>
                      </a:r>
                      <a:endParaRPr lang="zh-CN" altLang="en-US" sz="1800" dirty="0"/>
                    </a:p>
                  </a:txBody>
                  <a:tcPr marL="89351" marR="89351" marT="44676" marB="44676"/>
                </a:tc>
                <a:extLst>
                  <a:ext uri="{0D108BD9-81ED-4DB2-BD59-A6C34878D82A}">
                    <a16:rowId xmlns:a16="http://schemas.microsoft.com/office/drawing/2014/main" val="1050428252"/>
                  </a:ext>
                </a:extLst>
              </a:tr>
              <a:tr h="362369">
                <a:tc>
                  <a:txBody>
                    <a:bodyPr/>
                    <a:lstStyle/>
                    <a:p>
                      <a:r>
                        <a:rPr lang="en-US" altLang="zh-CN" sz="1800" dirty="0"/>
                        <a:t>21</a:t>
                      </a:r>
                      <a:endParaRPr lang="zh-CN" altLang="en-US" sz="1800" dirty="0"/>
                    </a:p>
                  </a:txBody>
                  <a:tcPr marL="89351" marR="89351" marT="44676" marB="44676"/>
                </a:tc>
                <a:tc>
                  <a:txBody>
                    <a:bodyPr/>
                    <a:lstStyle/>
                    <a:p>
                      <a:r>
                        <a:rPr lang="en-US" altLang="zh-CN" sz="1800" dirty="0"/>
                        <a:t>14</a:t>
                      </a:r>
                      <a:endParaRPr lang="zh-CN" altLang="en-US" sz="1800" dirty="0"/>
                    </a:p>
                  </a:txBody>
                  <a:tcPr marL="89351" marR="89351" marT="44676" marB="44676"/>
                </a:tc>
                <a:tc>
                  <a:txBody>
                    <a:bodyPr/>
                    <a:lstStyle/>
                    <a:p>
                      <a:r>
                        <a:rPr lang="en-US" altLang="zh-CN" sz="1800" dirty="0"/>
                        <a:t>3</a:t>
                      </a:r>
                      <a:endParaRPr lang="zh-CN" altLang="en-US" sz="1800" dirty="0"/>
                    </a:p>
                  </a:txBody>
                  <a:tcPr marL="89351" marR="89351" marT="44676" marB="44676"/>
                </a:tc>
                <a:tc>
                  <a:txBody>
                    <a:bodyPr/>
                    <a:lstStyle/>
                    <a:p>
                      <a:r>
                        <a:rPr lang="en-US" altLang="zh-CN" sz="1800" dirty="0"/>
                        <a:t>5</a:t>
                      </a:r>
                      <a:endParaRPr lang="zh-CN" altLang="en-US" sz="1800" dirty="0"/>
                    </a:p>
                  </a:txBody>
                  <a:tcPr marL="89351" marR="89351" marT="44676" marB="44676"/>
                </a:tc>
                <a:tc>
                  <a:txBody>
                    <a:bodyPr/>
                    <a:lstStyle/>
                    <a:p>
                      <a:r>
                        <a:rPr lang="en-US" altLang="zh-CN" sz="1800" dirty="0"/>
                        <a:t>20</a:t>
                      </a:r>
                      <a:endParaRPr lang="zh-CN" altLang="en-US" sz="1800" dirty="0"/>
                    </a:p>
                  </a:txBody>
                  <a:tcPr marL="89351" marR="89351" marT="44676" marB="44676"/>
                </a:tc>
                <a:tc>
                  <a:txBody>
                    <a:bodyPr/>
                    <a:lstStyle/>
                    <a:p>
                      <a:endParaRPr lang="zh-CN" altLang="en-US" sz="1800" dirty="0"/>
                    </a:p>
                  </a:txBody>
                  <a:tcPr marL="89351" marR="89351" marT="44676" marB="44676"/>
                </a:tc>
                <a:tc>
                  <a:txBody>
                    <a:bodyPr/>
                    <a:lstStyle/>
                    <a:p>
                      <a:r>
                        <a:rPr lang="en-US" altLang="zh-CN" sz="1800" dirty="0"/>
                        <a:t>9</a:t>
                      </a:r>
                      <a:endParaRPr lang="zh-CN" altLang="en-US" sz="1800" dirty="0"/>
                    </a:p>
                  </a:txBody>
                  <a:tcPr marL="89351" marR="89351" marT="44676" marB="44676"/>
                </a:tc>
                <a:tc>
                  <a:txBody>
                    <a:bodyPr/>
                    <a:lstStyle/>
                    <a:p>
                      <a:r>
                        <a:rPr lang="en-US" altLang="zh-CN" sz="1800" dirty="0"/>
                        <a:t>37</a:t>
                      </a:r>
                      <a:endParaRPr lang="zh-CN" altLang="en-US" sz="1800" dirty="0"/>
                    </a:p>
                  </a:txBody>
                  <a:tcPr marL="89351" marR="89351" marT="44676" marB="44676"/>
                </a:tc>
                <a:tc>
                  <a:txBody>
                    <a:bodyPr/>
                    <a:lstStyle/>
                    <a:p>
                      <a:endParaRPr lang="zh-CN" altLang="en-US" sz="1800"/>
                    </a:p>
                  </a:txBody>
                  <a:tcPr marL="89351" marR="89351" marT="44676" marB="44676"/>
                </a:tc>
                <a:tc>
                  <a:txBody>
                    <a:bodyPr/>
                    <a:lstStyle/>
                    <a:p>
                      <a:endParaRPr lang="zh-CN" altLang="en-US" sz="1800" dirty="0"/>
                    </a:p>
                  </a:txBody>
                  <a:tcPr marL="89351" marR="89351" marT="44676" marB="44676"/>
                </a:tc>
                <a:extLst>
                  <a:ext uri="{0D108BD9-81ED-4DB2-BD59-A6C34878D82A}">
                    <a16:rowId xmlns:a16="http://schemas.microsoft.com/office/drawing/2014/main" val="3914781930"/>
                  </a:ext>
                </a:extLst>
              </a:tr>
            </a:tbl>
          </a:graphicData>
        </a:graphic>
      </p:graphicFrame>
    </p:spTree>
    <p:extLst>
      <p:ext uri="{BB962C8B-B14F-4D97-AF65-F5344CB8AC3E}">
        <p14:creationId xmlns:p14="http://schemas.microsoft.com/office/powerpoint/2010/main" val="3605699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10</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4633576"/>
              </a:xfrm>
              <a:prstGeom prst="rect">
                <a:avLst/>
              </a:prstGeom>
            </p:spPr>
            <p:txBody>
              <a:bodyPr wrap="square">
                <a:spAutoFit/>
              </a:bodyPr>
              <a:lstStyle/>
              <a:p>
                <a:r>
                  <a:rPr kumimoji="1" lang="zh-CN" altLang="en-US" sz="2200" dirty="0">
                    <a:latin typeface="SimSun" panose="02010600030101010101" pitchFamily="2" charset="-122"/>
                    <a:ea typeface="SimSun" panose="02010600030101010101" pitchFamily="2" charset="-122"/>
                  </a:rPr>
                  <a:t>散列值如下（仅给出了必要的</a:t>
                </a:r>
                <a14:m>
                  <m:oMath xmlns:m="http://schemas.openxmlformats.org/officeDocument/2006/math">
                    <m:r>
                      <a:rPr kumimoji="1" lang="en-US" altLang="zh-CN" sz="2200" i="1">
                        <a:latin typeface="Cambria Math" panose="02040503050406030204" pitchFamily="18" charset="0"/>
                      </a:rPr>
                      <m:t>𝑟h</m:t>
                    </m:r>
                  </m:oMath>
                </a14:m>
                <a:r>
                  <a:rPr kumimoji="1" lang="zh-CN" altLang="en-US" sz="2200" dirty="0">
                    <a:latin typeface="SimSun" panose="02010600030101010101" pitchFamily="2" charset="-122"/>
                    <a:ea typeface="SimSun" panose="02010600030101010101" pitchFamily="2" charset="-122"/>
                  </a:rPr>
                  <a:t>值）：</a:t>
                </a:r>
                <a:endParaRPr kumimoji="1" lang="en-US" altLang="zh-CN" sz="2200" dirty="0">
                  <a:latin typeface="SimSun" panose="02010600030101010101" pitchFamily="2" charset="-122"/>
                  <a:ea typeface="SimSun" panose="02010600030101010101" pitchFamily="2" charset="-122"/>
                </a:endParaRPr>
              </a:p>
              <a:p>
                <a:endParaRPr kumimoji="1" lang="en-US" altLang="zh-CN" sz="2200" dirty="0">
                  <a:latin typeface="SimSun" panose="02010600030101010101" pitchFamily="2" charset="-122"/>
                  <a:ea typeface="SimSun" panose="02010600030101010101" pitchFamily="2" charset="-122"/>
                </a:endParaRPr>
              </a:p>
              <a:p>
                <a:endParaRPr kumimoji="1" lang="en-US" altLang="zh-CN" sz="2200" dirty="0">
                  <a:latin typeface="SimSun" panose="02010600030101010101" pitchFamily="2" charset="-122"/>
                  <a:ea typeface="SimSun" panose="02010600030101010101" pitchFamily="2" charset="-122"/>
                </a:endParaRPr>
              </a:p>
              <a:p>
                <a:endParaRPr kumimoji="1" lang="en-US" altLang="zh-CN" sz="2200" dirty="0">
                  <a:latin typeface="SimSun" panose="02010600030101010101" pitchFamily="2" charset="-122"/>
                  <a:ea typeface="SimSun" panose="02010600030101010101" pitchFamily="2" charset="-122"/>
                </a:endParaRPr>
              </a:p>
              <a:p>
                <a:endParaRPr kumimoji="1" lang="en-US" altLang="zh-CN" sz="2200" dirty="0">
                  <a:latin typeface="SimSun" panose="02010600030101010101" pitchFamily="2" charset="-122"/>
                  <a:ea typeface="SimSun" panose="02010600030101010101" pitchFamily="2" charset="-122"/>
                </a:endParaRPr>
              </a:p>
              <a:p>
                <a:pPr marL="514350" indent="-514350">
                  <a:buAutoNum type="arabicParenBoth"/>
                </a:pPr>
                <a:endParaRPr kumimoji="1" lang="en-US" altLang="zh-CN" sz="2200" dirty="0">
                  <a:latin typeface="SimSun" panose="02010600030101010101" pitchFamily="2" charset="-122"/>
                  <a:ea typeface="SimSun" panose="02010600030101010101" pitchFamily="2" charset="-122"/>
                </a:endParaRPr>
              </a:p>
              <a:p>
                <a:pPr marL="514350" indent="-514350">
                  <a:buFont typeface="Wingdings" pitchFamily="2" charset="2"/>
                  <a:buAutoNum type="arabicParenBoth" startAt="2"/>
                </a:pPr>
                <a:r>
                  <a:rPr kumimoji="1" lang="zh-CN" altLang="en-US" sz="2200" dirty="0">
                    <a:latin typeface="SimSun" panose="02010600030101010101" pitchFamily="2" charset="-122"/>
                    <a:ea typeface="SimSun" panose="02010600030101010101" pitchFamily="2" charset="-122"/>
                  </a:rPr>
                  <a:t>双散列法</a:t>
                </a:r>
                <a:endParaRPr kumimoji="1" lang="en-US" altLang="zh-CN" sz="2200" dirty="0">
                  <a:latin typeface="SimSun" panose="02010600030101010101" pitchFamily="2" charset="-122"/>
                  <a:ea typeface="SimSun" panose="02010600030101010101" pitchFamily="2" charset="-122"/>
                </a:endParaRPr>
              </a:p>
              <a:p>
                <a:r>
                  <a:rPr kumimoji="1" lang="zh-CN" altLang="en-US" sz="2200" dirty="0">
                    <a:latin typeface="SimSun" panose="02010600030101010101" pitchFamily="2" charset="-122"/>
                    <a:ea typeface="SimSun" panose="02010600030101010101" pitchFamily="2" charset="-122"/>
                  </a:rPr>
                  <a:t>散列表：</a:t>
                </a:r>
                <a:endParaRPr kumimoji="1" lang="en-US" altLang="zh-CN" sz="2200" dirty="0">
                  <a:latin typeface="SimSun" panose="02010600030101010101" pitchFamily="2" charset="-122"/>
                  <a:ea typeface="SimSun" panose="02010600030101010101" pitchFamily="2" charset="-122"/>
                </a:endParaRPr>
              </a:p>
              <a:p>
                <a:endParaRPr kumimoji="1" lang="en-US" altLang="zh-CN" sz="2200" dirty="0">
                  <a:latin typeface="SimSun" panose="02010600030101010101" pitchFamily="2" charset="-122"/>
                  <a:ea typeface="SimSun" panose="02010600030101010101" pitchFamily="2" charset="-122"/>
                </a:endParaRPr>
              </a:p>
              <a:p>
                <a:endParaRPr kumimoji="1" lang="en-US" altLang="zh-CN" sz="2200" dirty="0">
                  <a:latin typeface="SimSun" panose="02010600030101010101" pitchFamily="2" charset="-122"/>
                  <a:ea typeface="SimSun" panose="02010600030101010101" pitchFamily="2" charset="-122"/>
                </a:endParaRPr>
              </a:p>
              <a:p>
                <a:r>
                  <a:rPr kumimoji="1" lang="zh-CN" altLang="en-US" sz="2200" dirty="0">
                    <a:latin typeface="SimSun" panose="02010600030101010101" pitchFamily="2" charset="-122"/>
                    <a:ea typeface="SimSun" panose="02010600030101010101" pitchFamily="2" charset="-122"/>
                  </a:rPr>
                  <a:t>其中</a:t>
                </a:r>
                <a:r>
                  <a:rPr kumimoji="1" lang="en-US" altLang="zh-CN" sz="2200" dirty="0">
                    <a:latin typeface="SimSun" panose="02010600030101010101" pitchFamily="2" charset="-122"/>
                    <a:ea typeface="SimSun" panose="02010600030101010101" pitchFamily="2" charset="-122"/>
                  </a:rPr>
                  <a:t>14</a:t>
                </a:r>
                <a:r>
                  <a:rPr kumimoji="1" lang="zh-CN" altLang="en-US" sz="2200" dirty="0">
                    <a:latin typeface="SimSun" panose="02010600030101010101" pitchFamily="2" charset="-122"/>
                    <a:ea typeface="SimSun" panose="02010600030101010101" pitchFamily="2" charset="-122"/>
                  </a:rPr>
                  <a:t>和</a:t>
                </a:r>
                <a:r>
                  <a:rPr kumimoji="1" lang="en-US" altLang="zh-CN" sz="2200" dirty="0">
                    <a:latin typeface="SimSun" panose="02010600030101010101" pitchFamily="2" charset="-122"/>
                    <a:ea typeface="SimSun" panose="02010600030101010101" pitchFamily="2" charset="-122"/>
                  </a:rPr>
                  <a:t>37</a:t>
                </a:r>
                <a:r>
                  <a:rPr kumimoji="1" lang="zh-CN" altLang="en-US" sz="2200" dirty="0">
                    <a:latin typeface="SimSun" panose="02010600030101010101" pitchFamily="2" charset="-122"/>
                    <a:ea typeface="SimSun" panose="02010600030101010101" pitchFamily="2" charset="-122"/>
                  </a:rPr>
                  <a:t>的检索长度为</a:t>
                </a:r>
                <a:r>
                  <a:rPr kumimoji="1" lang="en-US" altLang="zh-CN" sz="2200" dirty="0">
                    <a:latin typeface="SimSun" panose="02010600030101010101" pitchFamily="2" charset="-122"/>
                    <a:ea typeface="SimSun" panose="02010600030101010101" pitchFamily="2" charset="-122"/>
                  </a:rPr>
                  <a:t>2</a:t>
                </a:r>
                <a:r>
                  <a:rPr kumimoji="1" lang="zh-CN" altLang="en-US" sz="2200" dirty="0">
                    <a:latin typeface="SimSun" panose="02010600030101010101" pitchFamily="2" charset="-122"/>
                    <a:ea typeface="SimSun" panose="02010600030101010101" pitchFamily="2" charset="-122"/>
                  </a:rPr>
                  <a:t>，其余元素的检索长度均为</a:t>
                </a:r>
                <a:r>
                  <a:rPr kumimoji="1" lang="en-US" altLang="zh-CN" sz="2200" dirty="0">
                    <a:latin typeface="SimSun" panose="02010600030101010101" pitchFamily="2" charset="-122"/>
                    <a:ea typeface="SimSun" panose="02010600030101010101" pitchFamily="2" charset="-122"/>
                  </a:rPr>
                  <a:t>1. </a:t>
                </a:r>
                <a:r>
                  <a:rPr kumimoji="1" lang="zh-CN" altLang="en-US" sz="2200" dirty="0">
                    <a:latin typeface="SimSun" panose="02010600030101010101" pitchFamily="2" charset="-122"/>
                    <a:ea typeface="SimSun" panose="02010600030101010101" pitchFamily="2" charset="-122"/>
                  </a:rPr>
                  <a:t>因此等概率情况下检索成功时的</a:t>
                </a:r>
                <a14:m>
                  <m:oMath xmlns:m="http://schemas.openxmlformats.org/officeDocument/2006/math">
                    <m:r>
                      <a:rPr kumimoji="1" lang="en-US" altLang="zh-CN" sz="2200" i="1">
                        <a:latin typeface="Cambria Math" panose="02040503050406030204" pitchFamily="18" charset="0"/>
                      </a:rPr>
                      <m:t>𝐴𝑆𝐿</m:t>
                    </m:r>
                    <m:r>
                      <a:rPr kumimoji="1" lang="en-US" altLang="zh-CN" sz="2200" i="1">
                        <a:latin typeface="Cambria Math" panose="02040503050406030204" pitchFamily="18" charset="0"/>
                      </a:rPr>
                      <m:t>=</m:t>
                    </m:r>
                    <m:f>
                      <m:fPr>
                        <m:ctrlPr>
                          <a:rPr kumimoji="1" lang="en-US" altLang="zh-CN" sz="2200" i="1">
                            <a:latin typeface="Cambria Math" panose="02040503050406030204" pitchFamily="18" charset="0"/>
                          </a:rPr>
                        </m:ctrlPr>
                      </m:fPr>
                      <m:num>
                        <m:r>
                          <a:rPr kumimoji="1" lang="en-US" altLang="zh-CN" sz="2200" i="1">
                            <a:latin typeface="Cambria Math" panose="02040503050406030204" pitchFamily="18" charset="0"/>
                          </a:rPr>
                          <m:t>1</m:t>
                        </m:r>
                      </m:num>
                      <m:den>
                        <m:r>
                          <a:rPr kumimoji="1" lang="en-US" altLang="zh-CN" sz="2200" i="1">
                            <a:latin typeface="Cambria Math" panose="02040503050406030204" pitchFamily="18" charset="0"/>
                          </a:rPr>
                          <m:t>7</m:t>
                        </m:r>
                      </m:den>
                    </m:f>
                    <m:d>
                      <m:dPr>
                        <m:ctrlPr>
                          <a:rPr kumimoji="1" lang="en-US" altLang="zh-CN" sz="2200" i="1">
                            <a:latin typeface="Cambria Math" panose="02040503050406030204" pitchFamily="18" charset="0"/>
                          </a:rPr>
                        </m:ctrlPr>
                      </m:dPr>
                      <m:e>
                        <m:r>
                          <a:rPr kumimoji="1" lang="en-US" altLang="zh-CN" sz="2200" b="0" i="1" smtClean="0">
                            <a:latin typeface="Cambria Math" panose="02040503050406030204" pitchFamily="18" charset="0"/>
                          </a:rPr>
                          <m:t>5</m:t>
                        </m:r>
                        <m:r>
                          <a:rPr kumimoji="1" lang="en-US" altLang="zh-CN" sz="2200" i="1">
                            <a:latin typeface="Cambria Math" panose="02040503050406030204" pitchFamily="18" charset="0"/>
                          </a:rPr>
                          <m:t>×1+2×2</m:t>
                        </m:r>
                      </m:e>
                    </m:d>
                    <m:r>
                      <a:rPr kumimoji="1" lang="en-US" altLang="zh-CN" sz="2200" i="1">
                        <a:latin typeface="Cambria Math" panose="02040503050406030204" pitchFamily="18" charset="0"/>
                      </a:rPr>
                      <m:t>=</m:t>
                    </m:r>
                    <m:f>
                      <m:fPr>
                        <m:ctrlPr>
                          <a:rPr kumimoji="1" lang="en-US" altLang="zh-CN" sz="2200" i="1">
                            <a:latin typeface="Cambria Math" panose="02040503050406030204" pitchFamily="18" charset="0"/>
                          </a:rPr>
                        </m:ctrlPr>
                      </m:fPr>
                      <m:num>
                        <m:r>
                          <a:rPr kumimoji="1" lang="en-US" altLang="zh-CN" sz="2200" b="0" i="1" smtClean="0">
                            <a:latin typeface="Cambria Math" panose="02040503050406030204" pitchFamily="18" charset="0"/>
                          </a:rPr>
                          <m:t>9</m:t>
                        </m:r>
                      </m:num>
                      <m:den>
                        <m:r>
                          <a:rPr kumimoji="1" lang="en-US" altLang="zh-CN" sz="2200" i="1">
                            <a:latin typeface="Cambria Math" panose="02040503050406030204" pitchFamily="18" charset="0"/>
                          </a:rPr>
                          <m:t>7</m:t>
                        </m:r>
                      </m:den>
                    </m:f>
                  </m:oMath>
                </a14:m>
                <a:r>
                  <a:rPr kumimoji="1" lang="en-US" altLang="zh-CN" sz="2200" dirty="0">
                    <a:latin typeface="SimSun" panose="02010600030101010101" pitchFamily="2" charset="-122"/>
                    <a:ea typeface="SimSun" panose="02010600030101010101" pitchFamily="2" charset="-122"/>
                  </a:rPr>
                  <a:t>.</a:t>
                </a:r>
              </a:p>
              <a:p>
                <a:endParaRPr kumimoji="1" lang="zh-CN" altLang="en-US" sz="2200" dirty="0">
                  <a:latin typeface="SimSun" panose="02010600030101010101" pitchFamily="2" charset="-122"/>
                  <a:ea typeface="SimSun" panose="02010600030101010101" pitchFamily="2" charset="-122"/>
                </a:endParaRPr>
              </a:p>
            </p:txBody>
          </p:sp>
        </mc:Choice>
        <mc:Fallback xmlns="">
          <p:sp>
            <p:nvSpPr>
              <p:cNvPr id="6" name="矩形 5">
                <a:extLst>
                  <a:ext uri="{FF2B5EF4-FFF2-40B4-BE49-F238E27FC236}">
                    <a16:creationId xmlns:a16="http://schemas.microsoft.com/office/drawing/2014/main" id="{3C3F0337-28A5-4F58-B1B9-5F649DD54FE9}"/>
                  </a:ext>
                </a:extLst>
              </p:cNvPr>
              <p:cNvSpPr>
                <a:spLocks noRot="1" noChangeAspect="1" noMove="1" noResize="1" noEditPoints="1" noAdjustHandles="1" noChangeArrowheads="1" noChangeShapeType="1" noTextEdit="1"/>
              </p:cNvSpPr>
              <p:nvPr/>
            </p:nvSpPr>
            <p:spPr>
              <a:xfrm>
                <a:off x="1024646" y="1206681"/>
                <a:ext cx="10142708" cy="4633576"/>
              </a:xfrm>
              <a:prstGeom prst="rect">
                <a:avLst/>
              </a:prstGeom>
              <a:blipFill>
                <a:blip r:embed="rId3"/>
                <a:stretch>
                  <a:fillRect l="-750" t="-1370"/>
                </a:stretch>
              </a:blipFill>
            </p:spPr>
            <p:txBody>
              <a:bodyPr/>
              <a:lstStyle/>
              <a:p>
                <a:r>
                  <a:rPr lang="zh-CN" altLang="en-US">
                    <a:noFill/>
                  </a:rPr>
                  <a:t> </a:t>
                </a:r>
              </a:p>
            </p:txBody>
          </p:sp>
        </mc:Fallback>
      </mc:AlternateContent>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graphicFrame>
            <p:nvGraphicFramePr>
              <p:cNvPr id="7" name="表格 7">
                <a:extLst>
                  <a:ext uri="{FF2B5EF4-FFF2-40B4-BE49-F238E27FC236}">
                    <a16:creationId xmlns:a16="http://schemas.microsoft.com/office/drawing/2014/main" id="{6D369E00-FE3A-F34A-90A0-13D259CE41A6}"/>
                  </a:ext>
                </a:extLst>
              </p:cNvPr>
              <p:cNvGraphicFramePr>
                <a:graphicFrameLocks noGrp="1"/>
              </p:cNvGraphicFramePr>
              <p:nvPr/>
            </p:nvGraphicFramePr>
            <p:xfrm>
              <a:off x="2281950" y="1712927"/>
              <a:ext cx="7463096" cy="1362016"/>
            </p:xfrm>
            <a:graphic>
              <a:graphicData uri="http://schemas.openxmlformats.org/drawingml/2006/table">
                <a:tbl>
                  <a:tblPr firstRow="1" bandRow="1">
                    <a:tableStyleId>{5C22544A-7EE6-4342-B048-85BDC9FD1C3A}</a:tableStyleId>
                  </a:tblPr>
                  <a:tblGrid>
                    <a:gridCol w="932887">
                      <a:extLst>
                        <a:ext uri="{9D8B030D-6E8A-4147-A177-3AD203B41FA5}">
                          <a16:colId xmlns:a16="http://schemas.microsoft.com/office/drawing/2014/main" val="2454861973"/>
                        </a:ext>
                      </a:extLst>
                    </a:gridCol>
                    <a:gridCol w="932887">
                      <a:extLst>
                        <a:ext uri="{9D8B030D-6E8A-4147-A177-3AD203B41FA5}">
                          <a16:colId xmlns:a16="http://schemas.microsoft.com/office/drawing/2014/main" val="2045833956"/>
                        </a:ext>
                      </a:extLst>
                    </a:gridCol>
                    <a:gridCol w="932887">
                      <a:extLst>
                        <a:ext uri="{9D8B030D-6E8A-4147-A177-3AD203B41FA5}">
                          <a16:colId xmlns:a16="http://schemas.microsoft.com/office/drawing/2014/main" val="2694073020"/>
                        </a:ext>
                      </a:extLst>
                    </a:gridCol>
                    <a:gridCol w="932887">
                      <a:extLst>
                        <a:ext uri="{9D8B030D-6E8A-4147-A177-3AD203B41FA5}">
                          <a16:colId xmlns:a16="http://schemas.microsoft.com/office/drawing/2014/main" val="663347442"/>
                        </a:ext>
                      </a:extLst>
                    </a:gridCol>
                    <a:gridCol w="932887">
                      <a:extLst>
                        <a:ext uri="{9D8B030D-6E8A-4147-A177-3AD203B41FA5}">
                          <a16:colId xmlns:a16="http://schemas.microsoft.com/office/drawing/2014/main" val="151101909"/>
                        </a:ext>
                      </a:extLst>
                    </a:gridCol>
                    <a:gridCol w="932887">
                      <a:extLst>
                        <a:ext uri="{9D8B030D-6E8A-4147-A177-3AD203B41FA5}">
                          <a16:colId xmlns:a16="http://schemas.microsoft.com/office/drawing/2014/main" val="3568002599"/>
                        </a:ext>
                      </a:extLst>
                    </a:gridCol>
                    <a:gridCol w="932887">
                      <a:extLst>
                        <a:ext uri="{9D8B030D-6E8A-4147-A177-3AD203B41FA5}">
                          <a16:colId xmlns:a16="http://schemas.microsoft.com/office/drawing/2014/main" val="2603070470"/>
                        </a:ext>
                      </a:extLst>
                    </a:gridCol>
                    <a:gridCol w="932887">
                      <a:extLst>
                        <a:ext uri="{9D8B030D-6E8A-4147-A177-3AD203B41FA5}">
                          <a16:colId xmlns:a16="http://schemas.microsoft.com/office/drawing/2014/main" val="3783146791"/>
                        </a:ext>
                      </a:extLst>
                    </a:gridCol>
                  </a:tblGrid>
                  <a:tr h="340504">
                    <a:tc>
                      <a:txBody>
                        <a:bodyPr/>
                        <a:lstStyle/>
                        <a:p>
                          <a:endParaRPr lang="zh-CN" altLang="en-US" sz="1600" dirty="0"/>
                        </a:p>
                      </a:txBody>
                      <a:tcPr marL="83960" marR="83960" marT="41980" marB="41980"/>
                    </a:tc>
                    <a:tc>
                      <a:txBody>
                        <a:bodyPr/>
                        <a:lstStyle/>
                        <a:p>
                          <a:r>
                            <a:rPr lang="en-US" altLang="zh-CN" sz="1600" dirty="0"/>
                            <a:t>9</a:t>
                          </a:r>
                          <a:endParaRPr lang="zh-CN" altLang="en-US" sz="1600" dirty="0"/>
                        </a:p>
                      </a:txBody>
                      <a:tcPr marL="83960" marR="83960" marT="41980" marB="41980"/>
                    </a:tc>
                    <a:tc>
                      <a:txBody>
                        <a:bodyPr/>
                        <a:lstStyle/>
                        <a:p>
                          <a:r>
                            <a:rPr lang="en-US" altLang="zh-CN" sz="1600" dirty="0"/>
                            <a:t>37</a:t>
                          </a:r>
                          <a:endParaRPr lang="zh-CN" altLang="en-US" sz="1600" dirty="0"/>
                        </a:p>
                      </a:txBody>
                      <a:tcPr marL="83960" marR="83960" marT="41980" marB="41980"/>
                    </a:tc>
                    <a:tc>
                      <a:txBody>
                        <a:bodyPr/>
                        <a:lstStyle/>
                        <a:p>
                          <a:r>
                            <a:rPr lang="en-US" altLang="zh-CN" sz="1600" dirty="0"/>
                            <a:t>21</a:t>
                          </a:r>
                          <a:endParaRPr lang="zh-CN" altLang="en-US" sz="1600" dirty="0"/>
                        </a:p>
                      </a:txBody>
                      <a:tcPr marL="83960" marR="83960" marT="41980" marB="41980"/>
                    </a:tc>
                    <a:tc>
                      <a:txBody>
                        <a:bodyPr/>
                        <a:lstStyle/>
                        <a:p>
                          <a:r>
                            <a:rPr lang="en-US" altLang="zh-CN" sz="1600" dirty="0"/>
                            <a:t>20</a:t>
                          </a:r>
                          <a:endParaRPr lang="zh-CN" altLang="en-US" sz="1600" dirty="0"/>
                        </a:p>
                      </a:txBody>
                      <a:tcPr marL="83960" marR="83960" marT="41980" marB="41980"/>
                    </a:tc>
                    <a:tc>
                      <a:txBody>
                        <a:bodyPr/>
                        <a:lstStyle/>
                        <a:p>
                          <a:r>
                            <a:rPr lang="en-US" altLang="zh-CN" sz="1600" dirty="0"/>
                            <a:t>3</a:t>
                          </a:r>
                          <a:endParaRPr lang="zh-CN" altLang="en-US" sz="1600" dirty="0"/>
                        </a:p>
                      </a:txBody>
                      <a:tcPr marL="83960" marR="83960" marT="41980" marB="41980"/>
                    </a:tc>
                    <a:tc>
                      <a:txBody>
                        <a:bodyPr/>
                        <a:lstStyle/>
                        <a:p>
                          <a:r>
                            <a:rPr lang="en-US" altLang="zh-CN" sz="1600" dirty="0"/>
                            <a:t>14</a:t>
                          </a:r>
                          <a:endParaRPr lang="zh-CN" altLang="en-US" sz="1600" dirty="0"/>
                        </a:p>
                      </a:txBody>
                      <a:tcPr marL="83960" marR="83960" marT="41980" marB="41980"/>
                    </a:tc>
                    <a:tc>
                      <a:txBody>
                        <a:bodyPr/>
                        <a:lstStyle/>
                        <a:p>
                          <a:r>
                            <a:rPr lang="en-US" altLang="zh-CN" sz="1600" dirty="0"/>
                            <a:t>5</a:t>
                          </a:r>
                          <a:endParaRPr lang="zh-CN" altLang="en-US" sz="1600" dirty="0"/>
                        </a:p>
                      </a:txBody>
                      <a:tcPr marL="83960" marR="83960" marT="41980" marB="41980"/>
                    </a:tc>
                    <a:extLst>
                      <a:ext uri="{0D108BD9-81ED-4DB2-BD59-A6C34878D82A}">
                        <a16:rowId xmlns:a16="http://schemas.microsoft.com/office/drawing/2014/main" val="4165777326"/>
                      </a:ext>
                    </a:extLst>
                  </a:tr>
                  <a:tr h="340504">
                    <a:tc>
                      <a:txBody>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h</m:t>
                                </m:r>
                                <m:r>
                                  <a:rPr lang="en-US" altLang="zh-CN" sz="1600" b="0" i="1" smtClean="0">
                                    <a:latin typeface="Cambria Math" panose="02040503050406030204" pitchFamily="18" charset="0"/>
                                  </a:rPr>
                                  <m:t>(⋅)</m:t>
                                </m:r>
                              </m:oMath>
                            </m:oMathPara>
                          </a14:m>
                          <a:endParaRPr lang="zh-CN" altLang="en-US" sz="1600" dirty="0"/>
                        </a:p>
                      </a:txBody>
                      <a:tcPr marL="83960" marR="83960" marT="41980" marB="41980"/>
                    </a:tc>
                    <a:tc>
                      <a:txBody>
                        <a:bodyPr/>
                        <a:lstStyle/>
                        <a:p>
                          <a:r>
                            <a:rPr lang="en-US" altLang="zh-CN" sz="1600" dirty="0"/>
                            <a:t>6</a:t>
                          </a:r>
                          <a:endParaRPr lang="zh-CN" altLang="en-US" sz="1600" dirty="0"/>
                        </a:p>
                      </a:txBody>
                      <a:tcPr marL="83960" marR="83960" marT="41980" marB="41980"/>
                    </a:tc>
                    <a:tc>
                      <a:txBody>
                        <a:bodyPr/>
                        <a:lstStyle/>
                        <a:p>
                          <a:r>
                            <a:rPr lang="en-US" altLang="zh-CN" sz="1600" dirty="0"/>
                            <a:t>6</a:t>
                          </a:r>
                          <a:endParaRPr lang="zh-CN" altLang="en-US" sz="1600" dirty="0"/>
                        </a:p>
                      </a:txBody>
                      <a:tcPr marL="83960" marR="83960" marT="41980" marB="41980"/>
                    </a:tc>
                    <a:tc>
                      <a:txBody>
                        <a:bodyPr/>
                        <a:lstStyle/>
                        <a:p>
                          <a:r>
                            <a:rPr lang="en-US" altLang="zh-CN" sz="1600" dirty="0"/>
                            <a:t>0</a:t>
                          </a:r>
                          <a:endParaRPr lang="zh-CN" altLang="en-US" sz="1600" dirty="0"/>
                        </a:p>
                      </a:txBody>
                      <a:tcPr marL="83960" marR="83960" marT="41980" marB="41980"/>
                    </a:tc>
                    <a:tc>
                      <a:txBody>
                        <a:bodyPr/>
                        <a:lstStyle/>
                        <a:p>
                          <a:r>
                            <a:rPr lang="en-US" altLang="zh-CN" sz="1600" dirty="0"/>
                            <a:t>4</a:t>
                          </a:r>
                          <a:endParaRPr lang="zh-CN" altLang="en-US" sz="1600" dirty="0"/>
                        </a:p>
                      </a:txBody>
                      <a:tcPr marL="83960" marR="83960" marT="41980" marB="41980"/>
                    </a:tc>
                    <a:tc>
                      <a:txBody>
                        <a:bodyPr/>
                        <a:lstStyle/>
                        <a:p>
                          <a:r>
                            <a:rPr lang="en-US" altLang="zh-CN" sz="1600" dirty="0"/>
                            <a:t>2</a:t>
                          </a:r>
                          <a:endParaRPr lang="zh-CN" altLang="en-US" sz="1600" dirty="0"/>
                        </a:p>
                      </a:txBody>
                      <a:tcPr marL="83960" marR="83960" marT="41980" marB="41980"/>
                    </a:tc>
                    <a:tc>
                      <a:txBody>
                        <a:bodyPr/>
                        <a:lstStyle/>
                        <a:p>
                          <a:r>
                            <a:rPr lang="en-US" altLang="zh-CN" sz="1600" dirty="0"/>
                            <a:t>0</a:t>
                          </a:r>
                          <a:endParaRPr lang="zh-CN" altLang="en-US" sz="1600" dirty="0"/>
                        </a:p>
                      </a:txBody>
                      <a:tcPr marL="83960" marR="83960" marT="41980" marB="41980"/>
                    </a:tc>
                    <a:tc>
                      <a:txBody>
                        <a:bodyPr/>
                        <a:lstStyle/>
                        <a:p>
                          <a:r>
                            <a:rPr lang="en-US" altLang="zh-CN" sz="1600" dirty="0"/>
                            <a:t>1</a:t>
                          </a:r>
                          <a:endParaRPr lang="zh-CN" altLang="en-US" sz="1600" dirty="0"/>
                        </a:p>
                      </a:txBody>
                      <a:tcPr marL="83960" marR="83960" marT="41980" marB="41980"/>
                    </a:tc>
                    <a:extLst>
                      <a:ext uri="{0D108BD9-81ED-4DB2-BD59-A6C34878D82A}">
                        <a16:rowId xmlns:a16="http://schemas.microsoft.com/office/drawing/2014/main" val="2405359637"/>
                      </a:ext>
                    </a:extLst>
                  </a:tr>
                  <a:tr h="340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𝑟h</m:t>
                                </m:r>
                                <m:r>
                                  <a:rPr lang="en-US" altLang="zh-CN" sz="1600" b="0" i="1" smtClean="0">
                                    <a:latin typeface="Cambria Math" panose="02040503050406030204" pitchFamily="18" charset="0"/>
                                  </a:rPr>
                                  <m:t>(⋅)</m:t>
                                </m:r>
                              </m:oMath>
                            </m:oMathPara>
                          </a14:m>
                          <a:endParaRPr lang="zh-CN" altLang="en-US" sz="1600" dirty="0"/>
                        </a:p>
                      </a:txBody>
                      <a:tcPr marL="83960" marR="83960" marT="41980" marB="41980"/>
                    </a:tc>
                    <a:tc>
                      <a:txBody>
                        <a:bodyPr/>
                        <a:lstStyle/>
                        <a:p>
                          <a:endParaRPr lang="zh-CN" altLang="en-US" sz="1600"/>
                        </a:p>
                      </a:txBody>
                      <a:tcPr marL="83960" marR="83960" marT="41980" marB="41980"/>
                    </a:tc>
                    <a:tc>
                      <a:txBody>
                        <a:bodyPr/>
                        <a:lstStyle/>
                        <a:p>
                          <a:r>
                            <a:rPr lang="en-US" altLang="zh-CN" sz="1600" dirty="0"/>
                            <a:t>2</a:t>
                          </a:r>
                          <a:endParaRPr lang="zh-CN" altLang="en-US" sz="1600" dirty="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r>
                            <a:rPr lang="en-US" altLang="zh-CN" sz="1600" dirty="0"/>
                            <a:t>3</a:t>
                          </a:r>
                          <a:endParaRPr lang="zh-CN" altLang="en-US" sz="1600" dirty="0"/>
                        </a:p>
                      </a:txBody>
                      <a:tcPr marL="83960" marR="83960" marT="41980" marB="41980"/>
                    </a:tc>
                    <a:tc>
                      <a:txBody>
                        <a:bodyPr/>
                        <a:lstStyle/>
                        <a:p>
                          <a:endParaRPr lang="zh-CN" altLang="en-US" sz="1600"/>
                        </a:p>
                      </a:txBody>
                      <a:tcPr marL="83960" marR="83960" marT="41980" marB="41980"/>
                    </a:tc>
                    <a:extLst>
                      <a:ext uri="{0D108BD9-81ED-4DB2-BD59-A6C34878D82A}">
                        <a16:rowId xmlns:a16="http://schemas.microsoft.com/office/drawing/2014/main" val="3712762100"/>
                      </a:ext>
                    </a:extLst>
                  </a:tr>
                  <a:tr h="340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h</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oMath>
                            </m:oMathPara>
                          </a14:m>
                          <a:endParaRPr lang="zh-CN" altLang="en-US" sz="1600" dirty="0"/>
                        </a:p>
                      </a:txBody>
                      <a:tcPr marL="83960" marR="83960" marT="41980" marB="41980"/>
                    </a:tc>
                    <a:tc>
                      <a:txBody>
                        <a:bodyPr/>
                        <a:lstStyle/>
                        <a:p>
                          <a:endParaRPr lang="zh-CN" altLang="en-US" sz="1600"/>
                        </a:p>
                      </a:txBody>
                      <a:tcPr marL="83960" marR="83960" marT="41980" marB="41980"/>
                    </a:tc>
                    <a:tc>
                      <a:txBody>
                        <a:bodyPr/>
                        <a:lstStyle/>
                        <a:p>
                          <a:r>
                            <a:rPr lang="en-US" altLang="zh-CN" sz="1600" dirty="0"/>
                            <a:t>8</a:t>
                          </a:r>
                          <a:endParaRPr lang="zh-CN" altLang="en-US" sz="1600" dirty="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r>
                            <a:rPr lang="en-US" altLang="zh-CN" sz="1600" dirty="0"/>
                            <a:t>3</a:t>
                          </a:r>
                          <a:endParaRPr lang="zh-CN" altLang="en-US" sz="1600" dirty="0"/>
                        </a:p>
                      </a:txBody>
                      <a:tcPr marL="83960" marR="83960" marT="41980" marB="41980"/>
                    </a:tc>
                    <a:tc>
                      <a:txBody>
                        <a:bodyPr/>
                        <a:lstStyle/>
                        <a:p>
                          <a:endParaRPr lang="zh-CN" altLang="en-US" sz="1600" dirty="0"/>
                        </a:p>
                      </a:txBody>
                      <a:tcPr marL="83960" marR="83960" marT="41980" marB="41980"/>
                    </a:tc>
                    <a:extLst>
                      <a:ext uri="{0D108BD9-81ED-4DB2-BD59-A6C34878D82A}">
                        <a16:rowId xmlns:a16="http://schemas.microsoft.com/office/drawing/2014/main" val="1528045431"/>
                      </a:ext>
                    </a:extLst>
                  </a:tr>
                </a:tbl>
              </a:graphicData>
            </a:graphic>
          </p:graphicFrame>
        </mc:Choice>
        <mc:Fallback xmlns="">
          <p:graphicFrame>
            <p:nvGraphicFramePr>
              <p:cNvPr id="7" name="表格 7">
                <a:extLst>
                  <a:ext uri="{FF2B5EF4-FFF2-40B4-BE49-F238E27FC236}">
                    <a16:creationId xmlns:a16="http://schemas.microsoft.com/office/drawing/2014/main" id="{6D369E00-FE3A-F34A-90A0-13D259CE41A6}"/>
                  </a:ext>
                </a:extLst>
              </p:cNvPr>
              <p:cNvGraphicFramePr>
                <a:graphicFrameLocks noGrp="1"/>
              </p:cNvGraphicFramePr>
              <p:nvPr/>
            </p:nvGraphicFramePr>
            <p:xfrm>
              <a:off x="2281950" y="1712927"/>
              <a:ext cx="7463096" cy="1362016"/>
            </p:xfrm>
            <a:graphic>
              <a:graphicData uri="http://schemas.openxmlformats.org/drawingml/2006/table">
                <a:tbl>
                  <a:tblPr firstRow="1" bandRow="1">
                    <a:tableStyleId>{5C22544A-7EE6-4342-B048-85BDC9FD1C3A}</a:tableStyleId>
                  </a:tblPr>
                  <a:tblGrid>
                    <a:gridCol w="932887">
                      <a:extLst>
                        <a:ext uri="{9D8B030D-6E8A-4147-A177-3AD203B41FA5}">
                          <a16:colId xmlns:a16="http://schemas.microsoft.com/office/drawing/2014/main" val="2454861973"/>
                        </a:ext>
                      </a:extLst>
                    </a:gridCol>
                    <a:gridCol w="932887">
                      <a:extLst>
                        <a:ext uri="{9D8B030D-6E8A-4147-A177-3AD203B41FA5}">
                          <a16:colId xmlns:a16="http://schemas.microsoft.com/office/drawing/2014/main" val="2045833956"/>
                        </a:ext>
                      </a:extLst>
                    </a:gridCol>
                    <a:gridCol w="932887">
                      <a:extLst>
                        <a:ext uri="{9D8B030D-6E8A-4147-A177-3AD203B41FA5}">
                          <a16:colId xmlns:a16="http://schemas.microsoft.com/office/drawing/2014/main" val="2694073020"/>
                        </a:ext>
                      </a:extLst>
                    </a:gridCol>
                    <a:gridCol w="932887">
                      <a:extLst>
                        <a:ext uri="{9D8B030D-6E8A-4147-A177-3AD203B41FA5}">
                          <a16:colId xmlns:a16="http://schemas.microsoft.com/office/drawing/2014/main" val="663347442"/>
                        </a:ext>
                      </a:extLst>
                    </a:gridCol>
                    <a:gridCol w="932887">
                      <a:extLst>
                        <a:ext uri="{9D8B030D-6E8A-4147-A177-3AD203B41FA5}">
                          <a16:colId xmlns:a16="http://schemas.microsoft.com/office/drawing/2014/main" val="151101909"/>
                        </a:ext>
                      </a:extLst>
                    </a:gridCol>
                    <a:gridCol w="932887">
                      <a:extLst>
                        <a:ext uri="{9D8B030D-6E8A-4147-A177-3AD203B41FA5}">
                          <a16:colId xmlns:a16="http://schemas.microsoft.com/office/drawing/2014/main" val="3568002599"/>
                        </a:ext>
                      </a:extLst>
                    </a:gridCol>
                    <a:gridCol w="932887">
                      <a:extLst>
                        <a:ext uri="{9D8B030D-6E8A-4147-A177-3AD203B41FA5}">
                          <a16:colId xmlns:a16="http://schemas.microsoft.com/office/drawing/2014/main" val="2603070470"/>
                        </a:ext>
                      </a:extLst>
                    </a:gridCol>
                    <a:gridCol w="932887">
                      <a:extLst>
                        <a:ext uri="{9D8B030D-6E8A-4147-A177-3AD203B41FA5}">
                          <a16:colId xmlns:a16="http://schemas.microsoft.com/office/drawing/2014/main" val="3783146791"/>
                        </a:ext>
                      </a:extLst>
                    </a:gridCol>
                  </a:tblGrid>
                  <a:tr h="340504">
                    <a:tc>
                      <a:txBody>
                        <a:bodyPr/>
                        <a:lstStyle/>
                        <a:p>
                          <a:endParaRPr lang="zh-CN" altLang="en-US" sz="1600" dirty="0"/>
                        </a:p>
                      </a:txBody>
                      <a:tcPr marL="83960" marR="83960" marT="41980" marB="41980"/>
                    </a:tc>
                    <a:tc>
                      <a:txBody>
                        <a:bodyPr/>
                        <a:lstStyle/>
                        <a:p>
                          <a:r>
                            <a:rPr lang="en-US" altLang="zh-CN" sz="1600" dirty="0"/>
                            <a:t>9</a:t>
                          </a:r>
                          <a:endParaRPr lang="zh-CN" altLang="en-US" sz="1600" dirty="0"/>
                        </a:p>
                      </a:txBody>
                      <a:tcPr marL="83960" marR="83960" marT="41980" marB="41980"/>
                    </a:tc>
                    <a:tc>
                      <a:txBody>
                        <a:bodyPr/>
                        <a:lstStyle/>
                        <a:p>
                          <a:r>
                            <a:rPr lang="en-US" altLang="zh-CN" sz="1600" dirty="0"/>
                            <a:t>37</a:t>
                          </a:r>
                          <a:endParaRPr lang="zh-CN" altLang="en-US" sz="1600" dirty="0"/>
                        </a:p>
                      </a:txBody>
                      <a:tcPr marL="83960" marR="83960" marT="41980" marB="41980"/>
                    </a:tc>
                    <a:tc>
                      <a:txBody>
                        <a:bodyPr/>
                        <a:lstStyle/>
                        <a:p>
                          <a:r>
                            <a:rPr lang="en-US" altLang="zh-CN" sz="1600" dirty="0"/>
                            <a:t>21</a:t>
                          </a:r>
                          <a:endParaRPr lang="zh-CN" altLang="en-US" sz="1600" dirty="0"/>
                        </a:p>
                      </a:txBody>
                      <a:tcPr marL="83960" marR="83960" marT="41980" marB="41980"/>
                    </a:tc>
                    <a:tc>
                      <a:txBody>
                        <a:bodyPr/>
                        <a:lstStyle/>
                        <a:p>
                          <a:r>
                            <a:rPr lang="en-US" altLang="zh-CN" sz="1600" dirty="0"/>
                            <a:t>20</a:t>
                          </a:r>
                          <a:endParaRPr lang="zh-CN" altLang="en-US" sz="1600" dirty="0"/>
                        </a:p>
                      </a:txBody>
                      <a:tcPr marL="83960" marR="83960" marT="41980" marB="41980"/>
                    </a:tc>
                    <a:tc>
                      <a:txBody>
                        <a:bodyPr/>
                        <a:lstStyle/>
                        <a:p>
                          <a:r>
                            <a:rPr lang="en-US" altLang="zh-CN" sz="1600" dirty="0"/>
                            <a:t>3</a:t>
                          </a:r>
                          <a:endParaRPr lang="zh-CN" altLang="en-US" sz="1600" dirty="0"/>
                        </a:p>
                      </a:txBody>
                      <a:tcPr marL="83960" marR="83960" marT="41980" marB="41980"/>
                    </a:tc>
                    <a:tc>
                      <a:txBody>
                        <a:bodyPr/>
                        <a:lstStyle/>
                        <a:p>
                          <a:r>
                            <a:rPr lang="en-US" altLang="zh-CN" sz="1600" dirty="0"/>
                            <a:t>14</a:t>
                          </a:r>
                          <a:endParaRPr lang="zh-CN" altLang="en-US" sz="1600" dirty="0"/>
                        </a:p>
                      </a:txBody>
                      <a:tcPr marL="83960" marR="83960" marT="41980" marB="41980"/>
                    </a:tc>
                    <a:tc>
                      <a:txBody>
                        <a:bodyPr/>
                        <a:lstStyle/>
                        <a:p>
                          <a:r>
                            <a:rPr lang="en-US" altLang="zh-CN" sz="1600" dirty="0"/>
                            <a:t>5</a:t>
                          </a:r>
                          <a:endParaRPr lang="zh-CN" altLang="en-US" sz="1600" dirty="0"/>
                        </a:p>
                      </a:txBody>
                      <a:tcPr marL="83960" marR="83960" marT="41980" marB="41980"/>
                    </a:tc>
                    <a:extLst>
                      <a:ext uri="{0D108BD9-81ED-4DB2-BD59-A6C34878D82A}">
                        <a16:rowId xmlns:a16="http://schemas.microsoft.com/office/drawing/2014/main" val="4165777326"/>
                      </a:ext>
                    </a:extLst>
                  </a:tr>
                  <a:tr h="340504">
                    <a:tc>
                      <a:txBody>
                        <a:bodyPr/>
                        <a:lstStyle/>
                        <a:p>
                          <a:endParaRPr lang="zh-CN"/>
                        </a:p>
                      </a:txBody>
                      <a:tcPr marL="83960" marR="83960" marT="41980" marB="41980">
                        <a:blipFill>
                          <a:blip r:embed="rId4"/>
                          <a:stretch>
                            <a:fillRect t="-103571" r="-698649" b="-214286"/>
                          </a:stretch>
                        </a:blipFill>
                      </a:tcPr>
                    </a:tc>
                    <a:tc>
                      <a:txBody>
                        <a:bodyPr/>
                        <a:lstStyle/>
                        <a:p>
                          <a:r>
                            <a:rPr lang="en-US" altLang="zh-CN" sz="1600" dirty="0"/>
                            <a:t>6</a:t>
                          </a:r>
                          <a:endParaRPr lang="zh-CN" altLang="en-US" sz="1600" dirty="0"/>
                        </a:p>
                      </a:txBody>
                      <a:tcPr marL="83960" marR="83960" marT="41980" marB="41980"/>
                    </a:tc>
                    <a:tc>
                      <a:txBody>
                        <a:bodyPr/>
                        <a:lstStyle/>
                        <a:p>
                          <a:r>
                            <a:rPr lang="en-US" altLang="zh-CN" sz="1600" dirty="0"/>
                            <a:t>6</a:t>
                          </a:r>
                          <a:endParaRPr lang="zh-CN" altLang="en-US" sz="1600" dirty="0"/>
                        </a:p>
                      </a:txBody>
                      <a:tcPr marL="83960" marR="83960" marT="41980" marB="41980"/>
                    </a:tc>
                    <a:tc>
                      <a:txBody>
                        <a:bodyPr/>
                        <a:lstStyle/>
                        <a:p>
                          <a:r>
                            <a:rPr lang="en-US" altLang="zh-CN" sz="1600" dirty="0"/>
                            <a:t>0</a:t>
                          </a:r>
                          <a:endParaRPr lang="zh-CN" altLang="en-US" sz="1600" dirty="0"/>
                        </a:p>
                      </a:txBody>
                      <a:tcPr marL="83960" marR="83960" marT="41980" marB="41980"/>
                    </a:tc>
                    <a:tc>
                      <a:txBody>
                        <a:bodyPr/>
                        <a:lstStyle/>
                        <a:p>
                          <a:r>
                            <a:rPr lang="en-US" altLang="zh-CN" sz="1600" dirty="0"/>
                            <a:t>4</a:t>
                          </a:r>
                          <a:endParaRPr lang="zh-CN" altLang="en-US" sz="1600" dirty="0"/>
                        </a:p>
                      </a:txBody>
                      <a:tcPr marL="83960" marR="83960" marT="41980" marB="41980"/>
                    </a:tc>
                    <a:tc>
                      <a:txBody>
                        <a:bodyPr/>
                        <a:lstStyle/>
                        <a:p>
                          <a:r>
                            <a:rPr lang="en-US" altLang="zh-CN" sz="1600" dirty="0"/>
                            <a:t>2</a:t>
                          </a:r>
                          <a:endParaRPr lang="zh-CN" altLang="en-US" sz="1600" dirty="0"/>
                        </a:p>
                      </a:txBody>
                      <a:tcPr marL="83960" marR="83960" marT="41980" marB="41980"/>
                    </a:tc>
                    <a:tc>
                      <a:txBody>
                        <a:bodyPr/>
                        <a:lstStyle/>
                        <a:p>
                          <a:r>
                            <a:rPr lang="en-US" altLang="zh-CN" sz="1600" dirty="0"/>
                            <a:t>0</a:t>
                          </a:r>
                          <a:endParaRPr lang="zh-CN" altLang="en-US" sz="1600" dirty="0"/>
                        </a:p>
                      </a:txBody>
                      <a:tcPr marL="83960" marR="83960" marT="41980" marB="41980"/>
                    </a:tc>
                    <a:tc>
                      <a:txBody>
                        <a:bodyPr/>
                        <a:lstStyle/>
                        <a:p>
                          <a:r>
                            <a:rPr lang="en-US" altLang="zh-CN" sz="1600" dirty="0"/>
                            <a:t>1</a:t>
                          </a:r>
                          <a:endParaRPr lang="zh-CN" altLang="en-US" sz="1600" dirty="0"/>
                        </a:p>
                      </a:txBody>
                      <a:tcPr marL="83960" marR="83960" marT="41980" marB="41980"/>
                    </a:tc>
                    <a:extLst>
                      <a:ext uri="{0D108BD9-81ED-4DB2-BD59-A6C34878D82A}">
                        <a16:rowId xmlns:a16="http://schemas.microsoft.com/office/drawing/2014/main" val="2405359637"/>
                      </a:ext>
                    </a:extLst>
                  </a:tr>
                  <a:tr h="340504">
                    <a:tc>
                      <a:txBody>
                        <a:bodyPr/>
                        <a:lstStyle/>
                        <a:p>
                          <a:endParaRPr lang="zh-CN"/>
                        </a:p>
                      </a:txBody>
                      <a:tcPr marL="83960" marR="83960" marT="41980" marB="41980">
                        <a:blipFill>
                          <a:blip r:embed="rId4"/>
                          <a:stretch>
                            <a:fillRect t="-211111" r="-698649" b="-122222"/>
                          </a:stretch>
                        </a:blipFill>
                      </a:tcPr>
                    </a:tc>
                    <a:tc>
                      <a:txBody>
                        <a:bodyPr/>
                        <a:lstStyle/>
                        <a:p>
                          <a:endParaRPr lang="zh-CN" altLang="en-US" sz="1600"/>
                        </a:p>
                      </a:txBody>
                      <a:tcPr marL="83960" marR="83960" marT="41980" marB="41980"/>
                    </a:tc>
                    <a:tc>
                      <a:txBody>
                        <a:bodyPr/>
                        <a:lstStyle/>
                        <a:p>
                          <a:r>
                            <a:rPr lang="en-US" altLang="zh-CN" sz="1600" dirty="0"/>
                            <a:t>2</a:t>
                          </a:r>
                          <a:endParaRPr lang="zh-CN" altLang="en-US" sz="1600" dirty="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r>
                            <a:rPr lang="en-US" altLang="zh-CN" sz="1600" dirty="0"/>
                            <a:t>3</a:t>
                          </a:r>
                          <a:endParaRPr lang="zh-CN" altLang="en-US" sz="1600" dirty="0"/>
                        </a:p>
                      </a:txBody>
                      <a:tcPr marL="83960" marR="83960" marT="41980" marB="41980"/>
                    </a:tc>
                    <a:tc>
                      <a:txBody>
                        <a:bodyPr/>
                        <a:lstStyle/>
                        <a:p>
                          <a:endParaRPr lang="zh-CN" altLang="en-US" sz="1600"/>
                        </a:p>
                      </a:txBody>
                      <a:tcPr marL="83960" marR="83960" marT="41980" marB="41980"/>
                    </a:tc>
                    <a:extLst>
                      <a:ext uri="{0D108BD9-81ED-4DB2-BD59-A6C34878D82A}">
                        <a16:rowId xmlns:a16="http://schemas.microsoft.com/office/drawing/2014/main" val="3712762100"/>
                      </a:ext>
                    </a:extLst>
                  </a:tr>
                  <a:tr h="340504">
                    <a:tc>
                      <a:txBody>
                        <a:bodyPr/>
                        <a:lstStyle/>
                        <a:p>
                          <a:endParaRPr lang="zh-CN"/>
                        </a:p>
                      </a:txBody>
                      <a:tcPr marL="83960" marR="83960" marT="41980" marB="41980">
                        <a:blipFill>
                          <a:blip r:embed="rId4"/>
                          <a:stretch>
                            <a:fillRect t="-311111" r="-698649" b="-22222"/>
                          </a:stretch>
                        </a:blipFill>
                      </a:tcPr>
                    </a:tc>
                    <a:tc>
                      <a:txBody>
                        <a:bodyPr/>
                        <a:lstStyle/>
                        <a:p>
                          <a:endParaRPr lang="zh-CN" altLang="en-US" sz="1600"/>
                        </a:p>
                      </a:txBody>
                      <a:tcPr marL="83960" marR="83960" marT="41980" marB="41980"/>
                    </a:tc>
                    <a:tc>
                      <a:txBody>
                        <a:bodyPr/>
                        <a:lstStyle/>
                        <a:p>
                          <a:r>
                            <a:rPr lang="en-US" altLang="zh-CN" sz="1600" dirty="0"/>
                            <a:t>8</a:t>
                          </a:r>
                          <a:endParaRPr lang="zh-CN" altLang="en-US" sz="1600" dirty="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endParaRPr lang="zh-CN" altLang="en-US" sz="1600"/>
                        </a:p>
                      </a:txBody>
                      <a:tcPr marL="83960" marR="83960" marT="41980" marB="41980"/>
                    </a:tc>
                    <a:tc>
                      <a:txBody>
                        <a:bodyPr/>
                        <a:lstStyle/>
                        <a:p>
                          <a:r>
                            <a:rPr lang="en-US" altLang="zh-CN" sz="1600" dirty="0"/>
                            <a:t>3</a:t>
                          </a:r>
                          <a:endParaRPr lang="zh-CN" altLang="en-US" sz="1600" dirty="0"/>
                        </a:p>
                      </a:txBody>
                      <a:tcPr marL="83960" marR="83960" marT="41980" marB="41980"/>
                    </a:tc>
                    <a:tc>
                      <a:txBody>
                        <a:bodyPr/>
                        <a:lstStyle/>
                        <a:p>
                          <a:endParaRPr lang="zh-CN" altLang="en-US" sz="1600" dirty="0"/>
                        </a:p>
                      </a:txBody>
                      <a:tcPr marL="83960" marR="83960" marT="41980" marB="41980"/>
                    </a:tc>
                    <a:extLst>
                      <a:ext uri="{0D108BD9-81ED-4DB2-BD59-A6C34878D82A}">
                        <a16:rowId xmlns:a16="http://schemas.microsoft.com/office/drawing/2014/main" val="1528045431"/>
                      </a:ext>
                    </a:extLst>
                  </a:tr>
                </a:tbl>
              </a:graphicData>
            </a:graphic>
          </p:graphicFrame>
        </mc:Fallback>
      </mc:AlternateContent>
      <p:graphicFrame>
        <p:nvGraphicFramePr>
          <p:cNvPr id="9" name="表格 8">
            <a:extLst>
              <a:ext uri="{FF2B5EF4-FFF2-40B4-BE49-F238E27FC236}">
                <a16:creationId xmlns:a16="http://schemas.microsoft.com/office/drawing/2014/main" id="{670C3468-7730-594D-B2AE-FC75B485FD86}"/>
              </a:ext>
            </a:extLst>
          </p:cNvPr>
          <p:cNvGraphicFramePr>
            <a:graphicFrameLocks noGrp="1"/>
          </p:cNvGraphicFramePr>
          <p:nvPr>
            <p:extLst>
              <p:ext uri="{D42A27DB-BD31-4B8C-83A1-F6EECF244321}">
                <p14:modId xmlns:p14="http://schemas.microsoft.com/office/powerpoint/2010/main" val="1535827569"/>
              </p:ext>
            </p:extLst>
          </p:nvPr>
        </p:nvGraphicFramePr>
        <p:xfrm>
          <a:off x="2124835" y="3799477"/>
          <a:ext cx="7942330" cy="727344"/>
        </p:xfrm>
        <a:graphic>
          <a:graphicData uri="http://schemas.openxmlformats.org/drawingml/2006/table">
            <a:tbl>
              <a:tblPr firstRow="1" bandRow="1">
                <a:tableStyleId>{5C22544A-7EE6-4342-B048-85BDC9FD1C3A}</a:tableStyleId>
              </a:tblPr>
              <a:tblGrid>
                <a:gridCol w="794233">
                  <a:extLst>
                    <a:ext uri="{9D8B030D-6E8A-4147-A177-3AD203B41FA5}">
                      <a16:colId xmlns:a16="http://schemas.microsoft.com/office/drawing/2014/main" val="3075027732"/>
                    </a:ext>
                  </a:extLst>
                </a:gridCol>
                <a:gridCol w="794233">
                  <a:extLst>
                    <a:ext uri="{9D8B030D-6E8A-4147-A177-3AD203B41FA5}">
                      <a16:colId xmlns:a16="http://schemas.microsoft.com/office/drawing/2014/main" val="3117746449"/>
                    </a:ext>
                  </a:extLst>
                </a:gridCol>
                <a:gridCol w="794233">
                  <a:extLst>
                    <a:ext uri="{9D8B030D-6E8A-4147-A177-3AD203B41FA5}">
                      <a16:colId xmlns:a16="http://schemas.microsoft.com/office/drawing/2014/main" val="1810385056"/>
                    </a:ext>
                  </a:extLst>
                </a:gridCol>
                <a:gridCol w="794233">
                  <a:extLst>
                    <a:ext uri="{9D8B030D-6E8A-4147-A177-3AD203B41FA5}">
                      <a16:colId xmlns:a16="http://schemas.microsoft.com/office/drawing/2014/main" val="1673547724"/>
                    </a:ext>
                  </a:extLst>
                </a:gridCol>
                <a:gridCol w="794233">
                  <a:extLst>
                    <a:ext uri="{9D8B030D-6E8A-4147-A177-3AD203B41FA5}">
                      <a16:colId xmlns:a16="http://schemas.microsoft.com/office/drawing/2014/main" val="4269826386"/>
                    </a:ext>
                  </a:extLst>
                </a:gridCol>
                <a:gridCol w="794233">
                  <a:extLst>
                    <a:ext uri="{9D8B030D-6E8A-4147-A177-3AD203B41FA5}">
                      <a16:colId xmlns:a16="http://schemas.microsoft.com/office/drawing/2014/main" val="1057866251"/>
                    </a:ext>
                  </a:extLst>
                </a:gridCol>
                <a:gridCol w="794233">
                  <a:extLst>
                    <a:ext uri="{9D8B030D-6E8A-4147-A177-3AD203B41FA5}">
                      <a16:colId xmlns:a16="http://schemas.microsoft.com/office/drawing/2014/main" val="4130299171"/>
                    </a:ext>
                  </a:extLst>
                </a:gridCol>
                <a:gridCol w="794233">
                  <a:extLst>
                    <a:ext uri="{9D8B030D-6E8A-4147-A177-3AD203B41FA5}">
                      <a16:colId xmlns:a16="http://schemas.microsoft.com/office/drawing/2014/main" val="2067509815"/>
                    </a:ext>
                  </a:extLst>
                </a:gridCol>
                <a:gridCol w="794233">
                  <a:extLst>
                    <a:ext uri="{9D8B030D-6E8A-4147-A177-3AD203B41FA5}">
                      <a16:colId xmlns:a16="http://schemas.microsoft.com/office/drawing/2014/main" val="2000875365"/>
                    </a:ext>
                  </a:extLst>
                </a:gridCol>
                <a:gridCol w="794233">
                  <a:extLst>
                    <a:ext uri="{9D8B030D-6E8A-4147-A177-3AD203B41FA5}">
                      <a16:colId xmlns:a16="http://schemas.microsoft.com/office/drawing/2014/main" val="2851080435"/>
                    </a:ext>
                  </a:extLst>
                </a:gridCol>
              </a:tblGrid>
              <a:tr h="362369">
                <a:tc>
                  <a:txBody>
                    <a:bodyPr/>
                    <a:lstStyle/>
                    <a:p>
                      <a:r>
                        <a:rPr lang="en-US" altLang="zh-CN" sz="1800" dirty="0"/>
                        <a:t>0</a:t>
                      </a:r>
                      <a:endParaRPr lang="zh-CN" altLang="en-US" sz="1800" dirty="0"/>
                    </a:p>
                  </a:txBody>
                  <a:tcPr marL="89351" marR="89351" marT="44676" marB="44676"/>
                </a:tc>
                <a:tc>
                  <a:txBody>
                    <a:bodyPr/>
                    <a:lstStyle/>
                    <a:p>
                      <a:r>
                        <a:rPr lang="en-US" altLang="zh-CN" sz="1800" dirty="0"/>
                        <a:t>1</a:t>
                      </a:r>
                      <a:endParaRPr lang="zh-CN" altLang="en-US" sz="1800" dirty="0"/>
                    </a:p>
                  </a:txBody>
                  <a:tcPr marL="89351" marR="89351" marT="44676" marB="44676"/>
                </a:tc>
                <a:tc>
                  <a:txBody>
                    <a:bodyPr/>
                    <a:lstStyle/>
                    <a:p>
                      <a:r>
                        <a:rPr lang="en-US" altLang="zh-CN" sz="1800" dirty="0"/>
                        <a:t>2</a:t>
                      </a:r>
                      <a:endParaRPr lang="zh-CN" altLang="en-US" sz="1800" dirty="0"/>
                    </a:p>
                  </a:txBody>
                  <a:tcPr marL="89351" marR="89351" marT="44676" marB="44676"/>
                </a:tc>
                <a:tc>
                  <a:txBody>
                    <a:bodyPr/>
                    <a:lstStyle/>
                    <a:p>
                      <a:r>
                        <a:rPr lang="en-US" altLang="zh-CN" sz="1800" dirty="0"/>
                        <a:t>3</a:t>
                      </a:r>
                      <a:endParaRPr lang="zh-CN" altLang="en-US" sz="1800" dirty="0"/>
                    </a:p>
                  </a:txBody>
                  <a:tcPr marL="89351" marR="89351" marT="44676" marB="44676"/>
                </a:tc>
                <a:tc>
                  <a:txBody>
                    <a:bodyPr/>
                    <a:lstStyle/>
                    <a:p>
                      <a:r>
                        <a:rPr lang="en-US" altLang="zh-CN" sz="1800" dirty="0"/>
                        <a:t>4</a:t>
                      </a:r>
                      <a:endParaRPr lang="zh-CN" altLang="en-US" sz="1800" dirty="0"/>
                    </a:p>
                  </a:txBody>
                  <a:tcPr marL="89351" marR="89351" marT="44676" marB="44676"/>
                </a:tc>
                <a:tc>
                  <a:txBody>
                    <a:bodyPr/>
                    <a:lstStyle/>
                    <a:p>
                      <a:r>
                        <a:rPr lang="en-US" altLang="zh-CN" sz="1800" dirty="0"/>
                        <a:t>5</a:t>
                      </a:r>
                      <a:endParaRPr lang="zh-CN" altLang="en-US" sz="1800" dirty="0"/>
                    </a:p>
                  </a:txBody>
                  <a:tcPr marL="89351" marR="89351" marT="44676" marB="44676"/>
                </a:tc>
                <a:tc>
                  <a:txBody>
                    <a:bodyPr/>
                    <a:lstStyle/>
                    <a:p>
                      <a:r>
                        <a:rPr lang="en-US" altLang="zh-CN" sz="1800" dirty="0"/>
                        <a:t>6</a:t>
                      </a:r>
                      <a:endParaRPr lang="zh-CN" altLang="en-US" sz="1800" dirty="0"/>
                    </a:p>
                  </a:txBody>
                  <a:tcPr marL="89351" marR="89351" marT="44676" marB="44676"/>
                </a:tc>
                <a:tc>
                  <a:txBody>
                    <a:bodyPr/>
                    <a:lstStyle/>
                    <a:p>
                      <a:r>
                        <a:rPr lang="en-US" altLang="zh-CN" sz="1800" dirty="0"/>
                        <a:t>7</a:t>
                      </a:r>
                      <a:endParaRPr lang="zh-CN" altLang="en-US" sz="1800" dirty="0"/>
                    </a:p>
                  </a:txBody>
                  <a:tcPr marL="89351" marR="89351" marT="44676" marB="44676"/>
                </a:tc>
                <a:tc>
                  <a:txBody>
                    <a:bodyPr/>
                    <a:lstStyle/>
                    <a:p>
                      <a:r>
                        <a:rPr lang="en-US" altLang="zh-CN" sz="1800" dirty="0"/>
                        <a:t>8</a:t>
                      </a:r>
                      <a:endParaRPr lang="zh-CN" altLang="en-US" sz="1800" dirty="0"/>
                    </a:p>
                  </a:txBody>
                  <a:tcPr marL="89351" marR="89351" marT="44676" marB="44676"/>
                </a:tc>
                <a:tc>
                  <a:txBody>
                    <a:bodyPr/>
                    <a:lstStyle/>
                    <a:p>
                      <a:r>
                        <a:rPr lang="en-US" altLang="zh-CN" sz="1800" dirty="0"/>
                        <a:t>9</a:t>
                      </a:r>
                      <a:endParaRPr lang="zh-CN" altLang="en-US" sz="1800" dirty="0"/>
                    </a:p>
                  </a:txBody>
                  <a:tcPr marL="89351" marR="89351" marT="44676" marB="44676"/>
                </a:tc>
                <a:extLst>
                  <a:ext uri="{0D108BD9-81ED-4DB2-BD59-A6C34878D82A}">
                    <a16:rowId xmlns:a16="http://schemas.microsoft.com/office/drawing/2014/main" val="1050428252"/>
                  </a:ext>
                </a:extLst>
              </a:tr>
              <a:tr h="362369">
                <a:tc>
                  <a:txBody>
                    <a:bodyPr/>
                    <a:lstStyle/>
                    <a:p>
                      <a:r>
                        <a:rPr lang="en-US" altLang="zh-CN" sz="1800" dirty="0"/>
                        <a:t>21</a:t>
                      </a:r>
                      <a:endParaRPr lang="zh-CN" altLang="en-US" sz="1800" dirty="0"/>
                    </a:p>
                  </a:txBody>
                  <a:tcPr marL="89351" marR="89351" marT="44676" marB="44676"/>
                </a:tc>
                <a:tc>
                  <a:txBody>
                    <a:bodyPr/>
                    <a:lstStyle/>
                    <a:p>
                      <a:r>
                        <a:rPr lang="en-US" altLang="zh-CN" sz="1800" dirty="0"/>
                        <a:t>5</a:t>
                      </a:r>
                      <a:endParaRPr lang="zh-CN" altLang="en-US" sz="1800" dirty="0"/>
                    </a:p>
                  </a:txBody>
                  <a:tcPr marL="89351" marR="89351" marT="44676" marB="44676"/>
                </a:tc>
                <a:tc>
                  <a:txBody>
                    <a:bodyPr/>
                    <a:lstStyle/>
                    <a:p>
                      <a:r>
                        <a:rPr lang="en-US" altLang="zh-CN" sz="1800" dirty="0"/>
                        <a:t>3</a:t>
                      </a:r>
                      <a:endParaRPr lang="zh-CN" altLang="en-US" sz="1800" dirty="0"/>
                    </a:p>
                  </a:txBody>
                  <a:tcPr marL="89351" marR="89351" marT="44676" marB="44676"/>
                </a:tc>
                <a:tc>
                  <a:txBody>
                    <a:bodyPr/>
                    <a:lstStyle/>
                    <a:p>
                      <a:r>
                        <a:rPr lang="en-US" altLang="zh-CN" sz="1800" dirty="0"/>
                        <a:t>14</a:t>
                      </a:r>
                      <a:endParaRPr lang="zh-CN" altLang="en-US" sz="1800" dirty="0"/>
                    </a:p>
                  </a:txBody>
                  <a:tcPr marL="89351" marR="89351" marT="44676" marB="44676"/>
                </a:tc>
                <a:tc>
                  <a:txBody>
                    <a:bodyPr/>
                    <a:lstStyle/>
                    <a:p>
                      <a:r>
                        <a:rPr lang="en-US" altLang="zh-CN" sz="1800" dirty="0"/>
                        <a:t>20</a:t>
                      </a:r>
                      <a:endParaRPr lang="zh-CN" altLang="en-US" sz="1800" dirty="0"/>
                    </a:p>
                  </a:txBody>
                  <a:tcPr marL="89351" marR="89351" marT="44676" marB="44676"/>
                </a:tc>
                <a:tc>
                  <a:txBody>
                    <a:bodyPr/>
                    <a:lstStyle/>
                    <a:p>
                      <a:endParaRPr lang="zh-CN" altLang="en-US" sz="1800" dirty="0"/>
                    </a:p>
                  </a:txBody>
                  <a:tcPr marL="89351" marR="89351" marT="44676" marB="44676"/>
                </a:tc>
                <a:tc>
                  <a:txBody>
                    <a:bodyPr/>
                    <a:lstStyle/>
                    <a:p>
                      <a:r>
                        <a:rPr lang="en-US" altLang="zh-CN" sz="1800" dirty="0"/>
                        <a:t>9</a:t>
                      </a:r>
                      <a:endParaRPr lang="zh-CN" altLang="en-US" sz="1800" dirty="0"/>
                    </a:p>
                  </a:txBody>
                  <a:tcPr marL="89351" marR="89351" marT="44676" marB="44676"/>
                </a:tc>
                <a:tc>
                  <a:txBody>
                    <a:bodyPr/>
                    <a:lstStyle/>
                    <a:p>
                      <a:endParaRPr lang="zh-CN" altLang="en-US" sz="1800" dirty="0"/>
                    </a:p>
                  </a:txBody>
                  <a:tcPr marL="89351" marR="89351" marT="44676" marB="44676"/>
                </a:tc>
                <a:tc>
                  <a:txBody>
                    <a:bodyPr/>
                    <a:lstStyle/>
                    <a:p>
                      <a:r>
                        <a:rPr lang="en-US" altLang="zh-CN" sz="1800" dirty="0"/>
                        <a:t>37</a:t>
                      </a:r>
                      <a:endParaRPr lang="zh-CN" altLang="en-US" sz="1800" dirty="0"/>
                    </a:p>
                  </a:txBody>
                  <a:tcPr marL="89351" marR="89351" marT="44676" marB="44676"/>
                </a:tc>
                <a:tc>
                  <a:txBody>
                    <a:bodyPr/>
                    <a:lstStyle/>
                    <a:p>
                      <a:endParaRPr lang="zh-CN" altLang="en-US" sz="1800" dirty="0"/>
                    </a:p>
                  </a:txBody>
                  <a:tcPr marL="89351" marR="89351" marT="44676" marB="44676"/>
                </a:tc>
                <a:extLst>
                  <a:ext uri="{0D108BD9-81ED-4DB2-BD59-A6C34878D82A}">
                    <a16:rowId xmlns:a16="http://schemas.microsoft.com/office/drawing/2014/main" val="3914781930"/>
                  </a:ext>
                </a:extLst>
              </a:tr>
            </a:tbl>
          </a:graphicData>
        </a:graphic>
      </p:graphicFrame>
    </p:spTree>
    <p:extLst>
      <p:ext uri="{BB962C8B-B14F-4D97-AF65-F5344CB8AC3E}">
        <p14:creationId xmlns:p14="http://schemas.microsoft.com/office/powerpoint/2010/main" val="3547069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11</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第十一章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5016758"/>
          </a:xfrm>
          <a:prstGeom prst="rect">
            <a:avLst/>
          </a:prstGeom>
        </p:spPr>
        <p:txBody>
          <a:bodyPr wrap="square">
            <a:spAutoFit/>
          </a:bodyPr>
          <a:lstStyle/>
          <a:p>
            <a:pPr marL="457200" indent="-457200">
              <a:buFont typeface="+mj-lt"/>
              <a:buAutoNum type="arabicPeriod"/>
            </a:pPr>
            <a:r>
              <a:rPr lang="zh-CN" altLang="en-US" sz="2000" dirty="0">
                <a:latin typeface="SimSun" panose="02010600030101010101" pitchFamily="2" charset="-122"/>
                <a:ea typeface="SimSun" panose="02010600030101010101" pitchFamily="2" charset="-122"/>
              </a:rPr>
              <a:t>若一个磁盘页块大小为</a:t>
            </a:r>
            <a:r>
              <a:rPr lang="en-US" altLang="zh-CN" sz="2000" dirty="0">
                <a:latin typeface="SimSun" panose="02010600030101010101" pitchFamily="2" charset="-122"/>
                <a:ea typeface="SimSun" panose="02010600030101010101" pitchFamily="2" charset="-122"/>
              </a:rPr>
              <a:t>1024</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=1K</a:t>
            </a:r>
            <a:r>
              <a:rPr lang="zh-CN" altLang="en-US" sz="2000" dirty="0">
                <a:latin typeface="SimSun" panose="02010600030101010101" pitchFamily="2" charset="-122"/>
                <a:ea typeface="SimSun" panose="02010600030101010101" pitchFamily="2" charset="-122"/>
              </a:rPr>
              <a:t>）字节，存储每个记录需占用</a:t>
            </a:r>
            <a:r>
              <a:rPr lang="en-US" altLang="zh-CN" sz="2000" dirty="0">
                <a:latin typeface="SimSun" panose="02010600030101010101" pitchFamily="2" charset="-122"/>
                <a:ea typeface="SimSun" panose="02010600030101010101" pitchFamily="2" charset="-122"/>
              </a:rPr>
              <a:t>16</a:t>
            </a:r>
            <a:r>
              <a:rPr lang="zh-CN" altLang="en-US" sz="2000" dirty="0">
                <a:latin typeface="SimSun" panose="02010600030101010101" pitchFamily="2" charset="-122"/>
                <a:ea typeface="SimSun" panose="02010600030101010101" pitchFamily="2" charset="-122"/>
              </a:rPr>
              <a:t>字节，其中关键码占</a:t>
            </a:r>
            <a:r>
              <a:rPr lang="en-US" altLang="zh-CN" sz="2000" dirty="0">
                <a:latin typeface="SimSun" panose="02010600030101010101" pitchFamily="2" charset="-122"/>
                <a:ea typeface="SimSun" panose="02010600030101010101" pitchFamily="2" charset="-122"/>
              </a:rPr>
              <a:t>4</a:t>
            </a:r>
            <a:r>
              <a:rPr lang="zh-CN" altLang="en-US" sz="2000" dirty="0">
                <a:latin typeface="SimSun" panose="02010600030101010101" pitchFamily="2" charset="-122"/>
                <a:ea typeface="SimSun" panose="02010600030101010101" pitchFamily="2" charset="-122"/>
              </a:rPr>
              <a:t>个字节。所有记录均已按关键码有序存储在磁盘文件中。在内存中开辟了</a:t>
            </a:r>
            <a:r>
              <a:rPr lang="en-US" altLang="zh-CN" sz="2000" dirty="0">
                <a:latin typeface="SimSun" panose="02010600030101010101" pitchFamily="2" charset="-122"/>
                <a:ea typeface="SimSun" panose="02010600030101010101" pitchFamily="2" charset="-122"/>
              </a:rPr>
              <a:t>256K</a:t>
            </a:r>
            <a:r>
              <a:rPr lang="zh-CN" altLang="en-US" sz="2000" dirty="0">
                <a:latin typeface="SimSun" panose="02010600030101010101" pitchFamily="2" charset="-122"/>
                <a:ea typeface="SimSun" panose="02010600030101010101" pitchFamily="2" charset="-122"/>
              </a:rPr>
              <a:t>字节的空间用于常驻线性索引（当使用二级索引时，常驻内存的二级索引所占用的内存空间也包含在内）。每个索引项占用</a:t>
            </a:r>
            <a:r>
              <a:rPr lang="en-US" altLang="zh-CN" sz="2000" dirty="0">
                <a:latin typeface="SimSun" panose="02010600030101010101" pitchFamily="2" charset="-122"/>
                <a:ea typeface="SimSun" panose="02010600030101010101" pitchFamily="2" charset="-122"/>
              </a:rPr>
              <a:t>8</a:t>
            </a:r>
            <a:r>
              <a:rPr lang="zh-CN" altLang="en-US" sz="2000" dirty="0">
                <a:latin typeface="SimSun" panose="02010600030101010101" pitchFamily="2" charset="-122"/>
                <a:ea typeface="SimSun" panose="02010600030101010101" pitchFamily="2" charset="-122"/>
              </a:rPr>
              <a:t>个字节。试问：</a:t>
            </a:r>
            <a:endParaRPr lang="en-US" altLang="zh-CN" sz="2000" dirty="0">
              <a:latin typeface="SimSun" panose="02010600030101010101" pitchFamily="2" charset="-122"/>
              <a:ea typeface="SimSun" panose="02010600030101010101" pitchFamily="2" charset="-122"/>
            </a:endParaRPr>
          </a:p>
          <a:p>
            <a:pPr marL="914400" lvl="1" indent="-457200">
              <a:buAutoNum type="arabicParenBoth"/>
            </a:pPr>
            <a:r>
              <a:rPr lang="zh-CN" altLang="en-US" sz="2000" dirty="0">
                <a:latin typeface="SimSun" panose="02010600030101010101" pitchFamily="2" charset="-122"/>
                <a:ea typeface="SimSun" panose="02010600030101010101" pitchFamily="2" charset="-122"/>
              </a:rPr>
              <a:t>若将线性索引常驻内存，文件中最多可以存放多少个记录？</a:t>
            </a:r>
            <a:endParaRPr lang="en-US" altLang="zh-CN" sz="2000" dirty="0">
              <a:latin typeface="SimSun" panose="02010600030101010101" pitchFamily="2" charset="-122"/>
              <a:ea typeface="SimSun" panose="02010600030101010101" pitchFamily="2" charset="-122"/>
            </a:endParaRPr>
          </a:p>
          <a:p>
            <a:pPr lvl="1"/>
            <a:r>
              <a:rPr lang="en-US" altLang="zh-CN" sz="2000" dirty="0">
                <a:latin typeface="SimSun" panose="02010600030101010101" pitchFamily="2" charset="-122"/>
                <a:ea typeface="SimSun" panose="02010600030101010101" pitchFamily="2" charset="-122"/>
              </a:rPr>
              <a:t>(2) </a:t>
            </a:r>
            <a:r>
              <a:rPr lang="zh-CN" altLang="en-US" sz="2000" dirty="0">
                <a:latin typeface="SimSun" panose="02010600030101010101" pitchFamily="2" charset="-122"/>
                <a:ea typeface="SimSun" panose="02010600030101010101" pitchFamily="2" charset="-122"/>
              </a:rPr>
              <a:t>若使用二级索引，二级索引常驻内存并占用</a:t>
            </a:r>
            <a:r>
              <a:rPr lang="en-US" altLang="zh-CN" sz="2000" dirty="0">
                <a:latin typeface="SimSun" panose="02010600030101010101" pitchFamily="2" charset="-122"/>
                <a:ea typeface="SimSun" panose="02010600030101010101" pitchFamily="2" charset="-122"/>
              </a:rPr>
              <a:t>1024</a:t>
            </a:r>
            <a:r>
              <a:rPr lang="zh-CN" altLang="en-US" sz="2000" dirty="0">
                <a:latin typeface="SimSun" panose="02010600030101010101" pitchFamily="2" charset="-122"/>
                <a:ea typeface="SimSun" panose="02010600030101010101" pitchFamily="2" charset="-122"/>
              </a:rPr>
              <a:t>字节，这时文件中最多可以存放多少个记录？</a:t>
            </a:r>
            <a:endParaRPr lang="en-US" altLang="zh-CN" sz="2000" dirty="0">
              <a:latin typeface="SimSun" panose="02010600030101010101" pitchFamily="2" charset="-122"/>
              <a:ea typeface="SimSun" panose="02010600030101010101" pitchFamily="2" charset="-122"/>
            </a:endParaRPr>
          </a:p>
          <a:p>
            <a:pPr lvl="1"/>
            <a:endParaRPr lang="en-US" altLang="zh-CN" sz="2000"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文件中存放的记录数 </a:t>
            </a:r>
            <a:r>
              <a:rPr lang="en-US" altLang="zh-CN" sz="2000" dirty="0">
                <a:latin typeface="SimSun" panose="02010600030101010101" pitchFamily="2" charset="-122"/>
                <a:ea typeface="SimSun" panose="02010600030101010101" pitchFamily="2" charset="-122"/>
              </a:rPr>
              <a:t>=</a:t>
            </a:r>
            <a:r>
              <a:rPr lang="zh-CN" altLang="en-US" sz="2000" dirty="0">
                <a:latin typeface="SimSun" panose="02010600030101010101" pitchFamily="2" charset="-122"/>
                <a:ea typeface="SimSun" panose="02010600030101010101" pitchFamily="2" charset="-122"/>
              </a:rPr>
              <a:t> 被索引的磁盘块数 * （磁盘块的大小 </a:t>
            </a:r>
            <a:r>
              <a:rPr lang="en-US" altLang="zh-CN" sz="2000" dirty="0">
                <a:latin typeface="SimSun" panose="02010600030101010101" pitchFamily="2" charset="-122"/>
                <a:ea typeface="SimSun" panose="02010600030101010101" pitchFamily="2" charset="-122"/>
              </a:rPr>
              <a:t>/</a:t>
            </a:r>
            <a:r>
              <a:rPr lang="zh-CN" altLang="en-US" sz="2000" dirty="0">
                <a:latin typeface="SimSun" panose="02010600030101010101" pitchFamily="2" charset="-122"/>
                <a:ea typeface="SimSun" panose="02010600030101010101" pitchFamily="2" charset="-122"/>
              </a:rPr>
              <a:t> 记录的大小）</a:t>
            </a:r>
            <a:endParaRPr lang="en-US" altLang="zh-CN" sz="2000"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直接索引磁盘块的称为一级索引；一级索引的索引称为二级索引；理论上还可以有三级、四级</a:t>
            </a:r>
            <a:r>
              <a:rPr lang="en-US" altLang="zh-CN" sz="2000" dirty="0">
                <a:latin typeface="SimSun" panose="02010600030101010101" pitchFamily="2" charset="-122"/>
                <a:ea typeface="SimSun" panose="02010600030101010101" pitchFamily="2" charset="-122"/>
              </a:rPr>
              <a:t>……</a:t>
            </a:r>
            <a:r>
              <a:rPr lang="zh-CN" altLang="en-US" sz="2000" dirty="0">
                <a:latin typeface="SimSun" panose="02010600030101010101" pitchFamily="2" charset="-122"/>
                <a:ea typeface="SimSun" panose="02010600030101010101" pitchFamily="2" charset="-122"/>
              </a:rPr>
              <a:t>统称为线性索引</a:t>
            </a:r>
            <a:endParaRPr lang="en-US" altLang="zh-CN" sz="2000"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常驻线性索引的</a:t>
            </a:r>
            <a:r>
              <a:rPr lang="en-US" altLang="zh-CN" sz="2000" dirty="0">
                <a:latin typeface="SimSun" panose="02010600030101010101" pitchFamily="2" charset="-122"/>
                <a:ea typeface="SimSun" panose="02010600030101010101" pitchFamily="2" charset="-122"/>
              </a:rPr>
              <a:t>256K</a:t>
            </a:r>
            <a:r>
              <a:rPr lang="zh-CN" altLang="en-US" sz="2000" dirty="0">
                <a:latin typeface="SimSun" panose="02010600030101010101" pitchFamily="2" charset="-122"/>
                <a:ea typeface="SimSun" panose="02010600030101010101" pitchFamily="2" charset="-122"/>
              </a:rPr>
              <a:t>内存空间除了存二级索引以外，余下的部分仍然可以用于常驻一级索引，而这部分常驻内存的一级索引是不需要被二级索引所索引的</a:t>
            </a:r>
          </a:p>
          <a:p>
            <a:r>
              <a:rPr lang="zh-CN" altLang="en-US" sz="2000" dirty="0">
                <a:latin typeface="SimSun" panose="02010600030101010101" pitchFamily="2" charset="-122"/>
                <a:ea typeface="SimSun" panose="02010600030101010101" pitchFamily="2" charset="-122"/>
              </a:rPr>
              <a:t>具体检索一个关键码时，需要</a:t>
            </a:r>
            <a:r>
              <a:rPr lang="en-US" altLang="zh-CN" sz="2000" dirty="0">
                <a:latin typeface="SimSun" panose="02010600030101010101" pitchFamily="2" charset="-122"/>
                <a:ea typeface="SimSun" panose="02010600030101010101" pitchFamily="2" charset="-122"/>
              </a:rPr>
              <a:t>[1]</a:t>
            </a:r>
            <a:r>
              <a:rPr lang="zh-CN" altLang="en-US" sz="2000" dirty="0">
                <a:latin typeface="SimSun" panose="02010600030101010101" pitchFamily="2" charset="-122"/>
                <a:ea typeface="SimSun" panose="02010600030101010101" pitchFamily="2" charset="-122"/>
              </a:rPr>
              <a:t>先查常驻内存的这部分一级索引；</a:t>
            </a:r>
            <a:r>
              <a:rPr lang="en-US" altLang="zh-CN" sz="2000" dirty="0">
                <a:latin typeface="SimSun" panose="02010600030101010101" pitchFamily="2" charset="-122"/>
                <a:ea typeface="SimSun" panose="02010600030101010101" pitchFamily="2" charset="-122"/>
              </a:rPr>
              <a:t>[2]</a:t>
            </a:r>
            <a:r>
              <a:rPr lang="zh-CN" altLang="en-US" sz="2000" dirty="0">
                <a:latin typeface="SimSun" panose="02010600030101010101" pitchFamily="2" charset="-122"/>
                <a:ea typeface="SimSun" panose="02010600030101010101" pitchFamily="2" charset="-122"/>
              </a:rPr>
              <a:t>如果查不到，再查常驻内存的二级索引，然后查磁盘上对应的一级索引。（</a:t>
            </a:r>
            <a:r>
              <a:rPr lang="en-US" altLang="zh-CN" sz="2000" dirty="0">
                <a:latin typeface="SimSun" panose="02010600030101010101" pitchFamily="2" charset="-122"/>
                <a:ea typeface="SimSun" panose="02010600030101010101" pitchFamily="2" charset="-122"/>
              </a:rPr>
              <a:t>[1]</a:t>
            </a:r>
            <a:r>
              <a:rPr lang="zh-CN" altLang="en-US" sz="2000" dirty="0">
                <a:latin typeface="SimSun" panose="02010600030101010101" pitchFamily="2" charset="-122"/>
                <a:ea typeface="SimSun" panose="02010600030101010101" pitchFamily="2" charset="-122"/>
              </a:rPr>
              <a:t>和</a:t>
            </a:r>
            <a:r>
              <a:rPr lang="en-US" altLang="zh-CN" sz="2000" dirty="0">
                <a:latin typeface="SimSun" panose="02010600030101010101" pitchFamily="2" charset="-122"/>
                <a:ea typeface="SimSun" panose="02010600030101010101" pitchFamily="2" charset="-122"/>
              </a:rPr>
              <a:t>[2]</a:t>
            </a:r>
            <a:r>
              <a:rPr lang="zh-CN" altLang="en-US" sz="2000" dirty="0">
                <a:latin typeface="SimSun" panose="02010600030101010101" pitchFamily="2" charset="-122"/>
                <a:ea typeface="SimSun" panose="02010600030101010101" pitchFamily="2" charset="-122"/>
              </a:rPr>
              <a:t>这两步的顺序可以交换）</a:t>
            </a:r>
          </a:p>
          <a:p>
            <a:r>
              <a:rPr lang="zh-CN" altLang="en-US" sz="2000" dirty="0">
                <a:latin typeface="SimSun" panose="02010600030101010101" pitchFamily="2" charset="-122"/>
                <a:ea typeface="SimSun" panose="02010600030101010101" pitchFamily="2" charset="-122"/>
              </a:rPr>
              <a:t>（现实中系统可能不会这样实现，但本题问的是“最多”）</a:t>
            </a:r>
          </a:p>
        </p:txBody>
      </p:sp>
    </p:spTree>
    <p:extLst>
      <p:ext uri="{BB962C8B-B14F-4D97-AF65-F5344CB8AC3E}">
        <p14:creationId xmlns:p14="http://schemas.microsoft.com/office/powerpoint/2010/main" val="1067345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12</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第十一章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4154984"/>
          </a:xfrm>
          <a:prstGeom prst="rect">
            <a:avLst/>
          </a:prstGeom>
        </p:spPr>
        <p:txBody>
          <a:bodyPr wrap="square">
            <a:spAutoFit/>
          </a:bodyPr>
          <a:lstStyle/>
          <a:p>
            <a:r>
              <a:rPr lang="en-US" altLang="zh-CN" sz="2400" dirty="0">
                <a:latin typeface="SimSun" panose="02010600030101010101" pitchFamily="2" charset="-122"/>
                <a:ea typeface="SimSun" panose="02010600030101010101" pitchFamily="2" charset="-122"/>
              </a:rPr>
              <a:t>(1) </a:t>
            </a:r>
            <a:r>
              <a:rPr lang="zh-CN" altLang="en-US" sz="2400" dirty="0">
                <a:latin typeface="SimSun" panose="02010600030101010101" pitchFamily="2" charset="-122"/>
                <a:ea typeface="SimSun" panose="02010600030101010101" pitchFamily="2" charset="-122"/>
              </a:rPr>
              <a:t>因磁盘页大小为</a:t>
            </a:r>
            <a:r>
              <a:rPr lang="en-US" altLang="zh-CN" sz="2400" dirty="0">
                <a:latin typeface="SimSun" panose="02010600030101010101" pitchFamily="2" charset="-122"/>
                <a:ea typeface="SimSun" panose="02010600030101010101" pitchFamily="2" charset="-122"/>
              </a:rPr>
              <a:t>1024B</a:t>
            </a:r>
            <a:r>
              <a:rPr lang="zh-CN" altLang="en-US" sz="2400" dirty="0">
                <a:latin typeface="SimSun" panose="02010600030101010101" pitchFamily="2" charset="-122"/>
                <a:ea typeface="SimSun" panose="02010600030101010101" pitchFamily="2" charset="-122"/>
              </a:rPr>
              <a:t>， 每个记录占用</a:t>
            </a:r>
            <a:r>
              <a:rPr lang="en-US" altLang="zh-CN" sz="2400" dirty="0">
                <a:latin typeface="SimSun" panose="02010600030101010101" pitchFamily="2" charset="-122"/>
                <a:ea typeface="SimSun" panose="02010600030101010101" pitchFamily="2" charset="-122"/>
              </a:rPr>
              <a:t>16B</a:t>
            </a:r>
            <a:r>
              <a:rPr lang="zh-CN" altLang="en-US" sz="2400" dirty="0">
                <a:latin typeface="SimSun" panose="02010600030101010101" pitchFamily="2" charset="-122"/>
                <a:ea typeface="SimSun" panose="02010600030101010101" pitchFamily="2" charset="-122"/>
              </a:rPr>
              <a:t>，故每页可放</a:t>
            </a:r>
            <a:r>
              <a:rPr lang="en-US" altLang="zh-CN" sz="2400" dirty="0">
                <a:latin typeface="SimSun" panose="02010600030101010101" pitchFamily="2" charset="-122"/>
                <a:ea typeface="SimSun" panose="02010600030101010101" pitchFamily="2" charset="-122"/>
              </a:rPr>
              <a:t>1024 / 16 = 64</a:t>
            </a:r>
            <a:r>
              <a:rPr lang="zh-CN" altLang="en-US" sz="2400" dirty="0">
                <a:latin typeface="SimSun" panose="02010600030101010101" pitchFamily="2" charset="-122"/>
                <a:ea typeface="SimSun" panose="02010600030101010101" pitchFamily="2" charset="-122"/>
              </a:rPr>
              <a:t>个记录。常驻线性索引的内存空间为</a:t>
            </a:r>
            <a:r>
              <a:rPr lang="en-US" altLang="zh-CN" sz="2400" dirty="0">
                <a:latin typeface="SimSun" panose="02010600030101010101" pitchFamily="2" charset="-122"/>
                <a:ea typeface="SimSun" panose="02010600030101010101" pitchFamily="2" charset="-122"/>
              </a:rPr>
              <a:t>256K</a:t>
            </a:r>
            <a:r>
              <a:rPr lang="zh-CN" altLang="en-US" sz="2400" dirty="0">
                <a:latin typeface="SimSun" panose="02010600030101010101" pitchFamily="2" charset="-122"/>
                <a:ea typeface="SimSun" panose="02010600030101010101" pitchFamily="2" charset="-122"/>
              </a:rPr>
              <a:t>，最多可存放</a:t>
            </a:r>
            <a:r>
              <a:rPr lang="en-US" altLang="zh-CN" sz="2400" dirty="0">
                <a:latin typeface="SimSun" panose="02010600030101010101" pitchFamily="2" charset="-122"/>
                <a:ea typeface="SimSun" panose="02010600030101010101" pitchFamily="2" charset="-122"/>
              </a:rPr>
              <a:t>256 * (1024 / 8) = 32768</a:t>
            </a:r>
            <a:r>
              <a:rPr lang="zh-CN" altLang="en-US" sz="2400" dirty="0">
                <a:latin typeface="SimSun" panose="02010600030101010101" pitchFamily="2" charset="-122"/>
                <a:ea typeface="SimSun" panose="02010600030101010101" pitchFamily="2" charset="-122"/>
              </a:rPr>
              <a:t>个索引项，每个索引项索引一个磁盘页。因此文件中最多可存放</a:t>
            </a:r>
            <a:r>
              <a:rPr lang="en-US" altLang="zh-CN" sz="2400" dirty="0">
                <a:latin typeface="SimSun" panose="02010600030101010101" pitchFamily="2" charset="-122"/>
                <a:ea typeface="SimSun" panose="02010600030101010101" pitchFamily="2" charset="-122"/>
              </a:rPr>
              <a:t>32768 * 64 = 2097152</a:t>
            </a:r>
            <a:r>
              <a:rPr lang="zh-CN" altLang="en-US" sz="2400" dirty="0">
                <a:latin typeface="SimSun" panose="02010600030101010101" pitchFamily="2" charset="-122"/>
                <a:ea typeface="SimSun" panose="02010600030101010101" pitchFamily="2" charset="-122"/>
              </a:rPr>
              <a:t>个记录。</a:t>
            </a:r>
            <a:endParaRPr lang="en-US" altLang="zh-CN" sz="2400" dirty="0">
              <a:latin typeface="SimSun" panose="02010600030101010101" pitchFamily="2" charset="-122"/>
              <a:ea typeface="SimSun" panose="02010600030101010101" pitchFamily="2" charset="-122"/>
            </a:endParaRPr>
          </a:p>
          <a:p>
            <a:endParaRPr lang="zh-CN" altLang="en-US" sz="2400" dirty="0">
              <a:latin typeface="SimSun" panose="02010600030101010101" pitchFamily="2" charset="-122"/>
              <a:ea typeface="SimSun" panose="02010600030101010101" pitchFamily="2" charset="-122"/>
            </a:endParaRPr>
          </a:p>
          <a:p>
            <a:r>
              <a:rPr lang="en-US" altLang="zh-CN" sz="2400" dirty="0">
                <a:latin typeface="SimSun" panose="02010600030101010101" pitchFamily="2" charset="-122"/>
                <a:ea typeface="SimSun" panose="02010600030101010101" pitchFamily="2" charset="-122"/>
              </a:rPr>
              <a:t>(2) </a:t>
            </a:r>
            <a:r>
              <a:rPr lang="zh-CN" altLang="en-US" sz="2400" dirty="0">
                <a:latin typeface="SimSun" panose="02010600030101010101" pitchFamily="2" charset="-122"/>
                <a:ea typeface="SimSun" panose="02010600030101010101" pitchFamily="2" charset="-122"/>
              </a:rPr>
              <a:t>共有</a:t>
            </a:r>
            <a:r>
              <a:rPr lang="en-US" altLang="zh-CN" sz="2400" dirty="0">
                <a:latin typeface="SimSun" panose="02010600030101010101" pitchFamily="2" charset="-122"/>
                <a:ea typeface="SimSun" panose="02010600030101010101" pitchFamily="2" charset="-122"/>
              </a:rPr>
              <a:t>1024 / 8 = 128</a:t>
            </a:r>
            <a:r>
              <a:rPr lang="zh-CN" altLang="en-US" sz="2400" dirty="0">
                <a:latin typeface="SimSun" panose="02010600030101010101" pitchFamily="2" charset="-122"/>
                <a:ea typeface="SimSun" panose="02010600030101010101" pitchFamily="2" charset="-122"/>
              </a:rPr>
              <a:t>个二级索引项，每个二级索引项对应一个存放一级索引文件的磁盘页，每页可放</a:t>
            </a:r>
            <a:r>
              <a:rPr lang="en-US" altLang="zh-CN" sz="2400" dirty="0">
                <a:latin typeface="SimSun" panose="02010600030101010101" pitchFamily="2" charset="-122"/>
                <a:ea typeface="SimSun" panose="02010600030101010101" pitchFamily="2" charset="-122"/>
              </a:rPr>
              <a:t>1024 / 8 = 128</a:t>
            </a:r>
            <a:r>
              <a:rPr lang="zh-CN" altLang="en-US" sz="2400" dirty="0">
                <a:latin typeface="SimSun" panose="02010600030101010101" pitchFamily="2" charset="-122"/>
                <a:ea typeface="SimSun" panose="02010600030101010101" pitchFamily="2" charset="-122"/>
              </a:rPr>
              <a:t>个一级索引项。因此</a:t>
            </a:r>
            <a:r>
              <a:rPr lang="zh-CN" altLang="en-US" sz="2400" u="sng" dirty="0">
                <a:latin typeface="SimSun" panose="02010600030101010101" pitchFamily="2" charset="-122"/>
                <a:ea typeface="SimSun" panose="02010600030101010101" pitchFamily="2" charset="-122"/>
              </a:rPr>
              <a:t>磁盘上</a:t>
            </a:r>
            <a:r>
              <a:rPr lang="zh-CN" altLang="en-US" sz="2400" dirty="0">
                <a:latin typeface="SimSun" panose="02010600030101010101" pitchFamily="2" charset="-122"/>
                <a:ea typeface="SimSun" panose="02010600030101010101" pitchFamily="2" charset="-122"/>
              </a:rPr>
              <a:t>最多可存放</a:t>
            </a:r>
            <a:r>
              <a:rPr lang="en-US" altLang="zh-CN" sz="2400" dirty="0">
                <a:latin typeface="SimSun" panose="02010600030101010101" pitchFamily="2" charset="-122"/>
                <a:ea typeface="SimSun" panose="02010600030101010101" pitchFamily="2" charset="-122"/>
              </a:rPr>
              <a:t>128 * 128 = 16384</a:t>
            </a:r>
            <a:r>
              <a:rPr lang="zh-CN" altLang="en-US" sz="2400" dirty="0">
                <a:latin typeface="SimSun" panose="02010600030101010101" pitchFamily="2" charset="-122"/>
                <a:ea typeface="SimSun" panose="02010600030101010101" pitchFamily="2" charset="-122"/>
              </a:rPr>
              <a:t>个一级索引项。由于二级索引占用</a:t>
            </a:r>
            <a:r>
              <a:rPr lang="en-US" altLang="zh-CN" sz="2400" dirty="0">
                <a:latin typeface="SimSun" panose="02010600030101010101" pitchFamily="2" charset="-122"/>
                <a:ea typeface="SimSun" panose="02010600030101010101" pitchFamily="2" charset="-122"/>
              </a:rPr>
              <a:t>1024B</a:t>
            </a:r>
            <a:r>
              <a:rPr lang="zh-CN" altLang="en-US" sz="2400" dirty="0">
                <a:latin typeface="SimSun" panose="02010600030101010101" pitchFamily="2" charset="-122"/>
                <a:ea typeface="SimSun" panose="02010600030101010101" pitchFamily="2" charset="-122"/>
              </a:rPr>
              <a:t>，</a:t>
            </a:r>
            <a:r>
              <a:rPr lang="zh-CN" altLang="en-US" sz="2400" u="sng" dirty="0">
                <a:latin typeface="SimSun" panose="02010600030101010101" pitchFamily="2" charset="-122"/>
                <a:ea typeface="SimSun" panose="02010600030101010101" pitchFamily="2" charset="-122"/>
              </a:rPr>
              <a:t>内存中</a:t>
            </a:r>
            <a:r>
              <a:rPr lang="zh-CN" altLang="en-US" sz="2400" dirty="0">
                <a:latin typeface="SimSun" panose="02010600030101010101" pitchFamily="2" charset="-122"/>
                <a:ea typeface="SimSun" panose="02010600030101010101" pitchFamily="2" charset="-122"/>
              </a:rPr>
              <a:t>还剩</a:t>
            </a:r>
            <a:r>
              <a:rPr lang="en-US" altLang="zh-CN" sz="2400" dirty="0">
                <a:latin typeface="SimSun" panose="02010600030101010101" pitchFamily="2" charset="-122"/>
                <a:ea typeface="SimSun" panose="02010600030101010101" pitchFamily="2" charset="-122"/>
              </a:rPr>
              <a:t>255K</a:t>
            </a:r>
            <a:r>
              <a:rPr lang="zh-CN" altLang="en-US" sz="2400" dirty="0">
                <a:latin typeface="SimSun" panose="02010600030101010101" pitchFamily="2" charset="-122"/>
                <a:ea typeface="SimSun" panose="02010600030101010101" pitchFamily="2" charset="-122"/>
              </a:rPr>
              <a:t>字节用于常驻一级索引，最多可存放</a:t>
            </a:r>
            <a:r>
              <a:rPr lang="en-US" altLang="zh-CN" sz="2400" dirty="0">
                <a:latin typeface="SimSun" panose="02010600030101010101" pitchFamily="2" charset="-122"/>
                <a:ea typeface="SimSun" panose="02010600030101010101" pitchFamily="2" charset="-122"/>
              </a:rPr>
              <a:t>255 * 128 = 32640</a:t>
            </a:r>
            <a:r>
              <a:rPr lang="zh-CN" altLang="en-US" sz="2400" dirty="0">
                <a:latin typeface="SimSun" panose="02010600030101010101" pitchFamily="2" charset="-122"/>
                <a:ea typeface="SimSun" panose="02010600030101010101" pitchFamily="2" charset="-122"/>
              </a:rPr>
              <a:t>个一级索引项。因此最多共可存放</a:t>
            </a:r>
            <a:r>
              <a:rPr lang="en-US" altLang="zh-CN" sz="2400" dirty="0">
                <a:latin typeface="SimSun" panose="02010600030101010101" pitchFamily="2" charset="-122"/>
                <a:ea typeface="SimSun" panose="02010600030101010101" pitchFamily="2" charset="-122"/>
              </a:rPr>
              <a:t>16384 + 32640 = 49024</a:t>
            </a:r>
            <a:r>
              <a:rPr lang="zh-CN" altLang="en-US" sz="2400" dirty="0">
                <a:latin typeface="SimSun" panose="02010600030101010101" pitchFamily="2" charset="-122"/>
                <a:ea typeface="SimSun" panose="02010600030101010101" pitchFamily="2" charset="-122"/>
              </a:rPr>
              <a:t>个一级索引项，文件中最多可存放</a:t>
            </a:r>
            <a:r>
              <a:rPr lang="en-US" altLang="zh-CN" sz="2400" dirty="0">
                <a:latin typeface="SimSun" panose="02010600030101010101" pitchFamily="2" charset="-122"/>
                <a:ea typeface="SimSun" panose="02010600030101010101" pitchFamily="2" charset="-122"/>
              </a:rPr>
              <a:t>49024 * 64 = 3137536</a:t>
            </a:r>
            <a:r>
              <a:rPr lang="zh-CN" altLang="en-US" sz="2400" dirty="0">
                <a:latin typeface="SimSun" panose="02010600030101010101" pitchFamily="2" charset="-122"/>
                <a:ea typeface="SimSun" panose="02010600030101010101" pitchFamily="2" charset="-122"/>
              </a:rPr>
              <a:t>个记录。</a:t>
            </a:r>
          </a:p>
        </p:txBody>
      </p:sp>
    </p:spTree>
    <p:extLst>
      <p:ext uri="{BB962C8B-B14F-4D97-AF65-F5344CB8AC3E}">
        <p14:creationId xmlns:p14="http://schemas.microsoft.com/office/powerpoint/2010/main" val="1860960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13</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第十一章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830997"/>
          </a:xfrm>
          <a:prstGeom prst="rect">
            <a:avLst/>
          </a:prstGeom>
        </p:spPr>
        <p:txBody>
          <a:bodyPr wrap="square">
            <a:spAutoFit/>
          </a:bodyPr>
          <a:lstStyle/>
          <a:p>
            <a:pPr marL="457200" indent="-457200">
              <a:buFont typeface="+mj-lt"/>
              <a:buAutoNum type="arabicPeriod" startAt="2"/>
            </a:pPr>
            <a:r>
              <a:rPr lang="zh-CN" altLang="en-US" sz="2400" dirty="0">
                <a:latin typeface="SimSun" panose="02010600030101010101" pitchFamily="2" charset="-122"/>
                <a:ea typeface="SimSun" panose="02010600030101010101" pitchFamily="2" charset="-122"/>
              </a:rPr>
              <a:t>设有以下存放学生信息的文件，其中</a:t>
            </a:r>
            <a:r>
              <a:rPr lang="en-US" altLang="zh-CN" sz="2400" dirty="0">
                <a:latin typeface="SimSun" panose="02010600030101010101" pitchFamily="2" charset="-122"/>
                <a:ea typeface="SimSun" panose="02010600030101010101" pitchFamily="2" charset="-122"/>
              </a:rPr>
              <a:t>ID</a:t>
            </a:r>
            <a:r>
              <a:rPr lang="zh-CN" altLang="en-US" sz="2400" dirty="0">
                <a:latin typeface="SimSun" panose="02010600030101010101" pitchFamily="2" charset="-122"/>
                <a:ea typeface="SimSun" panose="02010600030101010101" pitchFamily="2" charset="-122"/>
              </a:rPr>
              <a:t>为关键码，请基于其中的</a:t>
            </a:r>
            <a:r>
              <a:rPr lang="en-US" altLang="zh-CN" sz="2400" dirty="0">
                <a:latin typeface="SimSun" panose="02010600030101010101" pitchFamily="2" charset="-122"/>
                <a:ea typeface="SimSun" panose="02010600030101010101" pitchFamily="2" charset="-122"/>
              </a:rPr>
              <a:t>Department</a:t>
            </a:r>
            <a:r>
              <a:rPr lang="zh-CN" altLang="en-US" sz="2400" dirty="0">
                <a:latin typeface="SimSun" panose="02010600030101010101" pitchFamily="2" charset="-122"/>
                <a:ea typeface="SimSun" panose="02010600030101010101" pitchFamily="2" charset="-122"/>
              </a:rPr>
              <a:t>和</a:t>
            </a:r>
            <a:r>
              <a:rPr lang="en-US" altLang="zh-CN" sz="2400" dirty="0">
                <a:latin typeface="SimSun" panose="02010600030101010101" pitchFamily="2" charset="-122"/>
                <a:ea typeface="SimSun" panose="02010600030101010101" pitchFamily="2" charset="-122"/>
              </a:rPr>
              <a:t>Dormitory</a:t>
            </a:r>
            <a:r>
              <a:rPr lang="zh-CN" altLang="en-US" sz="2400" dirty="0">
                <a:latin typeface="SimSun" panose="02010600030101010101" pitchFamily="2" charset="-122"/>
                <a:ea typeface="SimSun" panose="02010600030101010101" pitchFamily="2" charset="-122"/>
              </a:rPr>
              <a:t>属性给出相应的倒排索引。</a:t>
            </a: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9" name="表格 9">
            <a:extLst>
              <a:ext uri="{FF2B5EF4-FFF2-40B4-BE49-F238E27FC236}">
                <a16:creationId xmlns:a16="http://schemas.microsoft.com/office/drawing/2014/main" id="{D78C8E54-8580-8949-8F19-3E337F6C1482}"/>
              </a:ext>
            </a:extLst>
          </p:cNvPr>
          <p:cNvGraphicFramePr>
            <a:graphicFrameLocks noGrp="1"/>
          </p:cNvGraphicFramePr>
          <p:nvPr>
            <p:extLst>
              <p:ext uri="{D42A27DB-BD31-4B8C-83A1-F6EECF244321}">
                <p14:modId xmlns:p14="http://schemas.microsoft.com/office/powerpoint/2010/main" val="1839615620"/>
              </p:ext>
            </p:extLst>
          </p:nvPr>
        </p:nvGraphicFramePr>
        <p:xfrm>
          <a:off x="2185276" y="2108251"/>
          <a:ext cx="7821448" cy="4113593"/>
        </p:xfrm>
        <a:graphic>
          <a:graphicData uri="http://schemas.openxmlformats.org/drawingml/2006/table">
            <a:tbl>
              <a:tblPr firstRow="1" bandRow="1">
                <a:tableStyleId>{5C22544A-7EE6-4342-B048-85BDC9FD1C3A}</a:tableStyleId>
              </a:tblPr>
              <a:tblGrid>
                <a:gridCol w="1955362">
                  <a:extLst>
                    <a:ext uri="{9D8B030D-6E8A-4147-A177-3AD203B41FA5}">
                      <a16:colId xmlns:a16="http://schemas.microsoft.com/office/drawing/2014/main" val="1216498136"/>
                    </a:ext>
                  </a:extLst>
                </a:gridCol>
                <a:gridCol w="1955362">
                  <a:extLst>
                    <a:ext uri="{9D8B030D-6E8A-4147-A177-3AD203B41FA5}">
                      <a16:colId xmlns:a16="http://schemas.microsoft.com/office/drawing/2014/main" val="2069995704"/>
                    </a:ext>
                  </a:extLst>
                </a:gridCol>
                <a:gridCol w="1955362">
                  <a:extLst>
                    <a:ext uri="{9D8B030D-6E8A-4147-A177-3AD203B41FA5}">
                      <a16:colId xmlns:a16="http://schemas.microsoft.com/office/drawing/2014/main" val="3480824365"/>
                    </a:ext>
                  </a:extLst>
                </a:gridCol>
                <a:gridCol w="1955362">
                  <a:extLst>
                    <a:ext uri="{9D8B030D-6E8A-4147-A177-3AD203B41FA5}">
                      <a16:colId xmlns:a16="http://schemas.microsoft.com/office/drawing/2014/main" val="1645273264"/>
                    </a:ext>
                  </a:extLst>
                </a:gridCol>
              </a:tblGrid>
              <a:tr h="373963">
                <a:tc>
                  <a:txBody>
                    <a:bodyPr/>
                    <a:lstStyle/>
                    <a:p>
                      <a:r>
                        <a:rPr lang="en-US" sz="1700" b="1" dirty="0">
                          <a:effectLst/>
                        </a:rPr>
                        <a:t>ID</a:t>
                      </a:r>
                    </a:p>
                  </a:txBody>
                  <a:tcPr marL="119154" marR="119154" marT="54995" marB="54995" anchor="ctr"/>
                </a:tc>
                <a:tc>
                  <a:txBody>
                    <a:bodyPr/>
                    <a:lstStyle/>
                    <a:p>
                      <a:r>
                        <a:rPr lang="en-US" sz="1700" b="1" dirty="0">
                          <a:effectLst/>
                        </a:rPr>
                        <a:t>Name</a:t>
                      </a:r>
                    </a:p>
                  </a:txBody>
                  <a:tcPr marL="119154" marR="119154" marT="54995" marB="54995" anchor="ctr"/>
                </a:tc>
                <a:tc>
                  <a:txBody>
                    <a:bodyPr/>
                    <a:lstStyle/>
                    <a:p>
                      <a:r>
                        <a:rPr lang="en-US" sz="1700" b="1">
                          <a:effectLst/>
                        </a:rPr>
                        <a:t>Department</a:t>
                      </a:r>
                    </a:p>
                  </a:txBody>
                  <a:tcPr marL="119154" marR="119154" marT="54995" marB="54995" anchor="ctr"/>
                </a:tc>
                <a:tc>
                  <a:txBody>
                    <a:bodyPr/>
                    <a:lstStyle/>
                    <a:p>
                      <a:r>
                        <a:rPr lang="en-US" sz="1700" b="1">
                          <a:effectLst/>
                        </a:rPr>
                        <a:t>Dormitory</a:t>
                      </a:r>
                    </a:p>
                  </a:txBody>
                  <a:tcPr marL="119154" marR="119154" marT="54995" marB="54995" anchor="ctr"/>
                </a:tc>
                <a:extLst>
                  <a:ext uri="{0D108BD9-81ED-4DB2-BD59-A6C34878D82A}">
                    <a16:rowId xmlns:a16="http://schemas.microsoft.com/office/drawing/2014/main" val="2185388859"/>
                  </a:ext>
                </a:extLst>
              </a:tr>
              <a:tr h="373963">
                <a:tc>
                  <a:txBody>
                    <a:bodyPr/>
                    <a:lstStyle/>
                    <a:p>
                      <a:r>
                        <a:rPr lang="en-US" altLang="zh-CN" sz="1700">
                          <a:effectLst/>
                        </a:rPr>
                        <a:t>1201</a:t>
                      </a:r>
                    </a:p>
                  </a:txBody>
                  <a:tcPr marL="119154" marR="119154" marT="54995" marB="54995" anchor="ctr"/>
                </a:tc>
                <a:tc>
                  <a:txBody>
                    <a:bodyPr/>
                    <a:lstStyle/>
                    <a:p>
                      <a:r>
                        <a:rPr lang="zh-CN" altLang="en-US" sz="1700">
                          <a:effectLst/>
                        </a:rPr>
                        <a:t>李宇</a:t>
                      </a:r>
                    </a:p>
                  </a:txBody>
                  <a:tcPr marL="119154" marR="119154" marT="54995" marB="54995" anchor="ctr"/>
                </a:tc>
                <a:tc>
                  <a:txBody>
                    <a:bodyPr/>
                    <a:lstStyle/>
                    <a:p>
                      <a:r>
                        <a:rPr lang="zh-CN" altLang="en-US" sz="1700">
                          <a:effectLst/>
                        </a:rPr>
                        <a:t>软件工程</a:t>
                      </a:r>
                    </a:p>
                  </a:txBody>
                  <a:tcPr marL="119154" marR="119154" marT="54995" marB="54995" anchor="ctr"/>
                </a:tc>
                <a:tc>
                  <a:txBody>
                    <a:bodyPr/>
                    <a:lstStyle/>
                    <a:p>
                      <a:r>
                        <a:rPr lang="en-US" sz="1700">
                          <a:effectLst/>
                        </a:rPr>
                        <a:t>D41</a:t>
                      </a:r>
                    </a:p>
                  </a:txBody>
                  <a:tcPr marL="119154" marR="119154" marT="54995" marB="54995" anchor="ctr"/>
                </a:tc>
                <a:extLst>
                  <a:ext uri="{0D108BD9-81ED-4DB2-BD59-A6C34878D82A}">
                    <a16:rowId xmlns:a16="http://schemas.microsoft.com/office/drawing/2014/main" val="2032372817"/>
                  </a:ext>
                </a:extLst>
              </a:tr>
              <a:tr h="373963">
                <a:tc>
                  <a:txBody>
                    <a:bodyPr/>
                    <a:lstStyle/>
                    <a:p>
                      <a:r>
                        <a:rPr lang="en-US" altLang="zh-CN" sz="1700">
                          <a:effectLst/>
                        </a:rPr>
                        <a:t>1202</a:t>
                      </a:r>
                    </a:p>
                  </a:txBody>
                  <a:tcPr marL="119154" marR="119154" marT="54995" marB="54995" anchor="ctr"/>
                </a:tc>
                <a:tc>
                  <a:txBody>
                    <a:bodyPr/>
                    <a:lstStyle/>
                    <a:p>
                      <a:r>
                        <a:rPr lang="zh-CN" altLang="en-US" sz="1700">
                          <a:effectLst/>
                        </a:rPr>
                        <a:t>刘阳</a:t>
                      </a:r>
                    </a:p>
                  </a:txBody>
                  <a:tcPr marL="119154" marR="119154" marT="54995" marB="54995" anchor="ctr"/>
                </a:tc>
                <a:tc>
                  <a:txBody>
                    <a:bodyPr/>
                    <a:lstStyle/>
                    <a:p>
                      <a:r>
                        <a:rPr lang="zh-CN" altLang="en-US" sz="1700">
                          <a:effectLst/>
                        </a:rPr>
                        <a:t>智能</a:t>
                      </a:r>
                    </a:p>
                  </a:txBody>
                  <a:tcPr marL="119154" marR="119154" marT="54995" marB="54995" anchor="ctr"/>
                </a:tc>
                <a:tc>
                  <a:txBody>
                    <a:bodyPr/>
                    <a:lstStyle/>
                    <a:p>
                      <a:r>
                        <a:rPr lang="en-US" sz="1700">
                          <a:effectLst/>
                        </a:rPr>
                        <a:t>D46</a:t>
                      </a:r>
                    </a:p>
                  </a:txBody>
                  <a:tcPr marL="119154" marR="119154" marT="54995" marB="54995" anchor="ctr"/>
                </a:tc>
                <a:extLst>
                  <a:ext uri="{0D108BD9-81ED-4DB2-BD59-A6C34878D82A}">
                    <a16:rowId xmlns:a16="http://schemas.microsoft.com/office/drawing/2014/main" val="2896554346"/>
                  </a:ext>
                </a:extLst>
              </a:tr>
              <a:tr h="373963">
                <a:tc>
                  <a:txBody>
                    <a:bodyPr/>
                    <a:lstStyle/>
                    <a:p>
                      <a:r>
                        <a:rPr lang="en-US" altLang="zh-CN" sz="1700">
                          <a:effectLst/>
                        </a:rPr>
                        <a:t>1203</a:t>
                      </a:r>
                    </a:p>
                  </a:txBody>
                  <a:tcPr marL="119154" marR="119154" marT="54995" marB="54995" anchor="ctr"/>
                </a:tc>
                <a:tc>
                  <a:txBody>
                    <a:bodyPr/>
                    <a:lstStyle/>
                    <a:p>
                      <a:r>
                        <a:rPr lang="zh-CN" altLang="en-US" sz="1700">
                          <a:effectLst/>
                        </a:rPr>
                        <a:t>赵亮</a:t>
                      </a:r>
                    </a:p>
                  </a:txBody>
                  <a:tcPr marL="119154" marR="119154" marT="54995" marB="54995" anchor="ctr"/>
                </a:tc>
                <a:tc>
                  <a:txBody>
                    <a:bodyPr/>
                    <a:lstStyle/>
                    <a:p>
                      <a:r>
                        <a:rPr lang="zh-CN" altLang="en-US" sz="1700">
                          <a:effectLst/>
                        </a:rPr>
                        <a:t>计算所</a:t>
                      </a:r>
                    </a:p>
                  </a:txBody>
                  <a:tcPr marL="119154" marR="119154" marT="54995" marB="54995" anchor="ctr"/>
                </a:tc>
                <a:tc>
                  <a:txBody>
                    <a:bodyPr/>
                    <a:lstStyle/>
                    <a:p>
                      <a:r>
                        <a:rPr lang="en-US" sz="1700">
                          <a:effectLst/>
                        </a:rPr>
                        <a:t>D46</a:t>
                      </a:r>
                    </a:p>
                  </a:txBody>
                  <a:tcPr marL="119154" marR="119154" marT="54995" marB="54995" anchor="ctr"/>
                </a:tc>
                <a:extLst>
                  <a:ext uri="{0D108BD9-81ED-4DB2-BD59-A6C34878D82A}">
                    <a16:rowId xmlns:a16="http://schemas.microsoft.com/office/drawing/2014/main" val="1127074553"/>
                  </a:ext>
                </a:extLst>
              </a:tr>
              <a:tr h="373963">
                <a:tc>
                  <a:txBody>
                    <a:bodyPr/>
                    <a:lstStyle/>
                    <a:p>
                      <a:r>
                        <a:rPr lang="en-US" altLang="zh-CN" sz="1700">
                          <a:effectLst/>
                        </a:rPr>
                        <a:t>1204</a:t>
                      </a:r>
                    </a:p>
                  </a:txBody>
                  <a:tcPr marL="119154" marR="119154" marT="54995" marB="54995" anchor="ctr"/>
                </a:tc>
                <a:tc>
                  <a:txBody>
                    <a:bodyPr/>
                    <a:lstStyle/>
                    <a:p>
                      <a:r>
                        <a:rPr lang="zh-CN" altLang="en-US" sz="1700">
                          <a:effectLst/>
                        </a:rPr>
                        <a:t>张伟</a:t>
                      </a:r>
                    </a:p>
                  </a:txBody>
                  <a:tcPr marL="119154" marR="119154" marT="54995" marB="54995" anchor="ctr"/>
                </a:tc>
                <a:tc>
                  <a:txBody>
                    <a:bodyPr/>
                    <a:lstStyle/>
                    <a:p>
                      <a:r>
                        <a:rPr lang="zh-CN" altLang="en-US" sz="1700">
                          <a:effectLst/>
                        </a:rPr>
                        <a:t>软件工程</a:t>
                      </a:r>
                    </a:p>
                  </a:txBody>
                  <a:tcPr marL="119154" marR="119154" marT="54995" marB="54995" anchor="ctr"/>
                </a:tc>
                <a:tc>
                  <a:txBody>
                    <a:bodyPr/>
                    <a:lstStyle/>
                    <a:p>
                      <a:r>
                        <a:rPr lang="en-US" sz="1700">
                          <a:effectLst/>
                        </a:rPr>
                        <a:t>D42</a:t>
                      </a:r>
                    </a:p>
                  </a:txBody>
                  <a:tcPr marL="119154" marR="119154" marT="54995" marB="54995" anchor="ctr"/>
                </a:tc>
                <a:extLst>
                  <a:ext uri="{0D108BD9-81ED-4DB2-BD59-A6C34878D82A}">
                    <a16:rowId xmlns:a16="http://schemas.microsoft.com/office/drawing/2014/main" val="3774752850"/>
                  </a:ext>
                </a:extLst>
              </a:tr>
              <a:tr h="373963">
                <a:tc>
                  <a:txBody>
                    <a:bodyPr/>
                    <a:lstStyle/>
                    <a:p>
                      <a:r>
                        <a:rPr lang="en-US" altLang="zh-CN" sz="1700">
                          <a:effectLst/>
                        </a:rPr>
                        <a:t>1205</a:t>
                      </a:r>
                    </a:p>
                  </a:txBody>
                  <a:tcPr marL="119154" marR="119154" marT="54995" marB="54995" anchor="ctr"/>
                </a:tc>
                <a:tc>
                  <a:txBody>
                    <a:bodyPr/>
                    <a:lstStyle/>
                    <a:p>
                      <a:r>
                        <a:rPr lang="zh-CN" altLang="en-US" sz="1700">
                          <a:effectLst/>
                        </a:rPr>
                        <a:t>王亮</a:t>
                      </a:r>
                    </a:p>
                  </a:txBody>
                  <a:tcPr marL="119154" marR="119154" marT="54995" marB="54995" anchor="ctr"/>
                </a:tc>
                <a:tc>
                  <a:txBody>
                    <a:bodyPr/>
                    <a:lstStyle/>
                    <a:p>
                      <a:r>
                        <a:rPr lang="zh-CN" altLang="en-US" sz="1700">
                          <a:effectLst/>
                        </a:rPr>
                        <a:t>软件工程</a:t>
                      </a:r>
                    </a:p>
                  </a:txBody>
                  <a:tcPr marL="119154" marR="119154" marT="54995" marB="54995" anchor="ctr"/>
                </a:tc>
                <a:tc>
                  <a:txBody>
                    <a:bodyPr/>
                    <a:lstStyle/>
                    <a:p>
                      <a:r>
                        <a:rPr lang="en-US" sz="1700">
                          <a:effectLst/>
                        </a:rPr>
                        <a:t>D41</a:t>
                      </a:r>
                    </a:p>
                  </a:txBody>
                  <a:tcPr marL="119154" marR="119154" marT="54995" marB="54995" anchor="ctr"/>
                </a:tc>
                <a:extLst>
                  <a:ext uri="{0D108BD9-81ED-4DB2-BD59-A6C34878D82A}">
                    <a16:rowId xmlns:a16="http://schemas.microsoft.com/office/drawing/2014/main" val="3864317594"/>
                  </a:ext>
                </a:extLst>
              </a:tr>
              <a:tr h="373963">
                <a:tc>
                  <a:txBody>
                    <a:bodyPr/>
                    <a:lstStyle/>
                    <a:p>
                      <a:r>
                        <a:rPr lang="en-US" altLang="zh-CN" sz="1700">
                          <a:effectLst/>
                        </a:rPr>
                        <a:t>1206</a:t>
                      </a:r>
                    </a:p>
                  </a:txBody>
                  <a:tcPr marL="119154" marR="119154" marT="54995" marB="54995" anchor="ctr"/>
                </a:tc>
                <a:tc>
                  <a:txBody>
                    <a:bodyPr/>
                    <a:lstStyle/>
                    <a:p>
                      <a:r>
                        <a:rPr lang="zh-CN" altLang="en-US" sz="1700">
                          <a:effectLst/>
                        </a:rPr>
                        <a:t>王卓</a:t>
                      </a:r>
                    </a:p>
                  </a:txBody>
                  <a:tcPr marL="119154" marR="119154" marT="54995" marB="54995" anchor="ctr"/>
                </a:tc>
                <a:tc>
                  <a:txBody>
                    <a:bodyPr/>
                    <a:lstStyle/>
                    <a:p>
                      <a:r>
                        <a:rPr lang="zh-CN" altLang="en-US" sz="1700">
                          <a:effectLst/>
                        </a:rPr>
                        <a:t>元培</a:t>
                      </a:r>
                    </a:p>
                  </a:txBody>
                  <a:tcPr marL="119154" marR="119154" marT="54995" marB="54995" anchor="ctr"/>
                </a:tc>
                <a:tc>
                  <a:txBody>
                    <a:bodyPr/>
                    <a:lstStyle/>
                    <a:p>
                      <a:r>
                        <a:rPr lang="en-US" sz="1700">
                          <a:effectLst/>
                        </a:rPr>
                        <a:t>D46</a:t>
                      </a:r>
                    </a:p>
                  </a:txBody>
                  <a:tcPr marL="119154" marR="119154" marT="54995" marB="54995" anchor="ctr"/>
                </a:tc>
                <a:extLst>
                  <a:ext uri="{0D108BD9-81ED-4DB2-BD59-A6C34878D82A}">
                    <a16:rowId xmlns:a16="http://schemas.microsoft.com/office/drawing/2014/main" val="3028641591"/>
                  </a:ext>
                </a:extLst>
              </a:tr>
              <a:tr h="373963">
                <a:tc>
                  <a:txBody>
                    <a:bodyPr/>
                    <a:lstStyle/>
                    <a:p>
                      <a:r>
                        <a:rPr lang="en-US" altLang="zh-CN" sz="1700">
                          <a:effectLst/>
                        </a:rPr>
                        <a:t>1207</a:t>
                      </a:r>
                    </a:p>
                  </a:txBody>
                  <a:tcPr marL="119154" marR="119154" marT="54995" marB="54995" anchor="ctr"/>
                </a:tc>
                <a:tc>
                  <a:txBody>
                    <a:bodyPr/>
                    <a:lstStyle/>
                    <a:p>
                      <a:r>
                        <a:rPr lang="zh-CN" altLang="en-US" sz="1700">
                          <a:effectLst/>
                        </a:rPr>
                        <a:t>孙丽</a:t>
                      </a:r>
                    </a:p>
                  </a:txBody>
                  <a:tcPr marL="119154" marR="119154" marT="54995" marB="54995" anchor="ctr"/>
                </a:tc>
                <a:tc>
                  <a:txBody>
                    <a:bodyPr/>
                    <a:lstStyle/>
                    <a:p>
                      <a:r>
                        <a:rPr lang="zh-CN" altLang="en-US" sz="1700">
                          <a:effectLst/>
                        </a:rPr>
                        <a:t>计算所</a:t>
                      </a:r>
                    </a:p>
                  </a:txBody>
                  <a:tcPr marL="119154" marR="119154" marT="54995" marB="54995" anchor="ctr"/>
                </a:tc>
                <a:tc>
                  <a:txBody>
                    <a:bodyPr/>
                    <a:lstStyle/>
                    <a:p>
                      <a:r>
                        <a:rPr lang="en-US" sz="1700">
                          <a:effectLst/>
                        </a:rPr>
                        <a:t>D48</a:t>
                      </a:r>
                    </a:p>
                  </a:txBody>
                  <a:tcPr marL="119154" marR="119154" marT="54995" marB="54995" anchor="ctr"/>
                </a:tc>
                <a:extLst>
                  <a:ext uri="{0D108BD9-81ED-4DB2-BD59-A6C34878D82A}">
                    <a16:rowId xmlns:a16="http://schemas.microsoft.com/office/drawing/2014/main" val="1203928309"/>
                  </a:ext>
                </a:extLst>
              </a:tr>
              <a:tr h="373963">
                <a:tc>
                  <a:txBody>
                    <a:bodyPr/>
                    <a:lstStyle/>
                    <a:p>
                      <a:r>
                        <a:rPr lang="en-US" altLang="zh-CN" sz="1700">
                          <a:effectLst/>
                        </a:rPr>
                        <a:t>1208</a:t>
                      </a:r>
                    </a:p>
                  </a:txBody>
                  <a:tcPr marL="119154" marR="119154" marT="54995" marB="54995" anchor="ctr"/>
                </a:tc>
                <a:tc>
                  <a:txBody>
                    <a:bodyPr/>
                    <a:lstStyle/>
                    <a:p>
                      <a:r>
                        <a:rPr lang="zh-CN" altLang="en-US" sz="1700">
                          <a:effectLst/>
                        </a:rPr>
                        <a:t>刘珍</a:t>
                      </a:r>
                    </a:p>
                  </a:txBody>
                  <a:tcPr marL="119154" marR="119154" marT="54995" marB="54995" anchor="ctr"/>
                </a:tc>
                <a:tc>
                  <a:txBody>
                    <a:bodyPr/>
                    <a:lstStyle/>
                    <a:p>
                      <a:r>
                        <a:rPr lang="zh-CN" altLang="en-US" sz="1700">
                          <a:effectLst/>
                        </a:rPr>
                        <a:t>软件工程</a:t>
                      </a:r>
                    </a:p>
                  </a:txBody>
                  <a:tcPr marL="119154" marR="119154" marT="54995" marB="54995" anchor="ctr"/>
                </a:tc>
                <a:tc>
                  <a:txBody>
                    <a:bodyPr/>
                    <a:lstStyle/>
                    <a:p>
                      <a:r>
                        <a:rPr lang="en-US" sz="1700">
                          <a:effectLst/>
                        </a:rPr>
                        <a:t>D41</a:t>
                      </a:r>
                    </a:p>
                  </a:txBody>
                  <a:tcPr marL="119154" marR="119154" marT="54995" marB="54995" anchor="ctr"/>
                </a:tc>
                <a:extLst>
                  <a:ext uri="{0D108BD9-81ED-4DB2-BD59-A6C34878D82A}">
                    <a16:rowId xmlns:a16="http://schemas.microsoft.com/office/drawing/2014/main" val="1929613665"/>
                  </a:ext>
                </a:extLst>
              </a:tr>
              <a:tr h="373963">
                <a:tc>
                  <a:txBody>
                    <a:bodyPr/>
                    <a:lstStyle/>
                    <a:p>
                      <a:r>
                        <a:rPr lang="en-US" altLang="zh-CN" sz="1700">
                          <a:effectLst/>
                        </a:rPr>
                        <a:t>1209</a:t>
                      </a:r>
                    </a:p>
                  </a:txBody>
                  <a:tcPr marL="119154" marR="119154" marT="54995" marB="54995" anchor="ctr"/>
                </a:tc>
                <a:tc>
                  <a:txBody>
                    <a:bodyPr/>
                    <a:lstStyle/>
                    <a:p>
                      <a:r>
                        <a:rPr lang="zh-CN" altLang="en-US" sz="1700">
                          <a:effectLst/>
                        </a:rPr>
                        <a:t>周兵</a:t>
                      </a:r>
                    </a:p>
                  </a:txBody>
                  <a:tcPr marL="119154" marR="119154" marT="54995" marB="54995" anchor="ctr"/>
                </a:tc>
                <a:tc>
                  <a:txBody>
                    <a:bodyPr/>
                    <a:lstStyle/>
                    <a:p>
                      <a:r>
                        <a:rPr lang="zh-CN" altLang="en-US" sz="1700">
                          <a:effectLst/>
                        </a:rPr>
                        <a:t>智能</a:t>
                      </a:r>
                    </a:p>
                  </a:txBody>
                  <a:tcPr marL="119154" marR="119154" marT="54995" marB="54995" anchor="ctr"/>
                </a:tc>
                <a:tc>
                  <a:txBody>
                    <a:bodyPr/>
                    <a:lstStyle/>
                    <a:p>
                      <a:r>
                        <a:rPr lang="en-US" sz="1700">
                          <a:effectLst/>
                        </a:rPr>
                        <a:t>D42</a:t>
                      </a:r>
                    </a:p>
                  </a:txBody>
                  <a:tcPr marL="119154" marR="119154" marT="54995" marB="54995" anchor="ctr"/>
                </a:tc>
                <a:extLst>
                  <a:ext uri="{0D108BD9-81ED-4DB2-BD59-A6C34878D82A}">
                    <a16:rowId xmlns:a16="http://schemas.microsoft.com/office/drawing/2014/main" val="3228944239"/>
                  </a:ext>
                </a:extLst>
              </a:tr>
              <a:tr h="373963">
                <a:tc>
                  <a:txBody>
                    <a:bodyPr/>
                    <a:lstStyle/>
                    <a:p>
                      <a:r>
                        <a:rPr lang="en-US" altLang="zh-CN" sz="1700">
                          <a:effectLst/>
                        </a:rPr>
                        <a:t>1210</a:t>
                      </a:r>
                    </a:p>
                  </a:txBody>
                  <a:tcPr marL="119154" marR="119154" marT="54995" marB="54995" anchor="ctr"/>
                </a:tc>
                <a:tc>
                  <a:txBody>
                    <a:bodyPr/>
                    <a:lstStyle/>
                    <a:p>
                      <a:r>
                        <a:rPr lang="zh-CN" altLang="en-US" sz="1700">
                          <a:effectLst/>
                        </a:rPr>
                        <a:t>何江</a:t>
                      </a:r>
                    </a:p>
                  </a:txBody>
                  <a:tcPr marL="119154" marR="119154" marT="54995" marB="54995" anchor="ctr"/>
                </a:tc>
                <a:tc>
                  <a:txBody>
                    <a:bodyPr/>
                    <a:lstStyle/>
                    <a:p>
                      <a:r>
                        <a:rPr lang="zh-CN" altLang="en-US" sz="1700">
                          <a:effectLst/>
                        </a:rPr>
                        <a:t>智能</a:t>
                      </a:r>
                    </a:p>
                  </a:txBody>
                  <a:tcPr marL="119154" marR="119154" marT="54995" marB="54995" anchor="ctr"/>
                </a:tc>
                <a:tc>
                  <a:txBody>
                    <a:bodyPr/>
                    <a:lstStyle/>
                    <a:p>
                      <a:r>
                        <a:rPr lang="en-US" sz="1700" dirty="0">
                          <a:effectLst/>
                        </a:rPr>
                        <a:t>D48</a:t>
                      </a:r>
                    </a:p>
                  </a:txBody>
                  <a:tcPr marL="119154" marR="119154" marT="54995" marB="54995" anchor="ctr"/>
                </a:tc>
                <a:extLst>
                  <a:ext uri="{0D108BD9-81ED-4DB2-BD59-A6C34878D82A}">
                    <a16:rowId xmlns:a16="http://schemas.microsoft.com/office/drawing/2014/main" val="2317815467"/>
                  </a:ext>
                </a:extLst>
              </a:tr>
            </a:tbl>
          </a:graphicData>
        </a:graphic>
      </p:graphicFrame>
    </p:spTree>
    <p:extLst>
      <p:ext uri="{BB962C8B-B14F-4D97-AF65-F5344CB8AC3E}">
        <p14:creationId xmlns:p14="http://schemas.microsoft.com/office/powerpoint/2010/main" val="4049034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14</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第十一章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表格 6">
            <a:extLst>
              <a:ext uri="{FF2B5EF4-FFF2-40B4-BE49-F238E27FC236}">
                <a16:creationId xmlns:a16="http://schemas.microsoft.com/office/drawing/2014/main" id="{F742F3D9-F4D9-0C4E-B7FA-36372CECD31D}"/>
              </a:ext>
            </a:extLst>
          </p:cNvPr>
          <p:cNvGraphicFramePr>
            <a:graphicFrameLocks noGrp="1"/>
          </p:cNvGraphicFramePr>
          <p:nvPr>
            <p:extLst>
              <p:ext uri="{D42A27DB-BD31-4B8C-83A1-F6EECF244321}">
                <p14:modId xmlns:p14="http://schemas.microsoft.com/office/powerpoint/2010/main" val="1702500904"/>
              </p:ext>
            </p:extLst>
          </p:nvPr>
        </p:nvGraphicFramePr>
        <p:xfrm>
          <a:off x="2032000" y="1735065"/>
          <a:ext cx="8128000" cy="19431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18582369"/>
                    </a:ext>
                  </a:extLst>
                </a:gridCol>
                <a:gridCol w="4064000">
                  <a:extLst>
                    <a:ext uri="{9D8B030D-6E8A-4147-A177-3AD203B41FA5}">
                      <a16:colId xmlns:a16="http://schemas.microsoft.com/office/drawing/2014/main" val="2298509717"/>
                    </a:ext>
                  </a:extLst>
                </a:gridCol>
              </a:tblGrid>
              <a:tr h="370840">
                <a:tc>
                  <a:txBody>
                    <a:bodyPr/>
                    <a:lstStyle/>
                    <a:p>
                      <a:r>
                        <a:rPr lang="en-US" b="1" dirty="0">
                          <a:effectLst/>
                        </a:rPr>
                        <a:t>Department list</a:t>
                      </a:r>
                    </a:p>
                  </a:txBody>
                  <a:tcPr marL="123825" marR="123825" marT="57150" marB="57150" anchor="ctr"/>
                </a:tc>
                <a:tc>
                  <a:txBody>
                    <a:bodyPr/>
                    <a:lstStyle/>
                    <a:p>
                      <a:r>
                        <a:rPr lang="en-US" b="1" dirty="0">
                          <a:effectLst/>
                        </a:rPr>
                        <a:t>ID</a:t>
                      </a:r>
                    </a:p>
                  </a:txBody>
                  <a:tcPr marL="123825" marR="123825" marT="57150" marB="57150" anchor="ctr"/>
                </a:tc>
                <a:extLst>
                  <a:ext uri="{0D108BD9-81ED-4DB2-BD59-A6C34878D82A}">
                    <a16:rowId xmlns:a16="http://schemas.microsoft.com/office/drawing/2014/main" val="988166038"/>
                  </a:ext>
                </a:extLst>
              </a:tr>
              <a:tr h="370840">
                <a:tc>
                  <a:txBody>
                    <a:bodyPr/>
                    <a:lstStyle/>
                    <a:p>
                      <a:r>
                        <a:rPr lang="zh-CN" altLang="en-US">
                          <a:effectLst/>
                        </a:rPr>
                        <a:t>软件工程</a:t>
                      </a:r>
                    </a:p>
                  </a:txBody>
                  <a:tcPr marL="123825" marR="123825" marT="57150" marB="57150" anchor="ctr"/>
                </a:tc>
                <a:tc>
                  <a:txBody>
                    <a:bodyPr/>
                    <a:lstStyle/>
                    <a:p>
                      <a:r>
                        <a:rPr lang="en-US" altLang="zh-CN">
                          <a:effectLst/>
                        </a:rPr>
                        <a:t>1201, 1204, 1205, 1208</a:t>
                      </a:r>
                    </a:p>
                  </a:txBody>
                  <a:tcPr marL="123825" marR="123825" marT="57150" marB="57150" anchor="ctr"/>
                </a:tc>
                <a:extLst>
                  <a:ext uri="{0D108BD9-81ED-4DB2-BD59-A6C34878D82A}">
                    <a16:rowId xmlns:a16="http://schemas.microsoft.com/office/drawing/2014/main" val="3074170621"/>
                  </a:ext>
                </a:extLst>
              </a:tr>
              <a:tr h="370840">
                <a:tc>
                  <a:txBody>
                    <a:bodyPr/>
                    <a:lstStyle/>
                    <a:p>
                      <a:r>
                        <a:rPr lang="zh-CN" altLang="en-US">
                          <a:effectLst/>
                        </a:rPr>
                        <a:t>智能</a:t>
                      </a:r>
                    </a:p>
                  </a:txBody>
                  <a:tcPr marL="123825" marR="123825" marT="57150" marB="57150" anchor="ctr"/>
                </a:tc>
                <a:tc>
                  <a:txBody>
                    <a:bodyPr/>
                    <a:lstStyle/>
                    <a:p>
                      <a:r>
                        <a:rPr lang="en-US" altLang="zh-CN">
                          <a:effectLst/>
                        </a:rPr>
                        <a:t>1202, 1209, 1210</a:t>
                      </a:r>
                    </a:p>
                  </a:txBody>
                  <a:tcPr marL="123825" marR="123825" marT="57150" marB="57150" anchor="ctr"/>
                </a:tc>
                <a:extLst>
                  <a:ext uri="{0D108BD9-81ED-4DB2-BD59-A6C34878D82A}">
                    <a16:rowId xmlns:a16="http://schemas.microsoft.com/office/drawing/2014/main" val="2129019373"/>
                  </a:ext>
                </a:extLst>
              </a:tr>
              <a:tr h="370840">
                <a:tc>
                  <a:txBody>
                    <a:bodyPr/>
                    <a:lstStyle/>
                    <a:p>
                      <a:r>
                        <a:rPr lang="zh-CN" altLang="en-US">
                          <a:effectLst/>
                        </a:rPr>
                        <a:t>计算所</a:t>
                      </a:r>
                    </a:p>
                  </a:txBody>
                  <a:tcPr marL="123825" marR="123825" marT="57150" marB="57150" anchor="ctr"/>
                </a:tc>
                <a:tc>
                  <a:txBody>
                    <a:bodyPr/>
                    <a:lstStyle/>
                    <a:p>
                      <a:r>
                        <a:rPr lang="en-US" altLang="zh-CN">
                          <a:effectLst/>
                        </a:rPr>
                        <a:t>1203, 1207</a:t>
                      </a:r>
                    </a:p>
                  </a:txBody>
                  <a:tcPr marL="123825" marR="123825" marT="57150" marB="57150" anchor="ctr"/>
                </a:tc>
                <a:extLst>
                  <a:ext uri="{0D108BD9-81ED-4DB2-BD59-A6C34878D82A}">
                    <a16:rowId xmlns:a16="http://schemas.microsoft.com/office/drawing/2014/main" val="1140996386"/>
                  </a:ext>
                </a:extLst>
              </a:tr>
              <a:tr h="370840">
                <a:tc>
                  <a:txBody>
                    <a:bodyPr/>
                    <a:lstStyle/>
                    <a:p>
                      <a:r>
                        <a:rPr lang="zh-CN" altLang="en-US">
                          <a:effectLst/>
                        </a:rPr>
                        <a:t>元培</a:t>
                      </a:r>
                    </a:p>
                  </a:txBody>
                  <a:tcPr marL="123825" marR="123825" marT="57150" marB="57150" anchor="ctr"/>
                </a:tc>
                <a:tc>
                  <a:txBody>
                    <a:bodyPr/>
                    <a:lstStyle/>
                    <a:p>
                      <a:r>
                        <a:rPr lang="en-US" altLang="zh-CN" dirty="0">
                          <a:effectLst/>
                        </a:rPr>
                        <a:t>1206</a:t>
                      </a:r>
                    </a:p>
                  </a:txBody>
                  <a:tcPr marL="123825" marR="123825" marT="57150" marB="57150" anchor="ctr"/>
                </a:tc>
                <a:extLst>
                  <a:ext uri="{0D108BD9-81ED-4DB2-BD59-A6C34878D82A}">
                    <a16:rowId xmlns:a16="http://schemas.microsoft.com/office/drawing/2014/main" val="2162731482"/>
                  </a:ext>
                </a:extLst>
              </a:tr>
            </a:tbl>
          </a:graphicData>
        </a:graphic>
      </p:graphicFrame>
      <p:graphicFrame>
        <p:nvGraphicFramePr>
          <p:cNvPr id="9" name="表格 6">
            <a:extLst>
              <a:ext uri="{FF2B5EF4-FFF2-40B4-BE49-F238E27FC236}">
                <a16:creationId xmlns:a16="http://schemas.microsoft.com/office/drawing/2014/main" id="{EB9A7C8A-D91D-B94D-A98E-18C5E3E4E7C1}"/>
              </a:ext>
            </a:extLst>
          </p:cNvPr>
          <p:cNvGraphicFramePr>
            <a:graphicFrameLocks noGrp="1"/>
          </p:cNvGraphicFramePr>
          <p:nvPr>
            <p:extLst>
              <p:ext uri="{D42A27DB-BD31-4B8C-83A1-F6EECF244321}">
                <p14:modId xmlns:p14="http://schemas.microsoft.com/office/powerpoint/2010/main" val="2676627899"/>
              </p:ext>
            </p:extLst>
          </p:nvPr>
        </p:nvGraphicFramePr>
        <p:xfrm>
          <a:off x="2032000" y="4072460"/>
          <a:ext cx="8128000" cy="19431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18582369"/>
                    </a:ext>
                  </a:extLst>
                </a:gridCol>
                <a:gridCol w="4064000">
                  <a:extLst>
                    <a:ext uri="{9D8B030D-6E8A-4147-A177-3AD203B41FA5}">
                      <a16:colId xmlns:a16="http://schemas.microsoft.com/office/drawing/2014/main" val="2298509717"/>
                    </a:ext>
                  </a:extLst>
                </a:gridCol>
              </a:tblGrid>
              <a:tr h="370840">
                <a:tc>
                  <a:txBody>
                    <a:bodyPr/>
                    <a:lstStyle/>
                    <a:p>
                      <a:r>
                        <a:rPr lang="en-US" b="1">
                          <a:effectLst/>
                        </a:rPr>
                        <a:t>Dormitory list</a:t>
                      </a:r>
                    </a:p>
                  </a:txBody>
                  <a:tcPr marL="123825" marR="123825" marT="57150" marB="57150" anchor="ctr"/>
                </a:tc>
                <a:tc>
                  <a:txBody>
                    <a:bodyPr/>
                    <a:lstStyle/>
                    <a:p>
                      <a:r>
                        <a:rPr lang="en-US" b="1">
                          <a:effectLst/>
                        </a:rPr>
                        <a:t>ID</a:t>
                      </a:r>
                    </a:p>
                  </a:txBody>
                  <a:tcPr marL="123825" marR="123825" marT="57150" marB="57150" anchor="ctr"/>
                </a:tc>
                <a:extLst>
                  <a:ext uri="{0D108BD9-81ED-4DB2-BD59-A6C34878D82A}">
                    <a16:rowId xmlns:a16="http://schemas.microsoft.com/office/drawing/2014/main" val="988166038"/>
                  </a:ext>
                </a:extLst>
              </a:tr>
              <a:tr h="370840">
                <a:tc>
                  <a:txBody>
                    <a:bodyPr/>
                    <a:lstStyle/>
                    <a:p>
                      <a:r>
                        <a:rPr lang="en-US">
                          <a:effectLst/>
                        </a:rPr>
                        <a:t>D41</a:t>
                      </a:r>
                    </a:p>
                  </a:txBody>
                  <a:tcPr marL="123825" marR="123825" marT="57150" marB="57150" anchor="ctr"/>
                </a:tc>
                <a:tc>
                  <a:txBody>
                    <a:bodyPr/>
                    <a:lstStyle/>
                    <a:p>
                      <a:r>
                        <a:rPr lang="en-US" altLang="zh-CN">
                          <a:effectLst/>
                        </a:rPr>
                        <a:t>1201, 1205, 1208</a:t>
                      </a:r>
                    </a:p>
                  </a:txBody>
                  <a:tcPr marL="123825" marR="123825" marT="57150" marB="57150" anchor="ctr"/>
                </a:tc>
                <a:extLst>
                  <a:ext uri="{0D108BD9-81ED-4DB2-BD59-A6C34878D82A}">
                    <a16:rowId xmlns:a16="http://schemas.microsoft.com/office/drawing/2014/main" val="3074170621"/>
                  </a:ext>
                </a:extLst>
              </a:tr>
              <a:tr h="370840">
                <a:tc>
                  <a:txBody>
                    <a:bodyPr/>
                    <a:lstStyle/>
                    <a:p>
                      <a:r>
                        <a:rPr lang="en-US">
                          <a:effectLst/>
                        </a:rPr>
                        <a:t>D42</a:t>
                      </a:r>
                    </a:p>
                  </a:txBody>
                  <a:tcPr marL="123825" marR="123825" marT="57150" marB="57150" anchor="ctr"/>
                </a:tc>
                <a:tc>
                  <a:txBody>
                    <a:bodyPr/>
                    <a:lstStyle/>
                    <a:p>
                      <a:r>
                        <a:rPr lang="en-US" altLang="zh-CN">
                          <a:effectLst/>
                        </a:rPr>
                        <a:t>1204, 1209</a:t>
                      </a:r>
                    </a:p>
                  </a:txBody>
                  <a:tcPr marL="123825" marR="123825" marT="57150" marB="57150" anchor="ctr"/>
                </a:tc>
                <a:extLst>
                  <a:ext uri="{0D108BD9-81ED-4DB2-BD59-A6C34878D82A}">
                    <a16:rowId xmlns:a16="http://schemas.microsoft.com/office/drawing/2014/main" val="2129019373"/>
                  </a:ext>
                </a:extLst>
              </a:tr>
              <a:tr h="370840">
                <a:tc>
                  <a:txBody>
                    <a:bodyPr/>
                    <a:lstStyle/>
                    <a:p>
                      <a:r>
                        <a:rPr lang="en-US">
                          <a:effectLst/>
                        </a:rPr>
                        <a:t>D46</a:t>
                      </a:r>
                    </a:p>
                  </a:txBody>
                  <a:tcPr marL="123825" marR="123825" marT="57150" marB="57150" anchor="ctr"/>
                </a:tc>
                <a:tc>
                  <a:txBody>
                    <a:bodyPr/>
                    <a:lstStyle/>
                    <a:p>
                      <a:r>
                        <a:rPr lang="en-US" altLang="zh-CN">
                          <a:effectLst/>
                        </a:rPr>
                        <a:t>1202, 1203, 1206</a:t>
                      </a:r>
                    </a:p>
                  </a:txBody>
                  <a:tcPr marL="123825" marR="123825" marT="57150" marB="57150" anchor="ctr"/>
                </a:tc>
                <a:extLst>
                  <a:ext uri="{0D108BD9-81ED-4DB2-BD59-A6C34878D82A}">
                    <a16:rowId xmlns:a16="http://schemas.microsoft.com/office/drawing/2014/main" val="1140996386"/>
                  </a:ext>
                </a:extLst>
              </a:tr>
              <a:tr h="370840">
                <a:tc>
                  <a:txBody>
                    <a:bodyPr/>
                    <a:lstStyle/>
                    <a:p>
                      <a:r>
                        <a:rPr lang="en-US">
                          <a:effectLst/>
                        </a:rPr>
                        <a:t>D48</a:t>
                      </a:r>
                    </a:p>
                  </a:txBody>
                  <a:tcPr marL="123825" marR="123825" marT="57150" marB="57150" anchor="ctr"/>
                </a:tc>
                <a:tc>
                  <a:txBody>
                    <a:bodyPr/>
                    <a:lstStyle/>
                    <a:p>
                      <a:r>
                        <a:rPr lang="en-US" altLang="zh-CN" dirty="0">
                          <a:effectLst/>
                        </a:rPr>
                        <a:t>1207, 1210</a:t>
                      </a:r>
                    </a:p>
                  </a:txBody>
                  <a:tcPr marL="123825" marR="123825" marT="57150" marB="57150" anchor="ctr"/>
                </a:tc>
                <a:extLst>
                  <a:ext uri="{0D108BD9-81ED-4DB2-BD59-A6C34878D82A}">
                    <a16:rowId xmlns:a16="http://schemas.microsoft.com/office/drawing/2014/main" val="2162731482"/>
                  </a:ext>
                </a:extLst>
              </a:tr>
            </a:tbl>
          </a:graphicData>
        </a:graphic>
      </p:graphicFrame>
      <p:sp>
        <p:nvSpPr>
          <p:cNvPr id="10" name="矩形 9">
            <a:extLst>
              <a:ext uri="{FF2B5EF4-FFF2-40B4-BE49-F238E27FC236}">
                <a16:creationId xmlns:a16="http://schemas.microsoft.com/office/drawing/2014/main" id="{6EF85168-3717-424F-B084-D29F5E47712B}"/>
              </a:ext>
            </a:extLst>
          </p:cNvPr>
          <p:cNvSpPr/>
          <p:nvPr/>
        </p:nvSpPr>
        <p:spPr>
          <a:xfrm>
            <a:off x="1024646" y="1206681"/>
            <a:ext cx="10142708" cy="461665"/>
          </a:xfrm>
          <a:prstGeom prst="rect">
            <a:avLst/>
          </a:prstGeom>
        </p:spPr>
        <p:txBody>
          <a:bodyPr wrap="square">
            <a:spAutoFit/>
          </a:bodyPr>
          <a:lstStyle/>
          <a:p>
            <a:r>
              <a:rPr lang="zh-CN" altLang="en-US" sz="2400" dirty="0">
                <a:latin typeface="SimSun" panose="02010600030101010101" pitchFamily="2" charset="-122"/>
                <a:ea typeface="SimSun" panose="02010600030101010101" pitchFamily="2" charset="-122"/>
              </a:rPr>
              <a:t>倒排索引：将属性值作为关键码</a:t>
            </a:r>
          </a:p>
        </p:txBody>
      </p:sp>
    </p:spTree>
    <p:extLst>
      <p:ext uri="{BB962C8B-B14F-4D97-AF65-F5344CB8AC3E}">
        <p14:creationId xmlns:p14="http://schemas.microsoft.com/office/powerpoint/2010/main" val="1859949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15</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第十一章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4708981"/>
          </a:xfrm>
          <a:prstGeom prst="rect">
            <a:avLst/>
          </a:prstGeom>
        </p:spPr>
        <p:txBody>
          <a:bodyPr wrap="square">
            <a:spAutoFit/>
          </a:bodyPr>
          <a:lstStyle/>
          <a:p>
            <a:r>
              <a:rPr lang="zh-CN" altLang="en-US" sz="2000" dirty="0">
                <a:latin typeface="SimSun" panose="02010600030101010101" pitchFamily="2" charset="-122"/>
                <a:ea typeface="SimSun" panose="02010600030101010101" pitchFamily="2" charset="-122"/>
              </a:rPr>
              <a:t>设有一棵阶</a:t>
            </a:r>
            <a:r>
              <a:rPr lang="en-US" altLang="zh-CN" sz="2000" dirty="0">
                <a:latin typeface="SimSun" panose="02010600030101010101" pitchFamily="2" charset="-122"/>
                <a:ea typeface="SimSun" panose="02010600030101010101" pitchFamily="2" charset="-122"/>
              </a:rPr>
              <a:t>m = 3</a:t>
            </a:r>
            <a:r>
              <a:rPr lang="zh-CN" altLang="en-US" sz="2000" dirty="0">
                <a:latin typeface="SimSun" panose="02010600030101010101" pitchFamily="2" charset="-122"/>
                <a:ea typeface="SimSun" panose="02010600030101010101" pitchFamily="2" charset="-122"/>
              </a:rPr>
              <a:t>的</a:t>
            </a:r>
            <a:r>
              <a:rPr lang="en-US" altLang="zh-CN" sz="2000" dirty="0">
                <a:latin typeface="SimSun" panose="02010600030101010101" pitchFamily="2" charset="-122"/>
                <a:ea typeface="SimSun" panose="02010600030101010101" pitchFamily="2" charset="-122"/>
              </a:rPr>
              <a:t>B</a:t>
            </a:r>
            <a:r>
              <a:rPr lang="zh-CN" altLang="en-US" sz="2000" dirty="0">
                <a:latin typeface="SimSun" panose="02010600030101010101" pitchFamily="2" charset="-122"/>
                <a:ea typeface="SimSun" panose="02010600030101010101" pitchFamily="2" charset="-122"/>
              </a:rPr>
              <a:t>树，如下图所示：</a:t>
            </a:r>
            <a:endParaRPr lang="en-US" altLang="zh-CN" sz="2000" dirty="0">
              <a:latin typeface="SimSun" panose="02010600030101010101" pitchFamily="2" charset="-122"/>
              <a:ea typeface="SimSun" panose="02010600030101010101" pitchFamily="2" charset="-122"/>
            </a:endParaRPr>
          </a:p>
          <a:p>
            <a:endParaRPr lang="en-US" altLang="zh-CN" sz="2000" dirty="0">
              <a:latin typeface="SimSun" panose="02010600030101010101" pitchFamily="2" charset="-122"/>
              <a:ea typeface="SimSun" panose="02010600030101010101" pitchFamily="2" charset="-122"/>
            </a:endParaRPr>
          </a:p>
          <a:p>
            <a:endParaRPr lang="en-US" altLang="zh-CN" sz="2000" dirty="0">
              <a:latin typeface="SimSun" panose="02010600030101010101" pitchFamily="2" charset="-122"/>
              <a:ea typeface="SimSun" panose="02010600030101010101" pitchFamily="2" charset="-122"/>
            </a:endParaRPr>
          </a:p>
          <a:p>
            <a:endParaRPr lang="en-US" altLang="zh-CN" sz="2000" dirty="0">
              <a:latin typeface="SimSun" panose="02010600030101010101" pitchFamily="2" charset="-122"/>
              <a:ea typeface="SimSun" panose="02010600030101010101" pitchFamily="2" charset="-122"/>
            </a:endParaRPr>
          </a:p>
          <a:p>
            <a:endParaRPr lang="en-US" altLang="zh-CN" sz="2000" dirty="0">
              <a:latin typeface="SimSun" panose="02010600030101010101" pitchFamily="2" charset="-122"/>
              <a:ea typeface="SimSun" panose="02010600030101010101" pitchFamily="2" charset="-122"/>
            </a:endParaRPr>
          </a:p>
          <a:p>
            <a:endParaRPr lang="en-US" altLang="zh-CN" sz="2000" dirty="0">
              <a:latin typeface="SimSun" panose="02010600030101010101" pitchFamily="2" charset="-122"/>
              <a:ea typeface="SimSun" panose="02010600030101010101" pitchFamily="2" charset="-122"/>
            </a:endParaRPr>
          </a:p>
          <a:p>
            <a:endParaRPr lang="en-US" altLang="zh-CN" sz="2000" dirty="0">
              <a:latin typeface="SimSun" panose="02010600030101010101" pitchFamily="2" charset="-122"/>
              <a:ea typeface="SimSun" panose="02010600030101010101" pitchFamily="2" charset="-122"/>
            </a:endParaRPr>
          </a:p>
          <a:p>
            <a:endParaRPr lang="en-US" altLang="zh-CN" sz="2000" dirty="0">
              <a:latin typeface="SimSun" panose="02010600030101010101" pitchFamily="2" charset="-122"/>
              <a:ea typeface="SimSun" panose="02010600030101010101" pitchFamily="2" charset="-122"/>
            </a:endParaRPr>
          </a:p>
          <a:p>
            <a:endParaRPr lang="en-US" altLang="zh-CN" sz="2000"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其中</a:t>
            </a:r>
            <a:r>
              <a:rPr lang="en-US" altLang="zh-CN" sz="2000" dirty="0">
                <a:latin typeface="SimSun" panose="02010600030101010101" pitchFamily="2" charset="-122"/>
                <a:ea typeface="SimSun" panose="02010600030101010101" pitchFamily="2" charset="-122"/>
              </a:rPr>
              <a:t>a, b, ..., g</a:t>
            </a:r>
            <a:r>
              <a:rPr lang="zh-CN" altLang="en-US" sz="2000" dirty="0">
                <a:latin typeface="SimSun" panose="02010600030101010101" pitchFamily="2" charset="-122"/>
                <a:ea typeface="SimSun" panose="02010600030101010101" pitchFamily="2" charset="-122"/>
              </a:rPr>
              <a:t>是结点的名称，结点内的整数为关键码。注意：对同一结点进行读和写操作视作</a:t>
            </a:r>
            <a:r>
              <a:rPr lang="en-US" altLang="zh-CN" sz="2000" dirty="0">
                <a:latin typeface="SimSun" panose="02010600030101010101" pitchFamily="2" charset="-122"/>
                <a:ea typeface="SimSun" panose="02010600030101010101" pitchFamily="2" charset="-122"/>
              </a:rPr>
              <a:t>2</a:t>
            </a:r>
            <a:r>
              <a:rPr lang="zh-CN" altLang="en-US" sz="2000" dirty="0">
                <a:latin typeface="SimSun" panose="02010600030101010101" pitchFamily="2" charset="-122"/>
                <a:ea typeface="SimSun" panose="02010600030101010101" pitchFamily="2" charset="-122"/>
              </a:rPr>
              <a:t>次访外。</a:t>
            </a:r>
            <a:endParaRPr lang="en-US" altLang="zh-CN" sz="2000" dirty="0">
              <a:latin typeface="SimSun" panose="02010600030101010101" pitchFamily="2" charset="-122"/>
              <a:ea typeface="SimSun" panose="02010600030101010101" pitchFamily="2" charset="-122"/>
            </a:endParaRPr>
          </a:p>
          <a:p>
            <a:endParaRPr lang="en-US" altLang="zh-CN" sz="2000"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按教材上的计算方法，对同一个结点进行多次读视作</a:t>
            </a:r>
            <a:r>
              <a:rPr lang="en-US" altLang="zh-CN" sz="2000" dirty="0">
                <a:latin typeface="SimSun" panose="02010600030101010101" pitchFamily="2" charset="-122"/>
                <a:ea typeface="SimSun" panose="02010600030101010101" pitchFamily="2" charset="-122"/>
              </a:rPr>
              <a:t>1</a:t>
            </a:r>
            <a:r>
              <a:rPr lang="zh-CN" altLang="en-US" sz="2000" dirty="0">
                <a:latin typeface="SimSun" panose="02010600030101010101" pitchFamily="2" charset="-122"/>
                <a:ea typeface="SimSun" panose="02010600030101010101" pitchFamily="2" charset="-122"/>
              </a:rPr>
              <a:t>次访外，多次写也视作</a:t>
            </a:r>
            <a:r>
              <a:rPr lang="en-US" altLang="zh-CN" sz="2000" dirty="0">
                <a:latin typeface="SimSun" panose="02010600030101010101" pitchFamily="2" charset="-122"/>
                <a:ea typeface="SimSun" panose="02010600030101010101" pitchFamily="2" charset="-122"/>
              </a:rPr>
              <a:t>1</a:t>
            </a:r>
            <a:r>
              <a:rPr lang="zh-CN" altLang="en-US" sz="2000" dirty="0">
                <a:latin typeface="SimSun" panose="02010600030101010101" pitchFamily="2" charset="-122"/>
                <a:ea typeface="SimSun" panose="02010600030101010101" pitchFamily="2" charset="-122"/>
              </a:rPr>
              <a:t>次访外，但读与写分开算。应该是基于从外存读入到内存后在足够长的时间内不会换出、最后一次修改值后才写回到外存的假设</a:t>
            </a: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5" name="图片 4">
            <a:extLst>
              <a:ext uri="{FF2B5EF4-FFF2-40B4-BE49-F238E27FC236}">
                <a16:creationId xmlns:a16="http://schemas.microsoft.com/office/drawing/2014/main" id="{AAFCBEEF-744B-6949-81C8-E50A45630745}"/>
              </a:ext>
            </a:extLst>
          </p:cNvPr>
          <p:cNvPicPr>
            <a:picLocks noChangeAspect="1"/>
          </p:cNvPicPr>
          <p:nvPr/>
        </p:nvPicPr>
        <p:blipFill>
          <a:blip r:embed="rId3"/>
          <a:stretch>
            <a:fillRect/>
          </a:stretch>
        </p:blipFill>
        <p:spPr>
          <a:xfrm>
            <a:off x="4045774" y="1631063"/>
            <a:ext cx="4100451" cy="2268838"/>
          </a:xfrm>
          <a:prstGeom prst="rect">
            <a:avLst/>
          </a:prstGeom>
        </p:spPr>
      </p:pic>
    </p:spTree>
    <p:extLst>
      <p:ext uri="{BB962C8B-B14F-4D97-AF65-F5344CB8AC3E}">
        <p14:creationId xmlns:p14="http://schemas.microsoft.com/office/powerpoint/2010/main" val="4021716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16</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第十一章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4303986" y="1206681"/>
            <a:ext cx="6863368" cy="4154984"/>
          </a:xfrm>
          <a:prstGeom prst="rect">
            <a:avLst/>
          </a:prstGeom>
        </p:spPr>
        <p:txBody>
          <a:bodyPr wrap="square">
            <a:spAutoFit/>
          </a:bodyPr>
          <a:lstStyle/>
          <a:p>
            <a:pPr marL="457200" indent="-457200">
              <a:buAutoNum type="arabicParenBoth"/>
            </a:pPr>
            <a:r>
              <a:rPr lang="zh-CN" altLang="en-US" sz="2200" dirty="0">
                <a:latin typeface="SimSun" panose="02010600030101010101" pitchFamily="2" charset="-122"/>
                <a:ea typeface="SimSun" panose="02010600030101010101" pitchFamily="2" charset="-122"/>
              </a:rPr>
              <a:t>给出在上面的</a:t>
            </a:r>
            <a:r>
              <a:rPr lang="en-US" altLang="zh-CN" sz="2200" dirty="0">
                <a:latin typeface="SimSun" panose="02010600030101010101" pitchFamily="2" charset="-122"/>
                <a:ea typeface="SimSun" panose="02010600030101010101" pitchFamily="2" charset="-122"/>
              </a:rPr>
              <a:t>B</a:t>
            </a:r>
            <a:r>
              <a:rPr lang="zh-CN" altLang="en-US" sz="2200" dirty="0">
                <a:latin typeface="SimSun" panose="02010600030101010101" pitchFamily="2" charset="-122"/>
                <a:ea typeface="SimSun" panose="02010600030101010101" pitchFamily="2" charset="-122"/>
              </a:rPr>
              <a:t>树中查找关键码</a:t>
            </a:r>
            <a:r>
              <a:rPr lang="en-US" altLang="zh-CN" sz="2200" dirty="0">
                <a:latin typeface="SimSun" panose="02010600030101010101" pitchFamily="2" charset="-122"/>
                <a:ea typeface="SimSun" panose="02010600030101010101" pitchFamily="2" charset="-122"/>
              </a:rPr>
              <a:t>35</a:t>
            </a:r>
            <a:r>
              <a:rPr lang="zh-CN" altLang="en-US" sz="2200" dirty="0">
                <a:latin typeface="SimSun" panose="02010600030101010101" pitchFamily="2" charset="-122"/>
                <a:ea typeface="SimSun" panose="02010600030101010101" pitchFamily="2" charset="-122"/>
              </a:rPr>
              <a:t>的过程，并说明共进行多少次访外。</a:t>
            </a:r>
            <a:endParaRPr lang="en-US" altLang="zh-CN" sz="2200" dirty="0">
              <a:latin typeface="SimSun" panose="02010600030101010101" pitchFamily="2" charset="-122"/>
              <a:ea typeface="SimSun" panose="02010600030101010101" pitchFamily="2" charset="-122"/>
            </a:endParaRPr>
          </a:p>
          <a:p>
            <a:endParaRPr lang="en-US" altLang="zh-CN" sz="2200" dirty="0">
              <a:latin typeface="SimSun" panose="02010600030101010101" pitchFamily="2" charset="-122"/>
              <a:ea typeface="SimSun" panose="02010600030101010101" pitchFamily="2" charset="-122"/>
            </a:endParaRPr>
          </a:p>
          <a:p>
            <a:r>
              <a:rPr lang="zh-CN" altLang="en-US" sz="2200" dirty="0">
                <a:solidFill>
                  <a:srgbClr val="C00000"/>
                </a:solidFill>
                <a:latin typeface="SimSun" panose="02010600030101010101" pitchFamily="2" charset="-122"/>
                <a:ea typeface="SimSun" panose="02010600030101010101" pitchFamily="2" charset="-122"/>
              </a:rPr>
              <a:t>读根结点</a:t>
            </a:r>
            <a:r>
              <a:rPr lang="en-US" altLang="zh-CN" sz="2200" dirty="0">
                <a:solidFill>
                  <a:srgbClr val="C00000"/>
                </a:solidFill>
                <a:latin typeface="SimSun" panose="02010600030101010101" pitchFamily="2" charset="-122"/>
                <a:ea typeface="SimSun" panose="02010600030101010101" pitchFamily="2" charset="-122"/>
              </a:rPr>
              <a:t>a</a:t>
            </a:r>
            <a:r>
              <a:rPr lang="zh-CN" altLang="en-US" sz="2200" dirty="0">
                <a:latin typeface="SimSun" panose="02010600030101010101" pitchFamily="2" charset="-122"/>
                <a:ea typeface="SimSun" panose="02010600030101010101" pitchFamily="2" charset="-122"/>
              </a:rPr>
              <a:t>，在根结点所包含的关键码</a:t>
            </a:r>
            <a:r>
              <a:rPr lang="en-US" altLang="zh-CN" sz="2200" dirty="0">
                <a:latin typeface="SimSun" panose="02010600030101010101" pitchFamily="2" charset="-122"/>
                <a:ea typeface="SimSun" panose="02010600030101010101" pitchFamily="2" charset="-122"/>
              </a:rPr>
              <a:t>30</a:t>
            </a:r>
            <a:r>
              <a:rPr lang="zh-CN" altLang="en-US" sz="2200" dirty="0">
                <a:latin typeface="SimSun" panose="02010600030101010101" pitchFamily="2" charset="-122"/>
                <a:ea typeface="SimSun" panose="02010600030101010101" pitchFamily="2" charset="-122"/>
              </a:rPr>
              <a:t>中未找到；</a:t>
            </a:r>
            <a:endParaRPr lang="en-US" altLang="zh-CN" sz="2200" dirty="0">
              <a:latin typeface="SimSun" panose="02010600030101010101" pitchFamily="2" charset="-122"/>
              <a:ea typeface="SimSun" panose="02010600030101010101" pitchFamily="2" charset="-122"/>
            </a:endParaRPr>
          </a:p>
          <a:p>
            <a:endParaRPr lang="en-US" altLang="zh-CN" sz="2200" dirty="0">
              <a:latin typeface="SimSun" panose="02010600030101010101" pitchFamily="2" charset="-122"/>
              <a:ea typeface="SimSun" panose="02010600030101010101" pitchFamily="2" charset="-122"/>
            </a:endParaRPr>
          </a:p>
          <a:p>
            <a:r>
              <a:rPr lang="zh-CN" altLang="en-US" sz="2200" dirty="0">
                <a:latin typeface="SimSun" panose="02010600030101010101" pitchFamily="2" charset="-122"/>
                <a:ea typeface="SimSun" panose="02010600030101010101" pitchFamily="2" charset="-122"/>
              </a:rPr>
              <a:t>由于</a:t>
            </a:r>
            <a:r>
              <a:rPr lang="en-US" altLang="zh-CN" sz="2200" dirty="0">
                <a:latin typeface="SimSun" panose="02010600030101010101" pitchFamily="2" charset="-122"/>
                <a:ea typeface="SimSun" panose="02010600030101010101" pitchFamily="2" charset="-122"/>
              </a:rPr>
              <a:t>35</a:t>
            </a:r>
            <a:r>
              <a:rPr lang="zh-CN" altLang="en-US" sz="2200" dirty="0">
                <a:latin typeface="SimSun" panose="02010600030101010101" pitchFamily="2" charset="-122"/>
                <a:ea typeface="SimSun" panose="02010600030101010101" pitchFamily="2" charset="-122"/>
              </a:rPr>
              <a:t>大于</a:t>
            </a:r>
            <a:r>
              <a:rPr lang="en-US" altLang="zh-CN" sz="2200" dirty="0">
                <a:latin typeface="SimSun" panose="02010600030101010101" pitchFamily="2" charset="-122"/>
                <a:ea typeface="SimSun" panose="02010600030101010101" pitchFamily="2" charset="-122"/>
              </a:rPr>
              <a:t>30</a:t>
            </a:r>
            <a:r>
              <a:rPr lang="zh-CN" altLang="en-US" sz="2200" dirty="0">
                <a:latin typeface="SimSun" panose="02010600030101010101" pitchFamily="2" charset="-122"/>
                <a:ea typeface="SimSun" panose="02010600030101010101" pitchFamily="2" charset="-122"/>
              </a:rPr>
              <a:t>，</a:t>
            </a:r>
            <a:r>
              <a:rPr lang="zh-CN" altLang="en-US" sz="2200" dirty="0">
                <a:solidFill>
                  <a:srgbClr val="C00000"/>
                </a:solidFill>
                <a:latin typeface="SimSun" panose="02010600030101010101" pitchFamily="2" charset="-122"/>
                <a:ea typeface="SimSun" panose="02010600030101010101" pitchFamily="2" charset="-122"/>
              </a:rPr>
              <a:t>读右指针指向的结点，即结点</a:t>
            </a:r>
            <a:r>
              <a:rPr lang="en-US" altLang="zh-CN" sz="2200" dirty="0">
                <a:solidFill>
                  <a:srgbClr val="C00000"/>
                </a:solidFill>
                <a:latin typeface="SimSun" panose="02010600030101010101" pitchFamily="2" charset="-122"/>
                <a:ea typeface="SimSun" panose="02010600030101010101" pitchFamily="2" charset="-122"/>
              </a:rPr>
              <a:t>c</a:t>
            </a:r>
            <a:r>
              <a:rPr lang="zh-CN" altLang="en-US" sz="2200" dirty="0">
                <a:latin typeface="SimSun" panose="02010600030101010101" pitchFamily="2" charset="-122"/>
                <a:ea typeface="SimSun" panose="02010600030101010101" pitchFamily="2" charset="-122"/>
              </a:rPr>
              <a:t>，在它所包含的关键码</a:t>
            </a:r>
            <a:r>
              <a:rPr lang="en-US" altLang="zh-CN" sz="2200" dirty="0">
                <a:latin typeface="SimSun" panose="02010600030101010101" pitchFamily="2" charset="-122"/>
                <a:ea typeface="SimSun" panose="02010600030101010101" pitchFamily="2" charset="-122"/>
              </a:rPr>
              <a:t>40</a:t>
            </a:r>
            <a:r>
              <a:rPr lang="zh-CN" altLang="en-US" sz="2200" dirty="0">
                <a:latin typeface="SimSun" panose="02010600030101010101" pitchFamily="2" charset="-122"/>
                <a:ea typeface="SimSun" panose="02010600030101010101" pitchFamily="2" charset="-122"/>
              </a:rPr>
              <a:t>中未找到；</a:t>
            </a:r>
            <a:endParaRPr lang="en-US" altLang="zh-CN" sz="2200" dirty="0">
              <a:latin typeface="SimSun" panose="02010600030101010101" pitchFamily="2" charset="-122"/>
              <a:ea typeface="SimSun" panose="02010600030101010101" pitchFamily="2" charset="-122"/>
            </a:endParaRPr>
          </a:p>
          <a:p>
            <a:endParaRPr lang="en-US" altLang="zh-CN" sz="2200" dirty="0">
              <a:latin typeface="SimSun" panose="02010600030101010101" pitchFamily="2" charset="-122"/>
              <a:ea typeface="SimSun" panose="02010600030101010101" pitchFamily="2" charset="-122"/>
            </a:endParaRPr>
          </a:p>
          <a:p>
            <a:r>
              <a:rPr lang="zh-CN" altLang="en-US" sz="2200" dirty="0">
                <a:latin typeface="SimSun" panose="02010600030101010101" pitchFamily="2" charset="-122"/>
                <a:ea typeface="SimSun" panose="02010600030101010101" pitchFamily="2" charset="-122"/>
              </a:rPr>
              <a:t>由于</a:t>
            </a:r>
            <a:r>
              <a:rPr lang="en-US" altLang="zh-CN" sz="2200" dirty="0">
                <a:latin typeface="SimSun" panose="02010600030101010101" pitchFamily="2" charset="-122"/>
                <a:ea typeface="SimSun" panose="02010600030101010101" pitchFamily="2" charset="-122"/>
              </a:rPr>
              <a:t>35</a:t>
            </a:r>
            <a:r>
              <a:rPr lang="zh-CN" altLang="en-US" sz="2200" dirty="0">
                <a:latin typeface="SimSun" panose="02010600030101010101" pitchFamily="2" charset="-122"/>
                <a:ea typeface="SimSun" panose="02010600030101010101" pitchFamily="2" charset="-122"/>
              </a:rPr>
              <a:t>小于</a:t>
            </a:r>
            <a:r>
              <a:rPr lang="en-US" altLang="zh-CN" sz="2200" dirty="0">
                <a:latin typeface="SimSun" panose="02010600030101010101" pitchFamily="2" charset="-122"/>
                <a:ea typeface="SimSun" panose="02010600030101010101" pitchFamily="2" charset="-122"/>
              </a:rPr>
              <a:t>40</a:t>
            </a:r>
            <a:r>
              <a:rPr lang="zh-CN" altLang="en-US" sz="2200" dirty="0">
                <a:latin typeface="SimSun" panose="02010600030101010101" pitchFamily="2" charset="-122"/>
                <a:ea typeface="SimSun" panose="02010600030101010101" pitchFamily="2" charset="-122"/>
              </a:rPr>
              <a:t>，</a:t>
            </a:r>
            <a:r>
              <a:rPr lang="zh-CN" altLang="en-US" sz="2200" dirty="0">
                <a:solidFill>
                  <a:srgbClr val="C00000"/>
                </a:solidFill>
                <a:latin typeface="SimSun" panose="02010600030101010101" pitchFamily="2" charset="-122"/>
                <a:ea typeface="SimSun" panose="02010600030101010101" pitchFamily="2" charset="-122"/>
              </a:rPr>
              <a:t>读左指针指向的结点，即结点</a:t>
            </a:r>
            <a:r>
              <a:rPr lang="en-US" altLang="zh-CN" sz="2200" dirty="0">
                <a:solidFill>
                  <a:srgbClr val="C00000"/>
                </a:solidFill>
                <a:latin typeface="SimSun" panose="02010600030101010101" pitchFamily="2" charset="-122"/>
                <a:ea typeface="SimSun" panose="02010600030101010101" pitchFamily="2" charset="-122"/>
              </a:rPr>
              <a:t>f</a:t>
            </a:r>
            <a:r>
              <a:rPr lang="zh-CN" altLang="en-US" sz="2200" dirty="0">
                <a:latin typeface="SimSun" panose="02010600030101010101" pitchFamily="2" charset="-122"/>
                <a:ea typeface="SimSun" panose="02010600030101010101" pitchFamily="2" charset="-122"/>
              </a:rPr>
              <a:t>，在它所包含的关键码中找到</a:t>
            </a:r>
            <a:r>
              <a:rPr lang="en-US" altLang="zh-CN" sz="2200" dirty="0">
                <a:latin typeface="SimSun" panose="02010600030101010101" pitchFamily="2" charset="-122"/>
                <a:ea typeface="SimSun" panose="02010600030101010101" pitchFamily="2" charset="-122"/>
              </a:rPr>
              <a:t>35</a:t>
            </a:r>
            <a:r>
              <a:rPr lang="zh-CN" altLang="en-US" sz="2200" dirty="0">
                <a:latin typeface="SimSun" panose="02010600030101010101" pitchFamily="2" charset="-122"/>
                <a:ea typeface="SimSun" panose="02010600030101010101" pitchFamily="2" charset="-122"/>
              </a:rPr>
              <a:t>，检索成功。</a:t>
            </a:r>
            <a:endParaRPr lang="en-US" altLang="zh-CN" sz="2200" dirty="0">
              <a:latin typeface="SimSun" panose="02010600030101010101" pitchFamily="2" charset="-122"/>
              <a:ea typeface="SimSun" panose="02010600030101010101" pitchFamily="2" charset="-122"/>
            </a:endParaRPr>
          </a:p>
          <a:p>
            <a:endParaRPr lang="en-US" altLang="zh-CN" sz="2200" dirty="0">
              <a:latin typeface="SimSun" panose="02010600030101010101" pitchFamily="2" charset="-122"/>
              <a:ea typeface="SimSun" panose="02010600030101010101" pitchFamily="2" charset="-122"/>
            </a:endParaRPr>
          </a:p>
          <a:p>
            <a:r>
              <a:rPr lang="zh-CN" altLang="en-US" sz="2200" dirty="0">
                <a:latin typeface="SimSun" panose="02010600030101010101" pitchFamily="2" charset="-122"/>
                <a:ea typeface="SimSun" panose="02010600030101010101" pitchFamily="2" charset="-122"/>
              </a:rPr>
              <a:t>共进行</a:t>
            </a:r>
            <a:r>
              <a:rPr lang="en-US" altLang="zh-CN" sz="2200" u="sng" dirty="0">
                <a:latin typeface="SimSun" panose="02010600030101010101" pitchFamily="2" charset="-122"/>
                <a:ea typeface="SimSun" panose="02010600030101010101" pitchFamily="2" charset="-122"/>
              </a:rPr>
              <a:t>3</a:t>
            </a:r>
            <a:r>
              <a:rPr lang="zh-CN" altLang="en-US" sz="2200" u="sng" dirty="0">
                <a:latin typeface="SimSun" panose="02010600030101010101" pitchFamily="2" charset="-122"/>
                <a:ea typeface="SimSun" panose="02010600030101010101" pitchFamily="2" charset="-122"/>
              </a:rPr>
              <a:t>次</a:t>
            </a:r>
            <a:r>
              <a:rPr lang="zh-CN" altLang="en-US" sz="2200" dirty="0">
                <a:latin typeface="SimSun" panose="02010600030101010101" pitchFamily="2" charset="-122"/>
                <a:ea typeface="SimSun" panose="02010600030101010101" pitchFamily="2" charset="-122"/>
              </a:rPr>
              <a:t>访外。</a:t>
            </a:r>
            <a:endParaRPr lang="en-US" altLang="zh-CN" sz="2200" dirty="0">
              <a:latin typeface="SimSun" panose="02010600030101010101" pitchFamily="2" charset="-122"/>
              <a:ea typeface="SimSun" panose="02010600030101010101" pitchFamily="2" charset="-122"/>
            </a:endParaRP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5" name="图片 4">
            <a:extLst>
              <a:ext uri="{FF2B5EF4-FFF2-40B4-BE49-F238E27FC236}">
                <a16:creationId xmlns:a16="http://schemas.microsoft.com/office/drawing/2014/main" id="{AAFCBEEF-744B-6949-81C8-E50A45630745}"/>
              </a:ext>
            </a:extLst>
          </p:cNvPr>
          <p:cNvPicPr>
            <a:picLocks noChangeAspect="1"/>
          </p:cNvPicPr>
          <p:nvPr/>
        </p:nvPicPr>
        <p:blipFill>
          <a:blip r:embed="rId3"/>
          <a:stretch>
            <a:fillRect/>
          </a:stretch>
        </p:blipFill>
        <p:spPr>
          <a:xfrm>
            <a:off x="442913" y="1206681"/>
            <a:ext cx="3603231" cy="1993719"/>
          </a:xfrm>
          <a:prstGeom prst="rect">
            <a:avLst/>
          </a:prstGeom>
        </p:spPr>
      </p:pic>
    </p:spTree>
    <p:extLst>
      <p:ext uri="{BB962C8B-B14F-4D97-AF65-F5344CB8AC3E}">
        <p14:creationId xmlns:p14="http://schemas.microsoft.com/office/powerpoint/2010/main" val="3539775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17</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第十一章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4303986" y="1206681"/>
            <a:ext cx="6863368" cy="5016758"/>
          </a:xfrm>
          <a:prstGeom prst="rect">
            <a:avLst/>
          </a:prstGeom>
        </p:spPr>
        <p:txBody>
          <a:bodyPr wrap="square">
            <a:spAutoFit/>
          </a:bodyPr>
          <a:lstStyle/>
          <a:p>
            <a:pPr marL="457200" indent="-457200">
              <a:buFont typeface="Wingdings" pitchFamily="2" charset="2"/>
              <a:buAutoNum type="arabicParenBoth" startAt="2"/>
            </a:pPr>
            <a:r>
              <a:rPr lang="zh-CN" altLang="en-US" sz="2000" dirty="0">
                <a:latin typeface="SimSun" panose="02010600030101010101" pitchFamily="2" charset="-122"/>
                <a:ea typeface="SimSun" panose="02010600030101010101" pitchFamily="2" charset="-122"/>
              </a:rPr>
              <a:t>给出在上面的</a:t>
            </a:r>
            <a:r>
              <a:rPr lang="en-US" altLang="zh-CN" sz="2000" dirty="0">
                <a:latin typeface="SimSun" panose="02010600030101010101" pitchFamily="2" charset="-122"/>
                <a:ea typeface="SimSun" panose="02010600030101010101" pitchFamily="2" charset="-122"/>
              </a:rPr>
              <a:t>B</a:t>
            </a:r>
            <a:r>
              <a:rPr lang="zh-CN" altLang="en-US" sz="2000" dirty="0">
                <a:latin typeface="SimSun" panose="02010600030101010101" pitchFamily="2" charset="-122"/>
                <a:ea typeface="SimSun" panose="02010600030101010101" pitchFamily="2" charset="-122"/>
              </a:rPr>
              <a:t>树中插入关键码</a:t>
            </a:r>
            <a:r>
              <a:rPr lang="en-US" altLang="zh-CN" sz="2000" dirty="0">
                <a:latin typeface="SimSun" panose="02010600030101010101" pitchFamily="2" charset="-122"/>
                <a:ea typeface="SimSun" panose="02010600030101010101" pitchFamily="2" charset="-122"/>
              </a:rPr>
              <a:t>47</a:t>
            </a:r>
            <a:r>
              <a:rPr lang="zh-CN" altLang="en-US" sz="2000" dirty="0">
                <a:latin typeface="SimSun" panose="02010600030101010101" pitchFamily="2" charset="-122"/>
                <a:ea typeface="SimSun" panose="02010600030101010101" pitchFamily="2" charset="-122"/>
              </a:rPr>
              <a:t>的过程，说明共进行多少次访外，并画出</a:t>
            </a:r>
            <a:r>
              <a:rPr lang="en-US" altLang="zh-CN" sz="2000" dirty="0">
                <a:latin typeface="SimSun" panose="02010600030101010101" pitchFamily="2" charset="-122"/>
                <a:ea typeface="SimSun" panose="02010600030101010101" pitchFamily="2" charset="-122"/>
              </a:rPr>
              <a:t>B</a:t>
            </a:r>
            <a:r>
              <a:rPr lang="zh-CN" altLang="en-US" sz="2000" dirty="0">
                <a:latin typeface="SimSun" panose="02010600030101010101" pitchFamily="2" charset="-122"/>
                <a:ea typeface="SimSun" panose="02010600030101010101" pitchFamily="2" charset="-122"/>
              </a:rPr>
              <a:t>树的最终状态。</a:t>
            </a:r>
            <a:endParaRPr lang="en-US" altLang="zh-CN" sz="2000" dirty="0">
              <a:latin typeface="SimSun" panose="02010600030101010101" pitchFamily="2" charset="-122"/>
              <a:ea typeface="SimSun" panose="02010600030101010101" pitchFamily="2" charset="-122"/>
            </a:endParaRPr>
          </a:p>
          <a:p>
            <a:endParaRPr lang="en-US" altLang="zh-CN" sz="2000" dirty="0">
              <a:solidFill>
                <a:srgbClr val="C00000"/>
              </a:solidFill>
              <a:latin typeface="SimSun" panose="02010600030101010101" pitchFamily="2" charset="-122"/>
              <a:ea typeface="SimSun" panose="02010600030101010101" pitchFamily="2" charset="-122"/>
            </a:endParaRPr>
          </a:p>
          <a:p>
            <a:r>
              <a:rPr lang="zh-CN" altLang="en-US" sz="2000" dirty="0">
                <a:solidFill>
                  <a:srgbClr val="C00000"/>
                </a:solidFill>
                <a:latin typeface="SimSun" panose="02010600030101010101" pitchFamily="2" charset="-122"/>
                <a:ea typeface="SimSun" panose="02010600030101010101" pitchFamily="2" charset="-122"/>
              </a:rPr>
              <a:t>读根结点</a:t>
            </a:r>
            <a:r>
              <a:rPr lang="en-US" altLang="zh-CN" sz="2000" dirty="0">
                <a:solidFill>
                  <a:srgbClr val="C00000"/>
                </a:solidFill>
                <a:latin typeface="SimSun" panose="02010600030101010101" pitchFamily="2" charset="-122"/>
                <a:ea typeface="SimSun" panose="02010600030101010101" pitchFamily="2" charset="-122"/>
              </a:rPr>
              <a:t>a</a:t>
            </a:r>
            <a:r>
              <a:rPr lang="zh-CN" altLang="en-US" sz="2000" dirty="0">
                <a:latin typeface="SimSun" panose="02010600030101010101" pitchFamily="2" charset="-122"/>
                <a:ea typeface="SimSun" panose="02010600030101010101" pitchFamily="2" charset="-122"/>
              </a:rPr>
              <a:t>，在根结点所包含的关键码</a:t>
            </a:r>
            <a:r>
              <a:rPr lang="en-US" altLang="zh-CN" sz="2000" dirty="0">
                <a:latin typeface="SimSun" panose="02010600030101010101" pitchFamily="2" charset="-122"/>
                <a:ea typeface="SimSun" panose="02010600030101010101" pitchFamily="2" charset="-122"/>
              </a:rPr>
              <a:t>30</a:t>
            </a:r>
            <a:r>
              <a:rPr lang="zh-CN" altLang="en-US" sz="2000" dirty="0">
                <a:latin typeface="SimSun" panose="02010600030101010101" pitchFamily="2" charset="-122"/>
                <a:ea typeface="SimSun" panose="02010600030101010101" pitchFamily="2" charset="-122"/>
              </a:rPr>
              <a:t>中未找到；</a:t>
            </a:r>
            <a:endParaRPr lang="en-US" altLang="zh-CN" sz="2000" dirty="0">
              <a:latin typeface="SimSun" panose="02010600030101010101" pitchFamily="2" charset="-122"/>
              <a:ea typeface="SimSun" panose="02010600030101010101" pitchFamily="2" charset="-122"/>
            </a:endParaRPr>
          </a:p>
          <a:p>
            <a:endParaRPr lang="en-US" altLang="zh-CN" sz="2000"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由于</a:t>
            </a:r>
            <a:r>
              <a:rPr lang="en-US" altLang="zh-CN" sz="2000" dirty="0">
                <a:latin typeface="SimSun" panose="02010600030101010101" pitchFamily="2" charset="-122"/>
                <a:ea typeface="SimSun" panose="02010600030101010101" pitchFamily="2" charset="-122"/>
              </a:rPr>
              <a:t>47</a:t>
            </a:r>
            <a:r>
              <a:rPr lang="zh-CN" altLang="en-US" sz="2000" dirty="0">
                <a:latin typeface="SimSun" panose="02010600030101010101" pitchFamily="2" charset="-122"/>
                <a:ea typeface="SimSun" panose="02010600030101010101" pitchFamily="2" charset="-122"/>
              </a:rPr>
              <a:t>大于</a:t>
            </a:r>
            <a:r>
              <a:rPr lang="en-US" altLang="zh-CN" sz="2000" dirty="0">
                <a:latin typeface="SimSun" panose="02010600030101010101" pitchFamily="2" charset="-122"/>
                <a:ea typeface="SimSun" panose="02010600030101010101" pitchFamily="2" charset="-122"/>
              </a:rPr>
              <a:t>30</a:t>
            </a:r>
            <a:r>
              <a:rPr lang="zh-CN" altLang="en-US" sz="2000" dirty="0">
                <a:latin typeface="SimSun" panose="02010600030101010101" pitchFamily="2" charset="-122"/>
                <a:ea typeface="SimSun" panose="02010600030101010101" pitchFamily="2" charset="-122"/>
              </a:rPr>
              <a:t>，</a:t>
            </a:r>
            <a:r>
              <a:rPr lang="zh-CN" altLang="en-US" sz="2000" dirty="0">
                <a:solidFill>
                  <a:srgbClr val="C00000"/>
                </a:solidFill>
                <a:latin typeface="SimSun" panose="02010600030101010101" pitchFamily="2" charset="-122"/>
                <a:ea typeface="SimSun" panose="02010600030101010101" pitchFamily="2" charset="-122"/>
              </a:rPr>
              <a:t>读右指针指向的结点，即结点</a:t>
            </a:r>
            <a:r>
              <a:rPr lang="en-US" altLang="zh-CN" sz="2000" dirty="0">
                <a:solidFill>
                  <a:srgbClr val="C00000"/>
                </a:solidFill>
                <a:latin typeface="SimSun" panose="02010600030101010101" pitchFamily="2" charset="-122"/>
                <a:ea typeface="SimSun" panose="02010600030101010101" pitchFamily="2" charset="-122"/>
              </a:rPr>
              <a:t>c</a:t>
            </a:r>
            <a:r>
              <a:rPr lang="zh-CN" altLang="en-US" sz="2000" dirty="0">
                <a:latin typeface="SimSun" panose="02010600030101010101" pitchFamily="2" charset="-122"/>
                <a:ea typeface="SimSun" panose="02010600030101010101" pitchFamily="2" charset="-122"/>
              </a:rPr>
              <a:t>，在它所包含的关键码</a:t>
            </a:r>
            <a:r>
              <a:rPr lang="en-US" altLang="zh-CN" sz="2000" dirty="0">
                <a:latin typeface="SimSun" panose="02010600030101010101" pitchFamily="2" charset="-122"/>
                <a:ea typeface="SimSun" panose="02010600030101010101" pitchFamily="2" charset="-122"/>
              </a:rPr>
              <a:t>40</a:t>
            </a:r>
            <a:r>
              <a:rPr lang="zh-CN" altLang="en-US" sz="2000" dirty="0">
                <a:latin typeface="SimSun" panose="02010600030101010101" pitchFamily="2" charset="-122"/>
                <a:ea typeface="SimSun" panose="02010600030101010101" pitchFamily="2" charset="-122"/>
              </a:rPr>
              <a:t>中未找到；</a:t>
            </a:r>
            <a:endParaRPr lang="en-US" altLang="zh-CN" sz="2000" dirty="0">
              <a:latin typeface="SimSun" panose="02010600030101010101" pitchFamily="2" charset="-122"/>
              <a:ea typeface="SimSun" panose="02010600030101010101" pitchFamily="2" charset="-122"/>
            </a:endParaRPr>
          </a:p>
          <a:p>
            <a:endParaRPr lang="en-US" altLang="zh-CN" sz="2000"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由于</a:t>
            </a:r>
            <a:r>
              <a:rPr lang="en-US" altLang="zh-CN" sz="2000" dirty="0">
                <a:latin typeface="SimSun" panose="02010600030101010101" pitchFamily="2" charset="-122"/>
                <a:ea typeface="SimSun" panose="02010600030101010101" pitchFamily="2" charset="-122"/>
              </a:rPr>
              <a:t>47</a:t>
            </a:r>
            <a:r>
              <a:rPr lang="zh-CN" altLang="en-US" sz="2000" dirty="0">
                <a:latin typeface="SimSun" panose="02010600030101010101" pitchFamily="2" charset="-122"/>
                <a:ea typeface="SimSun" panose="02010600030101010101" pitchFamily="2" charset="-122"/>
              </a:rPr>
              <a:t>大于</a:t>
            </a:r>
            <a:r>
              <a:rPr lang="en-US" altLang="zh-CN" sz="2000" dirty="0">
                <a:latin typeface="SimSun" panose="02010600030101010101" pitchFamily="2" charset="-122"/>
                <a:ea typeface="SimSun" panose="02010600030101010101" pitchFamily="2" charset="-122"/>
              </a:rPr>
              <a:t>40</a:t>
            </a:r>
            <a:r>
              <a:rPr lang="zh-CN" altLang="en-US" sz="2000" dirty="0">
                <a:latin typeface="SimSun" panose="02010600030101010101" pitchFamily="2" charset="-122"/>
                <a:ea typeface="SimSun" panose="02010600030101010101" pitchFamily="2" charset="-122"/>
              </a:rPr>
              <a:t>，</a:t>
            </a:r>
            <a:r>
              <a:rPr lang="zh-CN" altLang="en-US" sz="2000" dirty="0">
                <a:solidFill>
                  <a:srgbClr val="C00000"/>
                </a:solidFill>
                <a:latin typeface="SimSun" panose="02010600030101010101" pitchFamily="2" charset="-122"/>
                <a:ea typeface="SimSun" panose="02010600030101010101" pitchFamily="2" charset="-122"/>
              </a:rPr>
              <a:t>读右指针指向的结点，即结点</a:t>
            </a:r>
            <a:r>
              <a:rPr lang="en-US" altLang="zh-CN" sz="2000" dirty="0">
                <a:solidFill>
                  <a:srgbClr val="C00000"/>
                </a:solidFill>
                <a:latin typeface="SimSun" panose="02010600030101010101" pitchFamily="2" charset="-122"/>
                <a:ea typeface="SimSun" panose="02010600030101010101" pitchFamily="2" charset="-122"/>
              </a:rPr>
              <a:t>g</a:t>
            </a:r>
            <a:r>
              <a:rPr lang="zh-CN" altLang="en-US" sz="2000" dirty="0">
                <a:latin typeface="SimSun" panose="02010600030101010101" pitchFamily="2" charset="-122"/>
                <a:ea typeface="SimSun" panose="02010600030101010101" pitchFamily="2" charset="-122"/>
              </a:rPr>
              <a:t>，在它所包含的关键码</a:t>
            </a:r>
            <a:r>
              <a:rPr lang="en-US" altLang="zh-CN" sz="2000" dirty="0">
                <a:latin typeface="SimSun" panose="02010600030101010101" pitchFamily="2" charset="-122"/>
                <a:ea typeface="SimSun" panose="02010600030101010101" pitchFamily="2" charset="-122"/>
              </a:rPr>
              <a:t>45</a:t>
            </a:r>
            <a:r>
              <a:rPr lang="zh-CN" altLang="en-US" sz="2000" dirty="0">
                <a:latin typeface="SimSun" panose="02010600030101010101" pitchFamily="2" charset="-122"/>
                <a:ea typeface="SimSun" panose="02010600030101010101" pitchFamily="2" charset="-122"/>
              </a:rPr>
              <a:t>和</a:t>
            </a:r>
            <a:r>
              <a:rPr lang="en-US" altLang="zh-CN" sz="2000" dirty="0">
                <a:latin typeface="SimSun" panose="02010600030101010101" pitchFamily="2" charset="-122"/>
                <a:ea typeface="SimSun" panose="02010600030101010101" pitchFamily="2" charset="-122"/>
              </a:rPr>
              <a:t>50</a:t>
            </a:r>
            <a:r>
              <a:rPr lang="zh-CN" altLang="en-US" sz="2000" dirty="0">
                <a:latin typeface="SimSun" panose="02010600030101010101" pitchFamily="2" charset="-122"/>
                <a:ea typeface="SimSun" panose="02010600030101010101" pitchFamily="2" charset="-122"/>
              </a:rPr>
              <a:t>中未找到，执行插入。</a:t>
            </a:r>
            <a:endParaRPr lang="en-US" altLang="zh-CN" sz="2000" dirty="0">
              <a:latin typeface="SimSun" panose="02010600030101010101" pitchFamily="2" charset="-122"/>
              <a:ea typeface="SimSun" panose="02010600030101010101" pitchFamily="2" charset="-122"/>
            </a:endParaRPr>
          </a:p>
          <a:p>
            <a:endParaRPr lang="en-US" altLang="zh-CN" sz="2000"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此时结点</a:t>
            </a:r>
            <a:r>
              <a:rPr lang="en-US" altLang="zh-CN" sz="2000" dirty="0">
                <a:latin typeface="SimSun" panose="02010600030101010101" pitchFamily="2" charset="-122"/>
                <a:ea typeface="SimSun" panose="02010600030101010101" pitchFamily="2" charset="-122"/>
              </a:rPr>
              <a:t>g</a:t>
            </a:r>
            <a:r>
              <a:rPr lang="zh-CN" altLang="en-US" sz="2000" dirty="0">
                <a:latin typeface="SimSun" panose="02010600030101010101" pitchFamily="2" charset="-122"/>
                <a:ea typeface="SimSun" panose="02010600030101010101" pitchFamily="2" charset="-122"/>
              </a:rPr>
              <a:t>发生溢出，进行结点分裂：</a:t>
            </a:r>
            <a:endParaRPr lang="en-US" altLang="zh-CN" sz="2000"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由于</a:t>
            </a:r>
            <a:r>
              <a:rPr lang="en-US" altLang="zh-CN" sz="2000" dirty="0">
                <a:latin typeface="SimSun" panose="02010600030101010101" pitchFamily="2" charset="-122"/>
                <a:ea typeface="SimSun" panose="02010600030101010101" pitchFamily="2" charset="-122"/>
              </a:rPr>
              <a:t>47</a:t>
            </a:r>
            <a:r>
              <a:rPr lang="zh-CN" altLang="en-US" sz="2000" dirty="0">
                <a:latin typeface="SimSun" panose="02010600030101010101" pitchFamily="2" charset="-122"/>
                <a:ea typeface="SimSun" panose="02010600030101010101" pitchFamily="2" charset="-122"/>
              </a:rPr>
              <a:t>为</a:t>
            </a:r>
            <a:r>
              <a:rPr lang="en-US" altLang="zh-CN" sz="2000" dirty="0">
                <a:latin typeface="SimSun" panose="02010600030101010101" pitchFamily="2" charset="-122"/>
                <a:ea typeface="SimSun" panose="02010600030101010101" pitchFamily="2" charset="-122"/>
              </a:rPr>
              <a:t>45</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47</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50</a:t>
            </a:r>
            <a:r>
              <a:rPr lang="zh-CN" altLang="en-US" sz="2000" dirty="0">
                <a:latin typeface="SimSun" panose="02010600030101010101" pitchFamily="2" charset="-122"/>
                <a:ea typeface="SimSun" panose="02010600030101010101" pitchFamily="2" charset="-122"/>
              </a:rPr>
              <a:t>的中位数，</a:t>
            </a:r>
            <a:r>
              <a:rPr lang="zh-CN" altLang="en-US" sz="2000" dirty="0">
                <a:solidFill>
                  <a:srgbClr val="0070C0"/>
                </a:solidFill>
                <a:latin typeface="SimSun" panose="02010600030101010101" pitchFamily="2" charset="-122"/>
                <a:ea typeface="SimSun" panose="02010600030101010101" pitchFamily="2" charset="-122"/>
              </a:rPr>
              <a:t>将</a:t>
            </a:r>
            <a:r>
              <a:rPr lang="en-US" altLang="zh-CN" sz="2000" dirty="0">
                <a:solidFill>
                  <a:srgbClr val="0070C0"/>
                </a:solidFill>
                <a:latin typeface="SimSun" panose="02010600030101010101" pitchFamily="2" charset="-122"/>
                <a:ea typeface="SimSun" panose="02010600030101010101" pitchFamily="2" charset="-122"/>
              </a:rPr>
              <a:t>47</a:t>
            </a:r>
            <a:r>
              <a:rPr lang="zh-CN" altLang="en-US" sz="2000" dirty="0">
                <a:solidFill>
                  <a:srgbClr val="0070C0"/>
                </a:solidFill>
                <a:latin typeface="SimSun" panose="02010600030101010101" pitchFamily="2" charset="-122"/>
                <a:ea typeface="SimSun" panose="02010600030101010101" pitchFamily="2" charset="-122"/>
              </a:rPr>
              <a:t>写入父结点</a:t>
            </a:r>
            <a:r>
              <a:rPr lang="en-US" altLang="zh-CN" sz="2000" dirty="0">
                <a:solidFill>
                  <a:srgbClr val="0070C0"/>
                </a:solidFill>
                <a:latin typeface="SimSun" panose="02010600030101010101" pitchFamily="2" charset="-122"/>
                <a:ea typeface="SimSun" panose="02010600030101010101" pitchFamily="2" charset="-122"/>
              </a:rPr>
              <a:t>c</a:t>
            </a:r>
            <a:r>
              <a:rPr lang="zh-CN" altLang="en-US" sz="2000" dirty="0">
                <a:latin typeface="SimSun" panose="02010600030101010101" pitchFamily="2" charset="-122"/>
                <a:ea typeface="SimSun" panose="02010600030101010101" pitchFamily="2" charset="-122"/>
              </a:rPr>
              <a:t>；</a:t>
            </a:r>
            <a:endParaRPr lang="en-US" altLang="zh-CN" sz="2000" dirty="0">
              <a:latin typeface="SimSun" panose="02010600030101010101" pitchFamily="2" charset="-122"/>
              <a:ea typeface="SimSun" panose="02010600030101010101" pitchFamily="2" charset="-122"/>
            </a:endParaRPr>
          </a:p>
          <a:p>
            <a:r>
              <a:rPr lang="zh-CN" altLang="en-US" sz="2000" dirty="0">
                <a:solidFill>
                  <a:srgbClr val="0070C0"/>
                </a:solidFill>
                <a:latin typeface="SimSun" panose="02010600030101010101" pitchFamily="2" charset="-122"/>
                <a:ea typeface="SimSun" panose="02010600030101010101" pitchFamily="2" charset="-122"/>
              </a:rPr>
              <a:t>新申请一个结点</a:t>
            </a:r>
            <a:r>
              <a:rPr lang="en-US" altLang="zh-CN" sz="2000" dirty="0">
                <a:solidFill>
                  <a:srgbClr val="0070C0"/>
                </a:solidFill>
                <a:latin typeface="SimSun" panose="02010600030101010101" pitchFamily="2" charset="-122"/>
                <a:ea typeface="SimSun" panose="02010600030101010101" pitchFamily="2" charset="-122"/>
              </a:rPr>
              <a:t>h</a:t>
            </a:r>
            <a:r>
              <a:rPr lang="zh-CN" altLang="en-US" sz="2000" dirty="0">
                <a:solidFill>
                  <a:srgbClr val="0070C0"/>
                </a:solidFill>
                <a:latin typeface="SimSun" panose="02010600030101010101" pitchFamily="2" charset="-122"/>
                <a:ea typeface="SimSun" panose="02010600030101010101" pitchFamily="2" charset="-122"/>
              </a:rPr>
              <a:t>，写入</a:t>
            </a:r>
            <a:r>
              <a:rPr lang="en-US" altLang="zh-CN" sz="2000" dirty="0">
                <a:solidFill>
                  <a:srgbClr val="0070C0"/>
                </a:solidFill>
                <a:latin typeface="SimSun" panose="02010600030101010101" pitchFamily="2" charset="-122"/>
                <a:ea typeface="SimSun" panose="02010600030101010101" pitchFamily="2" charset="-122"/>
              </a:rPr>
              <a:t>50</a:t>
            </a:r>
            <a:r>
              <a:rPr lang="zh-CN" altLang="en-US" sz="2000" dirty="0">
                <a:latin typeface="SimSun" panose="02010600030101010101" pitchFamily="2" charset="-122"/>
                <a:ea typeface="SimSun" panose="02010600030101010101" pitchFamily="2" charset="-122"/>
              </a:rPr>
              <a:t>；</a:t>
            </a:r>
            <a:r>
              <a:rPr lang="zh-CN" altLang="en-US" sz="2000" dirty="0">
                <a:solidFill>
                  <a:srgbClr val="0070C0"/>
                </a:solidFill>
                <a:latin typeface="SimSun" panose="02010600030101010101" pitchFamily="2" charset="-122"/>
                <a:ea typeface="SimSun" panose="02010600030101010101" pitchFamily="2" charset="-122"/>
              </a:rPr>
              <a:t>结点</a:t>
            </a:r>
            <a:r>
              <a:rPr lang="en-US" altLang="zh-CN" sz="2000" dirty="0">
                <a:solidFill>
                  <a:srgbClr val="0070C0"/>
                </a:solidFill>
                <a:latin typeface="SimSun" panose="02010600030101010101" pitchFamily="2" charset="-122"/>
                <a:ea typeface="SimSun" panose="02010600030101010101" pitchFamily="2" charset="-122"/>
              </a:rPr>
              <a:t>g</a:t>
            </a:r>
            <a:r>
              <a:rPr lang="zh-CN" altLang="en-US" sz="2000" dirty="0">
                <a:solidFill>
                  <a:srgbClr val="0070C0"/>
                </a:solidFill>
                <a:latin typeface="SimSun" panose="02010600030101010101" pitchFamily="2" charset="-122"/>
                <a:ea typeface="SimSun" panose="02010600030101010101" pitchFamily="2" charset="-122"/>
              </a:rPr>
              <a:t>只保留</a:t>
            </a:r>
            <a:r>
              <a:rPr lang="en-US" altLang="zh-CN" sz="2000" dirty="0">
                <a:solidFill>
                  <a:srgbClr val="0070C0"/>
                </a:solidFill>
                <a:latin typeface="SimSun" panose="02010600030101010101" pitchFamily="2" charset="-122"/>
                <a:ea typeface="SimSun" panose="02010600030101010101" pitchFamily="2" charset="-122"/>
              </a:rPr>
              <a:t>45</a:t>
            </a:r>
            <a:r>
              <a:rPr lang="en-US" altLang="zh-CN" sz="2000" dirty="0">
                <a:latin typeface="SimSun" panose="02010600030101010101" pitchFamily="2" charset="-122"/>
                <a:ea typeface="SimSun" panose="02010600030101010101" pitchFamily="2" charset="-122"/>
              </a:rPr>
              <a:t>. </a:t>
            </a:r>
          </a:p>
          <a:p>
            <a:endParaRPr lang="en-US" altLang="zh-CN" sz="2000"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共进行</a:t>
            </a:r>
            <a:r>
              <a:rPr lang="en-US" altLang="zh-CN" sz="2000" u="sng" dirty="0">
                <a:latin typeface="SimSun" panose="02010600030101010101" pitchFamily="2" charset="-122"/>
                <a:ea typeface="SimSun" panose="02010600030101010101" pitchFamily="2" charset="-122"/>
              </a:rPr>
              <a:t>6</a:t>
            </a:r>
            <a:r>
              <a:rPr lang="zh-CN" altLang="en-US" sz="2000" u="sng" dirty="0">
                <a:latin typeface="SimSun" panose="02010600030101010101" pitchFamily="2" charset="-122"/>
                <a:ea typeface="SimSun" panose="02010600030101010101" pitchFamily="2" charset="-122"/>
              </a:rPr>
              <a:t>次</a:t>
            </a:r>
            <a:r>
              <a:rPr lang="zh-CN" altLang="en-US" sz="2000" dirty="0">
                <a:latin typeface="SimSun" panose="02010600030101010101" pitchFamily="2" charset="-122"/>
                <a:ea typeface="SimSun" panose="02010600030101010101" pitchFamily="2" charset="-122"/>
              </a:rPr>
              <a:t>访外（</a:t>
            </a:r>
            <a:r>
              <a:rPr lang="en-US" altLang="zh-CN" sz="2000" dirty="0">
                <a:latin typeface="SimSun" panose="02010600030101010101" pitchFamily="2" charset="-122"/>
                <a:ea typeface="SimSun" panose="02010600030101010101" pitchFamily="2" charset="-122"/>
              </a:rPr>
              <a:t>3</a:t>
            </a:r>
            <a:r>
              <a:rPr lang="zh-CN" altLang="en-US" sz="2000" dirty="0">
                <a:latin typeface="SimSun" panose="02010600030101010101" pitchFamily="2" charset="-122"/>
                <a:ea typeface="SimSun" panose="02010600030101010101" pitchFamily="2" charset="-122"/>
              </a:rPr>
              <a:t>次读：</a:t>
            </a:r>
            <a:r>
              <a:rPr lang="en-US" altLang="zh-CN" sz="2000" dirty="0">
                <a:latin typeface="SimSun" panose="02010600030101010101" pitchFamily="2" charset="-122"/>
                <a:ea typeface="SimSun" panose="02010600030101010101" pitchFamily="2" charset="-122"/>
              </a:rPr>
              <a:t>a, c, g</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3</a:t>
            </a:r>
            <a:r>
              <a:rPr lang="zh-CN" altLang="en-US" sz="2000" dirty="0">
                <a:latin typeface="SimSun" panose="02010600030101010101" pitchFamily="2" charset="-122"/>
                <a:ea typeface="SimSun" panose="02010600030101010101" pitchFamily="2" charset="-122"/>
              </a:rPr>
              <a:t>次写：</a:t>
            </a:r>
            <a:r>
              <a:rPr lang="en-US" altLang="zh-CN" sz="2000" dirty="0">
                <a:latin typeface="SimSun" panose="02010600030101010101" pitchFamily="2" charset="-122"/>
                <a:ea typeface="SimSun" panose="02010600030101010101" pitchFamily="2" charset="-122"/>
              </a:rPr>
              <a:t>c, g, h</a:t>
            </a:r>
            <a:r>
              <a:rPr lang="zh-CN" altLang="en-US" sz="2000" dirty="0">
                <a:latin typeface="SimSun" panose="02010600030101010101" pitchFamily="2" charset="-122"/>
                <a:ea typeface="SimSun" panose="02010600030101010101" pitchFamily="2" charset="-122"/>
              </a:rPr>
              <a:t>）。</a:t>
            </a:r>
            <a:endParaRPr lang="en-US" altLang="zh-CN" sz="2000" dirty="0">
              <a:latin typeface="SimSun" panose="02010600030101010101" pitchFamily="2" charset="-122"/>
              <a:ea typeface="SimSun" panose="02010600030101010101" pitchFamily="2" charset="-122"/>
            </a:endParaRP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5" name="图片 4">
            <a:extLst>
              <a:ext uri="{FF2B5EF4-FFF2-40B4-BE49-F238E27FC236}">
                <a16:creationId xmlns:a16="http://schemas.microsoft.com/office/drawing/2014/main" id="{AAFCBEEF-744B-6949-81C8-E50A45630745}"/>
              </a:ext>
            </a:extLst>
          </p:cNvPr>
          <p:cNvPicPr>
            <a:picLocks noChangeAspect="1"/>
          </p:cNvPicPr>
          <p:nvPr/>
        </p:nvPicPr>
        <p:blipFill>
          <a:blip r:embed="rId3"/>
          <a:stretch>
            <a:fillRect/>
          </a:stretch>
        </p:blipFill>
        <p:spPr>
          <a:xfrm>
            <a:off x="442913" y="1206681"/>
            <a:ext cx="3603231" cy="1993719"/>
          </a:xfrm>
          <a:prstGeom prst="rect">
            <a:avLst/>
          </a:prstGeom>
        </p:spPr>
      </p:pic>
      <p:pic>
        <p:nvPicPr>
          <p:cNvPr id="7" name="图片 6">
            <a:extLst>
              <a:ext uri="{FF2B5EF4-FFF2-40B4-BE49-F238E27FC236}">
                <a16:creationId xmlns:a16="http://schemas.microsoft.com/office/drawing/2014/main" id="{8960075D-4231-8A44-BBFC-DC7858945535}"/>
              </a:ext>
            </a:extLst>
          </p:cNvPr>
          <p:cNvPicPr>
            <a:picLocks noChangeAspect="1"/>
          </p:cNvPicPr>
          <p:nvPr/>
        </p:nvPicPr>
        <p:blipFill>
          <a:blip r:embed="rId4"/>
          <a:stretch>
            <a:fillRect/>
          </a:stretch>
        </p:blipFill>
        <p:spPr>
          <a:xfrm>
            <a:off x="442913" y="3567326"/>
            <a:ext cx="3646930" cy="1777184"/>
          </a:xfrm>
          <a:prstGeom prst="rect">
            <a:avLst/>
          </a:prstGeom>
        </p:spPr>
      </p:pic>
    </p:spTree>
    <p:extLst>
      <p:ext uri="{BB962C8B-B14F-4D97-AF65-F5344CB8AC3E}">
        <p14:creationId xmlns:p14="http://schemas.microsoft.com/office/powerpoint/2010/main" val="3455795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18</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第十一章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4303986" y="1206681"/>
            <a:ext cx="6863368" cy="4832092"/>
          </a:xfrm>
          <a:prstGeom prst="rect">
            <a:avLst/>
          </a:prstGeom>
        </p:spPr>
        <p:txBody>
          <a:bodyPr wrap="square">
            <a:spAutoFit/>
          </a:bodyPr>
          <a:lstStyle/>
          <a:p>
            <a:pPr marL="457200" indent="-457200">
              <a:buFont typeface="Wingdings" pitchFamily="2" charset="2"/>
              <a:buAutoNum type="arabicParenBoth" startAt="3"/>
            </a:pPr>
            <a:r>
              <a:rPr lang="zh-CN" altLang="en-US" sz="2200" dirty="0">
                <a:latin typeface="SimSun" panose="02010600030101010101" pitchFamily="2" charset="-122"/>
                <a:ea typeface="SimSun" panose="02010600030101010101" pitchFamily="2" charset="-122"/>
              </a:rPr>
              <a:t>给出在上面的</a:t>
            </a:r>
            <a:r>
              <a:rPr lang="en-US" altLang="zh-CN" sz="2200" dirty="0">
                <a:latin typeface="SimSun" panose="02010600030101010101" pitchFamily="2" charset="-122"/>
                <a:ea typeface="SimSun" panose="02010600030101010101" pitchFamily="2" charset="-122"/>
              </a:rPr>
              <a:t>B</a:t>
            </a:r>
            <a:r>
              <a:rPr lang="zh-CN" altLang="en-US" sz="2200" dirty="0">
                <a:latin typeface="SimSun" panose="02010600030101010101" pitchFamily="2" charset="-122"/>
                <a:ea typeface="SimSun" panose="02010600030101010101" pitchFamily="2" charset="-122"/>
              </a:rPr>
              <a:t>树中删除关键码</a:t>
            </a:r>
            <a:r>
              <a:rPr lang="en-US" altLang="zh-CN" sz="2200" dirty="0">
                <a:latin typeface="SimSun" panose="02010600030101010101" pitchFamily="2" charset="-122"/>
                <a:ea typeface="SimSun" panose="02010600030101010101" pitchFamily="2" charset="-122"/>
              </a:rPr>
              <a:t>30</a:t>
            </a:r>
            <a:r>
              <a:rPr lang="zh-CN" altLang="en-US" sz="2200" dirty="0">
                <a:latin typeface="SimSun" panose="02010600030101010101" pitchFamily="2" charset="-122"/>
                <a:ea typeface="SimSun" panose="02010600030101010101" pitchFamily="2" charset="-122"/>
              </a:rPr>
              <a:t>的过程（注：基于图中</a:t>
            </a:r>
            <a:r>
              <a:rPr lang="en-US" altLang="zh-CN" sz="2200" dirty="0">
                <a:latin typeface="SimSun" panose="02010600030101010101" pitchFamily="2" charset="-122"/>
                <a:ea typeface="SimSun" panose="02010600030101010101" pitchFamily="2" charset="-122"/>
              </a:rPr>
              <a:t>B</a:t>
            </a:r>
            <a:r>
              <a:rPr lang="zh-CN" altLang="en-US" sz="2200" dirty="0">
                <a:latin typeface="SimSun" panose="02010600030101010101" pitchFamily="2" charset="-122"/>
                <a:ea typeface="SimSun" panose="02010600030101010101" pitchFamily="2" charset="-122"/>
              </a:rPr>
              <a:t>树的初始状态，而非执行</a:t>
            </a:r>
            <a:r>
              <a:rPr lang="en-US" altLang="zh-CN" sz="2200" dirty="0">
                <a:latin typeface="SimSun" panose="02010600030101010101" pitchFamily="2" charset="-122"/>
                <a:ea typeface="SimSun" panose="02010600030101010101" pitchFamily="2" charset="-122"/>
              </a:rPr>
              <a:t>(2)</a:t>
            </a:r>
            <a:r>
              <a:rPr lang="zh-CN" altLang="en-US" sz="2200" dirty="0">
                <a:latin typeface="SimSun" panose="02010600030101010101" pitchFamily="2" charset="-122"/>
                <a:ea typeface="SimSun" panose="02010600030101010101" pitchFamily="2" charset="-122"/>
              </a:rPr>
              <a:t>中操作后的状态），说明共进行多少次访外，并画出</a:t>
            </a:r>
            <a:r>
              <a:rPr lang="en-US" altLang="zh-CN" sz="2200" dirty="0">
                <a:latin typeface="SimSun" panose="02010600030101010101" pitchFamily="2" charset="-122"/>
                <a:ea typeface="SimSun" panose="02010600030101010101" pitchFamily="2" charset="-122"/>
              </a:rPr>
              <a:t>B</a:t>
            </a:r>
            <a:r>
              <a:rPr lang="zh-CN" altLang="en-US" sz="2200" dirty="0">
                <a:latin typeface="SimSun" panose="02010600030101010101" pitchFamily="2" charset="-122"/>
                <a:ea typeface="SimSun" panose="02010600030101010101" pitchFamily="2" charset="-122"/>
              </a:rPr>
              <a:t>树的最终状态。</a:t>
            </a:r>
            <a:endParaRPr lang="en-US" altLang="zh-CN" sz="2200" dirty="0">
              <a:solidFill>
                <a:srgbClr val="C00000"/>
              </a:solidFill>
              <a:latin typeface="SimSun" panose="02010600030101010101" pitchFamily="2" charset="-122"/>
              <a:ea typeface="SimSun" panose="02010600030101010101" pitchFamily="2" charset="-122"/>
            </a:endParaRPr>
          </a:p>
          <a:p>
            <a:endParaRPr lang="en-US" altLang="zh-CN" sz="2200" dirty="0">
              <a:solidFill>
                <a:srgbClr val="C00000"/>
              </a:solidFill>
              <a:latin typeface="SimSun" panose="02010600030101010101" pitchFamily="2" charset="-122"/>
              <a:ea typeface="SimSun" panose="02010600030101010101" pitchFamily="2" charset="-122"/>
            </a:endParaRPr>
          </a:p>
          <a:p>
            <a:r>
              <a:rPr lang="zh-CN" altLang="en-US" sz="2200" dirty="0">
                <a:solidFill>
                  <a:srgbClr val="C00000"/>
                </a:solidFill>
                <a:latin typeface="SimSun" panose="02010600030101010101" pitchFamily="2" charset="-122"/>
                <a:ea typeface="SimSun" panose="02010600030101010101" pitchFamily="2" charset="-122"/>
              </a:rPr>
              <a:t>读根结点</a:t>
            </a:r>
            <a:r>
              <a:rPr lang="en-US" altLang="zh-CN" sz="2200" dirty="0">
                <a:solidFill>
                  <a:srgbClr val="C00000"/>
                </a:solidFill>
                <a:latin typeface="SimSun" panose="02010600030101010101" pitchFamily="2" charset="-122"/>
                <a:ea typeface="SimSun" panose="02010600030101010101" pitchFamily="2" charset="-122"/>
              </a:rPr>
              <a:t>a</a:t>
            </a:r>
            <a:r>
              <a:rPr lang="zh-CN" altLang="en-US" sz="2200" dirty="0">
                <a:latin typeface="SimSun" panose="02010600030101010101" pitchFamily="2" charset="-122"/>
                <a:ea typeface="SimSun" panose="02010600030101010101" pitchFamily="2" charset="-122"/>
              </a:rPr>
              <a:t>，在根结点所包含的关键码中找到</a:t>
            </a:r>
            <a:r>
              <a:rPr lang="en-US" altLang="zh-CN" sz="2200" dirty="0">
                <a:latin typeface="SimSun" panose="02010600030101010101" pitchFamily="2" charset="-122"/>
                <a:ea typeface="SimSun" panose="02010600030101010101" pitchFamily="2" charset="-122"/>
              </a:rPr>
              <a:t>30</a:t>
            </a:r>
            <a:r>
              <a:rPr lang="zh-CN" altLang="en-US" sz="2200" dirty="0">
                <a:latin typeface="SimSun" panose="02010600030101010101" pitchFamily="2" charset="-122"/>
                <a:ea typeface="SimSun" panose="02010600030101010101" pitchFamily="2" charset="-122"/>
              </a:rPr>
              <a:t>；</a:t>
            </a:r>
            <a:endParaRPr lang="en-US" altLang="zh-CN" sz="2200" dirty="0">
              <a:latin typeface="SimSun" panose="02010600030101010101" pitchFamily="2" charset="-122"/>
              <a:ea typeface="SimSun" panose="02010600030101010101" pitchFamily="2" charset="-122"/>
            </a:endParaRPr>
          </a:p>
          <a:p>
            <a:endParaRPr lang="en-US" altLang="zh-CN" sz="2200" dirty="0">
              <a:latin typeface="SimSun" panose="02010600030101010101" pitchFamily="2" charset="-122"/>
              <a:ea typeface="SimSun" panose="02010600030101010101" pitchFamily="2" charset="-122"/>
            </a:endParaRPr>
          </a:p>
          <a:p>
            <a:r>
              <a:rPr lang="zh-CN" altLang="en-US" sz="2200" dirty="0">
                <a:latin typeface="SimSun" panose="02010600030101010101" pitchFamily="2" charset="-122"/>
                <a:ea typeface="SimSun" panose="02010600030101010101" pitchFamily="2" charset="-122"/>
              </a:rPr>
              <a:t>寻找其后继，</a:t>
            </a:r>
            <a:r>
              <a:rPr lang="zh-CN" altLang="en-US" sz="2200" dirty="0">
                <a:solidFill>
                  <a:srgbClr val="C00000"/>
                </a:solidFill>
                <a:latin typeface="SimSun" panose="02010600030101010101" pitchFamily="2" charset="-122"/>
                <a:ea typeface="SimSun" panose="02010600030101010101" pitchFamily="2" charset="-122"/>
              </a:rPr>
              <a:t>依次读结点</a:t>
            </a:r>
            <a:r>
              <a:rPr lang="en-US" altLang="zh-CN" sz="2200" dirty="0">
                <a:solidFill>
                  <a:srgbClr val="C00000"/>
                </a:solidFill>
                <a:latin typeface="SimSun" panose="02010600030101010101" pitchFamily="2" charset="-122"/>
                <a:ea typeface="SimSun" panose="02010600030101010101" pitchFamily="2" charset="-122"/>
              </a:rPr>
              <a:t>c</a:t>
            </a:r>
            <a:r>
              <a:rPr lang="zh-CN" altLang="en-US" sz="2200" dirty="0">
                <a:solidFill>
                  <a:srgbClr val="C00000"/>
                </a:solidFill>
                <a:latin typeface="SimSun" panose="02010600030101010101" pitchFamily="2" charset="-122"/>
                <a:ea typeface="SimSun" panose="02010600030101010101" pitchFamily="2" charset="-122"/>
              </a:rPr>
              <a:t>、</a:t>
            </a:r>
            <a:r>
              <a:rPr lang="en-US" altLang="zh-CN" sz="2200" dirty="0">
                <a:solidFill>
                  <a:srgbClr val="C00000"/>
                </a:solidFill>
                <a:latin typeface="SimSun" panose="02010600030101010101" pitchFamily="2" charset="-122"/>
                <a:ea typeface="SimSun" panose="02010600030101010101" pitchFamily="2" charset="-122"/>
              </a:rPr>
              <a:t>f</a:t>
            </a:r>
            <a:r>
              <a:rPr lang="zh-CN" altLang="en-US" sz="2200" dirty="0">
                <a:latin typeface="SimSun" panose="02010600030101010101" pitchFamily="2" charset="-122"/>
                <a:ea typeface="SimSun" panose="02010600030101010101" pitchFamily="2" charset="-122"/>
              </a:rPr>
              <a:t>，结点</a:t>
            </a:r>
            <a:r>
              <a:rPr lang="en-US" altLang="zh-CN" sz="2200" dirty="0">
                <a:latin typeface="SimSun" panose="02010600030101010101" pitchFamily="2" charset="-122"/>
                <a:ea typeface="SimSun" panose="02010600030101010101" pitchFamily="2" charset="-122"/>
              </a:rPr>
              <a:t>f</a:t>
            </a:r>
            <a:r>
              <a:rPr lang="zh-CN" altLang="en-US" sz="2200" dirty="0">
                <a:latin typeface="SimSun" panose="02010600030101010101" pitchFamily="2" charset="-122"/>
                <a:ea typeface="SimSun" panose="02010600030101010101" pitchFamily="2" charset="-122"/>
              </a:rPr>
              <a:t>中最左的关键码</a:t>
            </a:r>
            <a:r>
              <a:rPr lang="en-US" altLang="zh-CN" sz="2200" dirty="0">
                <a:latin typeface="SimSun" panose="02010600030101010101" pitchFamily="2" charset="-122"/>
                <a:ea typeface="SimSun" panose="02010600030101010101" pitchFamily="2" charset="-122"/>
              </a:rPr>
              <a:t>35</a:t>
            </a:r>
            <a:r>
              <a:rPr lang="zh-CN" altLang="en-US" sz="2200" dirty="0">
                <a:latin typeface="SimSun" panose="02010600030101010101" pitchFamily="2" charset="-122"/>
                <a:ea typeface="SimSun" panose="02010600030101010101" pitchFamily="2" charset="-122"/>
              </a:rPr>
              <a:t>即为</a:t>
            </a:r>
            <a:r>
              <a:rPr lang="en-US" altLang="zh-CN" sz="2200" dirty="0">
                <a:latin typeface="SimSun" panose="02010600030101010101" pitchFamily="2" charset="-122"/>
                <a:ea typeface="SimSun" panose="02010600030101010101" pitchFamily="2" charset="-122"/>
              </a:rPr>
              <a:t>30</a:t>
            </a:r>
            <a:r>
              <a:rPr lang="zh-CN" altLang="en-US" sz="2200" dirty="0">
                <a:latin typeface="SimSun" panose="02010600030101010101" pitchFamily="2" charset="-122"/>
                <a:ea typeface="SimSun" panose="02010600030101010101" pitchFamily="2" charset="-122"/>
              </a:rPr>
              <a:t>的后继；</a:t>
            </a:r>
            <a:endParaRPr lang="en-US" altLang="zh-CN" sz="2200" dirty="0">
              <a:latin typeface="SimSun" panose="02010600030101010101" pitchFamily="2" charset="-122"/>
              <a:ea typeface="SimSun" panose="02010600030101010101" pitchFamily="2" charset="-122"/>
            </a:endParaRPr>
          </a:p>
          <a:p>
            <a:endParaRPr lang="en-US" altLang="zh-CN" sz="2200" dirty="0">
              <a:latin typeface="SimSun" panose="02010600030101010101" pitchFamily="2" charset="-122"/>
              <a:ea typeface="SimSun" panose="02010600030101010101" pitchFamily="2" charset="-122"/>
            </a:endParaRPr>
          </a:p>
          <a:p>
            <a:r>
              <a:rPr lang="zh-CN" altLang="en-US" sz="2200" dirty="0">
                <a:solidFill>
                  <a:srgbClr val="0070C0"/>
                </a:solidFill>
                <a:latin typeface="SimSun" panose="02010600030101010101" pitchFamily="2" charset="-122"/>
                <a:ea typeface="SimSun" panose="02010600030101010101" pitchFamily="2" charset="-122"/>
              </a:rPr>
              <a:t>将结点</a:t>
            </a:r>
            <a:r>
              <a:rPr lang="en-US" altLang="zh-CN" sz="2200" dirty="0">
                <a:solidFill>
                  <a:srgbClr val="0070C0"/>
                </a:solidFill>
                <a:latin typeface="SimSun" panose="02010600030101010101" pitchFamily="2" charset="-122"/>
                <a:ea typeface="SimSun" panose="02010600030101010101" pitchFamily="2" charset="-122"/>
              </a:rPr>
              <a:t>a</a:t>
            </a:r>
            <a:r>
              <a:rPr lang="zh-CN" altLang="en-US" sz="2200" dirty="0">
                <a:solidFill>
                  <a:srgbClr val="0070C0"/>
                </a:solidFill>
                <a:latin typeface="SimSun" panose="02010600030101010101" pitchFamily="2" charset="-122"/>
                <a:ea typeface="SimSun" panose="02010600030101010101" pitchFamily="2" charset="-122"/>
              </a:rPr>
              <a:t>中的关键码</a:t>
            </a:r>
            <a:r>
              <a:rPr lang="en-US" altLang="zh-CN" sz="2200" dirty="0">
                <a:solidFill>
                  <a:srgbClr val="0070C0"/>
                </a:solidFill>
                <a:latin typeface="SimSun" panose="02010600030101010101" pitchFamily="2" charset="-122"/>
                <a:ea typeface="SimSun" panose="02010600030101010101" pitchFamily="2" charset="-122"/>
              </a:rPr>
              <a:t>30</a:t>
            </a:r>
            <a:r>
              <a:rPr lang="zh-CN" altLang="en-US" sz="2200" dirty="0">
                <a:solidFill>
                  <a:srgbClr val="0070C0"/>
                </a:solidFill>
                <a:latin typeface="SimSun" panose="02010600030101010101" pitchFamily="2" charset="-122"/>
                <a:ea typeface="SimSun" panose="02010600030101010101" pitchFamily="2" charset="-122"/>
              </a:rPr>
              <a:t>和结点</a:t>
            </a:r>
            <a:r>
              <a:rPr lang="en-US" altLang="zh-CN" sz="2200" dirty="0">
                <a:solidFill>
                  <a:srgbClr val="0070C0"/>
                </a:solidFill>
                <a:latin typeface="SimSun" panose="02010600030101010101" pitchFamily="2" charset="-122"/>
                <a:ea typeface="SimSun" panose="02010600030101010101" pitchFamily="2" charset="-122"/>
              </a:rPr>
              <a:t>f</a:t>
            </a:r>
            <a:r>
              <a:rPr lang="zh-CN" altLang="en-US" sz="2200" dirty="0">
                <a:solidFill>
                  <a:srgbClr val="0070C0"/>
                </a:solidFill>
                <a:latin typeface="SimSun" panose="02010600030101010101" pitchFamily="2" charset="-122"/>
                <a:ea typeface="SimSun" panose="02010600030101010101" pitchFamily="2" charset="-122"/>
              </a:rPr>
              <a:t>中的关键码</a:t>
            </a:r>
            <a:r>
              <a:rPr lang="en-US" altLang="zh-CN" sz="2200" dirty="0">
                <a:solidFill>
                  <a:srgbClr val="0070C0"/>
                </a:solidFill>
                <a:latin typeface="SimSun" panose="02010600030101010101" pitchFamily="2" charset="-122"/>
                <a:ea typeface="SimSun" panose="02010600030101010101" pitchFamily="2" charset="-122"/>
              </a:rPr>
              <a:t>35</a:t>
            </a:r>
            <a:r>
              <a:rPr lang="zh-CN" altLang="en-US" sz="2200" dirty="0">
                <a:solidFill>
                  <a:srgbClr val="0070C0"/>
                </a:solidFill>
                <a:latin typeface="SimSun" panose="02010600030101010101" pitchFamily="2" charset="-122"/>
                <a:ea typeface="SimSun" panose="02010600030101010101" pitchFamily="2" charset="-122"/>
              </a:rPr>
              <a:t>交换，然后删除结点</a:t>
            </a:r>
            <a:r>
              <a:rPr lang="en-US" altLang="zh-CN" sz="2200" dirty="0">
                <a:solidFill>
                  <a:srgbClr val="0070C0"/>
                </a:solidFill>
                <a:latin typeface="SimSun" panose="02010600030101010101" pitchFamily="2" charset="-122"/>
                <a:ea typeface="SimSun" panose="02010600030101010101" pitchFamily="2" charset="-122"/>
              </a:rPr>
              <a:t>f</a:t>
            </a:r>
            <a:r>
              <a:rPr lang="zh-CN" altLang="en-US" sz="2200" dirty="0">
                <a:solidFill>
                  <a:srgbClr val="0070C0"/>
                </a:solidFill>
                <a:latin typeface="SimSun" panose="02010600030101010101" pitchFamily="2" charset="-122"/>
                <a:ea typeface="SimSun" panose="02010600030101010101" pitchFamily="2" charset="-122"/>
              </a:rPr>
              <a:t>中的关键码</a:t>
            </a:r>
            <a:r>
              <a:rPr lang="en-US" altLang="zh-CN" sz="2200" dirty="0">
                <a:solidFill>
                  <a:srgbClr val="0070C0"/>
                </a:solidFill>
                <a:latin typeface="SimSun" panose="02010600030101010101" pitchFamily="2" charset="-122"/>
                <a:ea typeface="SimSun" panose="02010600030101010101" pitchFamily="2" charset="-122"/>
              </a:rPr>
              <a:t>30</a:t>
            </a:r>
            <a:r>
              <a:rPr lang="zh-CN" altLang="en-US" sz="2200" dirty="0">
                <a:latin typeface="SimSun" panose="02010600030101010101" pitchFamily="2" charset="-122"/>
                <a:ea typeface="SimSun" panose="02010600030101010101" pitchFamily="2" charset="-122"/>
              </a:rPr>
              <a:t>，没有发生下溢出。</a:t>
            </a:r>
            <a:endParaRPr lang="en-US" altLang="zh-CN" sz="2200" dirty="0">
              <a:latin typeface="SimSun" panose="02010600030101010101" pitchFamily="2" charset="-122"/>
              <a:ea typeface="SimSun" panose="02010600030101010101" pitchFamily="2" charset="-122"/>
            </a:endParaRPr>
          </a:p>
          <a:p>
            <a:endParaRPr lang="en-US" altLang="zh-CN" sz="2200" dirty="0">
              <a:latin typeface="SimSun" panose="02010600030101010101" pitchFamily="2" charset="-122"/>
              <a:ea typeface="SimSun" panose="02010600030101010101" pitchFamily="2" charset="-122"/>
            </a:endParaRPr>
          </a:p>
          <a:p>
            <a:r>
              <a:rPr lang="zh-CN" altLang="en-US" sz="2200" dirty="0">
                <a:latin typeface="SimSun" panose="02010600030101010101" pitchFamily="2" charset="-122"/>
                <a:ea typeface="SimSun" panose="02010600030101010101" pitchFamily="2" charset="-122"/>
              </a:rPr>
              <a:t>共进行</a:t>
            </a:r>
            <a:r>
              <a:rPr lang="en-US" altLang="zh-CN" sz="2200" u="sng" dirty="0">
                <a:latin typeface="SimSun" panose="02010600030101010101" pitchFamily="2" charset="-122"/>
                <a:ea typeface="SimSun" panose="02010600030101010101" pitchFamily="2" charset="-122"/>
              </a:rPr>
              <a:t>5</a:t>
            </a:r>
            <a:r>
              <a:rPr lang="zh-CN" altLang="en-US" sz="2200" u="sng" dirty="0">
                <a:latin typeface="SimSun" panose="02010600030101010101" pitchFamily="2" charset="-122"/>
                <a:ea typeface="SimSun" panose="02010600030101010101" pitchFamily="2" charset="-122"/>
              </a:rPr>
              <a:t>次</a:t>
            </a:r>
            <a:r>
              <a:rPr lang="zh-CN" altLang="en-US" sz="2200" dirty="0">
                <a:latin typeface="SimSun" panose="02010600030101010101" pitchFamily="2" charset="-122"/>
                <a:ea typeface="SimSun" panose="02010600030101010101" pitchFamily="2" charset="-122"/>
              </a:rPr>
              <a:t>访外（</a:t>
            </a:r>
            <a:r>
              <a:rPr lang="en-US" altLang="zh-CN" sz="2200" dirty="0">
                <a:latin typeface="SimSun" panose="02010600030101010101" pitchFamily="2" charset="-122"/>
                <a:ea typeface="SimSun" panose="02010600030101010101" pitchFamily="2" charset="-122"/>
              </a:rPr>
              <a:t>3</a:t>
            </a:r>
            <a:r>
              <a:rPr lang="zh-CN" altLang="en-US" sz="2200" dirty="0">
                <a:latin typeface="SimSun" panose="02010600030101010101" pitchFamily="2" charset="-122"/>
                <a:ea typeface="SimSun" panose="02010600030101010101" pitchFamily="2" charset="-122"/>
              </a:rPr>
              <a:t>次读：</a:t>
            </a:r>
            <a:r>
              <a:rPr lang="en-US" altLang="zh-CN" sz="2200" dirty="0">
                <a:latin typeface="SimSun" panose="02010600030101010101" pitchFamily="2" charset="-122"/>
                <a:ea typeface="SimSun" panose="02010600030101010101" pitchFamily="2" charset="-122"/>
              </a:rPr>
              <a:t>a, c, f</a:t>
            </a:r>
            <a:r>
              <a:rPr lang="zh-CN" altLang="en-US" sz="2200" dirty="0">
                <a:latin typeface="SimSun" panose="02010600030101010101" pitchFamily="2" charset="-122"/>
                <a:ea typeface="SimSun" panose="02010600030101010101" pitchFamily="2" charset="-122"/>
              </a:rPr>
              <a:t>；</a:t>
            </a:r>
            <a:r>
              <a:rPr lang="en-US" altLang="zh-CN" sz="2200" dirty="0">
                <a:latin typeface="SimSun" panose="02010600030101010101" pitchFamily="2" charset="-122"/>
                <a:ea typeface="SimSun" panose="02010600030101010101" pitchFamily="2" charset="-122"/>
              </a:rPr>
              <a:t>2</a:t>
            </a:r>
            <a:r>
              <a:rPr lang="zh-CN" altLang="en-US" sz="2200" dirty="0">
                <a:latin typeface="SimSun" panose="02010600030101010101" pitchFamily="2" charset="-122"/>
                <a:ea typeface="SimSun" panose="02010600030101010101" pitchFamily="2" charset="-122"/>
              </a:rPr>
              <a:t>次写：</a:t>
            </a:r>
            <a:r>
              <a:rPr lang="en-US" altLang="zh-CN" sz="2200" dirty="0">
                <a:latin typeface="SimSun" panose="02010600030101010101" pitchFamily="2" charset="-122"/>
                <a:ea typeface="SimSun" panose="02010600030101010101" pitchFamily="2" charset="-122"/>
              </a:rPr>
              <a:t>a, f</a:t>
            </a:r>
            <a:r>
              <a:rPr lang="zh-CN" altLang="en-US" sz="2200" dirty="0">
                <a:latin typeface="SimSun" panose="02010600030101010101" pitchFamily="2" charset="-122"/>
                <a:ea typeface="SimSun" panose="02010600030101010101" pitchFamily="2" charset="-122"/>
              </a:rPr>
              <a:t>）。</a:t>
            </a:r>
            <a:endParaRPr lang="en-US" altLang="zh-CN" sz="2200" dirty="0">
              <a:latin typeface="SimSun" panose="02010600030101010101" pitchFamily="2" charset="-122"/>
              <a:ea typeface="SimSun" panose="02010600030101010101" pitchFamily="2" charset="-122"/>
            </a:endParaRP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5" name="图片 4">
            <a:extLst>
              <a:ext uri="{FF2B5EF4-FFF2-40B4-BE49-F238E27FC236}">
                <a16:creationId xmlns:a16="http://schemas.microsoft.com/office/drawing/2014/main" id="{AAFCBEEF-744B-6949-81C8-E50A45630745}"/>
              </a:ext>
            </a:extLst>
          </p:cNvPr>
          <p:cNvPicPr>
            <a:picLocks noChangeAspect="1"/>
          </p:cNvPicPr>
          <p:nvPr/>
        </p:nvPicPr>
        <p:blipFill>
          <a:blip r:embed="rId3"/>
          <a:stretch>
            <a:fillRect/>
          </a:stretch>
        </p:blipFill>
        <p:spPr>
          <a:xfrm>
            <a:off x="442913" y="1206681"/>
            <a:ext cx="3603231" cy="1993719"/>
          </a:xfrm>
          <a:prstGeom prst="rect">
            <a:avLst/>
          </a:prstGeom>
        </p:spPr>
      </p:pic>
      <p:pic>
        <p:nvPicPr>
          <p:cNvPr id="9" name="图片 8">
            <a:extLst>
              <a:ext uri="{FF2B5EF4-FFF2-40B4-BE49-F238E27FC236}">
                <a16:creationId xmlns:a16="http://schemas.microsoft.com/office/drawing/2014/main" id="{8DA092C1-0D42-514B-9D69-3F7508BD207C}"/>
              </a:ext>
            </a:extLst>
          </p:cNvPr>
          <p:cNvPicPr>
            <a:picLocks noChangeAspect="1"/>
          </p:cNvPicPr>
          <p:nvPr/>
        </p:nvPicPr>
        <p:blipFill>
          <a:blip r:embed="rId4"/>
          <a:stretch>
            <a:fillRect/>
          </a:stretch>
        </p:blipFill>
        <p:spPr>
          <a:xfrm>
            <a:off x="372833" y="3545994"/>
            <a:ext cx="3673311" cy="2051051"/>
          </a:xfrm>
          <a:prstGeom prst="rect">
            <a:avLst/>
          </a:prstGeom>
        </p:spPr>
      </p:pic>
    </p:spTree>
    <p:extLst>
      <p:ext uri="{BB962C8B-B14F-4D97-AF65-F5344CB8AC3E}">
        <p14:creationId xmlns:p14="http://schemas.microsoft.com/office/powerpoint/2010/main" val="617677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19</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第十一章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4</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1200329"/>
          </a:xfrm>
          <a:prstGeom prst="rect">
            <a:avLst/>
          </a:prstGeom>
        </p:spPr>
        <p:txBody>
          <a:bodyPr wrap="square">
            <a:spAutoFit/>
          </a:bodyPr>
          <a:lstStyle/>
          <a:p>
            <a:pPr marL="457200" indent="-457200">
              <a:buFont typeface="+mj-lt"/>
              <a:buAutoNum type="arabicPeriod" startAt="4"/>
            </a:pPr>
            <a:r>
              <a:rPr lang="zh-CN" altLang="en-US" sz="2400" dirty="0">
                <a:latin typeface="SimSun" panose="02010600030101010101" pitchFamily="2" charset="-122"/>
                <a:ea typeface="SimSun" panose="02010600030101010101" pitchFamily="2" charset="-122"/>
              </a:rPr>
              <a:t>将下列字符序列 </a:t>
            </a:r>
            <a:r>
              <a:rPr lang="en-US" altLang="zh-CN" sz="2400" dirty="0">
                <a:latin typeface="SimSun" panose="02010600030101010101" pitchFamily="2" charset="-122"/>
                <a:ea typeface="SimSun" panose="02010600030101010101" pitchFamily="2" charset="-122"/>
              </a:rPr>
              <a:t>A L G O R I T H M </a:t>
            </a:r>
            <a:r>
              <a:rPr lang="zh-CN" altLang="en-US" sz="2400" dirty="0">
                <a:latin typeface="SimSun" panose="02010600030101010101" pitchFamily="2" charset="-122"/>
                <a:ea typeface="SimSun" panose="02010600030101010101" pitchFamily="2" charset="-122"/>
              </a:rPr>
              <a:t>依次插入到初始为空的红黑树中，请画出最终得到的红黑树。（用圆圈表示红色结点，方框表示黑色结点，外部空叶结点可省略不画）</a:t>
            </a: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648263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20</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第十一章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4</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4708981"/>
          </a:xfrm>
          <a:prstGeom prst="rect">
            <a:avLst/>
          </a:prstGeom>
        </p:spPr>
        <p:txBody>
          <a:bodyPr wrap="square">
            <a:spAutoFit/>
          </a:bodyPr>
          <a:lstStyle/>
          <a:p>
            <a:r>
              <a:rPr lang="zh-CN" altLang="en-US" sz="2000" b="1" u="sng" dirty="0">
                <a:latin typeface="SimSun" panose="02010600030101010101" pitchFamily="2" charset="-122"/>
                <a:ea typeface="SimSun" panose="02010600030101010101" pitchFamily="2" charset="-122"/>
              </a:rPr>
              <a:t>知识回顾：红黑树</a:t>
            </a:r>
            <a:endParaRPr lang="en-US" altLang="zh-CN" sz="2000" b="1" u="sng"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红黑树是一种二叉搜索树</a:t>
            </a:r>
            <a:endParaRPr lang="en-US" altLang="zh-CN" sz="2000"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设计目标：在</a:t>
            </a:r>
            <a:r>
              <a:rPr lang="en-US" altLang="zh-CN" sz="2000" dirty="0">
                <a:latin typeface="SimSun" panose="02010600030101010101" pitchFamily="2" charset="-122"/>
                <a:ea typeface="SimSun" panose="02010600030101010101" pitchFamily="2" charset="-122"/>
              </a:rPr>
              <a:t>【</a:t>
            </a:r>
            <a:r>
              <a:rPr lang="zh-CN" altLang="en-US" sz="2000" dirty="0">
                <a:latin typeface="SimSun" panose="02010600030101010101" pitchFamily="2" charset="-122"/>
                <a:ea typeface="SimSun" panose="02010600030101010101" pitchFamily="2" charset="-122"/>
              </a:rPr>
              <a:t>检索效率</a:t>
            </a:r>
            <a:r>
              <a:rPr lang="en-US" altLang="zh-CN" sz="2000" dirty="0">
                <a:latin typeface="SimSun" panose="02010600030101010101" pitchFamily="2" charset="-122"/>
                <a:ea typeface="SimSun" panose="02010600030101010101" pitchFamily="2" charset="-122"/>
              </a:rPr>
              <a:t>】</a:t>
            </a:r>
            <a:r>
              <a:rPr lang="zh-CN" altLang="en-US" sz="2000" dirty="0">
                <a:latin typeface="SimSun" panose="02010600030101010101" pitchFamily="2" charset="-122"/>
                <a:ea typeface="SimSun" panose="02010600030101010101" pitchFamily="2" charset="-122"/>
              </a:rPr>
              <a:t>和</a:t>
            </a:r>
            <a:r>
              <a:rPr lang="en-US" altLang="zh-CN" sz="2000" dirty="0">
                <a:latin typeface="SimSun" panose="02010600030101010101" pitchFamily="2" charset="-122"/>
                <a:ea typeface="SimSun" panose="02010600030101010101" pitchFamily="2" charset="-122"/>
              </a:rPr>
              <a:t>【</a:t>
            </a:r>
            <a:r>
              <a:rPr lang="zh-CN" altLang="en-US" sz="2000" dirty="0">
                <a:latin typeface="SimSun" panose="02010600030101010101" pitchFamily="2" charset="-122"/>
                <a:ea typeface="SimSun" panose="02010600030101010101" pitchFamily="2" charset="-122"/>
              </a:rPr>
              <a:t>插入、删除效率</a:t>
            </a:r>
            <a:r>
              <a:rPr lang="en-US" altLang="zh-CN" sz="2000" dirty="0">
                <a:latin typeface="SimSun" panose="02010600030101010101" pitchFamily="2" charset="-122"/>
                <a:ea typeface="SimSun" panose="02010600030101010101" pitchFamily="2" charset="-122"/>
              </a:rPr>
              <a:t>】</a:t>
            </a:r>
            <a:r>
              <a:rPr lang="zh-CN" altLang="en-US" sz="2000" dirty="0">
                <a:latin typeface="SimSun" panose="02010600030101010101" pitchFamily="2" charset="-122"/>
                <a:ea typeface="SimSun" panose="02010600030101010101" pitchFamily="2" charset="-122"/>
              </a:rPr>
              <a:t>之间取得折中</a:t>
            </a:r>
            <a:endParaRPr lang="en-US" altLang="zh-CN" sz="2000"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性质：局部平衡（“红黑”颜色的设计是实现这个性质的机制）</a:t>
            </a:r>
            <a:endParaRPr lang="en-US" altLang="zh-CN" sz="2000" dirty="0">
              <a:latin typeface="SimSun" panose="02010600030101010101" pitchFamily="2" charset="-122"/>
              <a:ea typeface="SimSun" panose="02010600030101010101" pitchFamily="2" charset="-122"/>
            </a:endParaRPr>
          </a:p>
          <a:p>
            <a:endParaRPr lang="en-US" altLang="zh-CN" sz="2000"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插入、删除算法中的调整步骤有两种：旋转、换色</a:t>
            </a:r>
            <a:endParaRPr lang="en-US" altLang="zh-CN" sz="2000"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目标均为：</a:t>
            </a:r>
            <a:endParaRPr lang="en-US" altLang="zh-CN" sz="2000" dirty="0">
              <a:latin typeface="SimSun" panose="02010600030101010101" pitchFamily="2" charset="-122"/>
              <a:ea typeface="SimSun" panose="02010600030101010101" pitchFamily="2" charset="-122"/>
            </a:endParaRPr>
          </a:p>
          <a:p>
            <a:pPr marL="342900" indent="-342900">
              <a:buFont typeface="Arial" panose="020B0604020202020204" pitchFamily="34" charset="0"/>
              <a:buChar char="•"/>
            </a:pPr>
            <a:r>
              <a:rPr lang="zh-CN" altLang="en-US" sz="2000" dirty="0">
                <a:latin typeface="SimSun" panose="02010600030101010101" pitchFamily="2" charset="-122"/>
                <a:ea typeface="SimSun" panose="02010600030101010101" pitchFamily="2" charset="-122"/>
              </a:rPr>
              <a:t>保持二叉搜索树的性质（比如所谓“旋转”就是把中位数往上提，较小和较大的树分列左右两侧，下层的子树也以同样的规律接上）</a:t>
            </a:r>
            <a:endParaRPr lang="en-US" altLang="zh-CN" sz="2000" dirty="0">
              <a:latin typeface="SimSun" panose="02010600030101010101" pitchFamily="2" charset="-122"/>
              <a:ea typeface="SimSun" panose="02010600030101010101" pitchFamily="2" charset="-122"/>
            </a:endParaRPr>
          </a:p>
          <a:p>
            <a:pPr marL="342900" indent="-342900">
              <a:buFont typeface="Arial" panose="020B0604020202020204" pitchFamily="34" charset="0"/>
              <a:buChar char="•"/>
            </a:pPr>
            <a:r>
              <a:rPr lang="zh-CN" altLang="en-US" sz="2000" dirty="0">
                <a:latin typeface="SimSun" panose="02010600030101010101" pitchFamily="2" charset="-122"/>
                <a:ea typeface="SimSun" panose="02010600030101010101" pitchFamily="2" charset="-122"/>
              </a:rPr>
              <a:t>保持红黑树独有的局部平衡性质</a:t>
            </a:r>
            <a:endParaRPr lang="en-US" altLang="zh-CN" sz="2000" dirty="0">
              <a:latin typeface="SimSun" panose="02010600030101010101" pitchFamily="2" charset="-122"/>
              <a:ea typeface="SimSun" panose="02010600030101010101" pitchFamily="2" charset="-122"/>
            </a:endParaRPr>
          </a:p>
          <a:p>
            <a:pPr marL="800100" lvl="1" indent="-342900">
              <a:buFont typeface="Arial" panose="020B0604020202020204" pitchFamily="34" charset="0"/>
              <a:buChar char="•"/>
            </a:pPr>
            <a:r>
              <a:rPr lang="zh-CN" altLang="en-US" sz="2000" dirty="0">
                <a:latin typeface="SimSun" panose="02010600030101010101" pitchFamily="2" charset="-122"/>
                <a:ea typeface="SimSun" panose="02010600030101010101" pitchFamily="2" charset="-122"/>
              </a:rPr>
              <a:t>根结点永远是黑色的</a:t>
            </a:r>
            <a:endParaRPr lang="en-US" altLang="zh-CN" sz="2000" dirty="0">
              <a:latin typeface="SimSun" panose="02010600030101010101" pitchFamily="2" charset="-122"/>
              <a:ea typeface="SimSun" panose="02010600030101010101" pitchFamily="2" charset="-122"/>
            </a:endParaRPr>
          </a:p>
          <a:p>
            <a:pPr marL="800100" lvl="1" indent="-342900">
              <a:buFont typeface="Arial" panose="020B0604020202020204" pitchFamily="34" charset="0"/>
              <a:buChar char="•"/>
            </a:pPr>
            <a:r>
              <a:rPr lang="zh-CN" altLang="en-US" sz="2000" dirty="0">
                <a:latin typeface="SimSun" panose="02010600030101010101" pitchFamily="2" charset="-122"/>
                <a:ea typeface="SimSun" panose="02010600030101010101" pitchFamily="2" charset="-122"/>
              </a:rPr>
              <a:t>从根结点到外部结点的每条简单路径上不允许两个连续的红色结点</a:t>
            </a:r>
            <a:endParaRPr lang="en-US" altLang="zh-CN" sz="2000" dirty="0">
              <a:latin typeface="SimSun" panose="02010600030101010101" pitchFamily="2" charset="-122"/>
              <a:ea typeface="SimSun" panose="02010600030101010101" pitchFamily="2" charset="-122"/>
            </a:endParaRPr>
          </a:p>
          <a:p>
            <a:pPr marL="800100" lvl="1" indent="-342900">
              <a:buFont typeface="Arial" panose="020B0604020202020204" pitchFamily="34" charset="0"/>
              <a:buChar char="•"/>
            </a:pPr>
            <a:r>
              <a:rPr lang="zh-CN" altLang="en-US" sz="2000" dirty="0">
                <a:latin typeface="SimSun" panose="02010600030101010101" pitchFamily="2" charset="-122"/>
                <a:ea typeface="SimSun" panose="02010600030101010101" pitchFamily="2" charset="-122"/>
              </a:rPr>
              <a:t>任一结点到其子孙外部结点的每条简单路径上包含相同数目的黑色结点（称为结点的阶）</a:t>
            </a:r>
            <a:endParaRPr lang="en-US" altLang="zh-CN" sz="2000" dirty="0">
              <a:latin typeface="SimSun" panose="02010600030101010101" pitchFamily="2" charset="-122"/>
              <a:ea typeface="SimSun" panose="02010600030101010101" pitchFamily="2" charset="-122"/>
            </a:endParaRPr>
          </a:p>
          <a:p>
            <a:r>
              <a:rPr lang="zh-CN" altLang="en-US" sz="2000" dirty="0">
                <a:latin typeface="SimSun" panose="02010600030101010101" pitchFamily="2" charset="-122"/>
                <a:ea typeface="SimSun" panose="02010600030101010101" pitchFamily="2" charset="-122"/>
              </a:rPr>
              <a:t>因此，不一定需要记住具体步骤，记住原则即可</a:t>
            </a:r>
            <a:endParaRPr lang="en-US" altLang="zh-CN" sz="2000" dirty="0">
              <a:latin typeface="SimSun" panose="02010600030101010101" pitchFamily="2" charset="-122"/>
              <a:ea typeface="SimSun" panose="02010600030101010101" pitchFamily="2" charset="-122"/>
            </a:endParaRP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599048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21</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第十一章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4</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5" name="矩形 24">
            <a:extLst>
              <a:ext uri="{FF2B5EF4-FFF2-40B4-BE49-F238E27FC236}">
                <a16:creationId xmlns:a16="http://schemas.microsoft.com/office/drawing/2014/main" id="{245608F9-E1B8-0E4B-8140-419F938EEE40}"/>
              </a:ext>
            </a:extLst>
          </p:cNvPr>
          <p:cNvSpPr/>
          <p:nvPr/>
        </p:nvSpPr>
        <p:spPr>
          <a:xfrm>
            <a:off x="1311985" y="1215487"/>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A</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26" name="直线连接符 25">
            <a:extLst>
              <a:ext uri="{FF2B5EF4-FFF2-40B4-BE49-F238E27FC236}">
                <a16:creationId xmlns:a16="http://schemas.microsoft.com/office/drawing/2014/main" id="{28F92779-B269-BB4A-80CB-FAF29A49A378}"/>
              </a:ext>
            </a:extLst>
          </p:cNvPr>
          <p:cNvCxnSpPr/>
          <p:nvPr/>
        </p:nvCxnSpPr>
        <p:spPr>
          <a:xfrm>
            <a:off x="1578195" y="1672687"/>
            <a:ext cx="381980" cy="4309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949FD902-2B73-D24D-9D73-E5B8C4EF878B}"/>
              </a:ext>
            </a:extLst>
          </p:cNvPr>
          <p:cNvSpPr/>
          <p:nvPr/>
        </p:nvSpPr>
        <p:spPr>
          <a:xfrm>
            <a:off x="1769185" y="2102783"/>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L</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28" name="直线连接符 27">
            <a:extLst>
              <a:ext uri="{FF2B5EF4-FFF2-40B4-BE49-F238E27FC236}">
                <a16:creationId xmlns:a16="http://schemas.microsoft.com/office/drawing/2014/main" id="{35AD0433-7183-074F-8124-5A54B2268566}"/>
              </a:ext>
            </a:extLst>
          </p:cNvPr>
          <p:cNvCxnSpPr/>
          <p:nvPr/>
        </p:nvCxnSpPr>
        <p:spPr>
          <a:xfrm flipH="1">
            <a:off x="1671522" y="2589796"/>
            <a:ext cx="300338" cy="4309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椭圆 28">
            <a:extLst>
              <a:ext uri="{FF2B5EF4-FFF2-40B4-BE49-F238E27FC236}">
                <a16:creationId xmlns:a16="http://schemas.microsoft.com/office/drawing/2014/main" id="{8ABF7F7E-9539-D44B-9736-DBEEC0E9D89A}"/>
              </a:ext>
            </a:extLst>
          </p:cNvPr>
          <p:cNvSpPr/>
          <p:nvPr/>
        </p:nvSpPr>
        <p:spPr>
          <a:xfrm>
            <a:off x="1394173" y="3020763"/>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G</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31" name="矩形 30">
            <a:extLst>
              <a:ext uri="{FF2B5EF4-FFF2-40B4-BE49-F238E27FC236}">
                <a16:creationId xmlns:a16="http://schemas.microsoft.com/office/drawing/2014/main" id="{37C176E2-3B57-2B41-846C-F72E60849B57}"/>
              </a:ext>
            </a:extLst>
          </p:cNvPr>
          <p:cNvSpPr/>
          <p:nvPr/>
        </p:nvSpPr>
        <p:spPr>
          <a:xfrm>
            <a:off x="3686725" y="1202685"/>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G</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32" name="椭圆 31">
            <a:extLst>
              <a:ext uri="{FF2B5EF4-FFF2-40B4-BE49-F238E27FC236}">
                <a16:creationId xmlns:a16="http://schemas.microsoft.com/office/drawing/2014/main" id="{3EAF8CD8-C394-D044-973D-B95C74299C36}"/>
              </a:ext>
            </a:extLst>
          </p:cNvPr>
          <p:cNvSpPr/>
          <p:nvPr/>
        </p:nvSpPr>
        <p:spPr>
          <a:xfrm>
            <a:off x="2935535" y="2102783"/>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A</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6" name="直线连接符 5">
            <a:extLst>
              <a:ext uri="{FF2B5EF4-FFF2-40B4-BE49-F238E27FC236}">
                <a16:creationId xmlns:a16="http://schemas.microsoft.com/office/drawing/2014/main" id="{4BB096BA-3131-D84B-B2B8-0F2C0A387769}"/>
              </a:ext>
            </a:extLst>
          </p:cNvPr>
          <p:cNvCxnSpPr>
            <a:endCxn id="32" idx="0"/>
          </p:cNvCxnSpPr>
          <p:nvPr/>
        </p:nvCxnSpPr>
        <p:spPr>
          <a:xfrm flipH="1">
            <a:off x="3180464" y="1659885"/>
            <a:ext cx="612047" cy="442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椭圆 32">
            <a:extLst>
              <a:ext uri="{FF2B5EF4-FFF2-40B4-BE49-F238E27FC236}">
                <a16:creationId xmlns:a16="http://schemas.microsoft.com/office/drawing/2014/main" id="{1CD3D50E-F0B7-6643-99F8-78C6EB670F8A}"/>
              </a:ext>
            </a:extLst>
          </p:cNvPr>
          <p:cNvSpPr/>
          <p:nvPr/>
        </p:nvSpPr>
        <p:spPr>
          <a:xfrm>
            <a:off x="4124204" y="2123975"/>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L</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35" name="直线连接符 34">
            <a:extLst>
              <a:ext uri="{FF2B5EF4-FFF2-40B4-BE49-F238E27FC236}">
                <a16:creationId xmlns:a16="http://schemas.microsoft.com/office/drawing/2014/main" id="{2766BB4F-20F6-0241-9B5E-49AC74CEFEB6}"/>
              </a:ext>
            </a:extLst>
          </p:cNvPr>
          <p:cNvCxnSpPr>
            <a:cxnSpLocks/>
            <a:stCxn id="31" idx="2"/>
            <a:endCxn id="33" idx="0"/>
          </p:cNvCxnSpPr>
          <p:nvPr/>
        </p:nvCxnSpPr>
        <p:spPr>
          <a:xfrm>
            <a:off x="3915325" y="1659885"/>
            <a:ext cx="453808" cy="4640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椭圆 36">
            <a:extLst>
              <a:ext uri="{FF2B5EF4-FFF2-40B4-BE49-F238E27FC236}">
                <a16:creationId xmlns:a16="http://schemas.microsoft.com/office/drawing/2014/main" id="{46585918-B91E-EB45-A154-BF27C35B453B}"/>
              </a:ext>
            </a:extLst>
          </p:cNvPr>
          <p:cNvSpPr/>
          <p:nvPr/>
        </p:nvSpPr>
        <p:spPr>
          <a:xfrm>
            <a:off x="4369132" y="3020762"/>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O</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39" name="直线连接符 38">
            <a:extLst>
              <a:ext uri="{FF2B5EF4-FFF2-40B4-BE49-F238E27FC236}">
                <a16:creationId xmlns:a16="http://schemas.microsoft.com/office/drawing/2014/main" id="{29CBD55A-2063-AD40-BC5B-A52ED0D4F2CA}"/>
              </a:ext>
            </a:extLst>
          </p:cNvPr>
          <p:cNvCxnSpPr>
            <a:cxnSpLocks/>
            <a:stCxn id="33" idx="4"/>
            <a:endCxn id="37" idx="0"/>
          </p:cNvCxnSpPr>
          <p:nvPr/>
        </p:nvCxnSpPr>
        <p:spPr>
          <a:xfrm>
            <a:off x="4369133" y="2613832"/>
            <a:ext cx="244928" cy="406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59A4F6F3-43A0-9546-9086-BBB4988AC316}"/>
              </a:ext>
            </a:extLst>
          </p:cNvPr>
          <p:cNvSpPr/>
          <p:nvPr/>
        </p:nvSpPr>
        <p:spPr>
          <a:xfrm>
            <a:off x="2935535" y="2119111"/>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A</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42" name="矩形 41">
            <a:extLst>
              <a:ext uri="{FF2B5EF4-FFF2-40B4-BE49-F238E27FC236}">
                <a16:creationId xmlns:a16="http://schemas.microsoft.com/office/drawing/2014/main" id="{1DD953CC-30C5-A34D-A5D2-3D4DFDCD4AC0}"/>
              </a:ext>
            </a:extLst>
          </p:cNvPr>
          <p:cNvSpPr/>
          <p:nvPr/>
        </p:nvSpPr>
        <p:spPr>
          <a:xfrm>
            <a:off x="4128183" y="2119329"/>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L</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43" name="直线连接符 42">
            <a:extLst>
              <a:ext uri="{FF2B5EF4-FFF2-40B4-BE49-F238E27FC236}">
                <a16:creationId xmlns:a16="http://schemas.microsoft.com/office/drawing/2014/main" id="{18F71479-2221-F640-BE7D-344975D1AF54}"/>
              </a:ext>
            </a:extLst>
          </p:cNvPr>
          <p:cNvCxnSpPr>
            <a:cxnSpLocks/>
          </p:cNvCxnSpPr>
          <p:nvPr/>
        </p:nvCxnSpPr>
        <p:spPr>
          <a:xfrm>
            <a:off x="4644978" y="3505402"/>
            <a:ext cx="244928" cy="406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椭圆 43">
            <a:extLst>
              <a:ext uri="{FF2B5EF4-FFF2-40B4-BE49-F238E27FC236}">
                <a16:creationId xmlns:a16="http://schemas.microsoft.com/office/drawing/2014/main" id="{545DE891-7324-7D41-A17A-AE0B65CFF19C}"/>
              </a:ext>
            </a:extLst>
          </p:cNvPr>
          <p:cNvSpPr/>
          <p:nvPr/>
        </p:nvSpPr>
        <p:spPr>
          <a:xfrm>
            <a:off x="4679008" y="3922506"/>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R</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45" name="矩形 44">
            <a:extLst>
              <a:ext uri="{FF2B5EF4-FFF2-40B4-BE49-F238E27FC236}">
                <a16:creationId xmlns:a16="http://schemas.microsoft.com/office/drawing/2014/main" id="{95CAC3FA-6835-F740-AF82-8C82B89DAC72}"/>
              </a:ext>
            </a:extLst>
          </p:cNvPr>
          <p:cNvSpPr/>
          <p:nvPr/>
        </p:nvSpPr>
        <p:spPr>
          <a:xfrm>
            <a:off x="6312502" y="1202685"/>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G</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46" name="矩形 45">
            <a:extLst>
              <a:ext uri="{FF2B5EF4-FFF2-40B4-BE49-F238E27FC236}">
                <a16:creationId xmlns:a16="http://schemas.microsoft.com/office/drawing/2014/main" id="{99668424-3FE4-644A-83D5-0AA44D680C76}"/>
              </a:ext>
            </a:extLst>
          </p:cNvPr>
          <p:cNvSpPr/>
          <p:nvPr/>
        </p:nvSpPr>
        <p:spPr>
          <a:xfrm>
            <a:off x="5638800" y="2156632"/>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A</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48" name="直线连接符 47">
            <a:extLst>
              <a:ext uri="{FF2B5EF4-FFF2-40B4-BE49-F238E27FC236}">
                <a16:creationId xmlns:a16="http://schemas.microsoft.com/office/drawing/2014/main" id="{7FAC0E38-17FB-9846-B29E-FE1B5D1DA969}"/>
              </a:ext>
            </a:extLst>
          </p:cNvPr>
          <p:cNvCxnSpPr>
            <a:endCxn id="46" idx="0"/>
          </p:cNvCxnSpPr>
          <p:nvPr/>
        </p:nvCxnSpPr>
        <p:spPr>
          <a:xfrm flipH="1">
            <a:off x="5867400" y="1659885"/>
            <a:ext cx="445102" cy="4967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0D5C8F23-1538-784A-B876-43E4D700ED6E}"/>
              </a:ext>
            </a:extLst>
          </p:cNvPr>
          <p:cNvSpPr/>
          <p:nvPr/>
        </p:nvSpPr>
        <p:spPr>
          <a:xfrm>
            <a:off x="6782734" y="2152673"/>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O</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51" name="直线连接符 50">
            <a:extLst>
              <a:ext uri="{FF2B5EF4-FFF2-40B4-BE49-F238E27FC236}">
                <a16:creationId xmlns:a16="http://schemas.microsoft.com/office/drawing/2014/main" id="{3A9BE0B7-FB18-4341-8903-50830D586EDE}"/>
              </a:ext>
            </a:extLst>
          </p:cNvPr>
          <p:cNvCxnSpPr>
            <a:endCxn id="49" idx="0"/>
          </p:cNvCxnSpPr>
          <p:nvPr/>
        </p:nvCxnSpPr>
        <p:spPr>
          <a:xfrm>
            <a:off x="6769702" y="1659885"/>
            <a:ext cx="241632" cy="4927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9487972F-A010-B745-885E-CE6543043E6C}"/>
              </a:ext>
            </a:extLst>
          </p:cNvPr>
          <p:cNvSpPr/>
          <p:nvPr/>
        </p:nvSpPr>
        <p:spPr>
          <a:xfrm>
            <a:off x="6367939" y="2960076"/>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L</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53" name="椭圆 52">
            <a:extLst>
              <a:ext uri="{FF2B5EF4-FFF2-40B4-BE49-F238E27FC236}">
                <a16:creationId xmlns:a16="http://schemas.microsoft.com/office/drawing/2014/main" id="{E3BC3414-014F-0A47-8EC9-3DCB30AAB438}"/>
              </a:ext>
            </a:extLst>
          </p:cNvPr>
          <p:cNvSpPr/>
          <p:nvPr/>
        </p:nvSpPr>
        <p:spPr>
          <a:xfrm>
            <a:off x="7222202" y="2965946"/>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R</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55" name="直线连接符 54">
            <a:extLst>
              <a:ext uri="{FF2B5EF4-FFF2-40B4-BE49-F238E27FC236}">
                <a16:creationId xmlns:a16="http://schemas.microsoft.com/office/drawing/2014/main" id="{36818308-E0C7-764A-9E9A-EDDD42E57FA9}"/>
              </a:ext>
            </a:extLst>
          </p:cNvPr>
          <p:cNvCxnSpPr>
            <a:endCxn id="52" idx="0"/>
          </p:cNvCxnSpPr>
          <p:nvPr/>
        </p:nvCxnSpPr>
        <p:spPr>
          <a:xfrm flipH="1">
            <a:off x="6612868" y="2589796"/>
            <a:ext cx="277650" cy="3702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线连接符 56">
            <a:extLst>
              <a:ext uri="{FF2B5EF4-FFF2-40B4-BE49-F238E27FC236}">
                <a16:creationId xmlns:a16="http://schemas.microsoft.com/office/drawing/2014/main" id="{4FF898AA-B563-5E43-AD7D-A64DFE2F8D19}"/>
              </a:ext>
            </a:extLst>
          </p:cNvPr>
          <p:cNvCxnSpPr>
            <a:endCxn id="53" idx="0"/>
          </p:cNvCxnSpPr>
          <p:nvPr/>
        </p:nvCxnSpPr>
        <p:spPr>
          <a:xfrm>
            <a:off x="7222202" y="2609873"/>
            <a:ext cx="244929" cy="3560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椭圆 57">
            <a:extLst>
              <a:ext uri="{FF2B5EF4-FFF2-40B4-BE49-F238E27FC236}">
                <a16:creationId xmlns:a16="http://schemas.microsoft.com/office/drawing/2014/main" id="{6A873DC0-B2D0-EE4D-AC5C-0D65E3DAB9A4}"/>
              </a:ext>
            </a:extLst>
          </p:cNvPr>
          <p:cNvSpPr/>
          <p:nvPr/>
        </p:nvSpPr>
        <p:spPr>
          <a:xfrm>
            <a:off x="6101606" y="3922505"/>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I</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60" name="直线连接符 59">
            <a:extLst>
              <a:ext uri="{FF2B5EF4-FFF2-40B4-BE49-F238E27FC236}">
                <a16:creationId xmlns:a16="http://schemas.microsoft.com/office/drawing/2014/main" id="{EA8C89F0-F72F-BB42-93AD-A97DF65A7B51}"/>
              </a:ext>
            </a:extLst>
          </p:cNvPr>
          <p:cNvCxnSpPr>
            <a:stCxn id="52" idx="4"/>
            <a:endCxn id="58" idx="0"/>
          </p:cNvCxnSpPr>
          <p:nvPr/>
        </p:nvCxnSpPr>
        <p:spPr>
          <a:xfrm flipH="1">
            <a:off x="6346535" y="3449933"/>
            <a:ext cx="266333" cy="4725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矩形 60">
            <a:extLst>
              <a:ext uri="{FF2B5EF4-FFF2-40B4-BE49-F238E27FC236}">
                <a16:creationId xmlns:a16="http://schemas.microsoft.com/office/drawing/2014/main" id="{A47064DD-F48F-4C47-914E-2C8D8C551ECA}"/>
              </a:ext>
            </a:extLst>
          </p:cNvPr>
          <p:cNvSpPr/>
          <p:nvPr/>
        </p:nvSpPr>
        <p:spPr>
          <a:xfrm>
            <a:off x="6379426" y="2965946"/>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L</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62" name="矩形 61">
            <a:extLst>
              <a:ext uri="{FF2B5EF4-FFF2-40B4-BE49-F238E27FC236}">
                <a16:creationId xmlns:a16="http://schemas.microsoft.com/office/drawing/2014/main" id="{3EF38C80-733A-8F48-B162-37564292F747}"/>
              </a:ext>
            </a:extLst>
          </p:cNvPr>
          <p:cNvSpPr/>
          <p:nvPr/>
        </p:nvSpPr>
        <p:spPr>
          <a:xfrm>
            <a:off x="7254859" y="2969718"/>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R</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63" name="椭圆 62">
            <a:extLst>
              <a:ext uri="{FF2B5EF4-FFF2-40B4-BE49-F238E27FC236}">
                <a16:creationId xmlns:a16="http://schemas.microsoft.com/office/drawing/2014/main" id="{3E69A987-E3F6-3C40-9FC3-D9DF3138B205}"/>
              </a:ext>
            </a:extLst>
          </p:cNvPr>
          <p:cNvSpPr/>
          <p:nvPr/>
        </p:nvSpPr>
        <p:spPr>
          <a:xfrm>
            <a:off x="6776067" y="2144923"/>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O</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64" name="椭圆 63">
            <a:extLst>
              <a:ext uri="{FF2B5EF4-FFF2-40B4-BE49-F238E27FC236}">
                <a16:creationId xmlns:a16="http://schemas.microsoft.com/office/drawing/2014/main" id="{B6648FFA-9879-9C4D-9875-B06578C39023}"/>
              </a:ext>
            </a:extLst>
          </p:cNvPr>
          <p:cNvSpPr/>
          <p:nvPr/>
        </p:nvSpPr>
        <p:spPr>
          <a:xfrm>
            <a:off x="7524204" y="3924145"/>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T</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66" name="直线连接符 65">
            <a:extLst>
              <a:ext uri="{FF2B5EF4-FFF2-40B4-BE49-F238E27FC236}">
                <a16:creationId xmlns:a16="http://schemas.microsoft.com/office/drawing/2014/main" id="{D62E42BF-8060-F046-A818-6A6A35F2D4DE}"/>
              </a:ext>
            </a:extLst>
          </p:cNvPr>
          <p:cNvCxnSpPr>
            <a:stCxn id="62" idx="2"/>
            <a:endCxn id="64" idx="0"/>
          </p:cNvCxnSpPr>
          <p:nvPr/>
        </p:nvCxnSpPr>
        <p:spPr>
          <a:xfrm>
            <a:off x="7483459" y="3426918"/>
            <a:ext cx="285674" cy="4972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椭圆 66">
            <a:extLst>
              <a:ext uri="{FF2B5EF4-FFF2-40B4-BE49-F238E27FC236}">
                <a16:creationId xmlns:a16="http://schemas.microsoft.com/office/drawing/2014/main" id="{CF03C77D-CFAD-0C4A-A760-B3324240C30A}"/>
              </a:ext>
            </a:extLst>
          </p:cNvPr>
          <p:cNvSpPr/>
          <p:nvPr/>
        </p:nvSpPr>
        <p:spPr>
          <a:xfrm>
            <a:off x="5822645" y="4876452"/>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H</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69" name="直线连接符 68">
            <a:extLst>
              <a:ext uri="{FF2B5EF4-FFF2-40B4-BE49-F238E27FC236}">
                <a16:creationId xmlns:a16="http://schemas.microsoft.com/office/drawing/2014/main" id="{7EE103A3-1CA4-7341-BCD1-0E44857C84B4}"/>
              </a:ext>
            </a:extLst>
          </p:cNvPr>
          <p:cNvCxnSpPr>
            <a:stCxn id="58" idx="4"/>
            <a:endCxn id="67" idx="0"/>
          </p:cNvCxnSpPr>
          <p:nvPr/>
        </p:nvCxnSpPr>
        <p:spPr>
          <a:xfrm flipH="1">
            <a:off x="6067574" y="4412362"/>
            <a:ext cx="278961" cy="4640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矩形 73">
            <a:extLst>
              <a:ext uri="{FF2B5EF4-FFF2-40B4-BE49-F238E27FC236}">
                <a16:creationId xmlns:a16="http://schemas.microsoft.com/office/drawing/2014/main" id="{6894A1B9-F868-AE4F-A9F9-FD716B8B64EC}"/>
              </a:ext>
            </a:extLst>
          </p:cNvPr>
          <p:cNvSpPr/>
          <p:nvPr/>
        </p:nvSpPr>
        <p:spPr>
          <a:xfrm>
            <a:off x="9965615" y="1202685"/>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G</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75" name="矩形 74">
            <a:extLst>
              <a:ext uri="{FF2B5EF4-FFF2-40B4-BE49-F238E27FC236}">
                <a16:creationId xmlns:a16="http://schemas.microsoft.com/office/drawing/2014/main" id="{087BF4F6-5044-2D49-A59F-E7AE3890349D}"/>
              </a:ext>
            </a:extLst>
          </p:cNvPr>
          <p:cNvSpPr/>
          <p:nvPr/>
        </p:nvSpPr>
        <p:spPr>
          <a:xfrm>
            <a:off x="9291913" y="2156632"/>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A</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76" name="直线连接符 75">
            <a:extLst>
              <a:ext uri="{FF2B5EF4-FFF2-40B4-BE49-F238E27FC236}">
                <a16:creationId xmlns:a16="http://schemas.microsoft.com/office/drawing/2014/main" id="{7D76D7F1-01AD-7040-A4BF-CD8664F64EAE}"/>
              </a:ext>
            </a:extLst>
          </p:cNvPr>
          <p:cNvCxnSpPr>
            <a:endCxn id="75" idx="0"/>
          </p:cNvCxnSpPr>
          <p:nvPr/>
        </p:nvCxnSpPr>
        <p:spPr>
          <a:xfrm flipH="1">
            <a:off x="9520513" y="1659885"/>
            <a:ext cx="445102" cy="4967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线连接符 76">
            <a:extLst>
              <a:ext uri="{FF2B5EF4-FFF2-40B4-BE49-F238E27FC236}">
                <a16:creationId xmlns:a16="http://schemas.microsoft.com/office/drawing/2014/main" id="{C40BE2EF-2A79-EE40-AA2B-63169403DF9A}"/>
              </a:ext>
            </a:extLst>
          </p:cNvPr>
          <p:cNvCxnSpPr/>
          <p:nvPr/>
        </p:nvCxnSpPr>
        <p:spPr>
          <a:xfrm>
            <a:off x="10422815" y="1659885"/>
            <a:ext cx="241632" cy="4927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椭圆 77">
            <a:extLst>
              <a:ext uri="{FF2B5EF4-FFF2-40B4-BE49-F238E27FC236}">
                <a16:creationId xmlns:a16="http://schemas.microsoft.com/office/drawing/2014/main" id="{D4C3AF1D-B208-654E-B6CD-393ECC8C1CBC}"/>
              </a:ext>
            </a:extLst>
          </p:cNvPr>
          <p:cNvSpPr/>
          <p:nvPr/>
        </p:nvSpPr>
        <p:spPr>
          <a:xfrm>
            <a:off x="10422815" y="2137135"/>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O</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79" name="矩形 78">
            <a:extLst>
              <a:ext uri="{FF2B5EF4-FFF2-40B4-BE49-F238E27FC236}">
                <a16:creationId xmlns:a16="http://schemas.microsoft.com/office/drawing/2014/main" id="{F9A453FA-0B7E-064D-A51A-216D0968C837}"/>
              </a:ext>
            </a:extLst>
          </p:cNvPr>
          <p:cNvSpPr/>
          <p:nvPr/>
        </p:nvSpPr>
        <p:spPr>
          <a:xfrm>
            <a:off x="9925296" y="2914957"/>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I</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81" name="直线连接符 80">
            <a:extLst>
              <a:ext uri="{FF2B5EF4-FFF2-40B4-BE49-F238E27FC236}">
                <a16:creationId xmlns:a16="http://schemas.microsoft.com/office/drawing/2014/main" id="{7FE2D6F9-344B-DE44-82E8-9F7AE90AF37A}"/>
              </a:ext>
            </a:extLst>
          </p:cNvPr>
          <p:cNvCxnSpPr>
            <a:stCxn id="78" idx="3"/>
            <a:endCxn id="79" idx="0"/>
          </p:cNvCxnSpPr>
          <p:nvPr/>
        </p:nvCxnSpPr>
        <p:spPr>
          <a:xfrm flipH="1">
            <a:off x="10153896" y="2555254"/>
            <a:ext cx="340657" cy="359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椭圆 81">
            <a:extLst>
              <a:ext uri="{FF2B5EF4-FFF2-40B4-BE49-F238E27FC236}">
                <a16:creationId xmlns:a16="http://schemas.microsoft.com/office/drawing/2014/main" id="{DC8409DE-3E19-684B-B061-96A4826404DB}"/>
              </a:ext>
            </a:extLst>
          </p:cNvPr>
          <p:cNvSpPr/>
          <p:nvPr/>
        </p:nvSpPr>
        <p:spPr>
          <a:xfrm>
            <a:off x="9239860" y="3924145"/>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H</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84" name="直线连接符 83">
            <a:extLst>
              <a:ext uri="{FF2B5EF4-FFF2-40B4-BE49-F238E27FC236}">
                <a16:creationId xmlns:a16="http://schemas.microsoft.com/office/drawing/2014/main" id="{E0165D21-6E67-BF42-AA3C-E1AAFB9F43ED}"/>
              </a:ext>
            </a:extLst>
          </p:cNvPr>
          <p:cNvCxnSpPr>
            <a:endCxn id="82" idx="0"/>
          </p:cNvCxnSpPr>
          <p:nvPr/>
        </p:nvCxnSpPr>
        <p:spPr>
          <a:xfrm flipH="1">
            <a:off x="9484789" y="3372157"/>
            <a:ext cx="480826" cy="551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椭圆 84">
            <a:extLst>
              <a:ext uri="{FF2B5EF4-FFF2-40B4-BE49-F238E27FC236}">
                <a16:creationId xmlns:a16="http://schemas.microsoft.com/office/drawing/2014/main" id="{FF728193-0B64-4D41-8B92-A20221CF013B}"/>
              </a:ext>
            </a:extLst>
          </p:cNvPr>
          <p:cNvSpPr/>
          <p:nvPr/>
        </p:nvSpPr>
        <p:spPr>
          <a:xfrm>
            <a:off x="10153896" y="3930353"/>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L</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87" name="直线连接符 86">
            <a:extLst>
              <a:ext uri="{FF2B5EF4-FFF2-40B4-BE49-F238E27FC236}">
                <a16:creationId xmlns:a16="http://schemas.microsoft.com/office/drawing/2014/main" id="{F0B400EE-EFDC-AA47-ABD9-BD32DDA28C77}"/>
              </a:ext>
            </a:extLst>
          </p:cNvPr>
          <p:cNvCxnSpPr>
            <a:stCxn id="79" idx="2"/>
            <a:endCxn id="85" idx="0"/>
          </p:cNvCxnSpPr>
          <p:nvPr/>
        </p:nvCxnSpPr>
        <p:spPr>
          <a:xfrm>
            <a:off x="10153896" y="3372157"/>
            <a:ext cx="244929" cy="5581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矩形 87">
            <a:extLst>
              <a:ext uri="{FF2B5EF4-FFF2-40B4-BE49-F238E27FC236}">
                <a16:creationId xmlns:a16="http://schemas.microsoft.com/office/drawing/2014/main" id="{D531EAAA-F773-1D44-B3AA-CA77877304A3}"/>
              </a:ext>
            </a:extLst>
          </p:cNvPr>
          <p:cNvSpPr/>
          <p:nvPr/>
        </p:nvSpPr>
        <p:spPr>
          <a:xfrm>
            <a:off x="10912672" y="2914957"/>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R</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90" name="直线连接符 89">
            <a:extLst>
              <a:ext uri="{FF2B5EF4-FFF2-40B4-BE49-F238E27FC236}">
                <a16:creationId xmlns:a16="http://schemas.microsoft.com/office/drawing/2014/main" id="{DAB7DD7F-4676-384D-96C5-DA8600D015D4}"/>
              </a:ext>
            </a:extLst>
          </p:cNvPr>
          <p:cNvCxnSpPr>
            <a:stCxn id="78" idx="5"/>
            <a:endCxn id="88" idx="0"/>
          </p:cNvCxnSpPr>
          <p:nvPr/>
        </p:nvCxnSpPr>
        <p:spPr>
          <a:xfrm>
            <a:off x="10840934" y="2555254"/>
            <a:ext cx="300338" cy="359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椭圆 90">
            <a:extLst>
              <a:ext uri="{FF2B5EF4-FFF2-40B4-BE49-F238E27FC236}">
                <a16:creationId xmlns:a16="http://schemas.microsoft.com/office/drawing/2014/main" id="{D472284D-08D8-F14F-A64C-DDA7D7DFC5DA}"/>
              </a:ext>
            </a:extLst>
          </p:cNvPr>
          <p:cNvSpPr/>
          <p:nvPr/>
        </p:nvSpPr>
        <p:spPr>
          <a:xfrm>
            <a:off x="11280712" y="3924145"/>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T</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93" name="直线连接符 92">
            <a:extLst>
              <a:ext uri="{FF2B5EF4-FFF2-40B4-BE49-F238E27FC236}">
                <a16:creationId xmlns:a16="http://schemas.microsoft.com/office/drawing/2014/main" id="{2B93230B-978B-1E4D-94EB-2AC535EC3D83}"/>
              </a:ext>
            </a:extLst>
          </p:cNvPr>
          <p:cNvCxnSpPr>
            <a:stCxn id="88" idx="2"/>
            <a:endCxn id="91" idx="0"/>
          </p:cNvCxnSpPr>
          <p:nvPr/>
        </p:nvCxnSpPr>
        <p:spPr>
          <a:xfrm>
            <a:off x="11141272" y="3372157"/>
            <a:ext cx="384369" cy="551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椭圆 93">
            <a:extLst>
              <a:ext uri="{FF2B5EF4-FFF2-40B4-BE49-F238E27FC236}">
                <a16:creationId xmlns:a16="http://schemas.microsoft.com/office/drawing/2014/main" id="{415B9159-1411-8B4E-B60D-B25CA261AAED}"/>
              </a:ext>
            </a:extLst>
          </p:cNvPr>
          <p:cNvSpPr/>
          <p:nvPr/>
        </p:nvSpPr>
        <p:spPr>
          <a:xfrm>
            <a:off x="10422815" y="4836800"/>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M</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96" name="直线连接符 95">
            <a:extLst>
              <a:ext uri="{FF2B5EF4-FFF2-40B4-BE49-F238E27FC236}">
                <a16:creationId xmlns:a16="http://schemas.microsoft.com/office/drawing/2014/main" id="{1E6FDE21-7D40-384B-B56C-FD434C89E689}"/>
              </a:ext>
            </a:extLst>
          </p:cNvPr>
          <p:cNvCxnSpPr>
            <a:stCxn id="85" idx="4"/>
            <a:endCxn id="94" idx="0"/>
          </p:cNvCxnSpPr>
          <p:nvPr/>
        </p:nvCxnSpPr>
        <p:spPr>
          <a:xfrm>
            <a:off x="10398825" y="4420210"/>
            <a:ext cx="268919" cy="4165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1979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32"/>
                                        </p:tgtEl>
                                        <p:attrNameLst>
                                          <p:attrName>style.visibility</p:attrName>
                                        </p:attrNameLst>
                                      </p:cBhvr>
                                      <p:to>
                                        <p:strVal val="hidden"/>
                                      </p:to>
                                    </p:set>
                                  </p:childTnLst>
                                </p:cTn>
                              </p:par>
                              <p:par>
                                <p:cTn id="43" presetID="1" presetClass="entr" presetSubtype="0" fill="hold" grpId="1"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33"/>
                                        </p:tgtEl>
                                        <p:attrNameLst>
                                          <p:attrName>style.visibility</p:attrName>
                                        </p:attrNameLst>
                                      </p:cBhvr>
                                      <p:to>
                                        <p:strVal val="hidden"/>
                                      </p:to>
                                    </p:set>
                                  </p:childTnLst>
                                </p:cTn>
                              </p:par>
                              <p:par>
                                <p:cTn id="47" presetID="1" presetClass="entr" presetSubtype="0" fill="hold" grpId="1" nodeType="with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52"/>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61"/>
                                        </p:tgtEl>
                                        <p:attrNameLst>
                                          <p:attrName>style.visibility</p:attrName>
                                        </p:attrNameLst>
                                      </p:cBhvr>
                                      <p:to>
                                        <p:strVal val="visible"/>
                                      </p:to>
                                    </p:set>
                                  </p:childTnLst>
                                </p:cTn>
                              </p:par>
                              <p:par>
                                <p:cTn id="87" presetID="1" presetClass="exit" presetSubtype="0" fill="hold" grpId="1" nodeType="withEffect">
                                  <p:stCondLst>
                                    <p:cond delay="0"/>
                                  </p:stCondLst>
                                  <p:childTnLst>
                                    <p:set>
                                      <p:cBhvr>
                                        <p:cTn id="88" dur="1" fill="hold">
                                          <p:stCondLst>
                                            <p:cond delay="0"/>
                                          </p:stCondLst>
                                        </p:cTn>
                                        <p:tgtEl>
                                          <p:spTgt spid="53"/>
                                        </p:tgtEl>
                                        <p:attrNameLst>
                                          <p:attrName>style.visibility</p:attrName>
                                        </p:attrNameLst>
                                      </p:cBhvr>
                                      <p:to>
                                        <p:strVal val="hidden"/>
                                      </p:to>
                                    </p:set>
                                  </p:childTnLst>
                                </p:cTn>
                              </p:par>
                              <p:par>
                                <p:cTn id="89" presetID="1" presetClass="entr" presetSubtype="0" fill="hold" grpId="0" nodeType="withEffect">
                                  <p:stCondLst>
                                    <p:cond delay="0"/>
                                  </p:stCondLst>
                                  <p:childTnLst>
                                    <p:set>
                                      <p:cBhvr>
                                        <p:cTn id="90" dur="1" fill="hold">
                                          <p:stCondLst>
                                            <p:cond delay="0"/>
                                          </p:stCondLst>
                                        </p:cTn>
                                        <p:tgtEl>
                                          <p:spTgt spid="6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3"/>
                                        </p:tgtEl>
                                        <p:attrNameLst>
                                          <p:attrName>style.visibility</p:attrName>
                                        </p:attrNameLst>
                                      </p:cBhvr>
                                      <p:to>
                                        <p:strVal val="visible"/>
                                      </p:to>
                                    </p:set>
                                  </p:childTnLst>
                                </p:cTn>
                              </p:par>
                              <p:par>
                                <p:cTn id="93" presetID="1" presetClass="exit" presetSubtype="0" fill="hold" grpId="1" nodeType="withEffect">
                                  <p:stCondLst>
                                    <p:cond delay="0"/>
                                  </p:stCondLst>
                                  <p:childTnLst>
                                    <p:set>
                                      <p:cBhvr>
                                        <p:cTn id="94" dur="1" fill="hold">
                                          <p:stCondLst>
                                            <p:cond delay="0"/>
                                          </p:stCondLst>
                                        </p:cTn>
                                        <p:tgtEl>
                                          <p:spTgt spid="49"/>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64"/>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66"/>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67"/>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6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74"/>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7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75"/>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7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78"/>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79"/>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2"/>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88"/>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91"/>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81"/>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90"/>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84"/>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87"/>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93"/>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96"/>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9" grpId="0" animBg="1"/>
      <p:bldP spid="31" grpId="0" animBg="1"/>
      <p:bldP spid="32" grpId="0" animBg="1"/>
      <p:bldP spid="32" grpId="1" animBg="1"/>
      <p:bldP spid="33" grpId="0" animBg="1"/>
      <p:bldP spid="33" grpId="1" animBg="1"/>
      <p:bldP spid="37" grpId="0" animBg="1"/>
      <p:bldP spid="41" grpId="0" animBg="1"/>
      <p:bldP spid="41" grpId="1" animBg="1"/>
      <p:bldP spid="42" grpId="1" animBg="1"/>
      <p:bldP spid="44" grpId="0" animBg="1"/>
      <p:bldP spid="45" grpId="0" animBg="1"/>
      <p:bldP spid="46" grpId="0" animBg="1"/>
      <p:bldP spid="49" grpId="0" animBg="1"/>
      <p:bldP spid="49" grpId="1" animBg="1"/>
      <p:bldP spid="52" grpId="0" animBg="1"/>
      <p:bldP spid="52" grpId="1" animBg="1"/>
      <p:bldP spid="53" grpId="0" animBg="1"/>
      <p:bldP spid="53" grpId="1" animBg="1"/>
      <p:bldP spid="58" grpId="0" animBg="1"/>
      <p:bldP spid="61" grpId="0" animBg="1"/>
      <p:bldP spid="62" grpId="0" animBg="1"/>
      <p:bldP spid="63" grpId="0" animBg="1"/>
      <p:bldP spid="64" grpId="0" animBg="1"/>
      <p:bldP spid="67" grpId="0" animBg="1"/>
      <p:bldP spid="74" grpId="0" animBg="1"/>
      <p:bldP spid="75" grpId="0" animBg="1"/>
      <p:bldP spid="78" grpId="0" animBg="1"/>
      <p:bldP spid="79" grpId="0" animBg="1"/>
      <p:bldP spid="82" grpId="0" animBg="1"/>
      <p:bldP spid="85" grpId="0" animBg="1"/>
      <p:bldP spid="88" grpId="0" animBg="1"/>
      <p:bldP spid="91" grpId="0" animBg="1"/>
      <p:bldP spid="9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22</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第十一章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4</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74" name="矩形 73">
            <a:extLst>
              <a:ext uri="{FF2B5EF4-FFF2-40B4-BE49-F238E27FC236}">
                <a16:creationId xmlns:a16="http://schemas.microsoft.com/office/drawing/2014/main" id="{6894A1B9-F868-AE4F-A9F9-FD716B8B64EC}"/>
              </a:ext>
            </a:extLst>
          </p:cNvPr>
          <p:cNvSpPr/>
          <p:nvPr/>
        </p:nvSpPr>
        <p:spPr>
          <a:xfrm>
            <a:off x="1298400" y="1188887"/>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G</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75" name="矩形 74">
            <a:extLst>
              <a:ext uri="{FF2B5EF4-FFF2-40B4-BE49-F238E27FC236}">
                <a16:creationId xmlns:a16="http://schemas.microsoft.com/office/drawing/2014/main" id="{087BF4F6-5044-2D49-A59F-E7AE3890349D}"/>
              </a:ext>
            </a:extLst>
          </p:cNvPr>
          <p:cNvSpPr/>
          <p:nvPr/>
        </p:nvSpPr>
        <p:spPr>
          <a:xfrm>
            <a:off x="624698" y="2142834"/>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A</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76" name="直线连接符 75">
            <a:extLst>
              <a:ext uri="{FF2B5EF4-FFF2-40B4-BE49-F238E27FC236}">
                <a16:creationId xmlns:a16="http://schemas.microsoft.com/office/drawing/2014/main" id="{7D76D7F1-01AD-7040-A4BF-CD8664F64EAE}"/>
              </a:ext>
            </a:extLst>
          </p:cNvPr>
          <p:cNvCxnSpPr>
            <a:endCxn id="75" idx="0"/>
          </p:cNvCxnSpPr>
          <p:nvPr/>
        </p:nvCxnSpPr>
        <p:spPr>
          <a:xfrm flipH="1">
            <a:off x="853298" y="1646087"/>
            <a:ext cx="445102" cy="4967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线连接符 76">
            <a:extLst>
              <a:ext uri="{FF2B5EF4-FFF2-40B4-BE49-F238E27FC236}">
                <a16:creationId xmlns:a16="http://schemas.microsoft.com/office/drawing/2014/main" id="{C40BE2EF-2A79-EE40-AA2B-63169403DF9A}"/>
              </a:ext>
            </a:extLst>
          </p:cNvPr>
          <p:cNvCxnSpPr/>
          <p:nvPr/>
        </p:nvCxnSpPr>
        <p:spPr>
          <a:xfrm>
            <a:off x="1755600" y="1646087"/>
            <a:ext cx="241632" cy="4927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椭圆 77">
            <a:extLst>
              <a:ext uri="{FF2B5EF4-FFF2-40B4-BE49-F238E27FC236}">
                <a16:creationId xmlns:a16="http://schemas.microsoft.com/office/drawing/2014/main" id="{D4C3AF1D-B208-654E-B6CD-393ECC8C1CBC}"/>
              </a:ext>
            </a:extLst>
          </p:cNvPr>
          <p:cNvSpPr/>
          <p:nvPr/>
        </p:nvSpPr>
        <p:spPr>
          <a:xfrm>
            <a:off x="1755600" y="2123337"/>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O</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79" name="矩形 78">
            <a:extLst>
              <a:ext uri="{FF2B5EF4-FFF2-40B4-BE49-F238E27FC236}">
                <a16:creationId xmlns:a16="http://schemas.microsoft.com/office/drawing/2014/main" id="{F9A453FA-0B7E-064D-A51A-216D0968C837}"/>
              </a:ext>
            </a:extLst>
          </p:cNvPr>
          <p:cNvSpPr/>
          <p:nvPr/>
        </p:nvSpPr>
        <p:spPr>
          <a:xfrm>
            <a:off x="1258081" y="2901159"/>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I</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81" name="直线连接符 80">
            <a:extLst>
              <a:ext uri="{FF2B5EF4-FFF2-40B4-BE49-F238E27FC236}">
                <a16:creationId xmlns:a16="http://schemas.microsoft.com/office/drawing/2014/main" id="{7FE2D6F9-344B-DE44-82E8-9F7AE90AF37A}"/>
              </a:ext>
            </a:extLst>
          </p:cNvPr>
          <p:cNvCxnSpPr>
            <a:stCxn id="78" idx="3"/>
            <a:endCxn id="79" idx="0"/>
          </p:cNvCxnSpPr>
          <p:nvPr/>
        </p:nvCxnSpPr>
        <p:spPr>
          <a:xfrm flipH="1">
            <a:off x="1486681" y="2541456"/>
            <a:ext cx="340657" cy="359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椭圆 81">
            <a:extLst>
              <a:ext uri="{FF2B5EF4-FFF2-40B4-BE49-F238E27FC236}">
                <a16:creationId xmlns:a16="http://schemas.microsoft.com/office/drawing/2014/main" id="{DC8409DE-3E19-684B-B061-96A4826404DB}"/>
              </a:ext>
            </a:extLst>
          </p:cNvPr>
          <p:cNvSpPr/>
          <p:nvPr/>
        </p:nvSpPr>
        <p:spPr>
          <a:xfrm>
            <a:off x="572645" y="3910347"/>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H</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84" name="直线连接符 83">
            <a:extLst>
              <a:ext uri="{FF2B5EF4-FFF2-40B4-BE49-F238E27FC236}">
                <a16:creationId xmlns:a16="http://schemas.microsoft.com/office/drawing/2014/main" id="{E0165D21-6E67-BF42-AA3C-E1AAFB9F43ED}"/>
              </a:ext>
            </a:extLst>
          </p:cNvPr>
          <p:cNvCxnSpPr>
            <a:endCxn id="82" idx="0"/>
          </p:cNvCxnSpPr>
          <p:nvPr/>
        </p:nvCxnSpPr>
        <p:spPr>
          <a:xfrm flipH="1">
            <a:off x="817574" y="3358359"/>
            <a:ext cx="480826" cy="551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椭圆 84">
            <a:extLst>
              <a:ext uri="{FF2B5EF4-FFF2-40B4-BE49-F238E27FC236}">
                <a16:creationId xmlns:a16="http://schemas.microsoft.com/office/drawing/2014/main" id="{FF728193-0B64-4D41-8B92-A20221CF013B}"/>
              </a:ext>
            </a:extLst>
          </p:cNvPr>
          <p:cNvSpPr/>
          <p:nvPr/>
        </p:nvSpPr>
        <p:spPr>
          <a:xfrm>
            <a:off x="1486681" y="3916555"/>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L</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87" name="直线连接符 86">
            <a:extLst>
              <a:ext uri="{FF2B5EF4-FFF2-40B4-BE49-F238E27FC236}">
                <a16:creationId xmlns:a16="http://schemas.microsoft.com/office/drawing/2014/main" id="{F0B400EE-EFDC-AA47-ABD9-BD32DDA28C77}"/>
              </a:ext>
            </a:extLst>
          </p:cNvPr>
          <p:cNvCxnSpPr>
            <a:stCxn id="79" idx="2"/>
            <a:endCxn id="85" idx="0"/>
          </p:cNvCxnSpPr>
          <p:nvPr/>
        </p:nvCxnSpPr>
        <p:spPr>
          <a:xfrm>
            <a:off x="1486681" y="3358359"/>
            <a:ext cx="244929" cy="5581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矩形 87">
            <a:extLst>
              <a:ext uri="{FF2B5EF4-FFF2-40B4-BE49-F238E27FC236}">
                <a16:creationId xmlns:a16="http://schemas.microsoft.com/office/drawing/2014/main" id="{D531EAAA-F773-1D44-B3AA-CA77877304A3}"/>
              </a:ext>
            </a:extLst>
          </p:cNvPr>
          <p:cNvSpPr/>
          <p:nvPr/>
        </p:nvSpPr>
        <p:spPr>
          <a:xfrm>
            <a:off x="2245457" y="2901159"/>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R</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90" name="直线连接符 89">
            <a:extLst>
              <a:ext uri="{FF2B5EF4-FFF2-40B4-BE49-F238E27FC236}">
                <a16:creationId xmlns:a16="http://schemas.microsoft.com/office/drawing/2014/main" id="{DAB7DD7F-4676-384D-96C5-DA8600D015D4}"/>
              </a:ext>
            </a:extLst>
          </p:cNvPr>
          <p:cNvCxnSpPr>
            <a:stCxn id="78" idx="5"/>
            <a:endCxn id="88" idx="0"/>
          </p:cNvCxnSpPr>
          <p:nvPr/>
        </p:nvCxnSpPr>
        <p:spPr>
          <a:xfrm>
            <a:off x="2173719" y="2541456"/>
            <a:ext cx="300338" cy="359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椭圆 90">
            <a:extLst>
              <a:ext uri="{FF2B5EF4-FFF2-40B4-BE49-F238E27FC236}">
                <a16:creationId xmlns:a16="http://schemas.microsoft.com/office/drawing/2014/main" id="{D472284D-08D8-F14F-A64C-DDA7D7DFC5DA}"/>
              </a:ext>
            </a:extLst>
          </p:cNvPr>
          <p:cNvSpPr/>
          <p:nvPr/>
        </p:nvSpPr>
        <p:spPr>
          <a:xfrm>
            <a:off x="2613497" y="3910347"/>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T</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93" name="直线连接符 92">
            <a:extLst>
              <a:ext uri="{FF2B5EF4-FFF2-40B4-BE49-F238E27FC236}">
                <a16:creationId xmlns:a16="http://schemas.microsoft.com/office/drawing/2014/main" id="{2B93230B-978B-1E4D-94EB-2AC535EC3D83}"/>
              </a:ext>
            </a:extLst>
          </p:cNvPr>
          <p:cNvCxnSpPr>
            <a:stCxn id="88" idx="2"/>
            <a:endCxn id="91" idx="0"/>
          </p:cNvCxnSpPr>
          <p:nvPr/>
        </p:nvCxnSpPr>
        <p:spPr>
          <a:xfrm>
            <a:off x="2474057" y="3358359"/>
            <a:ext cx="384369" cy="551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椭圆 93">
            <a:extLst>
              <a:ext uri="{FF2B5EF4-FFF2-40B4-BE49-F238E27FC236}">
                <a16:creationId xmlns:a16="http://schemas.microsoft.com/office/drawing/2014/main" id="{415B9159-1411-8B4E-B60D-B25CA261AAED}"/>
              </a:ext>
            </a:extLst>
          </p:cNvPr>
          <p:cNvSpPr/>
          <p:nvPr/>
        </p:nvSpPr>
        <p:spPr>
          <a:xfrm>
            <a:off x="1755600" y="4823002"/>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M</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96" name="直线连接符 95">
            <a:extLst>
              <a:ext uri="{FF2B5EF4-FFF2-40B4-BE49-F238E27FC236}">
                <a16:creationId xmlns:a16="http://schemas.microsoft.com/office/drawing/2014/main" id="{1E6FDE21-7D40-384B-B56C-FD434C89E689}"/>
              </a:ext>
            </a:extLst>
          </p:cNvPr>
          <p:cNvCxnSpPr>
            <a:stCxn id="85" idx="4"/>
            <a:endCxn id="94" idx="0"/>
          </p:cNvCxnSpPr>
          <p:nvPr/>
        </p:nvCxnSpPr>
        <p:spPr>
          <a:xfrm>
            <a:off x="1731610" y="4406412"/>
            <a:ext cx="268919" cy="4165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椭圆 100">
            <a:extLst>
              <a:ext uri="{FF2B5EF4-FFF2-40B4-BE49-F238E27FC236}">
                <a16:creationId xmlns:a16="http://schemas.microsoft.com/office/drawing/2014/main" id="{12CADFB0-7005-7B4C-AD70-9E2D8444D7E0}"/>
              </a:ext>
            </a:extLst>
          </p:cNvPr>
          <p:cNvSpPr/>
          <p:nvPr/>
        </p:nvSpPr>
        <p:spPr>
          <a:xfrm>
            <a:off x="1201926" y="2891699"/>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I</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02" name="矩形 101">
            <a:extLst>
              <a:ext uri="{FF2B5EF4-FFF2-40B4-BE49-F238E27FC236}">
                <a16:creationId xmlns:a16="http://schemas.microsoft.com/office/drawing/2014/main" id="{4B1CFC40-B631-9648-A2B1-878C75E872E7}"/>
              </a:ext>
            </a:extLst>
          </p:cNvPr>
          <p:cNvSpPr/>
          <p:nvPr/>
        </p:nvSpPr>
        <p:spPr>
          <a:xfrm>
            <a:off x="587310" y="3943004"/>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H</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03" name="矩形 102">
            <a:extLst>
              <a:ext uri="{FF2B5EF4-FFF2-40B4-BE49-F238E27FC236}">
                <a16:creationId xmlns:a16="http://schemas.microsoft.com/office/drawing/2014/main" id="{16FF2923-FB5D-F447-9E97-5B449A007D11}"/>
              </a:ext>
            </a:extLst>
          </p:cNvPr>
          <p:cNvSpPr/>
          <p:nvPr/>
        </p:nvSpPr>
        <p:spPr>
          <a:xfrm>
            <a:off x="1501280" y="3937956"/>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L</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04" name="矩形 103">
            <a:extLst>
              <a:ext uri="{FF2B5EF4-FFF2-40B4-BE49-F238E27FC236}">
                <a16:creationId xmlns:a16="http://schemas.microsoft.com/office/drawing/2014/main" id="{A8C561AF-09AC-CC48-BFDD-82A2E638E9AC}"/>
              </a:ext>
            </a:extLst>
          </p:cNvPr>
          <p:cNvSpPr/>
          <p:nvPr/>
        </p:nvSpPr>
        <p:spPr>
          <a:xfrm>
            <a:off x="5149264" y="1227105"/>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I</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05" name="椭圆 104">
            <a:extLst>
              <a:ext uri="{FF2B5EF4-FFF2-40B4-BE49-F238E27FC236}">
                <a16:creationId xmlns:a16="http://schemas.microsoft.com/office/drawing/2014/main" id="{D6EE0A38-B12E-FA43-8F68-FD04025A56F5}"/>
              </a:ext>
            </a:extLst>
          </p:cNvPr>
          <p:cNvSpPr/>
          <p:nvPr/>
        </p:nvSpPr>
        <p:spPr>
          <a:xfrm>
            <a:off x="4398150" y="2043534"/>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G</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06" name="椭圆 105">
            <a:extLst>
              <a:ext uri="{FF2B5EF4-FFF2-40B4-BE49-F238E27FC236}">
                <a16:creationId xmlns:a16="http://schemas.microsoft.com/office/drawing/2014/main" id="{5641CBD7-E658-8F47-B8E8-A1B9D3E2566A}"/>
              </a:ext>
            </a:extLst>
          </p:cNvPr>
          <p:cNvSpPr/>
          <p:nvPr/>
        </p:nvSpPr>
        <p:spPr>
          <a:xfrm>
            <a:off x="5818735" y="2043534"/>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O</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07" name="矩形 106">
            <a:extLst>
              <a:ext uri="{FF2B5EF4-FFF2-40B4-BE49-F238E27FC236}">
                <a16:creationId xmlns:a16="http://schemas.microsoft.com/office/drawing/2014/main" id="{25B977CC-8339-B54D-BF05-6037868EF9C4}"/>
              </a:ext>
            </a:extLst>
          </p:cNvPr>
          <p:cNvSpPr/>
          <p:nvPr/>
        </p:nvSpPr>
        <p:spPr>
          <a:xfrm>
            <a:off x="3940950" y="2892620"/>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A</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08" name="矩形 107">
            <a:extLst>
              <a:ext uri="{FF2B5EF4-FFF2-40B4-BE49-F238E27FC236}">
                <a16:creationId xmlns:a16="http://schemas.microsoft.com/office/drawing/2014/main" id="{CBA069C3-E86F-C34A-9DC6-9BEC2988B478}"/>
              </a:ext>
            </a:extLst>
          </p:cNvPr>
          <p:cNvSpPr/>
          <p:nvPr/>
        </p:nvSpPr>
        <p:spPr>
          <a:xfrm>
            <a:off x="4775937" y="2892621"/>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H</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09" name="矩形 108">
            <a:extLst>
              <a:ext uri="{FF2B5EF4-FFF2-40B4-BE49-F238E27FC236}">
                <a16:creationId xmlns:a16="http://schemas.microsoft.com/office/drawing/2014/main" id="{2075BEA4-AEDF-9F4D-8F62-F71E162BE61A}"/>
              </a:ext>
            </a:extLst>
          </p:cNvPr>
          <p:cNvSpPr/>
          <p:nvPr/>
        </p:nvSpPr>
        <p:spPr>
          <a:xfrm>
            <a:off x="5470883" y="2892620"/>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L</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10" name="矩形 109">
            <a:extLst>
              <a:ext uri="{FF2B5EF4-FFF2-40B4-BE49-F238E27FC236}">
                <a16:creationId xmlns:a16="http://schemas.microsoft.com/office/drawing/2014/main" id="{6495CCA9-4211-5F46-84F8-0C85A04772F0}"/>
              </a:ext>
            </a:extLst>
          </p:cNvPr>
          <p:cNvSpPr/>
          <p:nvPr/>
        </p:nvSpPr>
        <p:spPr>
          <a:xfrm>
            <a:off x="6308592" y="2892620"/>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R</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11" name="椭圆 110">
            <a:extLst>
              <a:ext uri="{FF2B5EF4-FFF2-40B4-BE49-F238E27FC236}">
                <a16:creationId xmlns:a16="http://schemas.microsoft.com/office/drawing/2014/main" id="{01051858-228A-7749-9389-66F8057BFE68}"/>
              </a:ext>
            </a:extLst>
          </p:cNvPr>
          <p:cNvSpPr/>
          <p:nvPr/>
        </p:nvSpPr>
        <p:spPr>
          <a:xfrm>
            <a:off x="5818735" y="3709049"/>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M</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12" name="椭圆 111">
            <a:extLst>
              <a:ext uri="{FF2B5EF4-FFF2-40B4-BE49-F238E27FC236}">
                <a16:creationId xmlns:a16="http://schemas.microsoft.com/office/drawing/2014/main" id="{5B2178AB-C29B-2A45-A74C-689E5C450D25}"/>
              </a:ext>
            </a:extLst>
          </p:cNvPr>
          <p:cNvSpPr/>
          <p:nvPr/>
        </p:nvSpPr>
        <p:spPr>
          <a:xfrm>
            <a:off x="6701949" y="3709049"/>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T</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113" name="直线连接符 112">
            <a:extLst>
              <a:ext uri="{FF2B5EF4-FFF2-40B4-BE49-F238E27FC236}">
                <a16:creationId xmlns:a16="http://schemas.microsoft.com/office/drawing/2014/main" id="{581BE14F-DA6B-8C4A-92CD-987FD5FA8E9D}"/>
              </a:ext>
            </a:extLst>
          </p:cNvPr>
          <p:cNvCxnSpPr>
            <a:endCxn id="105" idx="7"/>
          </p:cNvCxnSpPr>
          <p:nvPr/>
        </p:nvCxnSpPr>
        <p:spPr>
          <a:xfrm flipH="1">
            <a:off x="4816269" y="1684305"/>
            <a:ext cx="430967" cy="4309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线连接符 113">
            <a:extLst>
              <a:ext uri="{FF2B5EF4-FFF2-40B4-BE49-F238E27FC236}">
                <a16:creationId xmlns:a16="http://schemas.microsoft.com/office/drawing/2014/main" id="{AE4B7A3F-D9A7-1345-BAE7-00DB38693236}"/>
              </a:ext>
            </a:extLst>
          </p:cNvPr>
          <p:cNvCxnSpPr>
            <a:endCxn id="106" idx="1"/>
          </p:cNvCxnSpPr>
          <p:nvPr/>
        </p:nvCxnSpPr>
        <p:spPr>
          <a:xfrm>
            <a:off x="5508493" y="1684305"/>
            <a:ext cx="381980" cy="4309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线连接符 114">
            <a:extLst>
              <a:ext uri="{FF2B5EF4-FFF2-40B4-BE49-F238E27FC236}">
                <a16:creationId xmlns:a16="http://schemas.microsoft.com/office/drawing/2014/main" id="{5ED26FC1-7A95-6441-8477-C44C3BFEEA04}"/>
              </a:ext>
            </a:extLst>
          </p:cNvPr>
          <p:cNvCxnSpPr>
            <a:stCxn id="105" idx="3"/>
            <a:endCxn id="107" idx="0"/>
          </p:cNvCxnSpPr>
          <p:nvPr/>
        </p:nvCxnSpPr>
        <p:spPr>
          <a:xfrm flipH="1">
            <a:off x="4169550" y="2461653"/>
            <a:ext cx="300338" cy="4309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线连接符 115">
            <a:extLst>
              <a:ext uri="{FF2B5EF4-FFF2-40B4-BE49-F238E27FC236}">
                <a16:creationId xmlns:a16="http://schemas.microsoft.com/office/drawing/2014/main" id="{BE417544-874B-E548-BF43-4C1918670D56}"/>
              </a:ext>
            </a:extLst>
          </p:cNvPr>
          <p:cNvCxnSpPr>
            <a:stCxn id="105" idx="5"/>
            <a:endCxn id="108" idx="0"/>
          </p:cNvCxnSpPr>
          <p:nvPr/>
        </p:nvCxnSpPr>
        <p:spPr>
          <a:xfrm>
            <a:off x="4816269" y="2461653"/>
            <a:ext cx="188268" cy="4309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线连接符 116">
            <a:extLst>
              <a:ext uri="{FF2B5EF4-FFF2-40B4-BE49-F238E27FC236}">
                <a16:creationId xmlns:a16="http://schemas.microsoft.com/office/drawing/2014/main" id="{94BAC948-1454-AE4F-A939-E4A40A1B85D6}"/>
              </a:ext>
            </a:extLst>
          </p:cNvPr>
          <p:cNvCxnSpPr>
            <a:stCxn id="106" idx="3"/>
            <a:endCxn id="109" idx="0"/>
          </p:cNvCxnSpPr>
          <p:nvPr/>
        </p:nvCxnSpPr>
        <p:spPr>
          <a:xfrm flipH="1">
            <a:off x="5699483" y="2461653"/>
            <a:ext cx="190990" cy="4309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线连接符 117">
            <a:extLst>
              <a:ext uri="{FF2B5EF4-FFF2-40B4-BE49-F238E27FC236}">
                <a16:creationId xmlns:a16="http://schemas.microsoft.com/office/drawing/2014/main" id="{0B933673-4AB0-3E45-9929-94C625B988C0}"/>
              </a:ext>
            </a:extLst>
          </p:cNvPr>
          <p:cNvCxnSpPr>
            <a:stCxn id="106" idx="5"/>
            <a:endCxn id="110" idx="0"/>
          </p:cNvCxnSpPr>
          <p:nvPr/>
        </p:nvCxnSpPr>
        <p:spPr>
          <a:xfrm>
            <a:off x="6236854" y="2461653"/>
            <a:ext cx="300338" cy="4309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线连接符 118">
            <a:extLst>
              <a:ext uri="{FF2B5EF4-FFF2-40B4-BE49-F238E27FC236}">
                <a16:creationId xmlns:a16="http://schemas.microsoft.com/office/drawing/2014/main" id="{B7027D45-1047-384E-9612-5739C4CA21BB}"/>
              </a:ext>
            </a:extLst>
          </p:cNvPr>
          <p:cNvCxnSpPr>
            <a:cxnSpLocks/>
            <a:stCxn id="109" idx="2"/>
            <a:endCxn id="111" idx="1"/>
          </p:cNvCxnSpPr>
          <p:nvPr/>
        </p:nvCxnSpPr>
        <p:spPr>
          <a:xfrm>
            <a:off x="5699483" y="3349820"/>
            <a:ext cx="190990" cy="4309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线连接符 119">
            <a:extLst>
              <a:ext uri="{FF2B5EF4-FFF2-40B4-BE49-F238E27FC236}">
                <a16:creationId xmlns:a16="http://schemas.microsoft.com/office/drawing/2014/main" id="{735700E3-A390-8D42-9847-937FFF882B6C}"/>
              </a:ext>
            </a:extLst>
          </p:cNvPr>
          <p:cNvCxnSpPr>
            <a:stCxn id="110" idx="2"/>
            <a:endCxn id="112" idx="1"/>
          </p:cNvCxnSpPr>
          <p:nvPr/>
        </p:nvCxnSpPr>
        <p:spPr>
          <a:xfrm>
            <a:off x="6537192" y="3349820"/>
            <a:ext cx="236495" cy="4309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4186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82"/>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85"/>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10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1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2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2" grpId="0" animBg="1"/>
      <p:bldP spid="85"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23</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第十二章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5421997"/>
          </a:xfrm>
          <a:prstGeom prst="rect">
            <a:avLst/>
          </a:prstGeom>
        </p:spPr>
        <p:txBody>
          <a:bodyPr wrap="square">
            <a:spAutoFit/>
          </a:bodyPr>
          <a:lstStyle/>
          <a:p>
            <a:pPr marL="514350" lvl="0" indent="-514350">
              <a:lnSpc>
                <a:spcPct val="90000"/>
              </a:lnSpc>
              <a:spcBef>
                <a:spcPts val="1000"/>
              </a:spcBef>
              <a:buFont typeface="+mj-lt"/>
              <a:buAutoNum type="arabicPeriod"/>
            </a:pPr>
            <a:r>
              <a:rPr kumimoji="1" lang="en-US" altLang="zh-CN" sz="2000" dirty="0">
                <a:solidFill>
                  <a:prstClr val="black"/>
                </a:solidFill>
                <a:latin typeface="SimSun" panose="02010600030101010101" pitchFamily="2" charset="-122"/>
                <a:ea typeface="SimSun" panose="02010600030101010101" pitchFamily="2" charset="-122"/>
              </a:rPr>
              <a:t>(1) </a:t>
            </a:r>
            <a:r>
              <a:rPr kumimoji="1" lang="zh-CN" altLang="en-US" sz="2000" dirty="0">
                <a:solidFill>
                  <a:prstClr val="black"/>
                </a:solidFill>
                <a:latin typeface="SimSun" panose="02010600030101010101" pitchFamily="2" charset="-122"/>
                <a:ea typeface="SimSun" panose="02010600030101010101" pitchFamily="2" charset="-122"/>
              </a:rPr>
              <a:t>画出广义表</a:t>
            </a:r>
            <a:r>
              <a:rPr kumimoji="1" lang="en-US" altLang="zh-CN" sz="2000" dirty="0">
                <a:solidFill>
                  <a:prstClr val="black"/>
                </a:solidFill>
                <a:latin typeface="SimSun" panose="02010600030101010101" pitchFamily="2" charset="-122"/>
                <a:ea typeface="SimSun" panose="02010600030101010101" pitchFamily="2" charset="-122"/>
              </a:rPr>
              <a:t>D: (A: (c), B: (e), C: (a, L: (b, c, d)))</a:t>
            </a:r>
            <a:r>
              <a:rPr kumimoji="1" lang="zh-CN" altLang="en-US" sz="2000" dirty="0">
                <a:solidFill>
                  <a:prstClr val="black"/>
                </a:solidFill>
                <a:latin typeface="SimSun" panose="02010600030101010101" pitchFamily="2" charset="-122"/>
                <a:ea typeface="SimSun" panose="02010600030101010101" pitchFamily="2" charset="-122"/>
              </a:rPr>
              <a:t>的图形表示和存储表示。</a:t>
            </a:r>
          </a:p>
          <a:p>
            <a:pPr lvl="1">
              <a:lnSpc>
                <a:spcPct val="90000"/>
              </a:lnSpc>
              <a:spcBef>
                <a:spcPts val="500"/>
              </a:spcBef>
            </a:pPr>
            <a:r>
              <a:rPr kumimoji="1" lang="zh-CN" altLang="en-US" sz="2000" dirty="0">
                <a:solidFill>
                  <a:prstClr val="black"/>
                </a:solidFill>
                <a:latin typeface="SimSun" panose="02010600030101010101" pitchFamily="2" charset="-122"/>
                <a:ea typeface="SimSun" panose="02010600030101010101" pitchFamily="2" charset="-122"/>
              </a:rPr>
              <a:t>存储表示的结点定义如下（参照教材</a:t>
            </a:r>
            <a:r>
              <a:rPr kumimoji="1" lang="en-US" altLang="zh-CN" sz="2000" dirty="0">
                <a:solidFill>
                  <a:prstClr val="black"/>
                </a:solidFill>
                <a:latin typeface="SimSun" panose="02010600030101010101" pitchFamily="2" charset="-122"/>
                <a:ea typeface="SimSun" panose="02010600030101010101" pitchFamily="2" charset="-122"/>
              </a:rPr>
              <a:t>P341</a:t>
            </a:r>
            <a:r>
              <a:rPr kumimoji="1" lang="zh-CN" altLang="en-US" sz="2000" dirty="0">
                <a:solidFill>
                  <a:prstClr val="black"/>
                </a:solidFill>
                <a:latin typeface="SimSun" panose="02010600030101010101" pitchFamily="2" charset="-122"/>
                <a:ea typeface="SimSun" panose="02010600030101010101" pitchFamily="2" charset="-122"/>
              </a:rPr>
              <a:t>）：</a:t>
            </a:r>
            <a:endParaRPr kumimoji="1" lang="en-US" altLang="zh-CN" sz="2000" dirty="0">
              <a:solidFill>
                <a:prstClr val="black"/>
              </a:solidFill>
              <a:latin typeface="SimSun" panose="02010600030101010101" pitchFamily="2" charset="-122"/>
              <a:ea typeface="SimSun" panose="02010600030101010101" pitchFamily="2" charset="-122"/>
            </a:endParaRPr>
          </a:p>
          <a:p>
            <a:pPr lvl="1">
              <a:lnSpc>
                <a:spcPct val="90000"/>
              </a:lnSpc>
              <a:spcBef>
                <a:spcPts val="500"/>
              </a:spcBef>
            </a:pPr>
            <a:endParaRPr kumimoji="1" lang="en-US" altLang="zh-CN" sz="2000" dirty="0">
              <a:solidFill>
                <a:prstClr val="black"/>
              </a:solidFill>
              <a:latin typeface="SimSun" panose="02010600030101010101" pitchFamily="2" charset="-122"/>
              <a:ea typeface="SimSun" panose="02010600030101010101" pitchFamily="2" charset="-122"/>
            </a:endParaRPr>
          </a:p>
          <a:p>
            <a:pPr lvl="1">
              <a:lnSpc>
                <a:spcPct val="90000"/>
              </a:lnSpc>
              <a:spcBef>
                <a:spcPts val="500"/>
              </a:spcBef>
            </a:pPr>
            <a:endParaRPr kumimoji="1" lang="en-US" altLang="zh-CN" sz="2000" dirty="0">
              <a:solidFill>
                <a:prstClr val="black"/>
              </a:solidFill>
              <a:latin typeface="SimSun" panose="02010600030101010101" pitchFamily="2" charset="-122"/>
              <a:ea typeface="SimSun" panose="02010600030101010101" pitchFamily="2" charset="-122"/>
            </a:endParaRPr>
          </a:p>
          <a:p>
            <a:pPr lvl="1">
              <a:lnSpc>
                <a:spcPct val="90000"/>
              </a:lnSpc>
              <a:spcBef>
                <a:spcPts val="500"/>
              </a:spcBef>
            </a:pPr>
            <a:endParaRPr kumimoji="1" lang="en-US" altLang="zh-CN" sz="2000" dirty="0">
              <a:solidFill>
                <a:prstClr val="black"/>
              </a:solidFill>
              <a:latin typeface="SimSun" panose="02010600030101010101" pitchFamily="2" charset="-122"/>
              <a:ea typeface="SimSun" panose="02010600030101010101" pitchFamily="2" charset="-122"/>
            </a:endParaRPr>
          </a:p>
          <a:p>
            <a:pPr lvl="1">
              <a:lnSpc>
                <a:spcPct val="90000"/>
              </a:lnSpc>
              <a:spcBef>
                <a:spcPts val="500"/>
              </a:spcBef>
            </a:pPr>
            <a:endParaRPr kumimoji="1" lang="en-US" altLang="zh-CN" sz="2000" dirty="0">
              <a:solidFill>
                <a:prstClr val="black"/>
              </a:solidFill>
              <a:latin typeface="SimSun" panose="02010600030101010101" pitchFamily="2" charset="-122"/>
              <a:ea typeface="SimSun" panose="02010600030101010101" pitchFamily="2" charset="-122"/>
            </a:endParaRPr>
          </a:p>
          <a:p>
            <a:pPr lvl="1">
              <a:lnSpc>
                <a:spcPct val="90000"/>
              </a:lnSpc>
              <a:spcBef>
                <a:spcPts val="500"/>
              </a:spcBef>
            </a:pPr>
            <a:endParaRPr kumimoji="1" lang="en-US" altLang="zh-CN" sz="2000" dirty="0">
              <a:solidFill>
                <a:prstClr val="black"/>
              </a:solidFill>
              <a:latin typeface="SimSun" panose="02010600030101010101" pitchFamily="2" charset="-122"/>
              <a:ea typeface="SimSun" panose="02010600030101010101" pitchFamily="2" charset="-122"/>
            </a:endParaRPr>
          </a:p>
          <a:p>
            <a:pPr lvl="1">
              <a:lnSpc>
                <a:spcPct val="90000"/>
              </a:lnSpc>
              <a:spcBef>
                <a:spcPts val="500"/>
              </a:spcBef>
            </a:pPr>
            <a:endParaRPr kumimoji="1" lang="en-US" altLang="zh-CN" sz="2000" dirty="0">
              <a:solidFill>
                <a:prstClr val="black"/>
              </a:solidFill>
              <a:latin typeface="SimSun" panose="02010600030101010101" pitchFamily="2" charset="-122"/>
              <a:ea typeface="SimSun" panose="02010600030101010101" pitchFamily="2" charset="-122"/>
            </a:endParaRPr>
          </a:p>
          <a:p>
            <a:pPr lvl="1">
              <a:lnSpc>
                <a:spcPct val="90000"/>
              </a:lnSpc>
              <a:spcBef>
                <a:spcPts val="500"/>
              </a:spcBef>
            </a:pPr>
            <a:endParaRPr kumimoji="1" lang="en-US" altLang="zh-CN" sz="2000" dirty="0">
              <a:solidFill>
                <a:prstClr val="black"/>
              </a:solidFill>
              <a:latin typeface="SimSun" panose="02010600030101010101" pitchFamily="2" charset="-122"/>
              <a:ea typeface="SimSun" panose="02010600030101010101" pitchFamily="2" charset="-122"/>
            </a:endParaRPr>
          </a:p>
          <a:p>
            <a:pPr lvl="1">
              <a:lnSpc>
                <a:spcPct val="90000"/>
              </a:lnSpc>
              <a:spcBef>
                <a:spcPts val="500"/>
              </a:spcBef>
            </a:pPr>
            <a:endParaRPr kumimoji="1" lang="en-US" altLang="zh-CN" sz="2000" dirty="0">
              <a:solidFill>
                <a:prstClr val="black"/>
              </a:solidFill>
              <a:latin typeface="SimSun" panose="02010600030101010101" pitchFamily="2" charset="-122"/>
              <a:ea typeface="SimSun" panose="02010600030101010101" pitchFamily="2" charset="-122"/>
            </a:endParaRPr>
          </a:p>
          <a:p>
            <a:pPr lvl="1">
              <a:lnSpc>
                <a:spcPct val="90000"/>
              </a:lnSpc>
              <a:spcBef>
                <a:spcPts val="500"/>
              </a:spcBef>
            </a:pPr>
            <a:endParaRPr kumimoji="1" lang="en-US" altLang="zh-CN" sz="2000" dirty="0">
              <a:solidFill>
                <a:prstClr val="black"/>
              </a:solidFill>
              <a:latin typeface="SimSun" panose="02010600030101010101" pitchFamily="2" charset="-122"/>
              <a:ea typeface="SimSun" panose="02010600030101010101" pitchFamily="2" charset="-122"/>
            </a:endParaRPr>
          </a:p>
          <a:p>
            <a:pPr lvl="1">
              <a:lnSpc>
                <a:spcPct val="90000"/>
              </a:lnSpc>
              <a:spcBef>
                <a:spcPts val="500"/>
              </a:spcBef>
            </a:pPr>
            <a:endParaRPr kumimoji="1" lang="en-US" altLang="zh-CN" sz="2000" dirty="0">
              <a:solidFill>
                <a:prstClr val="black"/>
              </a:solidFill>
              <a:latin typeface="SimSun" panose="02010600030101010101" pitchFamily="2" charset="-122"/>
              <a:ea typeface="SimSun" panose="02010600030101010101" pitchFamily="2" charset="-122"/>
            </a:endParaRPr>
          </a:p>
          <a:p>
            <a:pPr lvl="1">
              <a:lnSpc>
                <a:spcPct val="90000"/>
              </a:lnSpc>
              <a:spcBef>
                <a:spcPts val="500"/>
              </a:spcBef>
            </a:pPr>
            <a:endParaRPr kumimoji="1" lang="en-US" altLang="zh-CN" sz="2000" dirty="0">
              <a:solidFill>
                <a:prstClr val="black"/>
              </a:solidFill>
              <a:latin typeface="SimSun" panose="02010600030101010101" pitchFamily="2" charset="-122"/>
              <a:ea typeface="SimSun" panose="02010600030101010101" pitchFamily="2" charset="-122"/>
            </a:endParaRPr>
          </a:p>
          <a:p>
            <a:pPr>
              <a:lnSpc>
                <a:spcPct val="90000"/>
              </a:lnSpc>
              <a:spcBef>
                <a:spcPts val="500"/>
              </a:spcBef>
            </a:pPr>
            <a:r>
              <a:rPr kumimoji="1" lang="zh-CN" altLang="en-US" sz="2000" dirty="0">
                <a:solidFill>
                  <a:prstClr val="black"/>
                </a:solidFill>
                <a:latin typeface="SimSun" panose="02010600030101010101" pitchFamily="2" charset="-122"/>
                <a:ea typeface="SimSun" panose="02010600030101010101" pitchFamily="2" charset="-122"/>
              </a:rPr>
              <a:t>广义表即为可嵌套的表（每个表元素还可以是表）</a:t>
            </a:r>
          </a:p>
          <a:p>
            <a:pPr lvl="1">
              <a:lnSpc>
                <a:spcPct val="90000"/>
              </a:lnSpc>
              <a:spcBef>
                <a:spcPts val="500"/>
              </a:spcBef>
            </a:pPr>
            <a:endParaRPr kumimoji="1" lang="zh-CN" altLang="en-US" sz="2000" dirty="0">
              <a:solidFill>
                <a:prstClr val="black"/>
              </a:solidFill>
              <a:latin typeface="SimSun" panose="02010600030101010101" pitchFamily="2" charset="-122"/>
              <a:ea typeface="SimSun" panose="02010600030101010101" pitchFamily="2" charset="-122"/>
            </a:endParaRP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5" name="图片 4">
            <a:extLst>
              <a:ext uri="{FF2B5EF4-FFF2-40B4-BE49-F238E27FC236}">
                <a16:creationId xmlns:a16="http://schemas.microsoft.com/office/drawing/2014/main" id="{A3806247-ED8F-EF41-B027-587F798EFE67}"/>
              </a:ext>
            </a:extLst>
          </p:cNvPr>
          <p:cNvPicPr>
            <a:picLocks noChangeAspect="1"/>
          </p:cNvPicPr>
          <p:nvPr/>
        </p:nvPicPr>
        <p:blipFill>
          <a:blip r:embed="rId3"/>
          <a:stretch>
            <a:fillRect/>
          </a:stretch>
        </p:blipFill>
        <p:spPr>
          <a:xfrm>
            <a:off x="1824259" y="2113837"/>
            <a:ext cx="8853642" cy="3537482"/>
          </a:xfrm>
          <a:prstGeom prst="rect">
            <a:avLst/>
          </a:prstGeom>
        </p:spPr>
      </p:pic>
    </p:spTree>
    <p:extLst>
      <p:ext uri="{BB962C8B-B14F-4D97-AF65-F5344CB8AC3E}">
        <p14:creationId xmlns:p14="http://schemas.microsoft.com/office/powerpoint/2010/main" val="349787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24</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第十二章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397032"/>
          </a:xfrm>
          <a:prstGeom prst="rect">
            <a:avLst/>
          </a:prstGeom>
        </p:spPr>
        <p:txBody>
          <a:bodyPr wrap="square">
            <a:spAutoFit/>
          </a:bodyPr>
          <a:lstStyle/>
          <a:p>
            <a:pPr marL="514350" lvl="0" indent="-514350">
              <a:lnSpc>
                <a:spcPct val="90000"/>
              </a:lnSpc>
              <a:spcBef>
                <a:spcPts val="1000"/>
              </a:spcBef>
              <a:buFont typeface="+mj-lt"/>
              <a:buAutoNum type="arabicPeriod"/>
            </a:pPr>
            <a:r>
              <a:rPr kumimoji="1" lang="en-US" altLang="zh-CN" sz="2200" dirty="0">
                <a:solidFill>
                  <a:prstClr val="black"/>
                </a:solidFill>
                <a:latin typeface="SimSun" panose="02010600030101010101" pitchFamily="2" charset="-122"/>
                <a:ea typeface="SimSun" panose="02010600030101010101" pitchFamily="2" charset="-122"/>
              </a:rPr>
              <a:t>(1) D: (A: (c), B: (e), C: (a, L: (b, c, d)))</a:t>
            </a:r>
            <a:endParaRPr kumimoji="1" lang="zh-CN" altLang="en-US" sz="2200" dirty="0">
              <a:solidFill>
                <a:prstClr val="black"/>
              </a:solidFill>
              <a:latin typeface="SimSun" panose="02010600030101010101" pitchFamily="2" charset="-122"/>
              <a:ea typeface="SimSun" panose="02010600030101010101" pitchFamily="2" charset="-122"/>
            </a:endParaRP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9" name="椭圆 8">
            <a:extLst>
              <a:ext uri="{FF2B5EF4-FFF2-40B4-BE49-F238E27FC236}">
                <a16:creationId xmlns:a16="http://schemas.microsoft.com/office/drawing/2014/main" id="{975F7F11-E9E0-2849-B48B-1E1F05F1F173}"/>
              </a:ext>
            </a:extLst>
          </p:cNvPr>
          <p:cNvSpPr/>
          <p:nvPr/>
        </p:nvSpPr>
        <p:spPr>
          <a:xfrm>
            <a:off x="1888652" y="1998106"/>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D</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0" name="椭圆 9">
            <a:extLst>
              <a:ext uri="{FF2B5EF4-FFF2-40B4-BE49-F238E27FC236}">
                <a16:creationId xmlns:a16="http://schemas.microsoft.com/office/drawing/2014/main" id="{383E2F76-80DC-884D-8BB4-5D97C22901AA}"/>
              </a:ext>
            </a:extLst>
          </p:cNvPr>
          <p:cNvSpPr/>
          <p:nvPr/>
        </p:nvSpPr>
        <p:spPr>
          <a:xfrm>
            <a:off x="942682" y="2789496"/>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A</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1" name="椭圆 10">
            <a:extLst>
              <a:ext uri="{FF2B5EF4-FFF2-40B4-BE49-F238E27FC236}">
                <a16:creationId xmlns:a16="http://schemas.microsoft.com/office/drawing/2014/main" id="{6283923A-6FF9-4D4F-B636-EA38606A8885}"/>
              </a:ext>
            </a:extLst>
          </p:cNvPr>
          <p:cNvSpPr/>
          <p:nvPr/>
        </p:nvSpPr>
        <p:spPr>
          <a:xfrm>
            <a:off x="1888652" y="2781877"/>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B</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2" name="椭圆 11">
            <a:extLst>
              <a:ext uri="{FF2B5EF4-FFF2-40B4-BE49-F238E27FC236}">
                <a16:creationId xmlns:a16="http://schemas.microsoft.com/office/drawing/2014/main" id="{A243CDD3-DC3D-F34C-9006-B052ADD4BEA6}"/>
              </a:ext>
            </a:extLst>
          </p:cNvPr>
          <p:cNvSpPr/>
          <p:nvPr/>
        </p:nvSpPr>
        <p:spPr>
          <a:xfrm>
            <a:off x="2834622" y="2789496"/>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C</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3" name="椭圆 12">
            <a:extLst>
              <a:ext uri="{FF2B5EF4-FFF2-40B4-BE49-F238E27FC236}">
                <a16:creationId xmlns:a16="http://schemas.microsoft.com/office/drawing/2014/main" id="{D2A89957-853F-4443-9A0C-FFDD04B6F73F}"/>
              </a:ext>
            </a:extLst>
          </p:cNvPr>
          <p:cNvSpPr/>
          <p:nvPr/>
        </p:nvSpPr>
        <p:spPr>
          <a:xfrm>
            <a:off x="3253175" y="3492714"/>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L</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EC3911B8-9061-8641-801D-72B8B282412B}"/>
              </a:ext>
            </a:extLst>
          </p:cNvPr>
          <p:cNvSpPr/>
          <p:nvPr/>
        </p:nvSpPr>
        <p:spPr>
          <a:xfrm>
            <a:off x="959011" y="3509043"/>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c</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5" name="矩形 14">
            <a:extLst>
              <a:ext uri="{FF2B5EF4-FFF2-40B4-BE49-F238E27FC236}">
                <a16:creationId xmlns:a16="http://schemas.microsoft.com/office/drawing/2014/main" id="{010D8C8B-2DB5-B34B-8FAD-96BC8911F5C3}"/>
              </a:ext>
            </a:extLst>
          </p:cNvPr>
          <p:cNvSpPr/>
          <p:nvPr/>
        </p:nvSpPr>
        <p:spPr>
          <a:xfrm>
            <a:off x="1904980" y="3511219"/>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e</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6A4F4EB4-BA75-5943-8B24-EFC12DC77E69}"/>
              </a:ext>
            </a:extLst>
          </p:cNvPr>
          <p:cNvSpPr/>
          <p:nvPr/>
        </p:nvSpPr>
        <p:spPr>
          <a:xfrm>
            <a:off x="2672695" y="4325472"/>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b</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CC473175-08F6-2841-8740-16B51E60896A}"/>
              </a:ext>
            </a:extLst>
          </p:cNvPr>
          <p:cNvSpPr/>
          <p:nvPr/>
        </p:nvSpPr>
        <p:spPr>
          <a:xfrm>
            <a:off x="2579077" y="3509043"/>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a</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C416667D-DA2B-BA44-90C7-A8D6067A79B3}"/>
              </a:ext>
            </a:extLst>
          </p:cNvPr>
          <p:cNvSpPr/>
          <p:nvPr/>
        </p:nvSpPr>
        <p:spPr>
          <a:xfrm>
            <a:off x="3269503" y="4325472"/>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c</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C7EF8499-712B-C046-A45D-37B82A651014}"/>
              </a:ext>
            </a:extLst>
          </p:cNvPr>
          <p:cNvSpPr/>
          <p:nvPr/>
        </p:nvSpPr>
        <p:spPr>
          <a:xfrm>
            <a:off x="3904954" y="4325472"/>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d</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20" name="直线箭头连接符 19">
            <a:extLst>
              <a:ext uri="{FF2B5EF4-FFF2-40B4-BE49-F238E27FC236}">
                <a16:creationId xmlns:a16="http://schemas.microsoft.com/office/drawing/2014/main" id="{45DDB0D8-B287-9C4A-B64D-31D161BE9232}"/>
              </a:ext>
            </a:extLst>
          </p:cNvPr>
          <p:cNvCxnSpPr>
            <a:stCxn id="9" idx="3"/>
            <a:endCxn id="10" idx="0"/>
          </p:cNvCxnSpPr>
          <p:nvPr/>
        </p:nvCxnSpPr>
        <p:spPr>
          <a:xfrm flipH="1">
            <a:off x="1187611" y="2416225"/>
            <a:ext cx="772779" cy="3732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336F8D96-67E6-9F4E-A25A-CC730446A001}"/>
              </a:ext>
            </a:extLst>
          </p:cNvPr>
          <p:cNvCxnSpPr>
            <a:stCxn id="9" idx="4"/>
            <a:endCxn id="11" idx="0"/>
          </p:cNvCxnSpPr>
          <p:nvPr/>
        </p:nvCxnSpPr>
        <p:spPr>
          <a:xfrm>
            <a:off x="2133581" y="2487963"/>
            <a:ext cx="0" cy="2939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线箭头连接符 21">
            <a:extLst>
              <a:ext uri="{FF2B5EF4-FFF2-40B4-BE49-F238E27FC236}">
                <a16:creationId xmlns:a16="http://schemas.microsoft.com/office/drawing/2014/main" id="{1CC76BBD-9AE7-6A4A-9E9F-66E1BABA2B8F}"/>
              </a:ext>
            </a:extLst>
          </p:cNvPr>
          <p:cNvCxnSpPr>
            <a:stCxn id="9" idx="5"/>
            <a:endCxn id="12" idx="0"/>
          </p:cNvCxnSpPr>
          <p:nvPr/>
        </p:nvCxnSpPr>
        <p:spPr>
          <a:xfrm>
            <a:off x="2306771" y="2416225"/>
            <a:ext cx="772780" cy="3732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线箭头连接符 22">
            <a:extLst>
              <a:ext uri="{FF2B5EF4-FFF2-40B4-BE49-F238E27FC236}">
                <a16:creationId xmlns:a16="http://schemas.microsoft.com/office/drawing/2014/main" id="{A780E6E4-A448-604F-9247-C7FA8C4D9823}"/>
              </a:ext>
            </a:extLst>
          </p:cNvPr>
          <p:cNvCxnSpPr>
            <a:stCxn id="10" idx="4"/>
            <a:endCxn id="14" idx="0"/>
          </p:cNvCxnSpPr>
          <p:nvPr/>
        </p:nvCxnSpPr>
        <p:spPr>
          <a:xfrm>
            <a:off x="1187611" y="3279353"/>
            <a:ext cx="0" cy="2296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线箭头连接符 23">
            <a:extLst>
              <a:ext uri="{FF2B5EF4-FFF2-40B4-BE49-F238E27FC236}">
                <a16:creationId xmlns:a16="http://schemas.microsoft.com/office/drawing/2014/main" id="{F3C22D86-9282-7E4F-8F70-CC48AE581288}"/>
              </a:ext>
            </a:extLst>
          </p:cNvPr>
          <p:cNvCxnSpPr>
            <a:stCxn id="11" idx="4"/>
            <a:endCxn id="15" idx="0"/>
          </p:cNvCxnSpPr>
          <p:nvPr/>
        </p:nvCxnSpPr>
        <p:spPr>
          <a:xfrm flipH="1">
            <a:off x="2133580" y="3271734"/>
            <a:ext cx="1" cy="2394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0514823F-D816-D14F-B35A-C8DB4AAEF84E}"/>
              </a:ext>
            </a:extLst>
          </p:cNvPr>
          <p:cNvCxnSpPr>
            <a:stCxn id="12" idx="3"/>
            <a:endCxn id="17" idx="0"/>
          </p:cNvCxnSpPr>
          <p:nvPr/>
        </p:nvCxnSpPr>
        <p:spPr>
          <a:xfrm flipH="1">
            <a:off x="2807677" y="3207615"/>
            <a:ext cx="98683" cy="3014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线箭头连接符 25">
            <a:extLst>
              <a:ext uri="{FF2B5EF4-FFF2-40B4-BE49-F238E27FC236}">
                <a16:creationId xmlns:a16="http://schemas.microsoft.com/office/drawing/2014/main" id="{51A86FFA-8E99-6F4F-8D7C-167FCCD9660B}"/>
              </a:ext>
            </a:extLst>
          </p:cNvPr>
          <p:cNvCxnSpPr>
            <a:stCxn id="12" idx="5"/>
            <a:endCxn id="13" idx="0"/>
          </p:cNvCxnSpPr>
          <p:nvPr/>
        </p:nvCxnSpPr>
        <p:spPr>
          <a:xfrm>
            <a:off x="3252741" y="3207615"/>
            <a:ext cx="245363" cy="2850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线箭头连接符 26">
            <a:extLst>
              <a:ext uri="{FF2B5EF4-FFF2-40B4-BE49-F238E27FC236}">
                <a16:creationId xmlns:a16="http://schemas.microsoft.com/office/drawing/2014/main" id="{4A7FA884-E87B-4448-8F33-B3354E584B35}"/>
              </a:ext>
            </a:extLst>
          </p:cNvPr>
          <p:cNvCxnSpPr>
            <a:stCxn id="13" idx="3"/>
            <a:endCxn id="16" idx="0"/>
          </p:cNvCxnSpPr>
          <p:nvPr/>
        </p:nvCxnSpPr>
        <p:spPr>
          <a:xfrm flipH="1">
            <a:off x="2901295" y="3910833"/>
            <a:ext cx="423618" cy="4146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线箭头连接符 27">
            <a:extLst>
              <a:ext uri="{FF2B5EF4-FFF2-40B4-BE49-F238E27FC236}">
                <a16:creationId xmlns:a16="http://schemas.microsoft.com/office/drawing/2014/main" id="{C722CBCF-F84F-3F47-841C-8D1A083D37C0}"/>
              </a:ext>
            </a:extLst>
          </p:cNvPr>
          <p:cNvCxnSpPr>
            <a:stCxn id="13" idx="4"/>
            <a:endCxn id="18" idx="0"/>
          </p:cNvCxnSpPr>
          <p:nvPr/>
        </p:nvCxnSpPr>
        <p:spPr>
          <a:xfrm flipH="1">
            <a:off x="3498103" y="3982571"/>
            <a:ext cx="1" cy="3429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线箭头连接符 28">
            <a:extLst>
              <a:ext uri="{FF2B5EF4-FFF2-40B4-BE49-F238E27FC236}">
                <a16:creationId xmlns:a16="http://schemas.microsoft.com/office/drawing/2014/main" id="{E992DF64-3D8F-7549-806E-86612D45E776}"/>
              </a:ext>
            </a:extLst>
          </p:cNvPr>
          <p:cNvCxnSpPr>
            <a:stCxn id="13" idx="5"/>
            <a:endCxn id="19" idx="0"/>
          </p:cNvCxnSpPr>
          <p:nvPr/>
        </p:nvCxnSpPr>
        <p:spPr>
          <a:xfrm>
            <a:off x="3671294" y="3910833"/>
            <a:ext cx="462260" cy="4146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00A1F608-DA02-6A43-B8AD-E33042D0DA4E}"/>
              </a:ext>
            </a:extLst>
          </p:cNvPr>
          <p:cNvPicPr>
            <a:picLocks noChangeAspect="1"/>
          </p:cNvPicPr>
          <p:nvPr/>
        </p:nvPicPr>
        <p:blipFill>
          <a:blip r:embed="rId3"/>
          <a:stretch>
            <a:fillRect/>
          </a:stretch>
        </p:blipFill>
        <p:spPr>
          <a:xfrm>
            <a:off x="4446890" y="1729839"/>
            <a:ext cx="7642427" cy="3533128"/>
          </a:xfrm>
          <a:prstGeom prst="rect">
            <a:avLst/>
          </a:prstGeom>
        </p:spPr>
      </p:pic>
    </p:spTree>
    <p:extLst>
      <p:ext uri="{BB962C8B-B14F-4D97-AF65-F5344CB8AC3E}">
        <p14:creationId xmlns:p14="http://schemas.microsoft.com/office/powerpoint/2010/main" val="1097676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25</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第十二章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397032"/>
          </a:xfrm>
          <a:prstGeom prst="rect">
            <a:avLst/>
          </a:prstGeom>
        </p:spPr>
        <p:txBody>
          <a:bodyPr wrap="square">
            <a:spAutoFit/>
          </a:bodyPr>
          <a:lstStyle/>
          <a:p>
            <a:pPr marL="514350" lvl="0" indent="-514350">
              <a:lnSpc>
                <a:spcPct val="90000"/>
              </a:lnSpc>
              <a:spcBef>
                <a:spcPts val="1000"/>
              </a:spcBef>
              <a:buFont typeface="+mj-lt"/>
              <a:buAutoNum type="arabicPeriod"/>
            </a:pPr>
            <a:r>
              <a:rPr kumimoji="1" lang="en-US" altLang="zh-CN" sz="2200" dirty="0">
                <a:solidFill>
                  <a:prstClr val="black"/>
                </a:solidFill>
                <a:latin typeface="SimSun" panose="02010600030101010101" pitchFamily="2" charset="-122"/>
                <a:ea typeface="SimSun" panose="02010600030101010101" pitchFamily="2" charset="-122"/>
              </a:rPr>
              <a:t>(1) D: (A: (c), B: (e), C: (a, L: (b, c, d)))</a:t>
            </a:r>
            <a:endParaRPr kumimoji="1" lang="zh-CN" altLang="en-US" sz="2200" dirty="0">
              <a:solidFill>
                <a:prstClr val="black"/>
              </a:solidFill>
              <a:latin typeface="SimSun" panose="02010600030101010101" pitchFamily="2" charset="-122"/>
              <a:ea typeface="SimSun" panose="02010600030101010101" pitchFamily="2" charset="-122"/>
            </a:endParaRP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30" name="椭圆 29">
            <a:extLst>
              <a:ext uri="{FF2B5EF4-FFF2-40B4-BE49-F238E27FC236}">
                <a16:creationId xmlns:a16="http://schemas.microsoft.com/office/drawing/2014/main" id="{BE77E8EF-33E9-7A49-851F-E02D9D0CAE2A}"/>
              </a:ext>
            </a:extLst>
          </p:cNvPr>
          <p:cNvSpPr/>
          <p:nvPr/>
        </p:nvSpPr>
        <p:spPr>
          <a:xfrm>
            <a:off x="1888652" y="1949307"/>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D</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31" name="椭圆 30">
            <a:extLst>
              <a:ext uri="{FF2B5EF4-FFF2-40B4-BE49-F238E27FC236}">
                <a16:creationId xmlns:a16="http://schemas.microsoft.com/office/drawing/2014/main" id="{9F7C42E9-DB93-9A44-8704-72589ABEA265}"/>
              </a:ext>
            </a:extLst>
          </p:cNvPr>
          <p:cNvSpPr/>
          <p:nvPr/>
        </p:nvSpPr>
        <p:spPr>
          <a:xfrm>
            <a:off x="942682" y="2740697"/>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A</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32" name="椭圆 31">
            <a:extLst>
              <a:ext uri="{FF2B5EF4-FFF2-40B4-BE49-F238E27FC236}">
                <a16:creationId xmlns:a16="http://schemas.microsoft.com/office/drawing/2014/main" id="{82F54A6B-E387-4D45-8F00-27A1DBD75EF7}"/>
              </a:ext>
            </a:extLst>
          </p:cNvPr>
          <p:cNvSpPr/>
          <p:nvPr/>
        </p:nvSpPr>
        <p:spPr>
          <a:xfrm>
            <a:off x="1888652" y="2733078"/>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B</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33" name="椭圆 32">
            <a:extLst>
              <a:ext uri="{FF2B5EF4-FFF2-40B4-BE49-F238E27FC236}">
                <a16:creationId xmlns:a16="http://schemas.microsoft.com/office/drawing/2014/main" id="{505351D4-07D7-994B-B010-8D0BE34337DE}"/>
              </a:ext>
            </a:extLst>
          </p:cNvPr>
          <p:cNvSpPr/>
          <p:nvPr/>
        </p:nvSpPr>
        <p:spPr>
          <a:xfrm>
            <a:off x="2834622" y="2740697"/>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C</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34" name="椭圆 33">
            <a:extLst>
              <a:ext uri="{FF2B5EF4-FFF2-40B4-BE49-F238E27FC236}">
                <a16:creationId xmlns:a16="http://schemas.microsoft.com/office/drawing/2014/main" id="{2EB6ED22-5679-5246-955E-5F4F4B4CC37D}"/>
              </a:ext>
            </a:extLst>
          </p:cNvPr>
          <p:cNvSpPr/>
          <p:nvPr/>
        </p:nvSpPr>
        <p:spPr>
          <a:xfrm>
            <a:off x="3253175" y="3443915"/>
            <a:ext cx="489857" cy="4898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L</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3196A772-9C0F-E543-B7F2-675E261F2A10}"/>
              </a:ext>
            </a:extLst>
          </p:cNvPr>
          <p:cNvSpPr/>
          <p:nvPr/>
        </p:nvSpPr>
        <p:spPr>
          <a:xfrm>
            <a:off x="959011" y="3460244"/>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c</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1F51B725-DD93-E149-BEC8-79E921354845}"/>
              </a:ext>
            </a:extLst>
          </p:cNvPr>
          <p:cNvSpPr/>
          <p:nvPr/>
        </p:nvSpPr>
        <p:spPr>
          <a:xfrm>
            <a:off x="1904980" y="3462420"/>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e</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B08C00DD-72FB-1B40-968E-5BE92BCD74BE}"/>
              </a:ext>
            </a:extLst>
          </p:cNvPr>
          <p:cNvSpPr/>
          <p:nvPr/>
        </p:nvSpPr>
        <p:spPr>
          <a:xfrm>
            <a:off x="2672695" y="4276673"/>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b</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38" name="矩形 37">
            <a:extLst>
              <a:ext uri="{FF2B5EF4-FFF2-40B4-BE49-F238E27FC236}">
                <a16:creationId xmlns:a16="http://schemas.microsoft.com/office/drawing/2014/main" id="{06E26980-E2D2-CD4A-8F81-394C86321A27}"/>
              </a:ext>
            </a:extLst>
          </p:cNvPr>
          <p:cNvSpPr/>
          <p:nvPr/>
        </p:nvSpPr>
        <p:spPr>
          <a:xfrm>
            <a:off x="2579077" y="3460244"/>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a</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39" name="矩形 38">
            <a:extLst>
              <a:ext uri="{FF2B5EF4-FFF2-40B4-BE49-F238E27FC236}">
                <a16:creationId xmlns:a16="http://schemas.microsoft.com/office/drawing/2014/main" id="{876AC889-48F2-2F4E-AAA3-EA683D9BF2F4}"/>
              </a:ext>
            </a:extLst>
          </p:cNvPr>
          <p:cNvSpPr/>
          <p:nvPr/>
        </p:nvSpPr>
        <p:spPr>
          <a:xfrm>
            <a:off x="3904954" y="4276673"/>
            <a:ext cx="457200"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ysClr val="windowText" lastClr="000000"/>
                </a:solidFill>
                <a:latin typeface="Times New Roman" panose="02020603050405020304" pitchFamily="18" charset="0"/>
                <a:cs typeface="Times New Roman" panose="02020603050405020304" pitchFamily="18" charset="0"/>
              </a:rPr>
              <a:t>d</a:t>
            </a:r>
            <a:endParaRPr kumimoji="1" lang="zh-CN" altLang="en-US" dirty="0">
              <a:solidFill>
                <a:sysClr val="windowText" lastClr="000000"/>
              </a:solidFill>
              <a:latin typeface="Times New Roman" panose="02020603050405020304" pitchFamily="18" charset="0"/>
              <a:cs typeface="Times New Roman" panose="02020603050405020304" pitchFamily="18" charset="0"/>
            </a:endParaRPr>
          </a:p>
        </p:txBody>
      </p:sp>
      <p:cxnSp>
        <p:nvCxnSpPr>
          <p:cNvPr id="40" name="直线箭头连接符 39">
            <a:extLst>
              <a:ext uri="{FF2B5EF4-FFF2-40B4-BE49-F238E27FC236}">
                <a16:creationId xmlns:a16="http://schemas.microsoft.com/office/drawing/2014/main" id="{4A3B66E3-0720-4D43-B89D-9BE88449B4EA}"/>
              </a:ext>
            </a:extLst>
          </p:cNvPr>
          <p:cNvCxnSpPr>
            <a:stCxn id="30" idx="3"/>
            <a:endCxn id="31" idx="0"/>
          </p:cNvCxnSpPr>
          <p:nvPr/>
        </p:nvCxnSpPr>
        <p:spPr>
          <a:xfrm flipH="1">
            <a:off x="1187611" y="2367426"/>
            <a:ext cx="772779" cy="3732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线箭头连接符 40">
            <a:extLst>
              <a:ext uri="{FF2B5EF4-FFF2-40B4-BE49-F238E27FC236}">
                <a16:creationId xmlns:a16="http://schemas.microsoft.com/office/drawing/2014/main" id="{D91C23B7-9031-4D4B-9802-73152A98E656}"/>
              </a:ext>
            </a:extLst>
          </p:cNvPr>
          <p:cNvCxnSpPr>
            <a:stCxn id="30" idx="4"/>
            <a:endCxn id="32" idx="0"/>
          </p:cNvCxnSpPr>
          <p:nvPr/>
        </p:nvCxnSpPr>
        <p:spPr>
          <a:xfrm>
            <a:off x="2133581" y="2439164"/>
            <a:ext cx="0" cy="2939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线箭头连接符 41">
            <a:extLst>
              <a:ext uri="{FF2B5EF4-FFF2-40B4-BE49-F238E27FC236}">
                <a16:creationId xmlns:a16="http://schemas.microsoft.com/office/drawing/2014/main" id="{C516E9A4-A475-9841-BA1B-69AF8E60F183}"/>
              </a:ext>
            </a:extLst>
          </p:cNvPr>
          <p:cNvCxnSpPr>
            <a:stCxn id="30" idx="5"/>
            <a:endCxn id="33" idx="0"/>
          </p:cNvCxnSpPr>
          <p:nvPr/>
        </p:nvCxnSpPr>
        <p:spPr>
          <a:xfrm>
            <a:off x="2306771" y="2367426"/>
            <a:ext cx="772780" cy="3732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线箭头连接符 42">
            <a:extLst>
              <a:ext uri="{FF2B5EF4-FFF2-40B4-BE49-F238E27FC236}">
                <a16:creationId xmlns:a16="http://schemas.microsoft.com/office/drawing/2014/main" id="{32211BE9-58BB-8B4F-9BCE-63CE4F1E4ECE}"/>
              </a:ext>
            </a:extLst>
          </p:cNvPr>
          <p:cNvCxnSpPr>
            <a:stCxn id="31" idx="4"/>
            <a:endCxn id="35" idx="0"/>
          </p:cNvCxnSpPr>
          <p:nvPr/>
        </p:nvCxnSpPr>
        <p:spPr>
          <a:xfrm>
            <a:off x="1187611" y="3230554"/>
            <a:ext cx="0" cy="2296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线箭头连接符 43">
            <a:extLst>
              <a:ext uri="{FF2B5EF4-FFF2-40B4-BE49-F238E27FC236}">
                <a16:creationId xmlns:a16="http://schemas.microsoft.com/office/drawing/2014/main" id="{BD109B0B-8D57-F446-B1ED-11ABDC693604}"/>
              </a:ext>
            </a:extLst>
          </p:cNvPr>
          <p:cNvCxnSpPr>
            <a:stCxn id="32" idx="4"/>
            <a:endCxn id="36" idx="0"/>
          </p:cNvCxnSpPr>
          <p:nvPr/>
        </p:nvCxnSpPr>
        <p:spPr>
          <a:xfrm flipH="1">
            <a:off x="2133580" y="3222935"/>
            <a:ext cx="1" cy="2394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线箭头连接符 44">
            <a:extLst>
              <a:ext uri="{FF2B5EF4-FFF2-40B4-BE49-F238E27FC236}">
                <a16:creationId xmlns:a16="http://schemas.microsoft.com/office/drawing/2014/main" id="{A0B47260-3170-3F4A-9A18-36B964AD8B7C}"/>
              </a:ext>
            </a:extLst>
          </p:cNvPr>
          <p:cNvCxnSpPr>
            <a:stCxn id="33" idx="3"/>
            <a:endCxn id="38" idx="0"/>
          </p:cNvCxnSpPr>
          <p:nvPr/>
        </p:nvCxnSpPr>
        <p:spPr>
          <a:xfrm flipH="1">
            <a:off x="2807677" y="3158816"/>
            <a:ext cx="98683" cy="3014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线箭头连接符 45">
            <a:extLst>
              <a:ext uri="{FF2B5EF4-FFF2-40B4-BE49-F238E27FC236}">
                <a16:creationId xmlns:a16="http://schemas.microsoft.com/office/drawing/2014/main" id="{C45AEE23-B46F-344E-846D-238CC2F20199}"/>
              </a:ext>
            </a:extLst>
          </p:cNvPr>
          <p:cNvCxnSpPr>
            <a:stCxn id="33" idx="5"/>
            <a:endCxn id="34" idx="0"/>
          </p:cNvCxnSpPr>
          <p:nvPr/>
        </p:nvCxnSpPr>
        <p:spPr>
          <a:xfrm>
            <a:off x="3252741" y="3158816"/>
            <a:ext cx="245363" cy="2850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线箭头连接符 46">
            <a:extLst>
              <a:ext uri="{FF2B5EF4-FFF2-40B4-BE49-F238E27FC236}">
                <a16:creationId xmlns:a16="http://schemas.microsoft.com/office/drawing/2014/main" id="{BC508CCC-56E3-2D49-86B9-7F54CF6E71C4}"/>
              </a:ext>
            </a:extLst>
          </p:cNvPr>
          <p:cNvCxnSpPr>
            <a:stCxn id="34" idx="3"/>
            <a:endCxn id="37" idx="0"/>
          </p:cNvCxnSpPr>
          <p:nvPr/>
        </p:nvCxnSpPr>
        <p:spPr>
          <a:xfrm flipH="1">
            <a:off x="2901295" y="3862034"/>
            <a:ext cx="423618" cy="4146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线箭头连接符 47">
            <a:extLst>
              <a:ext uri="{FF2B5EF4-FFF2-40B4-BE49-F238E27FC236}">
                <a16:creationId xmlns:a16="http://schemas.microsoft.com/office/drawing/2014/main" id="{0DE21017-4C0C-6B49-B02A-81C1E2BDCD33}"/>
              </a:ext>
            </a:extLst>
          </p:cNvPr>
          <p:cNvCxnSpPr>
            <a:stCxn id="34" idx="5"/>
            <a:endCxn id="39" idx="0"/>
          </p:cNvCxnSpPr>
          <p:nvPr/>
        </p:nvCxnSpPr>
        <p:spPr>
          <a:xfrm>
            <a:off x="3671294" y="3862034"/>
            <a:ext cx="462260" cy="4146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曲线连接符 48">
            <a:extLst>
              <a:ext uri="{FF2B5EF4-FFF2-40B4-BE49-F238E27FC236}">
                <a16:creationId xmlns:a16="http://schemas.microsoft.com/office/drawing/2014/main" id="{E730A43B-9755-EE44-91FC-7A671994DBBD}"/>
              </a:ext>
            </a:extLst>
          </p:cNvPr>
          <p:cNvCxnSpPr>
            <a:stCxn id="34" idx="4"/>
            <a:endCxn id="31" idx="6"/>
          </p:cNvCxnSpPr>
          <p:nvPr/>
        </p:nvCxnSpPr>
        <p:spPr>
          <a:xfrm rot="5400000" flipH="1">
            <a:off x="1991249" y="2426917"/>
            <a:ext cx="948146" cy="2065565"/>
          </a:xfrm>
          <a:prstGeom prst="curvedConnector4">
            <a:avLst>
              <a:gd name="adj1" fmla="val -135017"/>
              <a:gd name="adj2" fmla="val 8322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0" name="图片 49">
            <a:extLst>
              <a:ext uri="{FF2B5EF4-FFF2-40B4-BE49-F238E27FC236}">
                <a16:creationId xmlns:a16="http://schemas.microsoft.com/office/drawing/2014/main" id="{851393D7-70CD-D247-9926-0A7DF3A9BF34}"/>
              </a:ext>
            </a:extLst>
          </p:cNvPr>
          <p:cNvPicPr>
            <a:picLocks noChangeAspect="1"/>
          </p:cNvPicPr>
          <p:nvPr/>
        </p:nvPicPr>
        <p:blipFill>
          <a:blip r:embed="rId3"/>
          <a:stretch>
            <a:fillRect/>
          </a:stretch>
        </p:blipFill>
        <p:spPr>
          <a:xfrm>
            <a:off x="4375116" y="1871271"/>
            <a:ext cx="7642427" cy="3528094"/>
          </a:xfrm>
          <a:prstGeom prst="rect">
            <a:avLst/>
          </a:prstGeom>
        </p:spPr>
      </p:pic>
    </p:spTree>
    <p:extLst>
      <p:ext uri="{BB962C8B-B14F-4D97-AF65-F5344CB8AC3E}">
        <p14:creationId xmlns:p14="http://schemas.microsoft.com/office/powerpoint/2010/main" val="144624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26</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第十二章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1695849"/>
          </a:xfrm>
          <a:prstGeom prst="rect">
            <a:avLst/>
          </a:prstGeom>
        </p:spPr>
        <p:txBody>
          <a:bodyPr wrap="square">
            <a:spAutoFit/>
          </a:bodyPr>
          <a:lstStyle/>
          <a:p>
            <a:pPr marL="514350" indent="-514350">
              <a:lnSpc>
                <a:spcPct val="90000"/>
              </a:lnSpc>
              <a:spcBef>
                <a:spcPts val="1000"/>
              </a:spcBef>
              <a:buFont typeface="+mj-lt"/>
              <a:buAutoNum type="arabicPeriod"/>
            </a:pPr>
            <a:r>
              <a:rPr kumimoji="1" lang="en-US" altLang="zh-CN" sz="2200" dirty="0">
                <a:solidFill>
                  <a:prstClr val="black"/>
                </a:solidFill>
                <a:latin typeface="SimSun" panose="02010600030101010101" pitchFamily="2" charset="-122"/>
                <a:ea typeface="SimSun" panose="02010600030101010101" pitchFamily="2" charset="-122"/>
              </a:rPr>
              <a:t>(2)</a:t>
            </a:r>
            <a:r>
              <a:rPr kumimoji="1" lang="zh-CN" altLang="en-US" sz="2200" dirty="0">
                <a:solidFill>
                  <a:prstClr val="black"/>
                </a:solidFill>
                <a:latin typeface="SimSun" panose="02010600030101010101" pitchFamily="2" charset="-122"/>
                <a:ea typeface="SimSun" panose="02010600030101010101" pitchFamily="2" charset="-122"/>
              </a:rPr>
              <a:t>给出以下图形表示，请写出对应的广义表。</a:t>
            </a:r>
            <a:endParaRPr kumimoji="1" lang="en-US" altLang="zh-CN" sz="2200" dirty="0">
              <a:solidFill>
                <a:prstClr val="black"/>
              </a:solidFill>
              <a:latin typeface="SimSun" panose="02010600030101010101" pitchFamily="2" charset="-122"/>
              <a:ea typeface="SimSun" panose="02010600030101010101" pitchFamily="2" charset="-122"/>
            </a:endParaRPr>
          </a:p>
          <a:p>
            <a:pPr marL="514350" indent="-514350">
              <a:lnSpc>
                <a:spcPct val="90000"/>
              </a:lnSpc>
              <a:spcBef>
                <a:spcPts val="1000"/>
              </a:spcBef>
              <a:buFont typeface="+mj-lt"/>
              <a:buAutoNum type="arabicPeriod"/>
            </a:pPr>
            <a:endParaRPr kumimoji="1" lang="en-US" altLang="zh-CN" sz="2200" dirty="0">
              <a:solidFill>
                <a:prstClr val="black"/>
              </a:solidFill>
              <a:latin typeface="SimSun" panose="02010600030101010101" pitchFamily="2" charset="-122"/>
              <a:ea typeface="SimSun" panose="02010600030101010101" pitchFamily="2" charset="-122"/>
            </a:endParaRPr>
          </a:p>
          <a:p>
            <a:pPr>
              <a:lnSpc>
                <a:spcPct val="90000"/>
              </a:lnSpc>
              <a:spcBef>
                <a:spcPts val="1000"/>
              </a:spcBef>
            </a:pPr>
            <a:r>
              <a:rPr kumimoji="1" lang="en-US" altLang="zh-CN" sz="2200" dirty="0">
                <a:solidFill>
                  <a:prstClr val="black"/>
                </a:solidFill>
                <a:latin typeface="SimSun" panose="02010600030101010101" pitchFamily="2" charset="-122"/>
                <a:ea typeface="SimSun" panose="02010600030101010101" pitchFamily="2" charset="-122"/>
              </a:rPr>
              <a:t>((a, L0:(b)), L1: (L0, c, d), e, L2: (L1, L2)) </a:t>
            </a:r>
          </a:p>
          <a:p>
            <a:pPr>
              <a:lnSpc>
                <a:spcPct val="90000"/>
              </a:lnSpc>
              <a:spcBef>
                <a:spcPts val="1000"/>
              </a:spcBef>
            </a:pPr>
            <a:r>
              <a:rPr kumimoji="1" lang="zh-CN" altLang="en-US" sz="2200" dirty="0">
                <a:solidFill>
                  <a:prstClr val="black"/>
                </a:solidFill>
                <a:latin typeface="SimSun" panose="02010600030101010101" pitchFamily="2" charset="-122"/>
                <a:ea typeface="SimSun" panose="02010600030101010101" pitchFamily="2" charset="-122"/>
              </a:rPr>
              <a:t>（标号可改变，保持对应关系即可）</a:t>
            </a:r>
          </a:p>
        </p:txBody>
      </p:sp>
      <p:pic>
        <p:nvPicPr>
          <p:cNvPr id="7" name="图片 6">
            <a:extLst>
              <a:ext uri="{FF2B5EF4-FFF2-40B4-BE49-F238E27FC236}">
                <a16:creationId xmlns:a16="http://schemas.microsoft.com/office/drawing/2014/main" id="{FEEEE0C2-DC62-694C-9579-7A099CDF6166}"/>
              </a:ext>
            </a:extLst>
          </p:cNvPr>
          <p:cNvPicPr>
            <a:picLocks noChangeAspect="1"/>
          </p:cNvPicPr>
          <p:nvPr/>
        </p:nvPicPr>
        <p:blipFill>
          <a:blip r:embed="rId3"/>
          <a:stretch>
            <a:fillRect/>
          </a:stretch>
        </p:blipFill>
        <p:spPr>
          <a:xfrm>
            <a:off x="7995725" y="1207613"/>
            <a:ext cx="3646588" cy="2911505"/>
          </a:xfrm>
          <a:prstGeom prst="rect">
            <a:avLst/>
          </a:prstGeom>
        </p:spPr>
      </p:pic>
    </p:spTree>
    <p:extLst>
      <p:ext uri="{BB962C8B-B14F-4D97-AF65-F5344CB8AC3E}">
        <p14:creationId xmlns:p14="http://schemas.microsoft.com/office/powerpoint/2010/main" val="2383622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27</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第十二章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3524042"/>
              </a:xfrm>
              <a:prstGeom prst="rect">
                <a:avLst/>
              </a:prstGeom>
            </p:spPr>
            <p:txBody>
              <a:bodyPr wrap="square">
                <a:spAutoFit/>
              </a:bodyPr>
              <a:lstStyle/>
              <a:p>
                <a:pPr marL="514350" indent="-514350">
                  <a:lnSpc>
                    <a:spcPct val="90000"/>
                  </a:lnSpc>
                  <a:spcBef>
                    <a:spcPts val="1000"/>
                  </a:spcBef>
                  <a:buFont typeface="+mj-lt"/>
                  <a:buAutoNum type="arabicPeriod" startAt="2"/>
                </a:pPr>
                <a:r>
                  <a:rPr kumimoji="1" lang="zh-CN" altLang="en-US" sz="2200" dirty="0">
                    <a:solidFill>
                      <a:prstClr val="black"/>
                    </a:solidFill>
                    <a:latin typeface="SimSun" panose="02010600030101010101" pitchFamily="2" charset="-122"/>
                    <a:ea typeface="SimSun" panose="02010600030101010101" pitchFamily="2" charset="-122"/>
                  </a:rPr>
                  <a:t>求一个长度为</a:t>
                </a:r>
                <a:r>
                  <a:rPr kumimoji="1" lang="en-US" altLang="zh-CN" sz="2200" dirty="0">
                    <a:solidFill>
                      <a:prstClr val="black"/>
                    </a:solidFill>
                    <a:latin typeface="SimSun" panose="02010600030101010101" pitchFamily="2" charset="-122"/>
                    <a:ea typeface="SimSun" panose="02010600030101010101" pitchFamily="2" charset="-122"/>
                  </a:rPr>
                  <a:t>N</a:t>
                </a:r>
                <a:r>
                  <a:rPr kumimoji="1" lang="zh-CN" altLang="en-US" sz="2200" dirty="0">
                    <a:solidFill>
                      <a:prstClr val="black"/>
                    </a:solidFill>
                    <a:latin typeface="SimSun" panose="02010600030101010101" pitchFamily="2" charset="-122"/>
                    <a:ea typeface="SimSun" panose="02010600030101010101" pitchFamily="2" charset="-122"/>
                  </a:rPr>
                  <a:t>的字符串的所有不同子串 </a:t>
                </a:r>
                <a:r>
                  <a:rPr kumimoji="1" lang="en-US" altLang="zh-CN" sz="2200" dirty="0">
                    <a:solidFill>
                      <a:prstClr val="black"/>
                    </a:solidFill>
                    <a:latin typeface="SimSun" panose="02010600030101010101" pitchFamily="2" charset="-122"/>
                    <a:ea typeface="SimSun" panose="02010600030101010101" pitchFamily="2" charset="-122"/>
                  </a:rPr>
                  <a:t>(substring) </a:t>
                </a:r>
                <a:r>
                  <a:rPr kumimoji="1" lang="zh-CN" altLang="en-US" sz="2200" dirty="0">
                    <a:solidFill>
                      <a:prstClr val="black"/>
                    </a:solidFill>
                    <a:latin typeface="SimSun" panose="02010600030101010101" pitchFamily="2" charset="-122"/>
                    <a:ea typeface="SimSun" panose="02010600030101010101" pitchFamily="2" charset="-122"/>
                  </a:rPr>
                  <a:t>的个数。注意，这里的</a:t>
                </a:r>
                <a:r>
                  <a:rPr kumimoji="1" lang="en-US" altLang="zh-CN" sz="2200" dirty="0">
                    <a:solidFill>
                      <a:prstClr val="black"/>
                    </a:solidFill>
                    <a:latin typeface="SimSun" panose="02010600030101010101" pitchFamily="2" charset="-122"/>
                    <a:ea typeface="SimSun" panose="02010600030101010101" pitchFamily="2" charset="-122"/>
                  </a:rPr>
                  <a:t>N</a:t>
                </a:r>
                <a:r>
                  <a:rPr kumimoji="1" lang="zh-CN" altLang="en-US" sz="2200" dirty="0">
                    <a:solidFill>
                      <a:prstClr val="black"/>
                    </a:solidFill>
                    <a:latin typeface="SimSun" panose="02010600030101010101" pitchFamily="2" charset="-122"/>
                    <a:ea typeface="SimSun" panose="02010600030101010101" pitchFamily="2" charset="-122"/>
                  </a:rPr>
                  <a:t>很大。要求给出算法思路和时间复杂度分析。</a:t>
                </a:r>
              </a:p>
              <a:p>
                <a:pPr>
                  <a:lnSpc>
                    <a:spcPct val="90000"/>
                  </a:lnSpc>
                  <a:spcBef>
                    <a:spcPts val="1000"/>
                  </a:spcBef>
                </a:pPr>
                <a:endParaRPr kumimoji="1" lang="en-US" altLang="zh-CN" sz="2200" dirty="0">
                  <a:solidFill>
                    <a:prstClr val="black"/>
                  </a:solidFill>
                  <a:latin typeface="SimSun" panose="02010600030101010101" pitchFamily="2" charset="-122"/>
                  <a:ea typeface="SimSun" panose="02010600030101010101" pitchFamily="2" charset="-122"/>
                </a:endParaRPr>
              </a:p>
              <a:p>
                <a:pPr>
                  <a:lnSpc>
                    <a:spcPct val="90000"/>
                  </a:lnSpc>
                  <a:spcBef>
                    <a:spcPts val="1000"/>
                  </a:spcBef>
                </a:pPr>
                <a:r>
                  <a:rPr kumimoji="1" lang="zh-CN" altLang="en-US" sz="2200" dirty="0">
                    <a:solidFill>
                      <a:prstClr val="black"/>
                    </a:solidFill>
                    <a:latin typeface="SimSun" panose="02010600030101010101" pitchFamily="2" charset="-122"/>
                    <a:ea typeface="SimSun" panose="02010600030101010101" pitchFamily="2" charset="-122"/>
                  </a:rPr>
                  <a:t>由于字符串的长度为</a:t>
                </a:r>
                <a:r>
                  <a:rPr kumimoji="1" lang="en-US" altLang="zh-CN" sz="2200" dirty="0">
                    <a:solidFill>
                      <a:prstClr val="black"/>
                    </a:solidFill>
                    <a:latin typeface="SimSun" panose="02010600030101010101" pitchFamily="2" charset="-122"/>
                    <a:ea typeface="SimSun" panose="02010600030101010101" pitchFamily="2" charset="-122"/>
                  </a:rPr>
                  <a:t>N</a:t>
                </a:r>
                <a:r>
                  <a:rPr kumimoji="1" lang="zh-CN" altLang="en-US" sz="2200" dirty="0">
                    <a:solidFill>
                      <a:prstClr val="black"/>
                    </a:solidFill>
                    <a:latin typeface="SimSun" panose="02010600030101010101" pitchFamily="2" charset="-122"/>
                    <a:ea typeface="SimSun" panose="02010600030101010101" pitchFamily="2" charset="-122"/>
                  </a:rPr>
                  <a:t>，因此它有</a:t>
                </a:r>
                <a:r>
                  <a:rPr kumimoji="1" lang="en-US" altLang="zh-CN" sz="2200" dirty="0">
                    <a:solidFill>
                      <a:prstClr val="black"/>
                    </a:solidFill>
                    <a:latin typeface="SimSun" panose="02010600030101010101" pitchFamily="2" charset="-122"/>
                    <a:ea typeface="SimSun" panose="02010600030101010101" pitchFamily="2" charset="-122"/>
                  </a:rPr>
                  <a:t>N</a:t>
                </a:r>
                <a:r>
                  <a:rPr kumimoji="1" lang="zh-CN" altLang="en-US" sz="2200" dirty="0">
                    <a:solidFill>
                      <a:prstClr val="black"/>
                    </a:solidFill>
                    <a:latin typeface="SimSun" panose="02010600030101010101" pitchFamily="2" charset="-122"/>
                    <a:ea typeface="SimSun" panose="02010600030101010101" pitchFamily="2" charset="-122"/>
                  </a:rPr>
                  <a:t>个后缀串，依次将这</a:t>
                </a:r>
                <a:r>
                  <a:rPr kumimoji="1" lang="en-US" altLang="zh-CN" sz="2200" dirty="0">
                    <a:solidFill>
                      <a:prstClr val="black"/>
                    </a:solidFill>
                    <a:latin typeface="SimSun" panose="02010600030101010101" pitchFamily="2" charset="-122"/>
                    <a:ea typeface="SimSun" panose="02010600030101010101" pitchFamily="2" charset="-122"/>
                  </a:rPr>
                  <a:t>N</a:t>
                </a:r>
                <a:r>
                  <a:rPr kumimoji="1" lang="zh-CN" altLang="en-US" sz="2200" dirty="0">
                    <a:solidFill>
                      <a:prstClr val="black"/>
                    </a:solidFill>
                    <a:latin typeface="SimSun" panose="02010600030101010101" pitchFamily="2" charset="-122"/>
                    <a:ea typeface="SimSun" panose="02010600030101010101" pitchFamily="2" charset="-122"/>
                  </a:rPr>
                  <a:t>个后缀串插入到</a:t>
                </a:r>
                <a:r>
                  <a:rPr kumimoji="1" lang="en-US" altLang="zh-CN" sz="2200" dirty="0" err="1">
                    <a:solidFill>
                      <a:prstClr val="black"/>
                    </a:solidFill>
                    <a:latin typeface="SimSun" panose="02010600030101010101" pitchFamily="2" charset="-122"/>
                    <a:ea typeface="SimSun" panose="02010600030101010101" pitchFamily="2" charset="-122"/>
                  </a:rPr>
                  <a:t>Trie</a:t>
                </a:r>
                <a:r>
                  <a:rPr kumimoji="1" lang="zh-CN" altLang="en-US" sz="2200" dirty="0">
                    <a:solidFill>
                      <a:prstClr val="black"/>
                    </a:solidFill>
                    <a:latin typeface="SimSun" panose="02010600030101010101" pitchFamily="2" charset="-122"/>
                    <a:ea typeface="SimSun" panose="02010600030101010101" pitchFamily="2" charset="-122"/>
                  </a:rPr>
                  <a:t>中。对于</a:t>
                </a:r>
                <a:r>
                  <a:rPr kumimoji="1" lang="en-US" altLang="zh-CN" sz="2200" dirty="0" err="1">
                    <a:solidFill>
                      <a:prstClr val="black"/>
                    </a:solidFill>
                    <a:latin typeface="SimSun" panose="02010600030101010101" pitchFamily="2" charset="-122"/>
                    <a:ea typeface="SimSun" panose="02010600030101010101" pitchFamily="2" charset="-122"/>
                  </a:rPr>
                  <a:t>Trie</a:t>
                </a:r>
                <a:r>
                  <a:rPr kumimoji="1" lang="zh-CN" altLang="en-US" sz="2200" dirty="0">
                    <a:solidFill>
                      <a:prstClr val="black"/>
                    </a:solidFill>
                    <a:latin typeface="SimSun" panose="02010600030101010101" pitchFamily="2" charset="-122"/>
                    <a:ea typeface="SimSun" panose="02010600030101010101" pitchFamily="2" charset="-122"/>
                  </a:rPr>
                  <a:t>中的任意一个结点，它一定对应着主串中的某一个字符串。由于将</a:t>
                </a:r>
                <a:r>
                  <a:rPr kumimoji="1" lang="en-US" altLang="zh-CN" sz="2200" dirty="0">
                    <a:solidFill>
                      <a:prstClr val="black"/>
                    </a:solidFill>
                    <a:latin typeface="SimSun" panose="02010600030101010101" pitchFamily="2" charset="-122"/>
                    <a:ea typeface="SimSun" panose="02010600030101010101" pitchFamily="2" charset="-122"/>
                  </a:rPr>
                  <a:t>N</a:t>
                </a:r>
                <a:r>
                  <a:rPr kumimoji="1" lang="zh-CN" altLang="en-US" sz="2200" dirty="0">
                    <a:solidFill>
                      <a:prstClr val="black"/>
                    </a:solidFill>
                    <a:latin typeface="SimSun" panose="02010600030101010101" pitchFamily="2" charset="-122"/>
                    <a:ea typeface="SimSun" panose="02010600030101010101" pitchFamily="2" charset="-122"/>
                  </a:rPr>
                  <a:t>个后缀都插入到了</a:t>
                </a:r>
                <a:r>
                  <a:rPr kumimoji="1" lang="en-US" altLang="zh-CN" sz="2200" dirty="0" err="1">
                    <a:solidFill>
                      <a:prstClr val="black"/>
                    </a:solidFill>
                    <a:latin typeface="SimSun" panose="02010600030101010101" pitchFamily="2" charset="-122"/>
                    <a:ea typeface="SimSun" panose="02010600030101010101" pitchFamily="2" charset="-122"/>
                  </a:rPr>
                  <a:t>Trie</a:t>
                </a:r>
                <a:r>
                  <a:rPr kumimoji="1" lang="zh-CN" altLang="en-US" sz="2200" dirty="0">
                    <a:solidFill>
                      <a:prstClr val="black"/>
                    </a:solidFill>
                    <a:latin typeface="SimSun" panose="02010600030101010101" pitchFamily="2" charset="-122"/>
                    <a:ea typeface="SimSun" panose="02010600030101010101" pitchFamily="2" charset="-122"/>
                  </a:rPr>
                  <a:t>中，那么每一个子串都一定对应着</a:t>
                </a:r>
                <a:r>
                  <a:rPr kumimoji="1" lang="en-US" altLang="zh-CN" sz="2200" dirty="0" err="1">
                    <a:solidFill>
                      <a:prstClr val="black"/>
                    </a:solidFill>
                    <a:latin typeface="SimSun" panose="02010600030101010101" pitchFamily="2" charset="-122"/>
                    <a:ea typeface="SimSun" panose="02010600030101010101" pitchFamily="2" charset="-122"/>
                  </a:rPr>
                  <a:t>Trie</a:t>
                </a:r>
                <a:r>
                  <a:rPr kumimoji="1" lang="zh-CN" altLang="en-US" sz="2200" dirty="0">
                    <a:solidFill>
                      <a:prstClr val="black"/>
                    </a:solidFill>
                    <a:latin typeface="SimSun" panose="02010600030101010101" pitchFamily="2" charset="-122"/>
                    <a:ea typeface="SimSun" panose="02010600030101010101" pitchFamily="2" charset="-122"/>
                  </a:rPr>
                  <a:t>中的一个结点。显然，</a:t>
                </a:r>
                <a:r>
                  <a:rPr kumimoji="1" lang="en-US" altLang="zh-CN" sz="2200" dirty="0" err="1">
                    <a:solidFill>
                      <a:prstClr val="black"/>
                    </a:solidFill>
                    <a:latin typeface="SimSun" panose="02010600030101010101" pitchFamily="2" charset="-122"/>
                    <a:ea typeface="SimSun" panose="02010600030101010101" pitchFamily="2" charset="-122"/>
                  </a:rPr>
                  <a:t>Trie</a:t>
                </a:r>
                <a:r>
                  <a:rPr kumimoji="1" lang="zh-CN" altLang="en-US" sz="2200" dirty="0">
                    <a:solidFill>
                      <a:prstClr val="black"/>
                    </a:solidFill>
                    <a:latin typeface="SimSun" panose="02010600030101010101" pitchFamily="2" charset="-122"/>
                    <a:ea typeface="SimSun" panose="02010600030101010101" pitchFamily="2" charset="-122"/>
                  </a:rPr>
                  <a:t>中任意两个不同的结点所对应的子串是不同的。综上所述，</a:t>
                </a:r>
                <a:r>
                  <a:rPr kumimoji="1" lang="en-US" altLang="zh-CN" sz="2200" dirty="0" err="1">
                    <a:solidFill>
                      <a:prstClr val="black"/>
                    </a:solidFill>
                    <a:latin typeface="SimSun" panose="02010600030101010101" pitchFamily="2" charset="-122"/>
                    <a:ea typeface="SimSun" panose="02010600030101010101" pitchFamily="2" charset="-122"/>
                  </a:rPr>
                  <a:t>Trie</a:t>
                </a:r>
                <a:r>
                  <a:rPr kumimoji="1" lang="zh-CN" altLang="en-US" sz="2200" dirty="0">
                    <a:solidFill>
                      <a:prstClr val="black"/>
                    </a:solidFill>
                    <a:latin typeface="SimSun" panose="02010600030101010101" pitchFamily="2" charset="-122"/>
                    <a:ea typeface="SimSun" panose="02010600030101010101" pitchFamily="2" charset="-122"/>
                  </a:rPr>
                  <a:t>中节点个数 </a:t>
                </a:r>
                <a:r>
                  <a:rPr kumimoji="1" lang="en-US" altLang="zh-CN" sz="2200" dirty="0">
                    <a:solidFill>
                      <a:prstClr val="black"/>
                    </a:solidFill>
                    <a:latin typeface="SimSun" panose="02010600030101010101" pitchFamily="2" charset="-122"/>
                    <a:ea typeface="SimSun" panose="02010600030101010101" pitchFamily="2" charset="-122"/>
                  </a:rPr>
                  <a:t>= </a:t>
                </a:r>
                <a:r>
                  <a:rPr kumimoji="1" lang="zh-CN" altLang="en-US" sz="2200" dirty="0">
                    <a:solidFill>
                      <a:prstClr val="black"/>
                    </a:solidFill>
                    <a:latin typeface="SimSun" panose="02010600030101010101" pitchFamily="2" charset="-122"/>
                    <a:ea typeface="SimSun" panose="02010600030101010101" pitchFamily="2" charset="-122"/>
                  </a:rPr>
                  <a:t>不同子串个数。</a:t>
                </a:r>
              </a:p>
              <a:p>
                <a:pPr>
                  <a:lnSpc>
                    <a:spcPct val="90000"/>
                  </a:lnSpc>
                  <a:spcBef>
                    <a:spcPts val="1000"/>
                  </a:spcBef>
                </a:pPr>
                <a:r>
                  <a:rPr kumimoji="1" lang="zh-CN" altLang="en-US" sz="2200" dirty="0">
                    <a:solidFill>
                      <a:prstClr val="black"/>
                    </a:solidFill>
                    <a:latin typeface="SimSun" panose="02010600030101010101" pitchFamily="2" charset="-122"/>
                    <a:ea typeface="SimSun" panose="02010600030101010101" pitchFamily="2" charset="-122"/>
                  </a:rPr>
                  <a:t>对于每一个后缀串，插入</a:t>
                </a:r>
                <a:r>
                  <a:rPr kumimoji="1" lang="en-US" altLang="zh-CN" sz="2200" dirty="0" err="1">
                    <a:solidFill>
                      <a:prstClr val="black"/>
                    </a:solidFill>
                    <a:latin typeface="SimSun" panose="02010600030101010101" pitchFamily="2" charset="-122"/>
                    <a:ea typeface="SimSun" panose="02010600030101010101" pitchFamily="2" charset="-122"/>
                  </a:rPr>
                  <a:t>Trie</a:t>
                </a:r>
                <a:r>
                  <a:rPr kumimoji="1" lang="zh-CN" altLang="en-US" sz="2200" dirty="0">
                    <a:solidFill>
                      <a:prstClr val="black"/>
                    </a:solidFill>
                    <a:latin typeface="SimSun" panose="02010600030101010101" pitchFamily="2" charset="-122"/>
                    <a:ea typeface="SimSun" panose="02010600030101010101" pitchFamily="2" charset="-122"/>
                  </a:rPr>
                  <a:t>的时间复杂度为</a:t>
                </a:r>
                <a14:m>
                  <m:oMath xmlns:m="http://schemas.openxmlformats.org/officeDocument/2006/math">
                    <m:r>
                      <a:rPr kumimoji="1" lang="en-US" altLang="zh-CN" sz="2200" b="0" i="1" smtClean="0">
                        <a:solidFill>
                          <a:prstClr val="black"/>
                        </a:solidFill>
                        <a:latin typeface="Cambria Math" panose="02040503050406030204" pitchFamily="18" charset="0"/>
                        <a:ea typeface="SimSun" panose="02010600030101010101" pitchFamily="2" charset="-122"/>
                      </a:rPr>
                      <m:t>𝑂</m:t>
                    </m:r>
                    <m:r>
                      <a:rPr kumimoji="1" lang="en-US" altLang="zh-CN" sz="2200" b="0" i="1" smtClean="0">
                        <a:solidFill>
                          <a:prstClr val="black"/>
                        </a:solidFill>
                        <a:latin typeface="Cambria Math" panose="02040503050406030204" pitchFamily="18" charset="0"/>
                        <a:ea typeface="SimSun" panose="02010600030101010101" pitchFamily="2" charset="-122"/>
                      </a:rPr>
                      <m:t>(</m:t>
                    </m:r>
                    <m:r>
                      <a:rPr kumimoji="1" lang="en-US" altLang="zh-CN" sz="2200" b="0" i="1" smtClean="0">
                        <a:solidFill>
                          <a:prstClr val="black"/>
                        </a:solidFill>
                        <a:latin typeface="Cambria Math" panose="02040503050406030204" pitchFamily="18" charset="0"/>
                        <a:ea typeface="SimSun" panose="02010600030101010101" pitchFamily="2" charset="-122"/>
                      </a:rPr>
                      <m:t>𝑁</m:t>
                    </m:r>
                    <m:r>
                      <a:rPr kumimoji="1" lang="en-US" altLang="zh-CN" sz="2200" b="0" i="1" smtClean="0">
                        <a:solidFill>
                          <a:prstClr val="black"/>
                        </a:solidFill>
                        <a:latin typeface="Cambria Math" panose="02040503050406030204" pitchFamily="18" charset="0"/>
                        <a:ea typeface="SimSun" panose="02010600030101010101" pitchFamily="2" charset="-122"/>
                      </a:rPr>
                      <m:t>)</m:t>
                    </m:r>
                  </m:oMath>
                </a14:m>
                <a:r>
                  <a:rPr kumimoji="1" lang="zh-CN" altLang="en-US" sz="2200" dirty="0">
                    <a:solidFill>
                      <a:prstClr val="black"/>
                    </a:solidFill>
                    <a:latin typeface="SimSun" panose="02010600030101010101" pitchFamily="2" charset="-122"/>
                    <a:ea typeface="SimSun" panose="02010600030101010101" pitchFamily="2" charset="-122"/>
                  </a:rPr>
                  <a:t>，一共有</a:t>
                </a:r>
                <a:r>
                  <a:rPr kumimoji="1" lang="en-US" altLang="zh-CN" sz="2200" dirty="0">
                    <a:solidFill>
                      <a:prstClr val="black"/>
                    </a:solidFill>
                    <a:latin typeface="SimSun" panose="02010600030101010101" pitchFamily="2" charset="-122"/>
                    <a:ea typeface="SimSun" panose="02010600030101010101" pitchFamily="2" charset="-122"/>
                  </a:rPr>
                  <a:t>N</a:t>
                </a:r>
                <a:r>
                  <a:rPr kumimoji="1" lang="zh-CN" altLang="en-US" sz="2200" dirty="0">
                    <a:solidFill>
                      <a:prstClr val="black"/>
                    </a:solidFill>
                    <a:latin typeface="SimSun" panose="02010600030101010101" pitchFamily="2" charset="-122"/>
                    <a:ea typeface="SimSun" panose="02010600030101010101" pitchFamily="2" charset="-122"/>
                  </a:rPr>
                  <a:t>个后缀串，故总的时间复杂度为</a:t>
                </a:r>
                <a14:m>
                  <m:oMath xmlns:m="http://schemas.openxmlformats.org/officeDocument/2006/math">
                    <m:r>
                      <a:rPr kumimoji="1" lang="en-US" altLang="zh-CN" sz="2200" b="0" i="1" smtClean="0">
                        <a:solidFill>
                          <a:prstClr val="black"/>
                        </a:solidFill>
                        <a:latin typeface="Cambria Math" panose="02040503050406030204" pitchFamily="18" charset="0"/>
                        <a:ea typeface="SimSun" panose="02010600030101010101" pitchFamily="2" charset="-122"/>
                      </a:rPr>
                      <m:t>𝑂</m:t>
                    </m:r>
                    <m:r>
                      <a:rPr kumimoji="1" lang="en-US" altLang="zh-CN" sz="2200" b="0" i="1" smtClean="0">
                        <a:solidFill>
                          <a:prstClr val="black"/>
                        </a:solidFill>
                        <a:latin typeface="Cambria Math" panose="02040503050406030204" pitchFamily="18" charset="0"/>
                        <a:ea typeface="SimSun" panose="02010600030101010101" pitchFamily="2" charset="-122"/>
                      </a:rPr>
                      <m:t>(</m:t>
                    </m:r>
                    <m:sSup>
                      <m:sSupPr>
                        <m:ctrlPr>
                          <a:rPr kumimoji="1" lang="en-US" altLang="zh-CN" sz="2200" b="0" i="1" smtClean="0">
                            <a:solidFill>
                              <a:prstClr val="black"/>
                            </a:solidFill>
                            <a:latin typeface="Cambria Math" panose="02040503050406030204" pitchFamily="18" charset="0"/>
                            <a:ea typeface="SimSun" panose="02010600030101010101" pitchFamily="2" charset="-122"/>
                          </a:rPr>
                        </m:ctrlPr>
                      </m:sSupPr>
                      <m:e>
                        <m:r>
                          <a:rPr kumimoji="1" lang="en-US" altLang="zh-CN" sz="2200" b="0" i="1" smtClean="0">
                            <a:solidFill>
                              <a:prstClr val="black"/>
                            </a:solidFill>
                            <a:latin typeface="Cambria Math" panose="02040503050406030204" pitchFamily="18" charset="0"/>
                            <a:ea typeface="SimSun" panose="02010600030101010101" pitchFamily="2" charset="-122"/>
                          </a:rPr>
                          <m:t>𝑁</m:t>
                        </m:r>
                      </m:e>
                      <m:sup>
                        <m:r>
                          <a:rPr kumimoji="1" lang="en-US" altLang="zh-CN" sz="2200" b="0" i="1" smtClean="0">
                            <a:solidFill>
                              <a:prstClr val="black"/>
                            </a:solidFill>
                            <a:latin typeface="Cambria Math" panose="02040503050406030204" pitchFamily="18" charset="0"/>
                            <a:ea typeface="SimSun" panose="02010600030101010101" pitchFamily="2" charset="-122"/>
                          </a:rPr>
                          <m:t>2</m:t>
                        </m:r>
                      </m:sup>
                    </m:sSup>
                    <m:r>
                      <a:rPr kumimoji="1" lang="en-US" altLang="zh-CN" sz="2200" b="0" i="1" smtClean="0">
                        <a:solidFill>
                          <a:prstClr val="black"/>
                        </a:solidFill>
                        <a:latin typeface="Cambria Math" panose="02040503050406030204" pitchFamily="18" charset="0"/>
                        <a:ea typeface="SimSun" panose="02010600030101010101" pitchFamily="2" charset="-122"/>
                      </a:rPr>
                      <m:t>)</m:t>
                    </m:r>
                  </m:oMath>
                </a14:m>
                <a:r>
                  <a:rPr kumimoji="1" lang="zh-CN" altLang="en-US" sz="2200" dirty="0">
                    <a:solidFill>
                      <a:prstClr val="black"/>
                    </a:solidFill>
                    <a:latin typeface="SimSun" panose="02010600030101010101" pitchFamily="2" charset="-122"/>
                    <a:ea typeface="SimSun" panose="02010600030101010101" pitchFamily="2" charset="-122"/>
                  </a:rPr>
                  <a:t>。</a:t>
                </a:r>
              </a:p>
            </p:txBody>
          </p:sp>
        </mc:Choice>
        <mc:Fallback xmlns="">
          <p:sp>
            <p:nvSpPr>
              <p:cNvPr id="6" name="矩形 5">
                <a:extLst>
                  <a:ext uri="{FF2B5EF4-FFF2-40B4-BE49-F238E27FC236}">
                    <a16:creationId xmlns:a16="http://schemas.microsoft.com/office/drawing/2014/main" id="{3C3F0337-28A5-4F58-B1B9-5F649DD54FE9}"/>
                  </a:ext>
                </a:extLst>
              </p:cNvPr>
              <p:cNvSpPr>
                <a:spLocks noRot="1" noChangeAspect="1" noMove="1" noResize="1" noEditPoints="1" noAdjustHandles="1" noChangeArrowheads="1" noChangeShapeType="1" noTextEdit="1"/>
              </p:cNvSpPr>
              <p:nvPr/>
            </p:nvSpPr>
            <p:spPr>
              <a:xfrm>
                <a:off x="1024646" y="1206681"/>
                <a:ext cx="10142708" cy="3524042"/>
              </a:xfrm>
              <a:prstGeom prst="rect">
                <a:avLst/>
              </a:prstGeom>
              <a:blipFill>
                <a:blip r:embed="rId3"/>
                <a:stretch>
                  <a:fillRect l="-750" t="-2518" r="-375" b="-2158"/>
                </a:stretch>
              </a:blipFill>
            </p:spPr>
            <p:txBody>
              <a:bodyPr/>
              <a:lstStyle/>
              <a:p>
                <a:r>
                  <a:rPr lang="zh-CN" altLang="en-US">
                    <a:noFill/>
                  </a:rPr>
                  <a:t> </a:t>
                </a:r>
              </a:p>
            </p:txBody>
          </p:sp>
        </mc:Fallback>
      </mc:AlternateContent>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15109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28</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第十二章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4469942"/>
              </a:xfrm>
              <a:prstGeom prst="rect">
                <a:avLst/>
              </a:prstGeom>
            </p:spPr>
            <p:txBody>
              <a:bodyPr wrap="square">
                <a:spAutoFit/>
              </a:bodyPr>
              <a:lstStyle/>
              <a:p>
                <a:pPr marL="514350" indent="-514350">
                  <a:lnSpc>
                    <a:spcPct val="90000"/>
                  </a:lnSpc>
                  <a:spcBef>
                    <a:spcPts val="1000"/>
                  </a:spcBef>
                  <a:buFont typeface="+mj-lt"/>
                  <a:buAutoNum type="arabicPeriod" startAt="3"/>
                </a:pPr>
                <a:r>
                  <a:rPr kumimoji="1" lang="zh-CN" altLang="en-US" sz="2200" dirty="0">
                    <a:solidFill>
                      <a:prstClr val="black"/>
                    </a:solidFill>
                    <a:latin typeface="SimSun" panose="02010600030101010101" pitchFamily="2" charset="-122"/>
                    <a:ea typeface="SimSun" panose="02010600030101010101" pitchFamily="2" charset="-122"/>
                  </a:rPr>
                  <a:t>从空的二叉树开始，根据字典序，严格按照</a:t>
                </a:r>
                <a:r>
                  <a:rPr kumimoji="1" lang="en-US" altLang="zh-CN" sz="2200" dirty="0">
                    <a:solidFill>
                      <a:prstClr val="black"/>
                    </a:solidFill>
                    <a:latin typeface="SimSun" panose="02010600030101010101" pitchFamily="2" charset="-122"/>
                    <a:ea typeface="SimSun" panose="02010600030101010101" pitchFamily="2" charset="-122"/>
                  </a:rPr>
                  <a:t>AVL</a:t>
                </a:r>
                <a:r>
                  <a:rPr kumimoji="1" lang="zh-CN" altLang="en-US" sz="2200" dirty="0">
                    <a:solidFill>
                      <a:prstClr val="black"/>
                    </a:solidFill>
                    <a:latin typeface="SimSun" panose="02010600030101010101" pitchFamily="2" charset="-122"/>
                    <a:ea typeface="SimSun" panose="02010600030101010101" pitchFamily="2" charset="-122"/>
                  </a:rPr>
                  <a:t>树插入算法，依次插入</a:t>
                </a:r>
                <a:r>
                  <a:rPr kumimoji="1" lang="en-US" altLang="zh-CN" sz="2200" dirty="0">
                    <a:solidFill>
                      <a:prstClr val="black"/>
                    </a:solidFill>
                    <a:latin typeface="SimSun" panose="02010600030101010101" pitchFamily="2" charset="-122"/>
                    <a:ea typeface="SimSun" panose="02010600030101010101" pitchFamily="2" charset="-122"/>
                  </a:rPr>
                  <a:t>{</a:t>
                </a:r>
                <a:r>
                  <a:rPr kumimoji="1" lang="en-US" altLang="zh-CN" sz="2200" dirty="0" err="1">
                    <a:solidFill>
                      <a:prstClr val="black"/>
                    </a:solidFill>
                    <a:latin typeface="SimSun" panose="02010600030101010101" pitchFamily="2" charset="-122"/>
                    <a:ea typeface="SimSun" panose="02010600030101010101" pitchFamily="2" charset="-122"/>
                  </a:rPr>
                  <a:t>adelson</a:t>
                </a:r>
                <a:r>
                  <a:rPr kumimoji="1" lang="en-US" altLang="zh-CN" sz="2200" dirty="0">
                    <a:solidFill>
                      <a:prstClr val="black"/>
                    </a:solidFill>
                    <a:latin typeface="SimSun" panose="02010600030101010101" pitchFamily="2" charset="-122"/>
                    <a:ea typeface="SimSun" panose="02010600030101010101" pitchFamily="2" charset="-122"/>
                  </a:rPr>
                  <a:t>, and, </a:t>
                </a:r>
                <a:r>
                  <a:rPr kumimoji="1" lang="en-US" altLang="zh-CN" sz="2200" dirty="0" err="1">
                    <a:solidFill>
                      <a:prstClr val="black"/>
                    </a:solidFill>
                    <a:latin typeface="SimSun" panose="02010600030101010101" pitchFamily="2" charset="-122"/>
                    <a:ea typeface="SimSun" panose="02010600030101010101" pitchFamily="2" charset="-122"/>
                  </a:rPr>
                  <a:t>velskii</a:t>
                </a:r>
                <a:r>
                  <a:rPr kumimoji="1" lang="en-US" altLang="zh-CN" sz="2200" dirty="0">
                    <a:solidFill>
                      <a:prstClr val="black"/>
                    </a:solidFill>
                    <a:latin typeface="SimSun" panose="02010600030101010101" pitchFamily="2" charset="-122"/>
                    <a:ea typeface="SimSun" panose="02010600030101010101" pitchFamily="2" charset="-122"/>
                  </a:rPr>
                  <a:t>, </a:t>
                </a:r>
                <a:r>
                  <a:rPr kumimoji="1" lang="en-US" altLang="zh-CN" sz="2200" dirty="0" err="1">
                    <a:solidFill>
                      <a:prstClr val="black"/>
                    </a:solidFill>
                    <a:latin typeface="SimSun" panose="02010600030101010101" pitchFamily="2" charset="-122"/>
                    <a:ea typeface="SimSun" panose="02010600030101010101" pitchFamily="2" charset="-122"/>
                  </a:rPr>
                  <a:t>landis</a:t>
                </a:r>
                <a:r>
                  <a:rPr kumimoji="1" lang="en-US" altLang="zh-CN" sz="2200" dirty="0">
                    <a:solidFill>
                      <a:prstClr val="black"/>
                    </a:solidFill>
                    <a:latin typeface="SimSun" panose="02010600030101010101" pitchFamily="2" charset="-122"/>
                    <a:ea typeface="SimSun" panose="02010600030101010101" pitchFamily="2" charset="-122"/>
                  </a:rPr>
                  <a:t>, tree, is, balanced}</a:t>
                </a:r>
                <a:r>
                  <a:rPr kumimoji="1" lang="zh-CN" altLang="en-US" sz="2200" dirty="0">
                    <a:solidFill>
                      <a:prstClr val="black"/>
                    </a:solidFill>
                    <a:latin typeface="SimSun" panose="02010600030101010101" pitchFamily="2" charset="-122"/>
                    <a:ea typeface="SimSun" panose="02010600030101010101" pitchFamily="2" charset="-122"/>
                  </a:rPr>
                  <a:t>，请画出最终得到的</a:t>
                </a:r>
                <a:r>
                  <a:rPr kumimoji="1" lang="en-US" altLang="zh-CN" sz="2200" dirty="0">
                    <a:solidFill>
                      <a:prstClr val="black"/>
                    </a:solidFill>
                    <a:latin typeface="SimSun" panose="02010600030101010101" pitchFamily="2" charset="-122"/>
                    <a:ea typeface="SimSun" panose="02010600030101010101" pitchFamily="2" charset="-122"/>
                  </a:rPr>
                  <a:t>AVL</a:t>
                </a:r>
                <a:r>
                  <a:rPr kumimoji="1" lang="zh-CN" altLang="en-US" sz="2200" dirty="0">
                    <a:solidFill>
                      <a:prstClr val="black"/>
                    </a:solidFill>
                    <a:latin typeface="SimSun" panose="02010600030101010101" pitchFamily="2" charset="-122"/>
                    <a:ea typeface="SimSun" panose="02010600030101010101" pitchFamily="2" charset="-122"/>
                  </a:rPr>
                  <a:t>树。</a:t>
                </a:r>
                <a:endParaRPr kumimoji="1" lang="en-US" altLang="zh-CN" sz="2200" dirty="0">
                  <a:solidFill>
                    <a:prstClr val="black"/>
                  </a:solidFill>
                  <a:latin typeface="SimSun" panose="02010600030101010101" pitchFamily="2" charset="-122"/>
                  <a:ea typeface="SimSun" panose="02010600030101010101" pitchFamily="2" charset="-122"/>
                </a:endParaRPr>
              </a:p>
              <a:p>
                <a:pPr marL="514350" indent="-514350">
                  <a:lnSpc>
                    <a:spcPct val="90000"/>
                  </a:lnSpc>
                  <a:spcBef>
                    <a:spcPts val="1000"/>
                  </a:spcBef>
                  <a:buFont typeface="+mj-lt"/>
                  <a:buAutoNum type="arabicPeriod" startAt="3"/>
                </a:pPr>
                <a:endParaRPr kumimoji="1" lang="en-US" altLang="zh-CN" sz="2200" dirty="0">
                  <a:solidFill>
                    <a:prstClr val="black"/>
                  </a:solidFill>
                  <a:latin typeface="SimSun" panose="02010600030101010101" pitchFamily="2" charset="-122"/>
                  <a:ea typeface="SimSun" panose="02010600030101010101" pitchFamily="2" charset="-122"/>
                </a:endParaRPr>
              </a:p>
              <a:p>
                <a:pPr>
                  <a:lnSpc>
                    <a:spcPct val="90000"/>
                  </a:lnSpc>
                  <a:spcBef>
                    <a:spcPts val="1000"/>
                  </a:spcBef>
                </a:pPr>
                <a:r>
                  <a:rPr kumimoji="1" lang="zh-CN" altLang="en-US" sz="2200" b="1" u="sng" dirty="0">
                    <a:solidFill>
                      <a:prstClr val="black"/>
                    </a:solidFill>
                    <a:latin typeface="SimSun" panose="02010600030101010101" pitchFamily="2" charset="-122"/>
                    <a:ea typeface="SimSun" panose="02010600030101010101" pitchFamily="2" charset="-122"/>
                  </a:rPr>
                  <a:t>知识回顾：平衡的二叉搜索树（</a:t>
                </a:r>
                <a:r>
                  <a:rPr kumimoji="1" lang="en-US" altLang="zh-CN" sz="2200" b="1" u="sng" dirty="0">
                    <a:solidFill>
                      <a:prstClr val="black"/>
                    </a:solidFill>
                    <a:latin typeface="SimSun" panose="02010600030101010101" pitchFamily="2" charset="-122"/>
                    <a:ea typeface="SimSun" panose="02010600030101010101" pitchFamily="2" charset="-122"/>
                  </a:rPr>
                  <a:t>AVL</a:t>
                </a:r>
                <a:r>
                  <a:rPr kumimoji="1" lang="zh-CN" altLang="en-US" sz="2200" b="1" u="sng" dirty="0">
                    <a:solidFill>
                      <a:prstClr val="black"/>
                    </a:solidFill>
                    <a:latin typeface="SimSun" panose="02010600030101010101" pitchFamily="2" charset="-122"/>
                    <a:ea typeface="SimSun" panose="02010600030101010101" pitchFamily="2" charset="-122"/>
                  </a:rPr>
                  <a:t>）</a:t>
                </a:r>
                <a:endParaRPr kumimoji="1" lang="en-US" altLang="zh-CN" sz="2200" b="1" u="sng" dirty="0">
                  <a:solidFill>
                    <a:prstClr val="black"/>
                  </a:solidFill>
                  <a:latin typeface="SimSun" panose="02010600030101010101" pitchFamily="2" charset="-122"/>
                  <a:ea typeface="SimSun" panose="02010600030101010101" pitchFamily="2" charset="-122"/>
                </a:endParaRPr>
              </a:p>
              <a:p>
                <a:pPr>
                  <a:lnSpc>
                    <a:spcPct val="90000"/>
                  </a:lnSpc>
                  <a:spcBef>
                    <a:spcPts val="1000"/>
                  </a:spcBef>
                </a:pPr>
                <a:r>
                  <a:rPr lang="en-US" altLang="zh-CN" sz="2200" dirty="0">
                    <a:latin typeface="SimSun" panose="02010600030101010101" pitchFamily="2" charset="-122"/>
                    <a:ea typeface="SimSun" panose="02010600030101010101" pitchFamily="2" charset="-122"/>
                  </a:rPr>
                  <a:t>AVL</a:t>
                </a:r>
                <a:r>
                  <a:rPr lang="zh-CN" altLang="en-US" sz="2200" dirty="0">
                    <a:latin typeface="SimSun" panose="02010600030101010101" pitchFamily="2" charset="-122"/>
                    <a:ea typeface="SimSun" panose="02010600030101010101" pitchFamily="2" charset="-122"/>
                  </a:rPr>
                  <a:t>是一种二叉搜索树</a:t>
                </a:r>
                <a:endParaRPr lang="en-US" altLang="zh-CN" sz="2200" dirty="0">
                  <a:latin typeface="SimSun" panose="02010600030101010101" pitchFamily="2" charset="-122"/>
                  <a:ea typeface="SimSun" panose="02010600030101010101" pitchFamily="2" charset="-122"/>
                </a:endParaRPr>
              </a:p>
              <a:p>
                <a:pPr>
                  <a:lnSpc>
                    <a:spcPct val="90000"/>
                  </a:lnSpc>
                  <a:spcBef>
                    <a:spcPts val="1000"/>
                  </a:spcBef>
                </a:pPr>
                <a:r>
                  <a:rPr kumimoji="1" lang="zh-CN" altLang="en-US" sz="2200" dirty="0">
                    <a:solidFill>
                      <a:prstClr val="black"/>
                    </a:solidFill>
                    <a:latin typeface="SimSun" panose="02010600030101010101" pitchFamily="2" charset="-122"/>
                    <a:ea typeface="SimSun" panose="02010600030101010101" pitchFamily="2" charset="-122"/>
                  </a:rPr>
                  <a:t>性质：平衡（递归：如果</a:t>
                </a:r>
                <a:r>
                  <a:rPr kumimoji="1" lang="en-US" altLang="zh-CN" sz="2200" dirty="0">
                    <a:solidFill>
                      <a:prstClr val="black"/>
                    </a:solidFill>
                    <a:latin typeface="SimSun" panose="02010600030101010101" pitchFamily="2" charset="-122"/>
                    <a:ea typeface="SimSun" panose="02010600030101010101" pitchFamily="2" charset="-122"/>
                  </a:rPr>
                  <a:t>T</a:t>
                </a:r>
                <a:r>
                  <a:rPr kumimoji="1" lang="zh-CN" altLang="en-US" sz="2200" dirty="0">
                    <a:solidFill>
                      <a:prstClr val="black"/>
                    </a:solidFill>
                    <a:latin typeface="SimSun" panose="02010600030101010101" pitchFamily="2" charset="-122"/>
                    <a:ea typeface="SimSun" panose="02010600030101010101" pitchFamily="2" charset="-122"/>
                  </a:rPr>
                  <a:t>是</a:t>
                </a:r>
                <a:r>
                  <a:rPr kumimoji="1" lang="en-US" altLang="zh-CN" sz="2200" dirty="0">
                    <a:solidFill>
                      <a:prstClr val="black"/>
                    </a:solidFill>
                    <a:latin typeface="SimSun" panose="02010600030101010101" pitchFamily="2" charset="-122"/>
                    <a:ea typeface="SimSun" panose="02010600030101010101" pitchFamily="2" charset="-122"/>
                  </a:rPr>
                  <a:t>AVL</a:t>
                </a:r>
                <a:r>
                  <a:rPr kumimoji="1" lang="zh-CN" altLang="en-US" sz="2200" dirty="0">
                    <a:solidFill>
                      <a:prstClr val="black"/>
                    </a:solidFill>
                    <a:latin typeface="SimSun" panose="02010600030101010101" pitchFamily="2" charset="-122"/>
                    <a:ea typeface="SimSun" panose="02010600030101010101" pitchFamily="2" charset="-122"/>
                  </a:rPr>
                  <a:t>，则其左右子树也是</a:t>
                </a:r>
                <a:r>
                  <a:rPr kumimoji="1" lang="en-US" altLang="zh-CN" sz="2200" dirty="0">
                    <a:solidFill>
                      <a:prstClr val="black"/>
                    </a:solidFill>
                    <a:latin typeface="SimSun" panose="02010600030101010101" pitchFamily="2" charset="-122"/>
                    <a:ea typeface="SimSun" panose="02010600030101010101" pitchFamily="2" charset="-122"/>
                  </a:rPr>
                  <a:t>AVL</a:t>
                </a:r>
                <a:r>
                  <a:rPr kumimoji="1" lang="zh-CN" altLang="en-US" sz="2200" dirty="0">
                    <a:solidFill>
                      <a:prstClr val="black"/>
                    </a:solidFill>
                    <a:latin typeface="SimSun" panose="02010600030101010101" pitchFamily="2" charset="-122"/>
                    <a:ea typeface="SimSun" panose="02010600030101010101" pitchFamily="2" charset="-122"/>
                  </a:rPr>
                  <a:t>，且高度之差 </a:t>
                </a:r>
                <a14:m>
                  <m:oMath xmlns:m="http://schemas.openxmlformats.org/officeDocument/2006/math">
                    <m:r>
                      <a:rPr kumimoji="1" lang="en-US" altLang="zh-CN" sz="2200" b="0" i="1" smtClean="0">
                        <a:solidFill>
                          <a:prstClr val="black"/>
                        </a:solidFill>
                        <a:latin typeface="Cambria Math" panose="02040503050406030204" pitchFamily="18" charset="0"/>
                        <a:ea typeface="SimSun" panose="02010600030101010101" pitchFamily="2" charset="-122"/>
                      </a:rPr>
                      <m:t>≤</m:t>
                    </m:r>
                  </m:oMath>
                </a14:m>
                <a:r>
                  <a:rPr kumimoji="1" lang="zh-CN" altLang="en-US" sz="2200" dirty="0">
                    <a:solidFill>
                      <a:prstClr val="black"/>
                    </a:solidFill>
                    <a:latin typeface="SimSun" panose="02010600030101010101" pitchFamily="2" charset="-122"/>
                    <a:ea typeface="SimSun" panose="02010600030101010101" pitchFamily="2" charset="-122"/>
                  </a:rPr>
                  <a:t> </a:t>
                </a:r>
                <a:r>
                  <a:rPr kumimoji="1" lang="en-US" altLang="zh-CN" sz="2200" dirty="0">
                    <a:solidFill>
                      <a:prstClr val="black"/>
                    </a:solidFill>
                    <a:latin typeface="SimSun" panose="02010600030101010101" pitchFamily="2" charset="-122"/>
                    <a:ea typeface="SimSun" panose="02010600030101010101" pitchFamily="2" charset="-122"/>
                  </a:rPr>
                  <a:t>1</a:t>
                </a:r>
                <a:r>
                  <a:rPr kumimoji="1" lang="zh-CN" altLang="en-US" sz="2200" dirty="0">
                    <a:solidFill>
                      <a:prstClr val="black"/>
                    </a:solidFill>
                    <a:latin typeface="SimSun" panose="02010600030101010101" pitchFamily="2" charset="-122"/>
                    <a:ea typeface="SimSun" panose="02010600030101010101" pitchFamily="2" charset="-122"/>
                  </a:rPr>
                  <a:t>）</a:t>
                </a:r>
                <a:endParaRPr kumimoji="1" lang="en-US" altLang="zh-CN" sz="2200" dirty="0">
                  <a:solidFill>
                    <a:prstClr val="black"/>
                  </a:solidFill>
                  <a:latin typeface="SimSun" panose="02010600030101010101" pitchFamily="2" charset="-122"/>
                  <a:ea typeface="SimSun" panose="02010600030101010101" pitchFamily="2" charset="-122"/>
                </a:endParaRPr>
              </a:p>
              <a:p>
                <a:pPr>
                  <a:lnSpc>
                    <a:spcPct val="90000"/>
                  </a:lnSpc>
                  <a:spcBef>
                    <a:spcPts val="1000"/>
                  </a:spcBef>
                </a:pPr>
                <a:endParaRPr kumimoji="1" lang="en-US" altLang="zh-CN" sz="2200" dirty="0">
                  <a:solidFill>
                    <a:prstClr val="black"/>
                  </a:solidFill>
                  <a:latin typeface="SimSun" panose="02010600030101010101" pitchFamily="2" charset="-122"/>
                  <a:ea typeface="SimSun" panose="02010600030101010101" pitchFamily="2" charset="-122"/>
                </a:endParaRPr>
              </a:p>
              <a:p>
                <a:pPr>
                  <a:lnSpc>
                    <a:spcPct val="90000"/>
                  </a:lnSpc>
                  <a:spcBef>
                    <a:spcPts val="1000"/>
                  </a:spcBef>
                </a:pPr>
                <a:r>
                  <a:rPr kumimoji="1" lang="zh-CN" altLang="en-US" sz="2200" dirty="0">
                    <a:solidFill>
                      <a:prstClr val="black"/>
                    </a:solidFill>
                    <a:latin typeface="SimSun" panose="02010600030101010101" pitchFamily="2" charset="-122"/>
                    <a:ea typeface="SimSun" panose="02010600030101010101" pitchFamily="2" charset="-122"/>
                  </a:rPr>
                  <a:t>插入、删除算法中的调整步骤有两种：单旋转、双旋转</a:t>
                </a:r>
              </a:p>
              <a:p>
                <a:pPr>
                  <a:lnSpc>
                    <a:spcPct val="90000"/>
                  </a:lnSpc>
                  <a:spcBef>
                    <a:spcPts val="1000"/>
                  </a:spcBef>
                </a:pPr>
                <a:r>
                  <a:rPr kumimoji="1" lang="zh-CN" altLang="en-US" sz="2200" dirty="0">
                    <a:solidFill>
                      <a:prstClr val="black"/>
                    </a:solidFill>
                    <a:latin typeface="SimSun" panose="02010600030101010101" pitchFamily="2" charset="-122"/>
                    <a:ea typeface="SimSun" panose="02010600030101010101" pitchFamily="2" charset="-122"/>
                  </a:rPr>
                  <a:t>目标均为保持二叉搜索树的性质 </a:t>
                </a:r>
                <a:r>
                  <a:rPr kumimoji="1" lang="en-US" altLang="zh-CN" sz="2200" dirty="0">
                    <a:solidFill>
                      <a:prstClr val="black"/>
                    </a:solidFill>
                    <a:latin typeface="SimSun" panose="02010600030101010101" pitchFamily="2" charset="-122"/>
                    <a:ea typeface="SimSun" panose="02010600030101010101" pitchFamily="2" charset="-122"/>
                  </a:rPr>
                  <a:t>+</a:t>
                </a:r>
                <a:r>
                  <a:rPr kumimoji="1" lang="zh-CN" altLang="en-US" sz="2200" dirty="0">
                    <a:solidFill>
                      <a:prstClr val="black"/>
                    </a:solidFill>
                    <a:latin typeface="SimSun" panose="02010600030101010101" pitchFamily="2" charset="-122"/>
                    <a:ea typeface="SimSun" panose="02010600030101010101" pitchFamily="2" charset="-122"/>
                  </a:rPr>
                  <a:t> 保持平衡</a:t>
                </a:r>
                <a:endParaRPr kumimoji="1" lang="en-US" altLang="zh-CN" sz="2200" dirty="0">
                  <a:solidFill>
                    <a:prstClr val="black"/>
                  </a:solidFill>
                  <a:latin typeface="SimSun" panose="02010600030101010101" pitchFamily="2" charset="-122"/>
                  <a:ea typeface="SimSun" panose="02010600030101010101" pitchFamily="2" charset="-122"/>
                </a:endParaRPr>
              </a:p>
              <a:p>
                <a:pPr>
                  <a:lnSpc>
                    <a:spcPct val="90000"/>
                  </a:lnSpc>
                  <a:spcBef>
                    <a:spcPts val="1000"/>
                  </a:spcBef>
                </a:pPr>
                <a:r>
                  <a:rPr kumimoji="1" lang="zh-CN" altLang="en-US" sz="2200" dirty="0">
                    <a:solidFill>
                      <a:prstClr val="black"/>
                    </a:solidFill>
                    <a:latin typeface="SimSun" panose="02010600030101010101" pitchFamily="2" charset="-122"/>
                    <a:ea typeface="SimSun" panose="02010600030101010101" pitchFamily="2" charset="-122"/>
                  </a:rPr>
                  <a:t>原则：将高度较大的一侧向上旋转</a:t>
                </a:r>
                <a:endParaRPr kumimoji="1" lang="en-US" altLang="zh-CN" sz="2200" dirty="0">
                  <a:solidFill>
                    <a:prstClr val="black"/>
                  </a:solidFill>
                  <a:latin typeface="SimSun" panose="02010600030101010101" pitchFamily="2" charset="-122"/>
                  <a:ea typeface="SimSun" panose="02010600030101010101" pitchFamily="2" charset="-122"/>
                </a:endParaRPr>
              </a:p>
            </p:txBody>
          </p:sp>
        </mc:Choice>
        <mc:Fallback xmlns="">
          <p:sp>
            <p:nvSpPr>
              <p:cNvPr id="6" name="矩形 5">
                <a:extLst>
                  <a:ext uri="{FF2B5EF4-FFF2-40B4-BE49-F238E27FC236}">
                    <a16:creationId xmlns:a16="http://schemas.microsoft.com/office/drawing/2014/main" id="{3C3F0337-28A5-4F58-B1B9-5F649DD54FE9}"/>
                  </a:ext>
                </a:extLst>
              </p:cNvPr>
              <p:cNvSpPr>
                <a:spLocks noRot="1" noChangeAspect="1" noMove="1" noResize="1" noEditPoints="1" noAdjustHandles="1" noChangeArrowheads="1" noChangeShapeType="1" noTextEdit="1"/>
              </p:cNvSpPr>
              <p:nvPr/>
            </p:nvSpPr>
            <p:spPr>
              <a:xfrm>
                <a:off x="1024646" y="1206681"/>
                <a:ext cx="10142708" cy="4469942"/>
              </a:xfrm>
              <a:prstGeom prst="rect">
                <a:avLst/>
              </a:prstGeom>
              <a:blipFill>
                <a:blip r:embed="rId3"/>
                <a:stretch>
                  <a:fillRect l="-750" t="-1989" b="-22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840218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29</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第十二章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20" name="椭圆 19">
            <a:extLst>
              <a:ext uri="{FF2B5EF4-FFF2-40B4-BE49-F238E27FC236}">
                <a16:creationId xmlns:a16="http://schemas.microsoft.com/office/drawing/2014/main" id="{2107EC07-9038-BE42-98B1-7B3724DA5D0C}"/>
              </a:ext>
            </a:extLst>
          </p:cNvPr>
          <p:cNvSpPr/>
          <p:nvPr/>
        </p:nvSpPr>
        <p:spPr>
          <a:xfrm>
            <a:off x="943484" y="1293556"/>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err="1">
                <a:solidFill>
                  <a:schemeClr val="tx1"/>
                </a:solidFill>
              </a:rPr>
              <a:t>adelson</a:t>
            </a:r>
            <a:endParaRPr kumimoji="1" lang="zh-CN" altLang="en-US" sz="900" dirty="0">
              <a:solidFill>
                <a:schemeClr val="tx1"/>
              </a:solidFill>
            </a:endParaRPr>
          </a:p>
        </p:txBody>
      </p:sp>
      <p:sp>
        <p:nvSpPr>
          <p:cNvPr id="23" name="椭圆 22">
            <a:extLst>
              <a:ext uri="{FF2B5EF4-FFF2-40B4-BE49-F238E27FC236}">
                <a16:creationId xmlns:a16="http://schemas.microsoft.com/office/drawing/2014/main" id="{715E3E21-DF80-4045-84BC-065AA3D959A9}"/>
              </a:ext>
            </a:extLst>
          </p:cNvPr>
          <p:cNvSpPr/>
          <p:nvPr/>
        </p:nvSpPr>
        <p:spPr>
          <a:xfrm>
            <a:off x="1504481" y="2093389"/>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solidFill>
                  <a:schemeClr val="tx1"/>
                </a:solidFill>
              </a:rPr>
              <a:t>and</a:t>
            </a:r>
            <a:endParaRPr kumimoji="1" lang="zh-CN" altLang="en-US" sz="900" dirty="0">
              <a:solidFill>
                <a:schemeClr val="tx1"/>
              </a:solidFill>
            </a:endParaRPr>
          </a:p>
        </p:txBody>
      </p:sp>
      <p:sp>
        <p:nvSpPr>
          <p:cNvPr id="24" name="椭圆 23">
            <a:extLst>
              <a:ext uri="{FF2B5EF4-FFF2-40B4-BE49-F238E27FC236}">
                <a16:creationId xmlns:a16="http://schemas.microsoft.com/office/drawing/2014/main" id="{7A7D1D0D-AB8C-5747-86B1-EBCEC2224EFC}"/>
              </a:ext>
            </a:extLst>
          </p:cNvPr>
          <p:cNvSpPr/>
          <p:nvPr/>
        </p:nvSpPr>
        <p:spPr>
          <a:xfrm>
            <a:off x="1967124" y="2960915"/>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err="1">
                <a:solidFill>
                  <a:schemeClr val="tx1"/>
                </a:solidFill>
              </a:rPr>
              <a:t>velskii</a:t>
            </a:r>
            <a:endParaRPr kumimoji="1" lang="zh-CN" altLang="en-US" sz="900" dirty="0">
              <a:solidFill>
                <a:schemeClr val="tx1"/>
              </a:solidFill>
            </a:endParaRPr>
          </a:p>
        </p:txBody>
      </p:sp>
      <p:cxnSp>
        <p:nvCxnSpPr>
          <p:cNvPr id="6" name="直线连接符 5">
            <a:extLst>
              <a:ext uri="{FF2B5EF4-FFF2-40B4-BE49-F238E27FC236}">
                <a16:creationId xmlns:a16="http://schemas.microsoft.com/office/drawing/2014/main" id="{929F33BF-B172-FC4D-83A8-C5A797863C02}"/>
              </a:ext>
            </a:extLst>
          </p:cNvPr>
          <p:cNvCxnSpPr>
            <a:stCxn id="20" idx="4"/>
            <a:endCxn id="23" idx="0"/>
          </p:cNvCxnSpPr>
          <p:nvPr/>
        </p:nvCxnSpPr>
        <p:spPr>
          <a:xfrm>
            <a:off x="1406127" y="1761641"/>
            <a:ext cx="560997" cy="331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499CEABD-3BB1-DE4F-ACD9-A6A97D61400C}"/>
              </a:ext>
            </a:extLst>
          </p:cNvPr>
          <p:cNvCxnSpPr>
            <a:stCxn id="23" idx="4"/>
            <a:endCxn id="24" idx="0"/>
          </p:cNvCxnSpPr>
          <p:nvPr/>
        </p:nvCxnSpPr>
        <p:spPr>
          <a:xfrm>
            <a:off x="1967124" y="2561474"/>
            <a:ext cx="462643" cy="3994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椭圆 25">
            <a:extLst>
              <a:ext uri="{FF2B5EF4-FFF2-40B4-BE49-F238E27FC236}">
                <a16:creationId xmlns:a16="http://schemas.microsoft.com/office/drawing/2014/main" id="{002F6A4F-E660-C641-ADEC-BE4222EB350B}"/>
              </a:ext>
            </a:extLst>
          </p:cNvPr>
          <p:cNvSpPr/>
          <p:nvPr/>
        </p:nvSpPr>
        <p:spPr>
          <a:xfrm>
            <a:off x="4385091" y="1293555"/>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solidFill>
                  <a:schemeClr val="tx1"/>
                </a:solidFill>
              </a:rPr>
              <a:t>and</a:t>
            </a:r>
            <a:endParaRPr kumimoji="1" lang="zh-CN" altLang="en-US" sz="900" dirty="0">
              <a:solidFill>
                <a:schemeClr val="tx1"/>
              </a:solidFill>
            </a:endParaRPr>
          </a:p>
        </p:txBody>
      </p:sp>
      <p:sp>
        <p:nvSpPr>
          <p:cNvPr id="27" name="椭圆 26">
            <a:extLst>
              <a:ext uri="{FF2B5EF4-FFF2-40B4-BE49-F238E27FC236}">
                <a16:creationId xmlns:a16="http://schemas.microsoft.com/office/drawing/2014/main" id="{39F9EBFE-11F7-414F-BC85-B427F2FD1E18}"/>
              </a:ext>
            </a:extLst>
          </p:cNvPr>
          <p:cNvSpPr/>
          <p:nvPr/>
        </p:nvSpPr>
        <p:spPr>
          <a:xfrm>
            <a:off x="3269458" y="2093389"/>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err="1">
                <a:solidFill>
                  <a:schemeClr val="tx1"/>
                </a:solidFill>
              </a:rPr>
              <a:t>adelson</a:t>
            </a:r>
            <a:endParaRPr kumimoji="1" lang="zh-CN" altLang="en-US" sz="900" dirty="0">
              <a:solidFill>
                <a:schemeClr val="tx1"/>
              </a:solidFill>
            </a:endParaRPr>
          </a:p>
        </p:txBody>
      </p:sp>
      <p:sp>
        <p:nvSpPr>
          <p:cNvPr id="28" name="椭圆 27">
            <a:extLst>
              <a:ext uri="{FF2B5EF4-FFF2-40B4-BE49-F238E27FC236}">
                <a16:creationId xmlns:a16="http://schemas.microsoft.com/office/drawing/2014/main" id="{98EAB66B-DA82-6046-9473-D077AA564778}"/>
              </a:ext>
            </a:extLst>
          </p:cNvPr>
          <p:cNvSpPr/>
          <p:nvPr/>
        </p:nvSpPr>
        <p:spPr>
          <a:xfrm>
            <a:off x="5274954" y="2093389"/>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err="1">
                <a:solidFill>
                  <a:schemeClr val="tx1"/>
                </a:solidFill>
              </a:rPr>
              <a:t>velskii</a:t>
            </a:r>
            <a:endParaRPr kumimoji="1" lang="zh-CN" altLang="en-US" sz="900" dirty="0">
              <a:solidFill>
                <a:schemeClr val="tx1"/>
              </a:solidFill>
            </a:endParaRPr>
          </a:p>
        </p:txBody>
      </p:sp>
      <p:cxnSp>
        <p:nvCxnSpPr>
          <p:cNvPr id="30" name="直线连接符 29">
            <a:extLst>
              <a:ext uri="{FF2B5EF4-FFF2-40B4-BE49-F238E27FC236}">
                <a16:creationId xmlns:a16="http://schemas.microsoft.com/office/drawing/2014/main" id="{F0FC8377-170C-9D48-8197-E57F8B9BB6D5}"/>
              </a:ext>
            </a:extLst>
          </p:cNvPr>
          <p:cNvCxnSpPr>
            <a:stCxn id="26" idx="3"/>
            <a:endCxn id="27" idx="0"/>
          </p:cNvCxnSpPr>
          <p:nvPr/>
        </p:nvCxnSpPr>
        <p:spPr>
          <a:xfrm flipH="1">
            <a:off x="3732101" y="1693091"/>
            <a:ext cx="788495" cy="400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线连接符 31">
            <a:extLst>
              <a:ext uri="{FF2B5EF4-FFF2-40B4-BE49-F238E27FC236}">
                <a16:creationId xmlns:a16="http://schemas.microsoft.com/office/drawing/2014/main" id="{C1C3AB22-2310-9E45-9E41-9A63581EDD90}"/>
              </a:ext>
            </a:extLst>
          </p:cNvPr>
          <p:cNvCxnSpPr>
            <a:stCxn id="26" idx="5"/>
            <a:endCxn id="28" idx="0"/>
          </p:cNvCxnSpPr>
          <p:nvPr/>
        </p:nvCxnSpPr>
        <p:spPr>
          <a:xfrm>
            <a:off x="5174872" y="1693091"/>
            <a:ext cx="562725" cy="400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椭圆 32">
            <a:extLst>
              <a:ext uri="{FF2B5EF4-FFF2-40B4-BE49-F238E27FC236}">
                <a16:creationId xmlns:a16="http://schemas.microsoft.com/office/drawing/2014/main" id="{6D068ECD-3E50-2742-8D3C-4BF28D1F7886}"/>
              </a:ext>
            </a:extLst>
          </p:cNvPr>
          <p:cNvSpPr/>
          <p:nvPr/>
        </p:nvSpPr>
        <p:spPr>
          <a:xfrm>
            <a:off x="4712229" y="2857606"/>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err="1">
                <a:solidFill>
                  <a:schemeClr val="tx1"/>
                </a:solidFill>
              </a:rPr>
              <a:t>landis</a:t>
            </a:r>
            <a:endParaRPr kumimoji="1" lang="zh-CN" altLang="en-US" sz="900" dirty="0">
              <a:solidFill>
                <a:schemeClr val="tx1"/>
              </a:solidFill>
            </a:endParaRPr>
          </a:p>
        </p:txBody>
      </p:sp>
      <p:cxnSp>
        <p:nvCxnSpPr>
          <p:cNvPr id="35" name="直线连接符 34">
            <a:extLst>
              <a:ext uri="{FF2B5EF4-FFF2-40B4-BE49-F238E27FC236}">
                <a16:creationId xmlns:a16="http://schemas.microsoft.com/office/drawing/2014/main" id="{419FC026-10C3-544A-9071-E20094853CEE}"/>
              </a:ext>
            </a:extLst>
          </p:cNvPr>
          <p:cNvCxnSpPr>
            <a:stCxn id="28" idx="4"/>
            <a:endCxn id="33" idx="0"/>
          </p:cNvCxnSpPr>
          <p:nvPr/>
        </p:nvCxnSpPr>
        <p:spPr>
          <a:xfrm flipH="1">
            <a:off x="5174872" y="2561474"/>
            <a:ext cx="562725" cy="2961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椭圆 35">
            <a:extLst>
              <a:ext uri="{FF2B5EF4-FFF2-40B4-BE49-F238E27FC236}">
                <a16:creationId xmlns:a16="http://schemas.microsoft.com/office/drawing/2014/main" id="{DAF936A3-CE75-B043-A014-963F634FC145}"/>
              </a:ext>
            </a:extLst>
          </p:cNvPr>
          <p:cNvSpPr/>
          <p:nvPr/>
        </p:nvSpPr>
        <p:spPr>
          <a:xfrm>
            <a:off x="5170714" y="3657440"/>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solidFill>
                  <a:schemeClr val="tx1"/>
                </a:solidFill>
              </a:rPr>
              <a:t>tree</a:t>
            </a:r>
            <a:endParaRPr kumimoji="1" lang="zh-CN" altLang="en-US" sz="900" dirty="0">
              <a:solidFill>
                <a:schemeClr val="tx1"/>
              </a:solidFill>
            </a:endParaRPr>
          </a:p>
        </p:txBody>
      </p:sp>
      <p:cxnSp>
        <p:nvCxnSpPr>
          <p:cNvPr id="38" name="直线连接符 37">
            <a:extLst>
              <a:ext uri="{FF2B5EF4-FFF2-40B4-BE49-F238E27FC236}">
                <a16:creationId xmlns:a16="http://schemas.microsoft.com/office/drawing/2014/main" id="{193FF2E7-58DC-D04F-9495-0EB7B1B14084}"/>
              </a:ext>
            </a:extLst>
          </p:cNvPr>
          <p:cNvCxnSpPr>
            <a:stCxn id="33" idx="4"/>
            <a:endCxn id="36" idx="0"/>
          </p:cNvCxnSpPr>
          <p:nvPr/>
        </p:nvCxnSpPr>
        <p:spPr>
          <a:xfrm>
            <a:off x="5174872" y="3325691"/>
            <a:ext cx="458485" cy="3317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椭圆 38">
            <a:extLst>
              <a:ext uri="{FF2B5EF4-FFF2-40B4-BE49-F238E27FC236}">
                <a16:creationId xmlns:a16="http://schemas.microsoft.com/office/drawing/2014/main" id="{9F3B1A1E-6730-8040-86D5-98D9D17162B9}"/>
              </a:ext>
            </a:extLst>
          </p:cNvPr>
          <p:cNvSpPr/>
          <p:nvPr/>
        </p:nvSpPr>
        <p:spPr>
          <a:xfrm>
            <a:off x="7668536" y="1293555"/>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solidFill>
                  <a:schemeClr val="tx1"/>
                </a:solidFill>
              </a:rPr>
              <a:t>and</a:t>
            </a:r>
            <a:endParaRPr kumimoji="1" lang="zh-CN" altLang="en-US" sz="900" dirty="0">
              <a:solidFill>
                <a:schemeClr val="tx1"/>
              </a:solidFill>
            </a:endParaRPr>
          </a:p>
        </p:txBody>
      </p:sp>
      <p:sp>
        <p:nvSpPr>
          <p:cNvPr id="40" name="椭圆 39">
            <a:extLst>
              <a:ext uri="{FF2B5EF4-FFF2-40B4-BE49-F238E27FC236}">
                <a16:creationId xmlns:a16="http://schemas.microsoft.com/office/drawing/2014/main" id="{8A1776F2-27C5-4F42-B35B-C5219EC42162}"/>
              </a:ext>
            </a:extLst>
          </p:cNvPr>
          <p:cNvSpPr/>
          <p:nvPr/>
        </p:nvSpPr>
        <p:spPr>
          <a:xfrm>
            <a:off x="6552903" y="2093389"/>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err="1">
                <a:solidFill>
                  <a:schemeClr val="tx1"/>
                </a:solidFill>
              </a:rPr>
              <a:t>adelson</a:t>
            </a:r>
            <a:endParaRPr kumimoji="1" lang="zh-CN" altLang="en-US" sz="900" dirty="0">
              <a:solidFill>
                <a:schemeClr val="tx1"/>
              </a:solidFill>
            </a:endParaRPr>
          </a:p>
        </p:txBody>
      </p:sp>
      <p:sp>
        <p:nvSpPr>
          <p:cNvPr id="41" name="椭圆 40">
            <a:extLst>
              <a:ext uri="{FF2B5EF4-FFF2-40B4-BE49-F238E27FC236}">
                <a16:creationId xmlns:a16="http://schemas.microsoft.com/office/drawing/2014/main" id="{DA8FF2BD-5840-754A-A6D3-3D469E5CEBD2}"/>
              </a:ext>
            </a:extLst>
          </p:cNvPr>
          <p:cNvSpPr/>
          <p:nvPr/>
        </p:nvSpPr>
        <p:spPr>
          <a:xfrm>
            <a:off x="8558399" y="2093389"/>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solidFill>
                  <a:schemeClr val="tx1"/>
                </a:solidFill>
              </a:rPr>
              <a:t>tree</a:t>
            </a:r>
            <a:endParaRPr kumimoji="1" lang="zh-CN" altLang="en-US" sz="900" dirty="0">
              <a:solidFill>
                <a:schemeClr val="tx1"/>
              </a:solidFill>
            </a:endParaRPr>
          </a:p>
        </p:txBody>
      </p:sp>
      <p:cxnSp>
        <p:nvCxnSpPr>
          <p:cNvPr id="42" name="直线连接符 41">
            <a:extLst>
              <a:ext uri="{FF2B5EF4-FFF2-40B4-BE49-F238E27FC236}">
                <a16:creationId xmlns:a16="http://schemas.microsoft.com/office/drawing/2014/main" id="{0590BF87-3B83-9245-B678-5D47F605A769}"/>
              </a:ext>
            </a:extLst>
          </p:cNvPr>
          <p:cNvCxnSpPr>
            <a:stCxn id="39" idx="3"/>
            <a:endCxn id="40" idx="0"/>
          </p:cNvCxnSpPr>
          <p:nvPr/>
        </p:nvCxnSpPr>
        <p:spPr>
          <a:xfrm flipH="1">
            <a:off x="7015546" y="1693091"/>
            <a:ext cx="788495" cy="400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线连接符 42">
            <a:extLst>
              <a:ext uri="{FF2B5EF4-FFF2-40B4-BE49-F238E27FC236}">
                <a16:creationId xmlns:a16="http://schemas.microsoft.com/office/drawing/2014/main" id="{3BB4BF85-8794-8D43-85E0-E27151501692}"/>
              </a:ext>
            </a:extLst>
          </p:cNvPr>
          <p:cNvCxnSpPr>
            <a:stCxn id="39" idx="5"/>
            <a:endCxn id="41" idx="0"/>
          </p:cNvCxnSpPr>
          <p:nvPr/>
        </p:nvCxnSpPr>
        <p:spPr>
          <a:xfrm>
            <a:off x="8458317" y="1693091"/>
            <a:ext cx="562725" cy="400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椭圆 43">
            <a:extLst>
              <a:ext uri="{FF2B5EF4-FFF2-40B4-BE49-F238E27FC236}">
                <a16:creationId xmlns:a16="http://schemas.microsoft.com/office/drawing/2014/main" id="{9BC3AC79-B4E9-544F-B423-1D5E1E71F528}"/>
              </a:ext>
            </a:extLst>
          </p:cNvPr>
          <p:cNvSpPr/>
          <p:nvPr/>
        </p:nvSpPr>
        <p:spPr>
          <a:xfrm>
            <a:off x="7995674" y="2857606"/>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err="1">
                <a:solidFill>
                  <a:schemeClr val="tx1"/>
                </a:solidFill>
              </a:rPr>
              <a:t>landis</a:t>
            </a:r>
            <a:endParaRPr kumimoji="1" lang="zh-CN" altLang="en-US" sz="900" dirty="0">
              <a:solidFill>
                <a:schemeClr val="tx1"/>
              </a:solidFill>
            </a:endParaRPr>
          </a:p>
        </p:txBody>
      </p:sp>
      <p:cxnSp>
        <p:nvCxnSpPr>
          <p:cNvPr id="45" name="直线连接符 44">
            <a:extLst>
              <a:ext uri="{FF2B5EF4-FFF2-40B4-BE49-F238E27FC236}">
                <a16:creationId xmlns:a16="http://schemas.microsoft.com/office/drawing/2014/main" id="{D6EAF2FA-D33F-E943-B5F3-25256B721DA5}"/>
              </a:ext>
            </a:extLst>
          </p:cNvPr>
          <p:cNvCxnSpPr>
            <a:stCxn id="41" idx="4"/>
            <a:endCxn id="44" idx="0"/>
          </p:cNvCxnSpPr>
          <p:nvPr/>
        </p:nvCxnSpPr>
        <p:spPr>
          <a:xfrm flipH="1">
            <a:off x="8458317" y="2561474"/>
            <a:ext cx="562725" cy="2961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椭圆 45">
            <a:extLst>
              <a:ext uri="{FF2B5EF4-FFF2-40B4-BE49-F238E27FC236}">
                <a16:creationId xmlns:a16="http://schemas.microsoft.com/office/drawing/2014/main" id="{224E834F-2C70-3149-A4F2-52F3FD8E0512}"/>
              </a:ext>
            </a:extLst>
          </p:cNvPr>
          <p:cNvSpPr/>
          <p:nvPr/>
        </p:nvSpPr>
        <p:spPr>
          <a:xfrm>
            <a:off x="9288853" y="2857606"/>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err="1">
                <a:solidFill>
                  <a:schemeClr val="tx1"/>
                </a:solidFill>
              </a:rPr>
              <a:t>velskii</a:t>
            </a:r>
            <a:endParaRPr kumimoji="1" lang="zh-CN" altLang="en-US" sz="900" dirty="0">
              <a:solidFill>
                <a:schemeClr val="tx1"/>
              </a:solidFill>
            </a:endParaRPr>
          </a:p>
        </p:txBody>
      </p:sp>
      <p:cxnSp>
        <p:nvCxnSpPr>
          <p:cNvPr id="48" name="直线连接符 47">
            <a:extLst>
              <a:ext uri="{FF2B5EF4-FFF2-40B4-BE49-F238E27FC236}">
                <a16:creationId xmlns:a16="http://schemas.microsoft.com/office/drawing/2014/main" id="{58B3CA54-6DAB-8C45-B7AD-5DA13CE054E8}"/>
              </a:ext>
            </a:extLst>
          </p:cNvPr>
          <p:cNvCxnSpPr>
            <a:stCxn id="41" idx="5"/>
            <a:endCxn id="46" idx="0"/>
          </p:cNvCxnSpPr>
          <p:nvPr/>
        </p:nvCxnSpPr>
        <p:spPr>
          <a:xfrm>
            <a:off x="9348180" y="2492925"/>
            <a:ext cx="403316" cy="3646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椭圆 48">
            <a:extLst>
              <a:ext uri="{FF2B5EF4-FFF2-40B4-BE49-F238E27FC236}">
                <a16:creationId xmlns:a16="http://schemas.microsoft.com/office/drawing/2014/main" id="{128ACA84-3D70-644E-9766-20D94091C439}"/>
              </a:ext>
            </a:extLst>
          </p:cNvPr>
          <p:cNvSpPr/>
          <p:nvPr/>
        </p:nvSpPr>
        <p:spPr>
          <a:xfrm>
            <a:off x="7478189" y="3657440"/>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solidFill>
                  <a:schemeClr val="tx1"/>
                </a:solidFill>
              </a:rPr>
              <a:t>is</a:t>
            </a:r>
            <a:endParaRPr kumimoji="1" lang="zh-CN" altLang="en-US" sz="900" dirty="0">
              <a:solidFill>
                <a:schemeClr val="tx1"/>
              </a:solidFill>
            </a:endParaRPr>
          </a:p>
        </p:txBody>
      </p:sp>
      <p:cxnSp>
        <p:nvCxnSpPr>
          <p:cNvPr id="51" name="直线连接符 50">
            <a:extLst>
              <a:ext uri="{FF2B5EF4-FFF2-40B4-BE49-F238E27FC236}">
                <a16:creationId xmlns:a16="http://schemas.microsoft.com/office/drawing/2014/main" id="{EE60D11E-095D-0E4C-B04C-16400392111D}"/>
              </a:ext>
            </a:extLst>
          </p:cNvPr>
          <p:cNvCxnSpPr>
            <a:stCxn id="44" idx="4"/>
            <a:endCxn id="49" idx="0"/>
          </p:cNvCxnSpPr>
          <p:nvPr/>
        </p:nvCxnSpPr>
        <p:spPr>
          <a:xfrm flipH="1">
            <a:off x="7940832" y="3325691"/>
            <a:ext cx="517485" cy="3317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80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3" grpId="0" animBg="1"/>
      <p:bldP spid="24" grpId="0" animBg="1"/>
      <p:bldP spid="26" grpId="0" animBg="1"/>
      <p:bldP spid="27" grpId="0" animBg="1"/>
      <p:bldP spid="28" grpId="0" animBg="1"/>
      <p:bldP spid="33" grpId="0" animBg="1"/>
      <p:bldP spid="36" grpId="0" animBg="1"/>
      <p:bldP spid="39" grpId="0" animBg="1"/>
      <p:bldP spid="40" grpId="0" animBg="1"/>
      <p:bldP spid="41" grpId="0" animBg="1"/>
      <p:bldP spid="44" grpId="0" animBg="1"/>
      <p:bldP spid="46" grpId="0" animBg="1"/>
      <p:bldP spid="4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30</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sym typeface="Arial" panose="020B0604020202020204" pitchFamily="34" charset="0"/>
              </a:rPr>
              <a:t>第十二章</a:t>
            </a:r>
            <a:r>
              <a:rPr lang="en-US" altLang="zh-CN" dirty="0">
                <a:sym typeface="Arial" panose="020B0604020202020204" pitchFamily="34" charset="0"/>
              </a:rPr>
              <a:t>-</a:t>
            </a:r>
            <a:r>
              <a:rPr lang="zh-CN" altLang="en-US" dirty="0">
                <a:sym typeface="Arial" panose="020B0604020202020204" pitchFamily="34" charset="0"/>
              </a:rPr>
              <a:t>作业</a:t>
            </a:r>
            <a:r>
              <a:rPr lang="en-US" altLang="zh-CN" dirty="0">
                <a:sym typeface="Arial" panose="020B0604020202020204" pitchFamily="34" charset="0"/>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33746" y="6409550"/>
            <a:ext cx="1944763"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数算第十到十二章习题课</a:t>
            </a:r>
          </a:p>
        </p:txBody>
      </p:sp>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7" name="椭圆 6">
            <a:extLst>
              <a:ext uri="{FF2B5EF4-FFF2-40B4-BE49-F238E27FC236}">
                <a16:creationId xmlns:a16="http://schemas.microsoft.com/office/drawing/2014/main" id="{5E3191FE-25EE-6A45-A329-8A77B82B1A5D}"/>
              </a:ext>
            </a:extLst>
          </p:cNvPr>
          <p:cNvSpPr/>
          <p:nvPr/>
        </p:nvSpPr>
        <p:spPr>
          <a:xfrm>
            <a:off x="6568837" y="1244808"/>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err="1">
                <a:solidFill>
                  <a:schemeClr val="tx1"/>
                </a:solidFill>
              </a:rPr>
              <a:t>landis</a:t>
            </a:r>
            <a:endParaRPr kumimoji="1" lang="zh-CN" altLang="en-US" sz="900" dirty="0">
              <a:solidFill>
                <a:schemeClr val="tx1"/>
              </a:solidFill>
            </a:endParaRPr>
          </a:p>
        </p:txBody>
      </p:sp>
      <p:sp>
        <p:nvSpPr>
          <p:cNvPr id="9" name="椭圆 8">
            <a:extLst>
              <a:ext uri="{FF2B5EF4-FFF2-40B4-BE49-F238E27FC236}">
                <a16:creationId xmlns:a16="http://schemas.microsoft.com/office/drawing/2014/main" id="{F489FAA5-5DEA-9A41-BF16-825D794FA8C4}"/>
              </a:ext>
            </a:extLst>
          </p:cNvPr>
          <p:cNvSpPr/>
          <p:nvPr/>
        </p:nvSpPr>
        <p:spPr>
          <a:xfrm>
            <a:off x="5926580" y="2061237"/>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solidFill>
                  <a:schemeClr val="tx1"/>
                </a:solidFill>
              </a:rPr>
              <a:t>and</a:t>
            </a:r>
            <a:endParaRPr kumimoji="1" lang="zh-CN" altLang="en-US" sz="900" dirty="0">
              <a:solidFill>
                <a:schemeClr val="tx1"/>
              </a:solidFill>
            </a:endParaRPr>
          </a:p>
        </p:txBody>
      </p:sp>
      <p:sp>
        <p:nvSpPr>
          <p:cNvPr id="10" name="椭圆 9">
            <a:extLst>
              <a:ext uri="{FF2B5EF4-FFF2-40B4-BE49-F238E27FC236}">
                <a16:creationId xmlns:a16="http://schemas.microsoft.com/office/drawing/2014/main" id="{FD04E9A8-0D96-A94D-9C63-36181210D7AD}"/>
              </a:ext>
            </a:extLst>
          </p:cNvPr>
          <p:cNvSpPr/>
          <p:nvPr/>
        </p:nvSpPr>
        <p:spPr>
          <a:xfrm>
            <a:off x="7221979" y="2061236"/>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solidFill>
                  <a:schemeClr val="tx1"/>
                </a:solidFill>
              </a:rPr>
              <a:t>tree</a:t>
            </a:r>
            <a:endParaRPr kumimoji="1" lang="zh-CN" altLang="en-US" sz="900" dirty="0">
              <a:solidFill>
                <a:schemeClr val="tx1"/>
              </a:solidFill>
            </a:endParaRPr>
          </a:p>
        </p:txBody>
      </p:sp>
      <p:sp>
        <p:nvSpPr>
          <p:cNvPr id="11" name="椭圆 10">
            <a:extLst>
              <a:ext uri="{FF2B5EF4-FFF2-40B4-BE49-F238E27FC236}">
                <a16:creationId xmlns:a16="http://schemas.microsoft.com/office/drawing/2014/main" id="{9CEF1761-A3EE-414B-9ACF-3FD033343710}"/>
              </a:ext>
            </a:extLst>
          </p:cNvPr>
          <p:cNvSpPr/>
          <p:nvPr/>
        </p:nvSpPr>
        <p:spPr>
          <a:xfrm>
            <a:off x="5153694" y="2910322"/>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err="1">
                <a:solidFill>
                  <a:schemeClr val="tx1"/>
                </a:solidFill>
              </a:rPr>
              <a:t>adelson</a:t>
            </a:r>
            <a:endParaRPr kumimoji="1" lang="zh-CN" altLang="en-US" sz="900" dirty="0">
              <a:solidFill>
                <a:schemeClr val="tx1"/>
              </a:solidFill>
            </a:endParaRPr>
          </a:p>
        </p:txBody>
      </p:sp>
      <p:sp>
        <p:nvSpPr>
          <p:cNvPr id="12" name="椭圆 11">
            <a:extLst>
              <a:ext uri="{FF2B5EF4-FFF2-40B4-BE49-F238E27FC236}">
                <a16:creationId xmlns:a16="http://schemas.microsoft.com/office/drawing/2014/main" id="{9B46086E-CCBD-D245-AE7E-B418FAE1DEC2}"/>
              </a:ext>
            </a:extLst>
          </p:cNvPr>
          <p:cNvSpPr/>
          <p:nvPr/>
        </p:nvSpPr>
        <p:spPr>
          <a:xfrm>
            <a:off x="6128531" y="2912529"/>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solidFill>
                  <a:schemeClr val="tx1"/>
                </a:solidFill>
              </a:rPr>
              <a:t>is</a:t>
            </a:r>
            <a:endParaRPr kumimoji="1" lang="zh-CN" altLang="en-US" sz="900" dirty="0">
              <a:solidFill>
                <a:schemeClr val="tx1"/>
              </a:solidFill>
            </a:endParaRPr>
          </a:p>
        </p:txBody>
      </p:sp>
      <p:sp>
        <p:nvSpPr>
          <p:cNvPr id="13" name="椭圆 12">
            <a:extLst>
              <a:ext uri="{FF2B5EF4-FFF2-40B4-BE49-F238E27FC236}">
                <a16:creationId xmlns:a16="http://schemas.microsoft.com/office/drawing/2014/main" id="{5C8A1442-BDBE-9842-968F-6D8C446D142C}"/>
              </a:ext>
            </a:extLst>
          </p:cNvPr>
          <p:cNvSpPr/>
          <p:nvPr/>
        </p:nvSpPr>
        <p:spPr>
          <a:xfrm>
            <a:off x="7820693" y="2910322"/>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err="1">
                <a:solidFill>
                  <a:schemeClr val="tx1"/>
                </a:solidFill>
              </a:rPr>
              <a:t>velskii</a:t>
            </a:r>
            <a:endParaRPr kumimoji="1" lang="zh-CN" altLang="en-US" sz="900" dirty="0">
              <a:solidFill>
                <a:schemeClr val="tx1"/>
              </a:solidFill>
            </a:endParaRPr>
          </a:p>
        </p:txBody>
      </p:sp>
      <p:cxnSp>
        <p:nvCxnSpPr>
          <p:cNvPr id="15" name="直线连接符 14">
            <a:extLst>
              <a:ext uri="{FF2B5EF4-FFF2-40B4-BE49-F238E27FC236}">
                <a16:creationId xmlns:a16="http://schemas.microsoft.com/office/drawing/2014/main" id="{8771EA9D-FCA6-474B-81D0-6E562E332FC9}"/>
              </a:ext>
            </a:extLst>
          </p:cNvPr>
          <p:cNvCxnSpPr>
            <a:stCxn id="7" idx="3"/>
            <a:endCxn id="9" idx="0"/>
          </p:cNvCxnSpPr>
          <p:nvPr/>
        </p:nvCxnSpPr>
        <p:spPr>
          <a:xfrm flipH="1">
            <a:off x="6389223" y="1644344"/>
            <a:ext cx="315119" cy="4168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8A4769A0-4615-2846-82D5-D98FFCB80D78}"/>
              </a:ext>
            </a:extLst>
          </p:cNvPr>
          <p:cNvCxnSpPr>
            <a:stCxn id="7" idx="5"/>
            <a:endCxn id="10" idx="0"/>
          </p:cNvCxnSpPr>
          <p:nvPr/>
        </p:nvCxnSpPr>
        <p:spPr>
          <a:xfrm>
            <a:off x="7358618" y="1644344"/>
            <a:ext cx="326004" cy="4168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56ABF37C-BB26-AA4D-BC62-DD2A97A9605E}"/>
              </a:ext>
            </a:extLst>
          </p:cNvPr>
          <p:cNvCxnSpPr>
            <a:stCxn id="9" idx="3"/>
            <a:endCxn id="11" idx="0"/>
          </p:cNvCxnSpPr>
          <p:nvPr/>
        </p:nvCxnSpPr>
        <p:spPr>
          <a:xfrm flipH="1">
            <a:off x="5616337" y="2460773"/>
            <a:ext cx="445748" cy="4495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线连接符 17">
            <a:extLst>
              <a:ext uri="{FF2B5EF4-FFF2-40B4-BE49-F238E27FC236}">
                <a16:creationId xmlns:a16="http://schemas.microsoft.com/office/drawing/2014/main" id="{A534F691-12CD-D94B-B707-F5D9AC8CC87D}"/>
              </a:ext>
            </a:extLst>
          </p:cNvPr>
          <p:cNvCxnSpPr>
            <a:stCxn id="9" idx="4"/>
            <a:endCxn id="12" idx="0"/>
          </p:cNvCxnSpPr>
          <p:nvPr/>
        </p:nvCxnSpPr>
        <p:spPr>
          <a:xfrm>
            <a:off x="6389223" y="2529322"/>
            <a:ext cx="201951" cy="3832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线连接符 18">
            <a:extLst>
              <a:ext uri="{FF2B5EF4-FFF2-40B4-BE49-F238E27FC236}">
                <a16:creationId xmlns:a16="http://schemas.microsoft.com/office/drawing/2014/main" id="{846ACE14-AB41-8C46-90AE-F7BC79D03F6C}"/>
              </a:ext>
            </a:extLst>
          </p:cNvPr>
          <p:cNvCxnSpPr>
            <a:cxnSpLocks/>
            <a:stCxn id="10" idx="5"/>
            <a:endCxn id="13" idx="0"/>
          </p:cNvCxnSpPr>
          <p:nvPr/>
        </p:nvCxnSpPr>
        <p:spPr>
          <a:xfrm>
            <a:off x="8011760" y="2460772"/>
            <a:ext cx="271576" cy="4495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线连接符 20">
            <a:extLst>
              <a:ext uri="{FF2B5EF4-FFF2-40B4-BE49-F238E27FC236}">
                <a16:creationId xmlns:a16="http://schemas.microsoft.com/office/drawing/2014/main" id="{21CB1842-A54A-B04E-81E1-70C012338F7E}"/>
              </a:ext>
            </a:extLst>
          </p:cNvPr>
          <p:cNvCxnSpPr/>
          <p:nvPr/>
        </p:nvCxnSpPr>
        <p:spPr>
          <a:xfrm flipH="1">
            <a:off x="6152063" y="3377388"/>
            <a:ext cx="445748" cy="4495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椭圆 21">
            <a:extLst>
              <a:ext uri="{FF2B5EF4-FFF2-40B4-BE49-F238E27FC236}">
                <a16:creationId xmlns:a16="http://schemas.microsoft.com/office/drawing/2014/main" id="{A6DB825F-F991-2846-ABC1-1CFA9040D524}"/>
              </a:ext>
            </a:extLst>
          </p:cNvPr>
          <p:cNvSpPr/>
          <p:nvPr/>
        </p:nvSpPr>
        <p:spPr>
          <a:xfrm>
            <a:off x="5652879" y="3823711"/>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solidFill>
                  <a:schemeClr val="tx1"/>
                </a:solidFill>
              </a:rPr>
              <a:t>balanced</a:t>
            </a:r>
            <a:endParaRPr kumimoji="1" lang="zh-CN" altLang="en-US" sz="900" dirty="0">
              <a:solidFill>
                <a:schemeClr val="tx1"/>
              </a:solidFill>
            </a:endParaRPr>
          </a:p>
        </p:txBody>
      </p:sp>
      <p:sp>
        <p:nvSpPr>
          <p:cNvPr id="24" name="椭圆 23">
            <a:extLst>
              <a:ext uri="{FF2B5EF4-FFF2-40B4-BE49-F238E27FC236}">
                <a16:creationId xmlns:a16="http://schemas.microsoft.com/office/drawing/2014/main" id="{DD385215-5131-754E-BC87-425C5BF7C76F}"/>
              </a:ext>
            </a:extLst>
          </p:cNvPr>
          <p:cNvSpPr/>
          <p:nvPr/>
        </p:nvSpPr>
        <p:spPr>
          <a:xfrm>
            <a:off x="1612273" y="1229858"/>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solidFill>
                  <a:schemeClr val="tx1"/>
                </a:solidFill>
              </a:rPr>
              <a:t>and</a:t>
            </a:r>
            <a:endParaRPr kumimoji="1" lang="zh-CN" altLang="en-US" sz="900" dirty="0">
              <a:solidFill>
                <a:schemeClr val="tx1"/>
              </a:solidFill>
            </a:endParaRPr>
          </a:p>
        </p:txBody>
      </p:sp>
      <p:sp>
        <p:nvSpPr>
          <p:cNvPr id="25" name="椭圆 24">
            <a:extLst>
              <a:ext uri="{FF2B5EF4-FFF2-40B4-BE49-F238E27FC236}">
                <a16:creationId xmlns:a16="http://schemas.microsoft.com/office/drawing/2014/main" id="{584BFF6E-94C8-5840-B1DB-D13A30777132}"/>
              </a:ext>
            </a:extLst>
          </p:cNvPr>
          <p:cNvSpPr/>
          <p:nvPr/>
        </p:nvSpPr>
        <p:spPr>
          <a:xfrm>
            <a:off x="496640" y="2029692"/>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err="1">
                <a:solidFill>
                  <a:schemeClr val="tx1"/>
                </a:solidFill>
              </a:rPr>
              <a:t>adelson</a:t>
            </a:r>
            <a:endParaRPr kumimoji="1" lang="zh-CN" altLang="en-US" sz="900" dirty="0">
              <a:solidFill>
                <a:schemeClr val="tx1"/>
              </a:solidFill>
            </a:endParaRPr>
          </a:p>
        </p:txBody>
      </p:sp>
      <p:sp>
        <p:nvSpPr>
          <p:cNvPr id="26" name="椭圆 25">
            <a:extLst>
              <a:ext uri="{FF2B5EF4-FFF2-40B4-BE49-F238E27FC236}">
                <a16:creationId xmlns:a16="http://schemas.microsoft.com/office/drawing/2014/main" id="{C9E20AC6-33AB-D144-8BC7-74FE9ACE97B8}"/>
              </a:ext>
            </a:extLst>
          </p:cNvPr>
          <p:cNvSpPr/>
          <p:nvPr/>
        </p:nvSpPr>
        <p:spPr>
          <a:xfrm>
            <a:off x="2502136" y="2029692"/>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solidFill>
                  <a:schemeClr val="tx1"/>
                </a:solidFill>
              </a:rPr>
              <a:t>tree</a:t>
            </a:r>
            <a:endParaRPr kumimoji="1" lang="zh-CN" altLang="en-US" sz="900" dirty="0">
              <a:solidFill>
                <a:schemeClr val="tx1"/>
              </a:solidFill>
            </a:endParaRPr>
          </a:p>
        </p:txBody>
      </p:sp>
      <p:cxnSp>
        <p:nvCxnSpPr>
          <p:cNvPr id="27" name="直线连接符 26">
            <a:extLst>
              <a:ext uri="{FF2B5EF4-FFF2-40B4-BE49-F238E27FC236}">
                <a16:creationId xmlns:a16="http://schemas.microsoft.com/office/drawing/2014/main" id="{E31C7E0B-34B4-AF48-BBFB-7CBCE941E4B1}"/>
              </a:ext>
            </a:extLst>
          </p:cNvPr>
          <p:cNvCxnSpPr>
            <a:stCxn id="24" idx="3"/>
            <a:endCxn id="25" idx="0"/>
          </p:cNvCxnSpPr>
          <p:nvPr/>
        </p:nvCxnSpPr>
        <p:spPr>
          <a:xfrm flipH="1">
            <a:off x="959283" y="1629394"/>
            <a:ext cx="788495" cy="400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线连接符 27">
            <a:extLst>
              <a:ext uri="{FF2B5EF4-FFF2-40B4-BE49-F238E27FC236}">
                <a16:creationId xmlns:a16="http://schemas.microsoft.com/office/drawing/2014/main" id="{FBCAF25F-65FD-AB41-A156-D67AF09C451F}"/>
              </a:ext>
            </a:extLst>
          </p:cNvPr>
          <p:cNvCxnSpPr>
            <a:stCxn id="24" idx="5"/>
            <a:endCxn id="26" idx="0"/>
          </p:cNvCxnSpPr>
          <p:nvPr/>
        </p:nvCxnSpPr>
        <p:spPr>
          <a:xfrm>
            <a:off x="2402054" y="1629394"/>
            <a:ext cx="562725" cy="400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椭圆 28">
            <a:extLst>
              <a:ext uri="{FF2B5EF4-FFF2-40B4-BE49-F238E27FC236}">
                <a16:creationId xmlns:a16="http://schemas.microsoft.com/office/drawing/2014/main" id="{381BE001-F396-0F47-92E0-AB4A76754059}"/>
              </a:ext>
            </a:extLst>
          </p:cNvPr>
          <p:cNvSpPr/>
          <p:nvPr/>
        </p:nvSpPr>
        <p:spPr>
          <a:xfrm>
            <a:off x="1939411" y="2793909"/>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err="1">
                <a:solidFill>
                  <a:schemeClr val="tx1"/>
                </a:solidFill>
              </a:rPr>
              <a:t>landis</a:t>
            </a:r>
            <a:endParaRPr kumimoji="1" lang="zh-CN" altLang="en-US" sz="900" dirty="0">
              <a:solidFill>
                <a:schemeClr val="tx1"/>
              </a:solidFill>
            </a:endParaRPr>
          </a:p>
        </p:txBody>
      </p:sp>
      <p:cxnSp>
        <p:nvCxnSpPr>
          <p:cNvPr id="30" name="直线连接符 29">
            <a:extLst>
              <a:ext uri="{FF2B5EF4-FFF2-40B4-BE49-F238E27FC236}">
                <a16:creationId xmlns:a16="http://schemas.microsoft.com/office/drawing/2014/main" id="{8C2CF7B1-47CD-AF40-AB68-E4B301C9BEED}"/>
              </a:ext>
            </a:extLst>
          </p:cNvPr>
          <p:cNvCxnSpPr>
            <a:stCxn id="26" idx="4"/>
            <a:endCxn id="29" idx="0"/>
          </p:cNvCxnSpPr>
          <p:nvPr/>
        </p:nvCxnSpPr>
        <p:spPr>
          <a:xfrm flipH="1">
            <a:off x="2402054" y="2497777"/>
            <a:ext cx="562725" cy="2961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椭圆 30">
            <a:extLst>
              <a:ext uri="{FF2B5EF4-FFF2-40B4-BE49-F238E27FC236}">
                <a16:creationId xmlns:a16="http://schemas.microsoft.com/office/drawing/2014/main" id="{1F28C1F2-1F2C-C54F-8491-45FFF8FB9F35}"/>
              </a:ext>
            </a:extLst>
          </p:cNvPr>
          <p:cNvSpPr/>
          <p:nvPr/>
        </p:nvSpPr>
        <p:spPr>
          <a:xfrm>
            <a:off x="3232590" y="2793909"/>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err="1">
                <a:solidFill>
                  <a:schemeClr val="tx1"/>
                </a:solidFill>
              </a:rPr>
              <a:t>velskii</a:t>
            </a:r>
            <a:endParaRPr kumimoji="1" lang="zh-CN" altLang="en-US" sz="900" dirty="0">
              <a:solidFill>
                <a:schemeClr val="tx1"/>
              </a:solidFill>
            </a:endParaRPr>
          </a:p>
        </p:txBody>
      </p:sp>
      <p:cxnSp>
        <p:nvCxnSpPr>
          <p:cNvPr id="32" name="直线连接符 31">
            <a:extLst>
              <a:ext uri="{FF2B5EF4-FFF2-40B4-BE49-F238E27FC236}">
                <a16:creationId xmlns:a16="http://schemas.microsoft.com/office/drawing/2014/main" id="{66E85429-4EA7-FE41-A7FA-D829DD96E1D5}"/>
              </a:ext>
            </a:extLst>
          </p:cNvPr>
          <p:cNvCxnSpPr>
            <a:stCxn id="26" idx="5"/>
            <a:endCxn id="31" idx="0"/>
          </p:cNvCxnSpPr>
          <p:nvPr/>
        </p:nvCxnSpPr>
        <p:spPr>
          <a:xfrm>
            <a:off x="3291917" y="2429228"/>
            <a:ext cx="403316" cy="3646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椭圆 32">
            <a:extLst>
              <a:ext uri="{FF2B5EF4-FFF2-40B4-BE49-F238E27FC236}">
                <a16:creationId xmlns:a16="http://schemas.microsoft.com/office/drawing/2014/main" id="{3FB845BC-323B-644B-94AD-1754F7A07931}"/>
              </a:ext>
            </a:extLst>
          </p:cNvPr>
          <p:cNvSpPr/>
          <p:nvPr/>
        </p:nvSpPr>
        <p:spPr>
          <a:xfrm>
            <a:off x="1421926" y="3593743"/>
            <a:ext cx="925286" cy="4680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solidFill>
                  <a:schemeClr val="tx1"/>
                </a:solidFill>
              </a:rPr>
              <a:t>is</a:t>
            </a:r>
            <a:endParaRPr kumimoji="1" lang="zh-CN" altLang="en-US" sz="900" dirty="0">
              <a:solidFill>
                <a:schemeClr val="tx1"/>
              </a:solidFill>
            </a:endParaRPr>
          </a:p>
        </p:txBody>
      </p:sp>
      <p:cxnSp>
        <p:nvCxnSpPr>
          <p:cNvPr id="34" name="直线连接符 33">
            <a:extLst>
              <a:ext uri="{FF2B5EF4-FFF2-40B4-BE49-F238E27FC236}">
                <a16:creationId xmlns:a16="http://schemas.microsoft.com/office/drawing/2014/main" id="{3FE3D668-3209-684E-A05D-62E0181E6D09}"/>
              </a:ext>
            </a:extLst>
          </p:cNvPr>
          <p:cNvCxnSpPr>
            <a:stCxn id="29" idx="4"/>
            <a:endCxn id="33" idx="0"/>
          </p:cNvCxnSpPr>
          <p:nvPr/>
        </p:nvCxnSpPr>
        <p:spPr>
          <a:xfrm flipH="1">
            <a:off x="1884569" y="3261994"/>
            <a:ext cx="517485" cy="3317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5581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22" grpId="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3725</TotalTime>
  <Words>3708</Words>
  <Application>Microsoft Macintosh PowerPoint</Application>
  <PresentationFormat>宽屏</PresentationFormat>
  <Paragraphs>523</Paragraphs>
  <Slides>30</Slides>
  <Notes>30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30</vt:i4>
      </vt:variant>
    </vt:vector>
  </HeadingPairs>
  <TitlesOfParts>
    <vt:vector size="42" baseType="lpstr">
      <vt:lpstr>等线</vt:lpstr>
      <vt:lpstr>等线 Light</vt:lpstr>
      <vt:lpstr>宋体</vt:lpstr>
      <vt:lpstr>宋体</vt:lpstr>
      <vt:lpstr>Microsoft YaHei</vt:lpstr>
      <vt:lpstr>Microsoft YaHei</vt:lpstr>
      <vt:lpstr>Arial</vt:lpstr>
      <vt:lpstr>Cambria Math</vt:lpstr>
      <vt:lpstr>Times New Roman</vt:lpstr>
      <vt:lpstr>Wingdings</vt:lpstr>
      <vt:lpstr>Office 主题​​</vt:lpstr>
      <vt:lpstr>自定义设计方案</vt:lpstr>
      <vt:lpstr>PowerPoint 演示文稿</vt:lpstr>
      <vt:lpstr>目录</vt:lpstr>
      <vt:lpstr>第十章-作业1</vt:lpstr>
      <vt:lpstr>第十章-作业1</vt:lpstr>
      <vt:lpstr>第十章-作业1</vt:lpstr>
      <vt:lpstr>第十章-作业1</vt:lpstr>
      <vt:lpstr>第十章-作业2</vt:lpstr>
      <vt:lpstr>第十章-作业3</vt:lpstr>
      <vt:lpstr>第十章-作业3</vt:lpstr>
      <vt:lpstr>第十章-作业3</vt:lpstr>
      <vt:lpstr>第十一章-作业1</vt:lpstr>
      <vt:lpstr>第十一章-作业1</vt:lpstr>
      <vt:lpstr>第十一章-作业2</vt:lpstr>
      <vt:lpstr>第十一章-作业2</vt:lpstr>
      <vt:lpstr>第十一章-作业3</vt:lpstr>
      <vt:lpstr>第十一章-作业3</vt:lpstr>
      <vt:lpstr>第十一章-作业3</vt:lpstr>
      <vt:lpstr>第十一章-作业3</vt:lpstr>
      <vt:lpstr>第十一章-作业4</vt:lpstr>
      <vt:lpstr>第十一章-作业4</vt:lpstr>
      <vt:lpstr>第十一章-作业4</vt:lpstr>
      <vt:lpstr>第十一章-作业4</vt:lpstr>
      <vt:lpstr>第十二章-作业1</vt:lpstr>
      <vt:lpstr>第十二章-作业1</vt:lpstr>
      <vt:lpstr>第十二章-作业1</vt:lpstr>
      <vt:lpstr>第十二章-作业1</vt:lpstr>
      <vt:lpstr>第十二章-作业2</vt:lpstr>
      <vt:lpstr>第十二章-作业3</vt:lpstr>
      <vt:lpstr>第十二章-作业3</vt:lpstr>
      <vt:lpstr>第十二章-作业3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 T</dc:creator>
  <cp:lastModifiedBy>Michelle Pang</cp:lastModifiedBy>
  <cp:revision>267</cp:revision>
  <dcterms:created xsi:type="dcterms:W3CDTF">2020-05-26T03:03:48Z</dcterms:created>
  <dcterms:modified xsi:type="dcterms:W3CDTF">2021-12-22T03:23:53Z</dcterms:modified>
</cp:coreProperties>
</file>