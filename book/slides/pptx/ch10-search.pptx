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可以追问：如果查询集中在少数几个元素上（比如按热度），平均会小很多。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这就是「自组织线性表」的动机——把刚访问过的往前挪。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两处值得讲：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 半开区间 [first, last)。书上常见的闭区间写法在没找到时要写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high = mid - 1，而下标是无符号的，mid == 0 时这一句会下溢成天文数字。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半开区间只写 last = middle，永远不减 1，这个坑就不存在。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现场可以改一下：ASan/UBSan 当场报越界。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2. first + (last - first) / 2 而不是 (first + last) / 2——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后者在两个下标都很大时会溢出。这是个经典的库级 bug（Java 的 binarySearch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曾经就有）。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它的适用场合是：主表很大、不能整表排序，但可以按块组织。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 11 章的索引技术就是这个思路的推广。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逐字节读的是 unsigned char 而不是 char——char 在多数平台上是有符号的，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中文等非 ASCII 字节会变成负数，一进位运算就带出符号扩展，散列值随平台而变。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教学版的测试里有一条拿 UTF-8 的「中」（E4 B8 AD）做输入：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按无符号读得到 0xF02D，按有符号读会被符号扩展，得 0x0FFF00DD。</a:t>
            </a:r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教学版的测试专门守着这条：把 erase 改成标 empty，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「删掉 3 之后 10 还找不找得到」这条断言立刻变红。现场可以演示。</a:t>
            </a:r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这一条最隐蔽，教学版单列了一个用例：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表里已有 10（在槽 4），槽 3 是墓碑，此时再插 10 必须返回 false。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碰到墓碑就返回的实现会插出两个 10 来。</a:t>
            </a:r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线性探测还有一个问题叫「聚集」：连续被占的一段会越来越长，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因为落在这一段任何位置的新键都会排到段尾，使段更长。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二次探测和双散列就是为了打散聚集。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100" Type="http://schemas.openxmlformats.org/officeDocument/2006/relationships/image" Target="../media/image3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4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40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3" name="标题线"/>
          <p:cNvSpPr/>
          <p:nvPr/>
        </p:nvSpPr>
        <p:spPr>
          <a:xfrm>
            <a:off x="4216116" y="1057656"/>
            <a:ext cx="3759768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副标题"/>
          <p:cNvSpPr txBox="1"/>
          <p:nvPr/>
        </p:nvSpPr>
        <p:spPr>
          <a:xfrm>
            <a:off x="566928" y="2425890"/>
            <a:ext cx="11058144" cy="3318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9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数据结构与算法：Python 讲可迁移算法，C++ 讲存储与工程实现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884741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“检索”是中文教材的传统术语，现代资料通常写作 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search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；面对索引服务时也常说 query（查询）。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241865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在一组记录里找到关键码等于给定值的那一条。</a:t>
            </a:r>
          </a:p>
        </p:txBody>
      </p:sp>
      <p:sp>
        <p:nvSpPr>
          <p:cNvPr id="7" name="要点"/>
          <p:cNvSpPr txBox="1"/>
          <p:nvPr/>
        </p:nvSpPr>
        <p:spPr>
          <a:xfrm>
            <a:off x="566928" y="3637089"/>
            <a:ext cx="11058144" cy="11109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10.1 基于线性表：顺序、二分、分块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10.2 集合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10.3 散列：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用函数直接算出位置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4798885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衡量指标：平均检索长度 </a:t>
            </a:r>
            <a:r>
              <a:rPr lang="zh-CN" sz="180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ASL = ∑Pᵢ Cᵢ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 / 31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10.1.1 顺序检索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从头比到尾。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对数据没有任何要求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——这是它唯一的优点，也是全部优点。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476449"/>
          <a:ext cx="11058144" cy="1522016"/>
        </p:xfrm>
        <a:graphic>
          <a:graphicData uri="http://schemas.openxmlformats.org/drawingml/2006/table">
            <a:tbl>
              <a:tblPr firstRow="1"/>
              <a:tblGrid>
                <a:gridCol w="5230203"/>
                <a:gridCol w="5827941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情况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比较次数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最好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n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平均（等概率）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(n+1)/2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 / 31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10.1.2 二分检索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10.1 二分检索 K = 18 的过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615688"/>
            <a:ext cx="11058144" cy="3409061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057769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10.1 二分检索 K = 18 的过程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44607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要求已排好序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，每比较一次砍掉一半，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O(log 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 / 31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二分检索：半开区间 trace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有序表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{1,3,7,8,12,15,18,21}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查 18：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476449"/>
          <a:ext cx="11058144" cy="1141512"/>
        </p:xfrm>
        <a:graphic>
          <a:graphicData uri="http://schemas.openxmlformats.org/drawingml/2006/table">
            <a:tbl>
              <a:tblPr firstRow="1"/>
              <a:tblGrid>
                <a:gridCol w="1499748"/>
                <a:gridCol w="3639389"/>
                <a:gridCol w="2079650"/>
                <a:gridCol w="1499748"/>
                <a:gridCol w="2339609"/>
              </a:tblGrid>
              <a:tr h="380504"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轮次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[first,last)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middle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中值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更新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[0,8)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4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first=5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[5,8)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6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18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命中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373353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查 14 时：</a:t>
            </a:r>
          </a:p>
        </p:txBody>
      </p:sp>
      <p:sp>
        <p:nvSpPr>
          <p:cNvPr id="7" name="代码"/>
          <p:cNvSpPr txBox="1"/>
          <p:nvPr/>
        </p:nvSpPr>
        <p:spPr>
          <a:xfrm>
            <a:off x="566928" y="4263832"/>
            <a:ext cx="11058144" cy="47061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[0,8) → [5,8) → [5,6) → [5,5) → 失败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480048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不变量：目标若存在，始终还在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[first,last)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中；区间为空才失败。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 / 31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二分的一个坑：无符号下溢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49502"/>
            <a:ext cx="11058144" cy="4760976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23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code/ch10/search_hash/teaching.hpp#fn:binary_search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【算法10.3】二分检索：要求**已排好序**，每比较一次砍掉一半，代价 O(log n)。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这里用的是**半开区间** [first, last)：`last` 指向"最后一个候选的下一个"。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为什么不用书上常见的闭区间 [low, high]？因为闭区间在没找到时要写 `high = mid - 1`，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而下标是无符号的，`mid == 0` 时这一句会下溢成一个天文数字。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半开区间只写 `last = middle`，永远不减 1，这个坑就不存在。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inline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std::optional&lt;std::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binary_search(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std::vector&lt;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sorted_values, 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key)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first =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last = sorted_values.size();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(first &lt; last)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写成 first + (last - first) / 2 而不是 (first + last) / 2：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后者在两个下标都很大时会溢出。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middle = first + (last - first) /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(sorted_values[middle] == key)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middle;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(sorted_values[middle] &lt; key)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first = middle +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   </a:t>
            </a:r>
            <a:r>
              <a:rPr lang="zh-CN" sz="1056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目标在右半边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else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last = middle;         </a:t>
            </a:r>
            <a:r>
              <a:rPr lang="zh-CN" sz="1056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目标在左半边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std::nullopt;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5 / 31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决策树：二分为什么是 </a:t>
            </a:r>
            <a:r>
              <a:rPr lang="zh-CN" sz="3200" dirty="0" b="1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log n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10.2 二分检索的决策树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412636" y="1229936"/>
            <a:ext cx="5366727" cy="3771213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025025"/>
            <a:ext cx="11058144" cy="24568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17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图10.2 二分检索的决策树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318458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每次比较对应树上下降一层，树高就是最坏比较次数。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654154"/>
            <a:ext cx="11058144" cy="5758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 个元素的判定树高度是 </a:t>
            </a:r>
            <a:r>
              <a:rPr lang="zh-CN" sz="1692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⌈log₂(n+1)⌉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这也是比较模型下检索的下界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：n 个可能的答案至少需要 </a:t>
            </a:r>
            <a:r>
              <a:rPr lang="zh-CN" sz="1692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log₂ n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次比较区分。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6 / 31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10.1.3 分块检索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10.3 分块检索的存储表示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273197" y="1506868"/>
            <a:ext cx="9645605" cy="3505295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036039"/>
            <a:ext cx="11058144" cy="24568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17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10.3 分块检索的存储表示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329472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 n 个元素分成 b 块：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块间有序，块内可以无序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 另造一张块索引记下每块的最大关键码。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665168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先在索引里找到块，再在块内顺序查。块数取 </a:t>
            </a:r>
            <a:r>
              <a:rPr lang="zh-CN" sz="1692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√n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量级时 ASL 约 </a:t>
            </a:r>
            <a:r>
              <a:rPr lang="zh-CN" sz="1692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O(√n)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介于顺序的 </a:t>
            </a:r>
            <a:r>
              <a:rPr lang="zh-CN" sz="1692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O(n)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 和二分的 </a:t>
            </a:r>
            <a:r>
              <a:rPr lang="zh-CN" sz="1692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O(log n)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 之间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7 / 31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分块检索：先找块，再扫块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块 0: 22 12 13  9  8       max=22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块 1: 33 42 44 24 48       max=48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块 2: 60 80 74 49 86 53    max=86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087725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查 44：索引比较 22、48，落到块 1；块内比较 33、42、44。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551986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查 23：也落到块 1，但扫完整块仍失败。 “小于块最大值”只说明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可能在这块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，不说明一定存在。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41446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若索引顺序查、各块等长，代价约为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b/2+n/(2b)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 两项平衡得到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 ≈ √n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8 / 31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10.2 集合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集合只关心「在不在」，不保留重复，也不保证顺序。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41040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所有运算都建立在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「是否属于」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之上：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2940710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交集   本集合里凡是对方也有的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包含   对方的每个元素本集合都得有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374680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本书的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IntSet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故意用线性表 + 顺序检索——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于是交集是 </a:t>
            </a:r>
            <a:r>
              <a:rPr lang="zh-CN" sz="234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O(n × m)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4211065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10.3 节的散列就是来把那个 </a:t>
            </a:r>
            <a:r>
              <a:rPr lang="zh-CN" sz="234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O(n)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 压成 </a:t>
            </a:r>
            <a:r>
              <a:rPr lang="zh-CN" sz="234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O(1)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 的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，接口一个字都不用改。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9 / 31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10.3 散列：换一条路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前面的检索都要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和表里的元素比较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，至少看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log 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或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√n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个。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41040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散列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不比较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：用函数从关键码直接算出槽位下标，期望一次到位。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287467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代价一并写明：</a:t>
            </a:r>
          </a:p>
        </p:txBody>
      </p:sp>
      <p:sp>
        <p:nvSpPr>
          <p:cNvPr id="7" name="要点"/>
          <p:cNvSpPr txBox="1"/>
          <p:nvPr/>
        </p:nvSpPr>
        <p:spPr>
          <a:xfrm>
            <a:off x="566928" y="3388461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不保持次序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，不能按范围遍历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装载因子高或散列不均匀时，退化成接近线性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10 / 31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10.3.1 散列函数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00262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好的散列函数要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算得快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，并且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把地址铺匀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1535958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常见做法：除留余数（</a:t>
            </a:r>
            <a:r>
              <a:rPr lang="zh-CN" sz="1692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h(k) = k mod m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，m 取素数）、折叠、平方取中。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1919406"/>
            <a:ext cx="11058144" cy="4292559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79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code/ch10/search_hash/teaching.hpp#fn:elf_hash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【算法10.8】ELF 散列：把字符串搅成一个整数。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逐字节读的是 `unsigned char` 而不是 `char`——`char` 在多数平台上是有符号的，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中文等非 ASCII 字节会变成负数，一进位运算就带出符号扩展，散列值随平台而变。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中间值用 32 位的 `std::uint32_t`：ELF 散列是按 32 位定义的。若用 64 位的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`std::size_t`，`hash &lt;&lt; 4` 再加一个字节可能进位到第 32 位，下面只清第 28–31 位，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那一位就永远留着，结果与经典 ELF 散列不同。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inline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elf_hash(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std::string&amp; text)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std::uint32_t hash =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unsigned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character : text)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hash = (hash &lt;&lt;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4U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+ character;        </a:t>
            </a: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左移 4 位，腾出位置放新字节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std::uint32_t high_bits = hash &amp;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0xF0000000U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  </a:t>
            </a: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溢出到高 4 位的那部分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(high_bits !=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hash ^= high_bits &gt;&gt;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24U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          </a:t>
            </a: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折回低位，别让它白白丢掉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hash &amp;= ~high_bits;                     </a:t>
            </a: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再把高 4 位清掉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hash;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11 / 31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散列函数怎么选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1509772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3382723"/>
                <a:gridCol w="3224467"/>
                <a:gridCol w="4450954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方法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适合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风险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除留余数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整数键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模数与数据周期共振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平方取中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数值键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仍依赖中间位分布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分段叠加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长数字/字符串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分段规律会聚集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ELF 等移位散列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字符串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仍需处理冲突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352786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好散列函数追求：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4041653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同一关键码结果稳定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计算便宜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把实际输入均匀铺到槽位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551986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“看起来随机”不等于无冲突；冲突处理始终是散列表的一部分。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12 / 31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10.3.2 开散列（拉链法）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65672"/>
            <a:ext cx="11058144" cy="21442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“开散列”是</a:t>
            </a:r>
            <a:r>
              <a:rPr lang="zh-CN" sz="126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经典教材术语</a:t>
            </a: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，现代资料通常称 </a:t>
            </a:r>
            <a:r>
              <a:rPr lang="zh-CN" sz="126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separate chaining（分离链接）</a:t>
            </a: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；“开”指冲突元素放到槽外的链或桶中。</a:t>
            </a:r>
          </a:p>
        </p:txBody>
      </p:sp>
      <p:pic>
        <p:nvPicPr>
          <p:cNvPr id="5" name="图 10.7 开散列方法的图示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989737" y="1551218"/>
            <a:ext cx="4212526" cy="3564445"/>
          </a:xfrm>
          <a:prstGeom prst="rect">
            <a:avLst/>
          </a:prstGeom>
        </p:spPr>
      </p:pic>
      <p:sp>
        <p:nvSpPr>
          <p:cNvPr id="6" name="图注"/>
          <p:cNvSpPr txBox="1"/>
          <p:nvPr/>
        </p:nvSpPr>
        <p:spPr>
          <a:xfrm>
            <a:off x="566928" y="5133443"/>
            <a:ext cx="11058144" cy="1946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87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10.7 开散列方法的图示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363630"/>
            <a:ext cx="11058144" cy="21442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冲突的元素挂成一条链。</a:t>
            </a:r>
          </a:p>
        </p:txBody>
      </p:sp>
      <p:sp>
        <p:nvSpPr>
          <p:cNvPr id="8" name="要点"/>
          <p:cNvSpPr txBox="1"/>
          <p:nvPr/>
        </p:nvSpPr>
        <p:spPr>
          <a:xfrm>
            <a:off x="566928" y="5640286"/>
            <a:ext cx="11058144" cy="5184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352"/>
              </a:spcBef>
              <a:buClr>
                <a:srgbClr val="8A4B2A"/>
              </a:buClr>
              <a:buFont typeface="Arial"/>
              <a:buChar char="●"/>
            </a:pP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优点：装载因子可以大于 1；删除简单</a:t>
            </a:r>
          </a:p>
          <a:p>
            <a:pPr marL="270000" indent="-230000" lvl="0">
              <a:lnSpc>
                <a:spcPct val="100000"/>
              </a:lnSpc>
              <a:spcBef>
                <a:spcPts val="352"/>
              </a:spcBef>
              <a:buClr>
                <a:srgbClr val="8A4B2A"/>
              </a:buClr>
              <a:buFont typeface="Arial"/>
              <a:buChar char="●"/>
            </a:pP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缺点：额外的指针空间；缓存局部性差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13 / 31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10.3.3 闭散列（开地址法）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“闭散列”是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经典教材术语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，现代资料通常称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open addressing（开放地址法）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；所有元素都留在主表槽位中并按探测序列处理冲突。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80863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所有元素都住在表里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，不另开链表。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27289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关键码先由散列函数算出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基地址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；那一格被占了就往后找——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线性探测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代码"/>
          <p:cNvSpPr txBox="1"/>
          <p:nvPr/>
        </p:nvSpPr>
        <p:spPr>
          <a:xfrm>
            <a:off x="566928" y="3803192"/>
            <a:ext cx="11058144" cy="127894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表长 7,  插入 3, 10, 17   (三者的基地址都是 3)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槽位   0   1   2   3    4    5    6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内容               [3] [10] [17]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14 / 31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删除：这一节的核心难点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直接把槽位标成「空」是错的。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181782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A 和 B 的基地址都是 3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A 占了槽 3,  B 探测一格住进槽 4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删掉 A, 把槽 3 标成空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再查 B:  从槽 3 开始, 看到「空」就认定 B 不在表里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可 B 明明就在槽 4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360316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探测链被这个空格截断了。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15 / 31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解法：墓碑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38636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槽位要有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三种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状态：空、占用、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墓碑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1597609"/>
            <a:ext cx="11058144" cy="384901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23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code/ch10/search_hash/teaching.hpp#fn:erase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erase(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std::optional&lt;std::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found = sequential_search(values_, value);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(!found)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false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values_.erase(values_.begin() +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static_cast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&lt;std::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ptrdiff_t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&gt;(*found));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删除：**标墓碑，不标空**。理由见上面类注释里那三行推演。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erase(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key)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std::optional&lt;std::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found = find_slot(key);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(!found)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false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slots_[*found].state = SlotState::tombstone;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--size_;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5524855"/>
            <a:ext cx="11058144" cy="6517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44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查找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路过墓碑要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继续走</a:t>
            </a:r>
          </a:p>
          <a:p>
            <a:pPr marL="270000" indent="-230000" lvl="0">
              <a:lnSpc>
                <a:spcPct val="100000"/>
              </a:lnSpc>
              <a:spcBef>
                <a:spcPts val="44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插入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覆盖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墓碑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16 / 31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墓碑探测：删除后为什么不能停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2933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设容量 7，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h(k)=k mod 7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，插入 10、17、24：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59635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槽位: 0 1 2 3  4  5  6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状态: . . . 10 17 24 .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26572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删除 17 后若把槽 4 改成“从未使用”，查 24 会在槽 4 提前失败。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372999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正确做法是留下墓碑：</a:t>
            </a:r>
          </a:p>
        </p:txBody>
      </p:sp>
      <p:sp>
        <p:nvSpPr>
          <p:cNvPr id="8" name="代码"/>
          <p:cNvSpPr txBox="1"/>
          <p:nvPr/>
        </p:nvSpPr>
        <p:spPr>
          <a:xfrm>
            <a:off x="566928" y="4260291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状态: . . . 10  † 24 .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查 24: 3 不等 → 4 是墓碑，继续 → 5 命中</a:t>
            </a:r>
          </a:p>
        </p:txBody>
      </p:sp>
      <p:sp>
        <p:nvSpPr>
          <p:cNvPr id="9" name="正文"/>
          <p:cNvSpPr txBox="1"/>
          <p:nvPr/>
        </p:nvSpPr>
        <p:spPr>
          <a:xfrm>
            <a:off x="566928" y="5066385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插入可记住遇到的第一个墓碑，但仍要继续探测，先确认键并未已存在。</a:t>
            </a:r>
          </a:p>
        </p:txBody>
      </p:sp>
      <p:sp>
        <p:nvSpPr>
          <p:cNvPr id="10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11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17 / 31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插入：回收墓碑，但不能提前停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45428"/>
            <a:ext cx="11058144" cy="409773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79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code/ch10/search_hash/teaching.hpp#fn:insertion_slot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找插入位置。比查找多做一件事：**记住路上第一个墓碑**。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走到「空」时优先返回那个墓碑——回收墓碑，探测链才不会越来越长。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但必须先走到「空」或找到同键才能停，否则会把一个已存在的键插第二遍。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std::optional&lt;std::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insertion_slot(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key)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std::optional&lt;std::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first_tombstone;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step =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step &lt; slots_.size(); ++step)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index = (home(key) + step) % slots_.size();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(slots_[index].state == SlotState::used &amp;&amp; slots_[index].key == key)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index;                   </a:t>
            </a: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键已存在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(slots_[index].state == SlotState::tombstone &amp;&amp; !first_tombstone)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first_tombstone = index;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(slots_[index].state == SlotState::empty)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first_tombstone ? first_tombstone : std::optional&lt;std::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&gt;(index);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first_tombstone;                 </a:t>
            </a:r>
            <a:r>
              <a:rPr lang="zh-CN" sz="1128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全表没有空格，只能指望墓碑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490911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记住路上第一个墓碑，但必须先走到「空」或找到同键才能停。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826607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提前停会把一个已经在后面的键</a:t>
            </a:r>
            <a:r>
              <a:rPr lang="zh-CN" sz="169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插第二遍</a:t>
            </a: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18 / 31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10.3.5 效率分析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设装载因子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α = n/m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476449"/>
          <a:ext cx="11058144" cy="1141512"/>
        </p:xfrm>
        <a:graphic>
          <a:graphicData uri="http://schemas.openxmlformats.org/drawingml/2006/table">
            <a:tbl>
              <a:tblPr firstRow="1"/>
              <a:tblGrid>
                <a:gridCol w="1014508"/>
                <a:gridCol w="4758045"/>
                <a:gridCol w="5285591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方法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成功检索 ASL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不成功检索 ASL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拉链法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 + α/2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α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线性探测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1/2(1 + 1/(1-α))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1/2(1 + 1/((1-α)²))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373353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注意最后一列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α → 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时它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爆炸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19779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所以闭散列表通常在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α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超过 0.5–0.75 时就要扩容重散列。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19 / 31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10.3.6 什么时候不该用散列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62065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符号表、缓存、去重都常用散列。但选结构要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先问操作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，不要先比复杂度符号。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1792366"/>
          <a:ext cx="11058144" cy="2283024"/>
        </p:xfrm>
        <a:graphic>
          <a:graphicData uri="http://schemas.openxmlformats.org/drawingml/2006/table">
            <a:tbl>
              <a:tblPr firstRow="1"/>
              <a:tblGrid>
                <a:gridCol w="3893712"/>
                <a:gridCol w="2881347"/>
                <a:gridCol w="4283085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需求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用什么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为什么不是散列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精确查一个键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散列表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正是它的长项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按键从小到大遍历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有序表 / 搜索树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散列槽位没有关键码顺序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查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[low,high]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范围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B+ 树 / 有序数组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散列不能定位相邻键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数据很少、更新不频繁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线性表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实现和内存开销更小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需要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最坏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</a:t>
                      </a: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平衡搜索树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普通散列只保证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期望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代价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419096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两条容易漏的工程细节：</a:t>
            </a:r>
          </a:p>
        </p:txBody>
      </p:sp>
      <p:sp>
        <p:nvSpPr>
          <p:cNvPr id="7" name="要点"/>
          <p:cNvSpPr txBox="1"/>
          <p:nvPr/>
        </p:nvSpPr>
        <p:spPr>
          <a:xfrm>
            <a:off x="566928" y="4704751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缓存还要处理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容量淘汰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去重要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保存原始键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，好确认「散列值相同但键不同」的碰撞。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73365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散列值只是候选地址或摘要，不能代替关键码相等判断。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20 / 31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课堂讲解卡：搜索方法由信息组织决定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无序表只能顺序查找；有序数组允许二分；哈希表用空间换期望常数时间，但失去顺序和范围查询能力。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21 / 31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课堂例题：同一批键的三种查询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对键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3, 8, 11, 15, 21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：分别演示顺序查找、二分查找和哈希查找。删除哈希槽中的第一个键后，观察墓碑为什么不能直接改成空。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22 / 31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课堂例题答案：三种查询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顺序查找逐个比较；二分先比较中点再缩小区间；哈希直接计算槽位。删除冲突序列中的第一个键时必须留下墓碑，否则后续查找遇到空槽会错误停止。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23 / 31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二分查找的区间是闭区间还是半开区间？循环不变量是什么？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装载因子过高时为什么要扩容重散列？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开放地址法删除为何需要墓碑？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需要前缀、范围或有序遍历时，为什么哈希表可能不是好选择？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24 / 31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课末自检参考答案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半开区间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[left,right)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保持目标若存在必在区间内。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装载因子过高会增加冲突和探测长度，因此要扩容重散列。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墓碑保留探测链连续性。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前缀、范围和有序遍历应考虑树或排序数组，而非哈希表。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25 / 31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状态演算：墓碑探测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槽位 3、10、17 冲突并形成探测链。删除 3 后槽 3 标为墓碑；查询 17 遇到墓碑不能停，继续探测到 17 才能成功。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26 / 31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反例：删除后直接置空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直接置空会让查询在第一个空槽提前返回“不存在”，即使目标键仍在后续槽位。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27 / 31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课堂练习与答案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课堂练习：装载因子从 0.5 升到 0.9 时会发生什么？答案：探测长度和聚集显著增加，应扩容重散列或改用分离链接。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28 / 31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Python 算法轨：搜索与散列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24153"/>
            <a:ext cx="11058144" cy="65553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顺序/二分检索、集合和散列表的算法逻辑用 Python 对照；C++ 版本展示墓碑、探测链和对象布局，不能用 </a:t>
            </a:r>
            <a:r>
              <a:rPr lang="zh-CN" sz="192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dict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一行替代。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1988398"/>
            <a:ext cx="11058144" cy="4193072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1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code/ch10/search_hash/modern.py#sequential-binary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def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sequential_search(values, key):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i, value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enumerate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(values):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 == key: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None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def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binary_search(values, key):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first, last = </a:t>
            </a:r>
            <a:r>
              <a:rPr lang="zh-CN" sz="128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len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(values)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first &lt; last: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middle = first + (last - first) // </a:t>
            </a:r>
            <a:r>
              <a:rPr lang="zh-CN" sz="128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values[middle] == key: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middle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values[middle] &lt; key: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first = middle + </a:t>
            </a:r>
            <a:r>
              <a:rPr lang="zh-CN" sz="128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else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last = middle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None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29 / 31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本章小结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288858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顺序检索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不要求有序；二分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O(log 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要求有序；分块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O(√n)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折中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二分要用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半开区间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，避开无符号下溢；中点用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first + (last-first)/2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比较模型下检索的下界是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Ω(log n)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散列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不比较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，期望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O(1)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；代价是不保序、会退化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闭散列的删除必须标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墓碑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，否则探测链断掉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插入要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回收墓碑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，但不能碰到墓碑就停——会插出重复键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30 / 31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上机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956773"/>
            <a:ext cx="11058144" cy="47061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code/ch10/search_hash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49342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故意改坏一处，看哪条断言变红：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007215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把二分的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last = middle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改成闭区间的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last = middle - 1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erase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改成标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empty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而不是墓碑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让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insertion_slot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碰到墓碑就返回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elf_hash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unsigned char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改成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</a:p>
        </p:txBody>
      </p:sp>
      <p:sp>
        <p:nvSpPr>
          <p:cNvPr id="7" name="引用线"/>
          <p:cNvSpPr/>
          <p:nvPr/>
        </p:nvSpPr>
        <p:spPr>
          <a:xfrm>
            <a:off x="566928" y="5065019"/>
            <a:ext cx="32004" cy="4381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引用"/>
          <p:cNvSpPr txBox="1"/>
          <p:nvPr/>
        </p:nvSpPr>
        <p:spPr>
          <a:xfrm>
            <a:off x="694944" y="5065019"/>
            <a:ext cx="10820400" cy="4381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最后一条只有拿非 ASCII 字节做输入才看得出来——测试里那条用例就是为它写的。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第10章 检索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31 / 31</a:t>
            </a:r>
          </a:p>
        </p:txBody>
      </p:sp>
    </p:spTree>
  </p:cSld>
</p:sld>
</file>

<file path=ppt/theme/theme1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dsa-modernization/tools/build_pptx.py</Application>
  <Slides>31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第10章 检索</dc:title>
  <dc:creator>dsa-modernization</dc:creator>
  <cp:revision>1</cp:revision>
</cp:coreProperties>
</file>