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这一章是全书第一个「同一 ADT 两种实现」的例子，后面每一章都会重复这个模式。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让学生带着一个问题听：什么时候该用哪个？答案在 2.4 节，但过程比答案重要。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这张表可以贴在黑板一角，整章都指着它讲。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最后一行的对比是本章的落点：顺序表和链表在「插入」上都是 O(n)，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但慢的原因完全不同，所以适用场合也不同。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本书把这组运算直接定义在 ArrayList&lt;T&gt; 上，不另设基类——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理由和第 3 章一样：空基类给不了多态，却会带来非虚析构的未定义行为。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为什么越界是「抛异常」而不是「返回 optional」？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因为它不是可预期状态：调用方给了一个不存在的位置，那是调用方的 bug。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可预期的「没有」（比如 find 找不到）才用 optional。这条口径全书统一。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对空盒子直接 * 取值是未定义行为，用 .value() 取会抛 bad_optional_access。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两条路都不会像 int p 那样悄悄给你一个看似正常的垃圾值。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一句话：原来靠调用方自觉，现在靠类型系统。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循环倒着走是考点：若改成从 pos 起递增地 data_[i+1] = data_[i]，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第一次搬完就把 data_[pos+1] 覆盖掉了，后面搬的全是同一个值。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现场改一下演示，效果很好。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这次循环正着走。另外它多做一件事：把被删的元素返回给调用方。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原书的 delete 返回 bool，被删的值就此丢失，调用方得先 getValue 再 delete 两步走。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-Wall -Wextra -Wpedantic 一句警告都不给，小数据量下往往也不当场崩。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 3 章有这个 bug 的 ASan 报告，可以翻回去看。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三法则：写了析构、拷贝构造、拷贝赋值中的任意一个，通常这三个都得写。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理由：你之所以要写析构，是因为你在管资源；既然在管资源，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编译器那份「逐成员照抄」的拷贝就一定是错的。</a:t>
            </a:r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顺带一提：原书那个 position，在书中展示的所有算法里一次都没被用到。</a:t>
            </a:r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这就是原书 setPos(-1) 那个技巧的实质。现代接口不暴露 -1 这个特殊位置，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predecessor_at(0) 直接返回头结点。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可以让学生自己写一遍不带头结点的插入，感受一下多出来的那个 if。</a:t>
            </a:r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 2 条是教学版测试里专门守着的：用「删到空表再 append」把它钉死，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去掉那两行 AddressSanitizer 立刻报 heap-use-after-free。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现场演示效果好，因为不删那两行的话普通用例全绿。</a:t>
            </a:r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少改一根，表在正向遍历时看起来完全正常，只有反着走或者删中间结点时才炸。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教学版的测试因此正着走一遍、倒着走一遍，断言两个结果互为逆序。</a:t>
            </a:r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递归深度的安全边界由优化级别决定——这种不确定性不该出现在教材实现里。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所以本书所有链式结构的析构一律写成迭代。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这不是审美判断，是上面这张表。</a:t>
            </a:r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测试至少覆盖空表、单结点、多结点，并验证从任一结点出发恰好走一整圈。</a:t>
            </a:r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补一句现实：现代机器上缓存局部性的影响常常压过渐进复杂度，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n 不大时 vector 往往比 list 快，哪怕理论上后者插删更优。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这也是「渐进分析不是全部」的一个好例子。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100" Type="http://schemas.openxmlformats.org/officeDocument/2006/relationships/image" Target="../media/image1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100" Type="http://schemas.openxmlformats.org/officeDocument/2006/relationships/image" Target="../media/image2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3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100" Type="http://schemas.openxmlformats.org/officeDocument/2006/relationships/image" Target="../media/image4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5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6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609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40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3" name="标题线"/>
          <p:cNvSpPr/>
          <p:nvPr/>
        </p:nvSpPr>
        <p:spPr>
          <a:xfrm>
            <a:off x="4216116" y="1057656"/>
            <a:ext cx="3759768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副标题"/>
          <p:cNvSpPr txBox="1"/>
          <p:nvPr/>
        </p:nvSpPr>
        <p:spPr>
          <a:xfrm>
            <a:off x="566928" y="2789618"/>
            <a:ext cx="11058144" cy="3318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95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数据结构与算法：Python 讲可迁移算法，C++ 讲存储与工程实现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3248469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一串同类型元素，排成唯一的先后次序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3643693"/>
            <a:ext cx="11058144" cy="7406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顺序表：元素连续放在数组里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链表：用链接保存相邻关系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435157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一条主线：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同一个逻辑结构，两种存储结构，代价完全不同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 / 35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2.1 线性表的抽象数据类型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2012188"/>
          <a:ext cx="11058144" cy="2283024"/>
        </p:xfrm>
        <a:graphic>
          <a:graphicData uri="http://schemas.openxmlformats.org/drawingml/2006/table">
            <a:tbl>
              <a:tblPr firstRow="1"/>
              <a:tblGrid>
                <a:gridCol w="2931074"/>
                <a:gridCol w="2531382"/>
                <a:gridCol w="2231613"/>
                <a:gridCol w="3364075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运算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含义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顺序表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链表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at(i)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按下标取值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O(1)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find(x)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按内容查位置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insert(i, x)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在位置 i 插入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O(n) 搬元素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O(n) 找前驱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remove(i)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删除位置 i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O(n) 搬元素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O(n) 找前驱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append(x)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表尾追加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摊还 O(1)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O(1)（有尾指针）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4410782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两个 O(n) 不是同一回事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：一个在搬数据，一个在走指针。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 / 35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原书这里编译不过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原书用一个类模板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List&lt;T&gt;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写这组运算，那份清单有两处硬伤：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76449"/>
            <a:ext cx="11058144" cy="74005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bool delete(const int p);        &lt;- delete 是 C++ 关键字, 不能作函数名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class List { void clear(); ... } &lt;- 通篇没有 public: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282543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第二条尤其值得停一下：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class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的默认访问权限是 private， 于是这个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抽象数据类型的每一个运算都调不到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145025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一个所有运算都私有的 ADT，语法上成立，语义上是空的。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 / 35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2.2 顺序表：地址公式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元素连续存放，每个占 L 个单元，首地址 b：</a:t>
            </a:r>
          </a:p>
        </p:txBody>
      </p:sp>
      <p:sp>
        <p:nvSpPr>
          <p:cNvPr id="5" name="公式"/>
          <p:cNvSpPr txBox="1"/>
          <p:nvPr/>
        </p:nvSpPr>
        <p:spPr>
          <a:xfrm>
            <a:off x="566928" y="2492959"/>
            <a:ext cx="11058144" cy="4424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260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loc(kᵢ) = b + i × L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017977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只要知道基地址，任一元素的地址都能直接算出来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 所以按下标取值是 O(1)。这就是「随机存取」。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388045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物理相邻表示了逻辑相邻。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 / 35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教学版：三个成员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2012188"/>
            <a:ext cx="11058144" cy="100949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T* data_;             指向底层数组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size_type capacity_;  数组能放多少个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size_type size_;      现在放了几个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3087725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整份实现在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code/ch02/array_list/teaching.hpp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——一个文件、一个类。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551986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后面几页把它拆开逐段看。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5 / 35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按下标取值与改值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33420"/>
            <a:ext cx="11058144" cy="3978899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6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code/ch02/array_list/teaching.hpp#fn:at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按下标读取，O(1)——这是顺序表相对链表的看家本领。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下标非法是**调用方的错误**，不是可预期状态，所以抛异常而不是返回 optional。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T&amp; at(size_type index)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(index &gt;= size_)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throw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std::out_of_range(</a:t>
            </a:r>
            <a:r>
              <a:rPr lang="zh-CN" sz="1367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"ArrayList::at: 下标越界"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data_[index];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T&amp; at(size_type index)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(index &gt;= size_)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throw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std::out_of_range(</a:t>
            </a:r>
            <a:r>
              <a:rPr lang="zh-CN" sz="1367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"ArrayList::at: 下标越界"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data_[index];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5370230"/>
            <a:ext cx="11058144" cy="3492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先查下标合不合法，然后直接 </a:t>
            </a:r>
            <a:r>
              <a:rPr lang="zh-CN" sz="205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data_[index]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</a:t>
            </a: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没有循环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777350"/>
            <a:ext cx="11058144" cy="3492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越界抛 </a:t>
            </a:r>
            <a:r>
              <a:rPr lang="zh-CN" sz="205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std::out_of_range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——原书是打印一行再返回 false。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6 / 35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按内容查找：「没找到」怎么说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原书的签名是：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76449"/>
            <a:ext cx="11058144" cy="470611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bool getPos(int&amp; p, const T value);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01310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一次调用带回两件事：找没找到（返回值）、在第几位（出参 p）。</a:t>
            </a:r>
          </a:p>
        </p:txBody>
      </p:sp>
      <p:sp>
        <p:nvSpPr>
          <p:cNvPr id="7" name="代码"/>
          <p:cNvSpPr txBox="1"/>
          <p:nvPr/>
        </p:nvSpPr>
        <p:spPr>
          <a:xfrm>
            <a:off x="566928" y="3543401"/>
            <a:ext cx="11058144" cy="100949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int p;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list.getPos(p, 20);     // 忘了看返回值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use(p);                 // 用的是一个从没被写过的 p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461893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程序不崩，只是默默按错误的下标继续跑。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7 / 35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现代写法：把两件事合成一个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49375"/>
            <a:ext cx="11058144" cy="3434486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1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code/ch02/array_list/teaching.hpp#fn:find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按内容查找，O(n)。找到返回下标，没找到返回空 optional。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原书【算法2.3】用 `bool getPos(int&amp; p, const T value)`：忘了看返回值，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就会读到一个从没被写过的 p。这里「找没找到」是返回值类型的一部分。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std::optional&lt;size_type&gt; find(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T&amp; value)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(size_type i =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i &lt; size_; ++i)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(data_[i] == value)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std::nullopt;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4849901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std::optional&lt;size_type&gt;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是一个「可能装着下标的盒子」： 找到了盒子里是下标，没找到盒子是空的。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71238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取值必须先开盒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，而开盒这一步绕不过去。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8 / 35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插入：搬 O(n) 个元素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2.7 插入算法示意图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767745" y="1203448"/>
            <a:ext cx="8656510" cy="2393270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3613482"/>
            <a:ext cx="11058144" cy="1861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8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2.7 插入算法示意图</a:t>
            </a:r>
          </a:p>
        </p:txBody>
      </p:sp>
      <p:sp>
        <p:nvSpPr>
          <p:cNvPr id="6" name="代码"/>
          <p:cNvSpPr txBox="1"/>
          <p:nvPr/>
        </p:nvSpPr>
        <p:spPr>
          <a:xfrm>
            <a:off x="566928" y="3866656"/>
            <a:ext cx="11058144" cy="2389875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700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code/ch02/array_list/teaching.hpp#fn:insert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在位置 pos 插入，pos 可以等于 size()（追加到表尾）。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代价 O(n)：pos 之后的元素都要右移一位。这正是顺序表与链表要对比的地方。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insert(size_type pos, </a:t>
            </a:r>
            <a:r>
              <a:rPr lang="zh-CN" sz="79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T&amp; value)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79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(pos &gt; size_)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79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throw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std::out_of_range(</a:t>
            </a:r>
            <a:r>
              <a:rPr lang="zh-CN" sz="792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"ArrayList::insert: 插入位置非法"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79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(size_ == capacity_)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grow();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79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(size_type i = size_; i &gt; pos; --i)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data_[i] = data_[i - </a:t>
            </a:r>
            <a:r>
              <a:rPr lang="zh-CN" sz="792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];   </a:t>
            </a:r>
            <a:r>
              <a:rPr lang="zh-CN" sz="792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从后往前搬，否则会自己覆盖自己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data_[pos] = value;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++size_;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79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9 / 35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扩容：翻倍，不是加一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261924"/>
            <a:ext cx="11058144" cy="3488375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141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code/ch02/array_list/teaching.hpp#fn:grow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扩容：申请两倍大的新数组，搬过去，再释放旧的。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翻倍而不是加一，才能让 append 的摊还代价保持 O(1)。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grow()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size_type next = (capacity_ == </a:t>
            </a:r>
            <a:r>
              <a:rPr lang="zh-CN" sz="1464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? </a:t>
            </a:r>
            <a:r>
              <a:rPr lang="zh-CN" sz="1464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: capacity_ * </a:t>
            </a:r>
            <a:r>
              <a:rPr lang="zh-CN" sz="1464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T* fresh =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T[next];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(size_type i = </a:t>
            </a:r>
            <a:r>
              <a:rPr lang="zh-CN" sz="1464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i &lt; size_; ++i)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fresh[i] = data_[i];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delete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[] data_;       </a:t>
            </a:r>
            <a:r>
              <a:rPr lang="zh-CN" sz="146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先搬完再释放旧的，顺序反了就会读到已释放的内存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data_ = fresh;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capacity_ = next;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4858757"/>
            <a:ext cx="11058144" cy="903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14"/>
              </a:spcBef>
              <a:buClr>
                <a:srgbClr val="8A4B2A"/>
              </a:buClr>
              <a:buFont typeface="Arial"/>
              <a:buChar char="●"/>
            </a:pP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加一：追加 n 个元素总共搬 </a:t>
            </a:r>
            <a:r>
              <a:rPr lang="zh-CN" sz="2196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O(n²)</a:t>
            </a: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次</a:t>
            </a:r>
          </a:p>
          <a:p>
            <a:pPr marL="270000" indent="-230000" lvl="0">
              <a:lnSpc>
                <a:spcPct val="100000"/>
              </a:lnSpc>
              <a:spcBef>
                <a:spcPts val="614"/>
              </a:spcBef>
              <a:buClr>
                <a:srgbClr val="8A4B2A"/>
              </a:buClr>
              <a:buFont typeface="Arial"/>
              <a:buChar char="●"/>
            </a:pP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翻倍：总搬运次数 </a:t>
            </a:r>
            <a:r>
              <a:rPr lang="zh-CN" sz="2196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&lt; 2n</a:t>
            </a: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，平摊到每次是</a:t>
            </a:r>
            <a:r>
              <a:rPr lang="zh-CN" sz="219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常数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824341"/>
            <a:ext cx="11058144" cy="37371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9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delete[]</a:t>
            </a: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必须在搬完之后——顺序反了就是读已释放的内存。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10 / 35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删除：插入的镜像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2.8 删除示意图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1224718"/>
            <a:ext cx="11058144" cy="2277894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3523440"/>
            <a:ext cx="11058144" cy="22015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0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2.8 删除示意图</a:t>
            </a:r>
          </a:p>
        </p:txBody>
      </p:sp>
      <p:sp>
        <p:nvSpPr>
          <p:cNvPr id="6" name="代码"/>
          <p:cNvSpPr txBox="1"/>
          <p:nvPr/>
        </p:nvSpPr>
        <p:spPr>
          <a:xfrm>
            <a:off x="566928" y="3826906"/>
            <a:ext cx="11058144" cy="2408356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76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code/ch02/array_list/teaching.hpp#fn:remove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删除 pos 上的元素并返回它。代价同样是 O(n)：后面的元素都要左移一位。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T remove(size_type pos)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(pos &gt;= size_)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throw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std::out_of_range(</a:t>
            </a:r>
            <a:r>
              <a:rPr lang="zh-CN" sz="983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"ArrayList::remove: 下标越界"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T removed = data_[pos];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(size_type i = pos; i + </a:t>
            </a:r>
            <a:r>
              <a:rPr lang="zh-CN" sz="983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&lt; size_; ++i)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data_[i] = data_[i + </a:t>
            </a:r>
            <a:r>
              <a:rPr lang="zh-CN" sz="983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--size_;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removed;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11 / 35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三法则：原书最硬的一处错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283335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arrList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有析构函数，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却没有拷贝构造与拷贝赋值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1747596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一句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arrList&lt;int&gt; b = a;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之后，两个对象持有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同一根指针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 各析构一次 → 同一块内存被释放两次。</a:t>
            </a:r>
          </a:p>
        </p:txBody>
      </p:sp>
      <p:sp>
        <p:nvSpPr>
          <p:cNvPr id="6" name="代码"/>
          <p:cNvSpPr txBox="1"/>
          <p:nvPr/>
        </p:nvSpPr>
        <p:spPr>
          <a:xfrm>
            <a:off x="566928" y="2676118"/>
            <a:ext cx="11058144" cy="3434486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1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code/ch02/array_list/teaching.hpp#fn:ArrayList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explicit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ArrayList(size_type initial_capacity =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8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: data_(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T[initial_capacity]), capacity_(initial_capacity), size_(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三法则：自己管着 new 出来的数组，就得自己写拷贝构造和拷贝赋值。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不写的话编译器会照抄指针，两个表指向同一块内存，各析构一次 → 二次释放。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ArrayList(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ArrayList&amp; other)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: data_(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T[other.capacity_]), capacity_(other.capacity_), size_(other.size_)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(size_type i =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i &lt; size_; ++i)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data_[i] = other.data_[i];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12 / 35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一个被删掉的设计：游标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arrList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里还有第四个成员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 position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，配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setPos / next / prev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用来「依次处理元素」。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80863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遍历状态一旦住进容器，三件事同时坏掉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3322421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对象没法遍历（游标要改）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两处代码不能同时遍历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嵌套遍历直接互相踩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832754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本书删掉它，改为提供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begin() / end()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range-for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因此可以直接用。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13 / 35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2.3 链表：换一种存储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2.4 单链表示例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79894" y="2012188"/>
            <a:ext cx="10832211" cy="1103280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3148488"/>
            <a:ext cx="11058144" cy="3222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6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2.4 单链表示例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3586320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结点可以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散落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在内存里，靠链接域表示「谁在谁后面」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给定前驱结点后，插入或删除只改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常数条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指针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代价：要找到那个前驱，仍须从表头循链，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O(n)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14 / 35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头结点：让表头不再是特例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2.6 引人头结点的单链表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1324655"/>
            <a:ext cx="11058144" cy="3128645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4486320"/>
            <a:ext cx="11058144" cy="3222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6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2.6 引人头结点的单链表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874622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头结点是一个不存放数据的哨兵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，永远排在第一个真元素前面。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338883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有了它，「在表头插入」和「在中间插入」变成同一句话： 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找到前驱，改它的 next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。空表也不必另写一套分支。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15 / 35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尾指针：让 append 变成 O(1)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618818"/>
            <a:ext cx="11058144" cy="289560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1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code/ch02/linked_list/teaching.hpp#fn:append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在表尾追加。**因为存了 tail_，这里是 O(1)**；没有它就得每次从头走到尾。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append(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T&amp; value)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Node* fresh =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fresh-&gt;value = value;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fresh-&gt;next =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tail_-&gt;next = fresh;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tail_ = fresh;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++size_;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458045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没有它，每次追加都得从头走到尾。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044719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append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单列一个函数而不是转调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insert(size_)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，正是因为有它—— 转调就白白退化成 O(n) 了。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16 / 35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循链定位：返回「前驱」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63254"/>
            <a:ext cx="11058144" cy="3488375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141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code/ch02/linked_list/teaching.hpp#fn:predecessor_at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返回位置 pos 的前驱结点。pos == 0 时前驱就是头结点——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这正是头结点存在的意义：表头不再是特例。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Node* predecessor_at(size_type pos)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(pos &gt; size_)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throw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std::out_of_range(</a:t>
            </a:r>
            <a:r>
              <a:rPr lang="zh-CN" sz="1464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"LinkedList: 下标越界"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Node* predecessor = head_;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(size_type i = </a:t>
            </a:r>
            <a:r>
              <a:rPr lang="zh-CN" sz="1464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i &lt; pos; ++i)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predecessor = predecessor-&gt;next;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predecessor;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4913605"/>
            <a:ext cx="11058144" cy="7474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9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为什么返回前驱而不是结点本身？</a:t>
            </a: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因为插入和删除都要改前驱的 </a:t>
            </a:r>
            <a:r>
              <a:rPr lang="zh-CN" sz="219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next</a:t>
            </a: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 而单链表从一个结点走不回它的前一个。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723011"/>
            <a:ext cx="11058144" cy="37371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一个函数同时服务两处——这是头结点带来的简化。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17 / 35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删除：两件事不能漏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00524"/>
            <a:ext cx="11058144" cy="397130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1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code/ch02/linked_list/teaching.hpp#fn:remove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删除位置 pos 上的元素并返回它。同样是「先定位前驱，再改一条链接」。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T remove(size_type pos)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(pos &gt;= size_)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throw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std::out_of_range(</a:t>
            </a:r>
            <a:r>
              <a:rPr lang="zh-CN" sz="1284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"LinkedList::remove: 下标越界"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Node* predecessor = predecessor_at(pos);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Node* dying = predecessor-&gt;next;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T value = dying-&gt;value;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predecessor-&gt;next = dying-&gt;next;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(dying == tail_) {         </a:t>
            </a:r>
            <a:r>
              <a:rPr lang="zh-CN" sz="128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删的是最后一个，尾指针退回前驱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tail_ = predecessor;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delete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dying;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--size_;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value;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5366947"/>
            <a:ext cx="11058144" cy="7925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spcBef>
                <a:spcPts val="539"/>
              </a:spcBef>
              <a:buNone/>
            </a:pPr>
            <a:r>
              <a:rPr lang="zh-CN" sz="192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1. </a:t>
            </a:r>
            <a:r>
              <a:rPr lang="zh-CN" sz="192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被删结点必须 </a:t>
            </a:r>
            <a:r>
              <a:rPr lang="zh-CN" sz="1926" dirty="0" b="1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delete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，只摘链不释放就是内存泄漏</a:t>
            </a:r>
          </a:p>
          <a:p>
            <a:pPr marL="0" indent="0" lvl="0">
              <a:lnSpc>
                <a:spcPct val="100000"/>
              </a:lnSpc>
              <a:spcBef>
                <a:spcPts val="539"/>
              </a:spcBef>
              <a:buNone/>
            </a:pPr>
            <a:r>
              <a:rPr lang="zh-CN" sz="192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2. </a:t>
            </a:r>
            <a:r>
              <a:rPr lang="zh-CN" sz="192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删的若是尾结点，</a:t>
            </a:r>
            <a:r>
              <a:rPr lang="zh-CN" sz="1926" dirty="0" b="1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tail_</a:t>
            </a:r>
            <a:r>
              <a:rPr lang="zh-CN" sz="192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 必须回退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——不回退，下一次 </a:t>
            </a:r>
            <a:r>
              <a:rPr lang="zh-CN" sz="192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append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就写进已释放的内存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18 / 35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2.3.2 双链表：多一根指针买什么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2.10 双链表的结点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3989737" y="1921327"/>
            <a:ext cx="4212526" cy="1471040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3425387"/>
            <a:ext cx="11058144" cy="3222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6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2.10 双链表的结点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81368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多出来的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prev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（64 位机上 8 字节）只买到一件事，但很值：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27795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已知一个结点时，删除它是 O(1)。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4742211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单链表要做同一件事，得先从头走到它的前驱——O(n)， 因为单链表从一个结点走不回前一个。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19 / 35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双链表的删除：两侧都要改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2.11 双链表的删除操作示意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3658231" y="1229106"/>
            <a:ext cx="4875538" cy="4684757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942818"/>
            <a:ext cx="11058144" cy="288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424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图2.11 双链表的删除操作示意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20 / 35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双链表的删除：两侧都要改（续）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86378"/>
            <a:ext cx="11058144" cy="468722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6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code/ch02/doubly_linked_list/teaching.hpp#fn:erase_node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摘掉一个已知的结点，O(1)。**这是双链表的看家本领**：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单链表要做同一件事，得先从头走到它的前驱，O(n)。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T erase_node(Node* node)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T value = node-&gt;value;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(node-&gt;prev !=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node-&gt;prev-&gt;next = node-&gt;next;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else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head_ = node-&gt;next;     </a:t>
            </a:r>
            <a:r>
              <a:rPr lang="zh-CN" sz="1367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删的是表头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(node-&gt;next !=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node-&gt;next-&gt;prev = node-&gt;prev;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else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tail_ = node-&gt;prev;     </a:t>
            </a:r>
            <a:r>
              <a:rPr lang="zh-CN" sz="1367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删的是表尾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delete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--size_;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value;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21 / 35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所有权工具怎么选（2.3.1）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「为什么不全用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unique_ptr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？」——判据是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结构形态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，不是偏好。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2476449"/>
          <a:ext cx="11058144" cy="1902520"/>
        </p:xfrm>
        <a:graphic>
          <a:graphicData uri="http://schemas.openxmlformats.org/drawingml/2006/table">
            <a:tbl>
              <a:tblPr firstRow="1"/>
              <a:tblGrid>
                <a:gridCol w="1863732"/>
                <a:gridCol w="2509825"/>
                <a:gridCol w="6684587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形态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用什么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理由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链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裸指针 + 迭代释放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unique_ptr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的析构是</a:t>
                      </a: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递归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的，深度正比于链长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树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unique_ptr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也递归，但深度 </a:t>
                      </a: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O(log 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一整块缓冲区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裸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T*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+ 三法则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换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unique_ptr&lt;T[]&gt;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只省一句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delete[]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共享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手写引用计数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unique_ptr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语义上不成立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22 / 35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「链那一行」有实测支撑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本机 8 MB 栈，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RecursiveChain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unique_ptr&lt;Node&gt; next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）：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2476449"/>
          <a:ext cx="11058144" cy="1141512"/>
        </p:xfrm>
        <a:graphic>
          <a:graphicData uri="http://schemas.openxmlformats.org/drawingml/2006/table">
            <a:tbl>
              <a:tblPr firstRow="1"/>
              <a:tblGrid>
                <a:gridCol w="2977192"/>
                <a:gridCol w="5316415"/>
                <a:gridCol w="2764537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构建档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最大安全结点数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崩溃于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-O0 -g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≈ 57,625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58,601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-O2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≈ 523,329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524,306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正文"/>
          <p:cNvSpPr txBox="1"/>
          <p:nvPr/>
        </p:nvSpPr>
        <p:spPr>
          <a:xfrm>
            <a:off x="566928" y="373353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同规模下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迭代释放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的版本在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-O0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跑到 500 万结点无恙。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197792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两档差九倍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是最关键的一点：debug 崩、release 过。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23 / 35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2.3.3 循环链表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1500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循环链表把尾结点的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next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接回首结点：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45310"/>
            <a:ext cx="11058144" cy="100949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空表: tail = nullptr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非空: first = tail-&gt;next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停止: 再次遇到起点，而不是遇到 nullptr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3570377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只保存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tail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，取首结点和尾插都是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O(1)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删除首结点：让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tail-&gt;next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跳过旧首结点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删除最后一个结点：必须把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tail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清空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08071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适合轮转调度等“最后一个之后回到第一个”的场景。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24 / 35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2.4 顺序表与链表的比较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2012188"/>
          <a:ext cx="11058144" cy="2283024"/>
        </p:xfrm>
        <a:graphic>
          <a:graphicData uri="http://schemas.openxmlformats.org/drawingml/2006/table">
            <a:tbl>
              <a:tblPr firstRow="1"/>
              <a:tblGrid>
                <a:gridCol w="3033189"/>
                <a:gridCol w="4125138"/>
                <a:gridCol w="3899817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endParaRPr lang="zh-CN" sz="1755"/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顺序表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链表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按下标访问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O(1)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已知前驱后插删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O(n) 搬元素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O(1)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改指针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每元素额外空间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一根指针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空间是否预分配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是（可能浪费/不够）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否（用多少要多少）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缓存局部性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好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差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4410782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选哪个看运算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：随机访问多 → 顺序表；频繁在已知位置插删 → 链表。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25 / 35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课堂讲解卡：一次插入到底慢在哪里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顺序表插入慢在搬元素，链表插入慢在找位置。先问“位置已知吗”，再决定哪一种代价更重要。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874670"/>
            <a:ext cx="11058144" cy="74005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已知下标 i：顺序表搬 O(n-i)，链表仍要走 O(i)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已知结点指针：链表改链接 O(1)，顺序表无法避免搬移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26 / 35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课堂例题：扩容与摊还代价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119466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容量按 1、2、4、8 翻倍时，追加 n 个元素最多搬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1+2+4+...&lt;2n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个旧元素。 因此一次 append 的最坏情况是 O(n)，但连续 n 次 append 的总搬运量是 O(n)，摊还为 O(1)。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27 / 35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课堂例题答案：扩容搬运次数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容量为 1、2、4、8 时，扩容搬运量是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1+2+4+...+2^r &lt; 2n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。因此 n 次追加的总搬运量为 O(n)，摊还到每次 append 是 O(1)。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28 / 35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插入循环为什么必须从后向前？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find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找不到时为什么返回空 optional？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链表删除时是否同时维护了前驱、后继和头尾指针？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什么时候应优先选择连续数组而不是链表？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29 / 35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课末自检参考答案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232394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从后向前搬，避免尚未复制的元素被覆盖。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空 optional 表示“没有找到”，比未初始化出参安全。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删除要同时维护前驱、后继以及头尾指针。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随机访问和缓存局部性重要时优先连续数组；已知结点位置且插删多时链表更合适。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30 / 35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板书演算：顺序表插入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表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[10,20,30,40]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在位置 2 插入 25：先把 40 移到 4，再把 30 移到 3，最后写入 25，结果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[10,20,25,30,40]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31 / 35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反例：从前向后搬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若从位置 2 向后搬，先把 30 写到 3，再把位置 3 的 30 写到 4，原来的 40 已丢失。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32 / 35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课堂练习与答案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课堂练习：容量 4 的表追加第 5 个元素，列出扩容前后 data、size、capacity。答案：申请容量 8，复制 4 个旧元素，写入新元素后 size=5、capacity=8。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33 / 35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本章小结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337001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同一个线性表 ADT，两种存储结构，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代价互补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顺序表：地址公式 → O(1) 随机存取；插删要搬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链表：链接域 → O(1) 改指针；定位要走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头结点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消掉表头特例，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尾指针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让 append 变 O(1)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自己管资源就要守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三法则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——原书这一章又漏了一次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遍历状态不要住进容器（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begin()/end()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而不是内部游标）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智能指针的判据是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结构形态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，链上用递归析构会爆栈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34 / 35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上机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2012188"/>
            <a:ext cx="11058144" cy="74005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python3 tools/check_code.py code/ch02/array_list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python3 tools/check_code.py code/ch02/linked_list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818282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故意改坏一处，看哪条断言变红：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3332073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把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insert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的搬移循环改成正着走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把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grow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delete[]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挪到拷贝循环之前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删掉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remove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里回退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tail_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的那两行</a:t>
            </a:r>
          </a:p>
        </p:txBody>
      </p:sp>
      <p:sp>
        <p:nvSpPr>
          <p:cNvPr id="7" name="引用线"/>
          <p:cNvSpPr/>
          <p:nvPr/>
        </p:nvSpPr>
        <p:spPr>
          <a:xfrm>
            <a:off x="566928" y="4908446"/>
            <a:ext cx="32004" cy="438188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引用"/>
          <p:cNvSpPr txBox="1"/>
          <p:nvPr/>
        </p:nvSpPr>
        <p:spPr>
          <a:xfrm>
            <a:off x="694944" y="4908446"/>
            <a:ext cx="10820400" cy="4381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45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写不出「会红」的用例，说明还没想清楚那条性质是什么。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第2章 线性表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35 / 35</a:t>
            </a:r>
          </a:p>
        </p:txBody>
      </p:sp>
    </p:spTree>
  </p:cSld>
</p:sld>
</file>

<file path=ppt/theme/theme1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dsa-modernization/tools/build_pptx.py</Application>
  <Slides>35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第2章 线性表</dc:title>
  <dc:creator>dsa-modernization</dc:creator>
  <cp:revision>1</cp:revision>
</cp:coreProperties>
</file>