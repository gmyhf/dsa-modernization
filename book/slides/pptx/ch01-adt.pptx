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第 1 章最容易讲空。办法是：不要先讲定义，先给一个学生会做但做不好的问题，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让他们自己撞上「组织方式决定了能不能算」这件事，再回头补定义。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这一步是「问题求解」的核心动作：把应用语言翻译成结构语言。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学生最容易在最后一行出错，直接去求平均或者求总和。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可以问一句：如果取平均，会发生什么？（会挑出一个「对多数人快、对个别人极慢」的起点。）</a:t>
            </a:r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最经典的错法：把 k 的循环放到里层。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k 的含义是「只允许经过前 k 个顶点中转」，它必须是最外层——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放到里层，递推式就不成立了，而且往往还能跑出「看起来差不多」的结果。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这是本章最值得当场演示的一处。</a:t>
            </a:r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1. k（这里叫 via）在最外层；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2. infinity 只表示「没有直接路线」，每段时间都必须小于它；最短时间是若干段之和，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用 64 位的 distance_type 存、到不了记 unreachable——总长恰好等于 infinity 的路径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就不会被误读成到不了，更长的也不会溢出（有符号溢出是未定义行为）。</a:t>
            </a:r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返回 optional：图不连通时没有这样的起点，那不是错误，是可预期状态。</a:t>
            </a:r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后面每一章都落在这三类里，可以先把全书地图画出来：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第 2-4 章线性，第 5-6 章树形，第 7 章图，第 8-12 章是在这些结构上做算法。</a:t>
            </a:r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索引和散列在第 10、11 章才展开，这里只要学生记住「有四种」。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特别提醒：索引表的空间是附加在数据之外的。</a:t>
            </a:r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找 52：索引里二分到第 3 列，读出 [2]，直接取第 2 块——只读一块。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再看每块的宽度：五块长度各不相同。正因为长度不等，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「第 k 块在哪」没法用「起始地址 + k × 块长」算出来，只能查表。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这就是原书说「索引函数并非数组那样的简单线性函数」的意思。</a:t>
            </a:r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原书用一个「成员函数非纯虚、析构函数非 virtual」的空基类来表达抽象。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那样的基类给不了任何多态，反而埋下「通过基类指针删派生对象」的未定义行为。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在 C++ 里，模板本身就承担了这层抽象——本书各章都不设基类。</a:t>
            </a:r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「有穷」这一条最容易被当成废话，其实是四条里唯一需要单独证明的。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可以让学生看辗转相除：为什么它一定停？因为余数严格递减且非负——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这是一个递减到底的量，后面讲循环不变式和递归深度时会反复用到同一招。</a:t>
            </a:r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强调一句：常数和低阶项不是不重要，是不能用来区分算法。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n 小的时候 O(n^2) 完全可能比 O(n log n) 快，这在第 8 章讲插入排序时会再遇到。</a:t>
            </a:r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可以举个反例：说「插入排序是 O(n^2)」对，说「插入排序是 Θ(n^2)」就错了——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输入已经有序时它是 Θ(n)。所以最好情况/最坏情况必须分开说。</a:t>
            </a:r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可以追问：如果查询集中在前几个元素（比如按热度排序），平均次数会小很多。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这就是「自组织线性表」的动机，第 10 章会提。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1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2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100" Type="http://schemas.openxmlformats.org/officeDocument/2006/relationships/image" Target="../media/image3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609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40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第1章 概论</a:t>
            </a:r>
          </a:p>
        </p:txBody>
      </p:sp>
      <p:sp>
        <p:nvSpPr>
          <p:cNvPr id="3" name="标题线"/>
          <p:cNvSpPr/>
          <p:nvPr/>
        </p:nvSpPr>
        <p:spPr>
          <a:xfrm>
            <a:off x="4216116" y="1057656"/>
            <a:ext cx="3759768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副标题"/>
          <p:cNvSpPr txBox="1"/>
          <p:nvPr/>
        </p:nvSpPr>
        <p:spPr>
          <a:xfrm>
            <a:off x="566928" y="2604452"/>
            <a:ext cx="11058144" cy="33185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95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数据结构与算法：Python 讲可迁移算法，C++ 讲存储与工程实现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3063303"/>
            <a:ext cx="11058144" cy="3063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80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这门课到底在教什么</a:t>
            </a:r>
          </a:p>
        </p:txBody>
      </p:sp>
      <p:sp>
        <p:nvSpPr>
          <p:cNvPr id="6" name="要点"/>
          <p:cNvSpPr txBox="1"/>
          <p:nvPr/>
        </p:nvSpPr>
        <p:spPr>
          <a:xfrm>
            <a:off x="566928" y="3458527"/>
            <a:ext cx="11058144" cy="11109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504"/>
              </a:spcBef>
              <a:buClr>
                <a:srgbClr val="8A4B2A"/>
              </a:buClr>
              <a:buFont typeface="Arial"/>
              <a:buChar char="●"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数据结构：数据怎么组织</a:t>
            </a:r>
          </a:p>
          <a:p>
            <a:pPr marL="270000" indent="-230000" lvl="0">
              <a:lnSpc>
                <a:spcPct val="100000"/>
              </a:lnSpc>
              <a:spcBef>
                <a:spcPts val="504"/>
              </a:spcBef>
              <a:buClr>
                <a:srgbClr val="8A4B2A"/>
              </a:buClr>
              <a:buFont typeface="Arial"/>
              <a:buChar char="●"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算法：怎么在这个组织上算</a:t>
            </a:r>
          </a:p>
          <a:p>
            <a:pPr marL="270000" indent="-230000" lvl="0">
              <a:lnSpc>
                <a:spcPct val="100000"/>
              </a:lnSpc>
              <a:spcBef>
                <a:spcPts val="504"/>
              </a:spcBef>
              <a:buClr>
                <a:srgbClr val="8A4B2A"/>
              </a:buClr>
              <a:buFont typeface="Arial"/>
              <a:buChar char="●"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算法分析：凭什么说一个比另一个好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4620323"/>
            <a:ext cx="11058144" cy="3063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先用一个真问题把三者串起来。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第1章 概论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 / 29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1.1 一个真问题：股市的传言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171195"/>
            <a:ext cx="11058144" cy="34920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05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某交易所有若干经纪人，</a:t>
            </a:r>
            <a:r>
              <a:rPr lang="zh-CN" sz="2052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消息只在认识的人之间传</a:t>
            </a:r>
            <a:r>
              <a:rPr lang="zh-CN" sz="205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，每传一步花的时间不同。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1578315"/>
            <a:ext cx="11058144" cy="34920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05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要回答的是：</a:t>
            </a:r>
          </a:p>
        </p:txBody>
      </p:sp>
      <p:sp>
        <p:nvSpPr>
          <p:cNvPr id="6" name="要点"/>
          <p:cNvSpPr txBox="1"/>
          <p:nvPr/>
        </p:nvSpPr>
        <p:spPr>
          <a:xfrm>
            <a:off x="566928" y="2028868"/>
            <a:ext cx="11058144" cy="8443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574"/>
              </a:spcBef>
              <a:buClr>
                <a:srgbClr val="8A4B2A"/>
              </a:buClr>
              <a:buFont typeface="Arial"/>
              <a:buChar char="●"/>
            </a:pPr>
            <a:r>
              <a:rPr lang="zh-CN" sz="205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从谁开始放风，能让</a:t>
            </a:r>
            <a:r>
              <a:rPr lang="zh-CN" sz="2052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所有人</a:t>
            </a:r>
            <a:r>
              <a:rPr lang="zh-CN" sz="205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最快知道？</a:t>
            </a:r>
          </a:p>
          <a:p>
            <a:pPr marL="270000" indent="-230000" lvl="0">
              <a:lnSpc>
                <a:spcPct val="100000"/>
              </a:lnSpc>
              <a:spcBef>
                <a:spcPts val="574"/>
              </a:spcBef>
              <a:buClr>
                <a:srgbClr val="8A4B2A"/>
              </a:buClr>
              <a:buFont typeface="Arial"/>
              <a:buChar char="●"/>
            </a:pPr>
            <a:r>
              <a:rPr lang="zh-CN" sz="205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那个「最快」到底是多少？</a:t>
            </a:r>
          </a:p>
        </p:txBody>
      </p:sp>
      <p:pic>
        <p:nvPicPr>
          <p:cNvPr id="7" name="图1.1 经纪人间的消息传递图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4542191" y="2989046"/>
            <a:ext cx="3107618" cy="2924817"/>
          </a:xfrm>
          <a:prstGeom prst="rect">
            <a:avLst/>
          </a:prstGeom>
        </p:spPr>
      </p:pic>
      <p:sp>
        <p:nvSpPr>
          <p:cNvPr id="8" name="图注"/>
          <p:cNvSpPr txBox="1"/>
          <p:nvPr/>
        </p:nvSpPr>
        <p:spPr>
          <a:xfrm>
            <a:off x="566928" y="5942818"/>
            <a:ext cx="11058144" cy="2880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424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图1.1 经纪人间的消息传递图</a:t>
            </a:r>
          </a:p>
        </p:txBody>
      </p:sp>
      <p:sp>
        <p:nvSpPr>
          <p:cNvPr id="9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第1章 概论</a:t>
            </a:r>
          </a:p>
        </p:txBody>
      </p:sp>
      <p:sp>
        <p:nvSpPr>
          <p:cNvPr id="10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 / 29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先把问题抽象掉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graphicFrame>
        <p:nvGraphicFramePr>
          <p:cNvPr id="4" name="表"/>
          <p:cNvGraphicFramePr>
            <a:graphicFrameLocks noGrp="1"/>
          </p:cNvGraphicFramePr>
          <p:nvPr/>
        </p:nvGraphicFramePr>
        <p:xfrm>
          <a:off x="566928" y="2012188"/>
          <a:ext cx="11058144" cy="1902520"/>
        </p:xfrm>
        <a:graphic>
          <a:graphicData uri="http://schemas.openxmlformats.org/drawingml/2006/table">
            <a:tbl>
              <a:tblPr firstRow="1"/>
              <a:tblGrid>
                <a:gridCol w="5094428"/>
                <a:gridCol w="5963716"/>
              </a:tblGrid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现实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抽象成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经纪人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顶点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「A 认识 B」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边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传一步花的时间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边上的权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从 s 放风到所有人知道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s 到</a:t>
                      </a: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最远</a:t>
                      </a: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那个顶点的最短路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正文"/>
          <p:cNvSpPr txBox="1"/>
          <p:nvPr/>
        </p:nvSpPr>
        <p:spPr>
          <a:xfrm>
            <a:off x="566928" y="403027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最后一行是全题的关键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：要的不是平均，是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最慢的那一项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 消息传完的时刻由最后一个知道的人决定。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第1章 概论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 / 29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用什么存这张图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325181"/>
            <a:ext cx="11058144" cy="3063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相邻矩阵（原书的</a:t>
            </a:r>
            <a:r>
              <a:rPr lang="zh-CN" sz="180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历史教材称呼</a:t>
            </a: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，现代称邻接矩阵）：</a:t>
            </a:r>
            <a:r>
              <a:rPr lang="zh-CN" sz="180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m[i][j]</a:t>
            </a: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是 i 到 j 一步的时间，不通就是「无穷大」。</a:t>
            </a:r>
          </a:p>
        </p:txBody>
      </p:sp>
      <p:pic>
        <p:nvPicPr>
          <p:cNvPr id="5" name="图1.3 经纪人间消息传递的相邻矩阵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4218622" y="1733105"/>
            <a:ext cx="3754755" cy="2880360"/>
          </a:xfrm>
          <a:prstGeom prst="rect">
            <a:avLst/>
          </a:prstGeom>
        </p:spPr>
      </p:pic>
      <p:sp>
        <p:nvSpPr>
          <p:cNvPr id="6" name="图注"/>
          <p:cNvSpPr txBox="1"/>
          <p:nvPr/>
        </p:nvSpPr>
        <p:spPr>
          <a:xfrm>
            <a:off x="566928" y="4638865"/>
            <a:ext cx="11058144" cy="25844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25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图1.3 经纪人间消息传递的相邻矩阵</a:t>
            </a:r>
          </a:p>
        </p:txBody>
      </p:sp>
      <p:sp>
        <p:nvSpPr>
          <p:cNvPr id="7" name="要点"/>
          <p:cNvSpPr txBox="1"/>
          <p:nvPr/>
        </p:nvSpPr>
        <p:spPr>
          <a:xfrm>
            <a:off x="566928" y="4986210"/>
            <a:ext cx="11058144" cy="7406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504"/>
              </a:spcBef>
              <a:buClr>
                <a:srgbClr val="8A4B2A"/>
              </a:buClr>
              <a:buFont typeface="Arial"/>
              <a:buChar char="●"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存储量 </a:t>
            </a:r>
            <a:r>
              <a:rPr lang="zh-CN" sz="180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V²</a:t>
            </a: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，跟边多少无关</a:t>
            </a:r>
          </a:p>
          <a:p>
            <a:pPr marL="270000" indent="-230000" lvl="0">
              <a:lnSpc>
                <a:spcPct val="100000"/>
              </a:lnSpc>
              <a:spcBef>
                <a:spcPts val="504"/>
              </a:spcBef>
              <a:buClr>
                <a:srgbClr val="8A4B2A"/>
              </a:buClr>
              <a:buFont typeface="Arial"/>
              <a:buChar char="●"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问「i 和 j 之间有没有边」是 O(1)</a:t>
            </a:r>
          </a:p>
        </p:txBody>
      </p:sp>
      <p:sp>
        <p:nvSpPr>
          <p:cNvPr id="8" name="正文"/>
          <p:cNvSpPr txBox="1"/>
          <p:nvPr/>
        </p:nvSpPr>
        <p:spPr>
          <a:xfrm>
            <a:off x="566928" y="5777674"/>
            <a:ext cx="11058144" cy="3063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第 7 章会讲另一种存法（邻接表），以及</a:t>
            </a:r>
            <a:r>
              <a:rPr lang="zh-CN" sz="180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为什么没有哪种总是更好</a:t>
            </a: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9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第1章 概论</a:t>
            </a:r>
          </a:p>
        </p:txBody>
      </p:sp>
      <p:sp>
        <p:nvSpPr>
          <p:cNvPr id="10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4 / 29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算法：Floyd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对每一对 (i, j)，问「允许经过前 k 个顶点中转时，最短是多少」：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2476449"/>
            <a:ext cx="11058144" cy="740054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d[k][i][j] = min( d[k-1][i][j] ,  d[k-1][i][k] + d[k-1][k][j] )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      不经过 k          经过 k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3282543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k 从 0 数到 V-1，答案就是 d[V-1]。代价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O(V³)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与边数无关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第1章 概论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5 / 29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实现：两件事在一个函数里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270696"/>
            <a:ext cx="11058144" cy="2879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69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第一件事：先跑 Floyd，求出每对人之间的最短时间。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1654144"/>
            <a:ext cx="11058144" cy="4487387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879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code/ch01/adt/modern.hpp#best-source-floyd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</a:t>
            </a:r>
            <a:r>
              <a:rPr lang="zh-CN" sz="1128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people = distance_.size();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std::vector&lt;std::vector&lt;distance_type&gt;&gt; shortest(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people, std::vector&lt;distance_type&gt;(people, unreachable));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(std::</a:t>
            </a:r>
            <a:r>
              <a:rPr lang="zh-CN" sz="1128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from = </a:t>
            </a:r>
            <a:r>
              <a:rPr lang="zh-CN" sz="1128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 from &lt; people; ++from)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(std::</a:t>
            </a:r>
            <a:r>
              <a:rPr lang="zh-CN" sz="1128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to = </a:t>
            </a:r>
            <a:r>
              <a:rPr lang="zh-CN" sz="1128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 to &lt; people; ++to)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(distance_[from][to] != infinity)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shortest[from][to] = distance_[from][to];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(std::</a:t>
            </a:r>
            <a:r>
              <a:rPr lang="zh-CN" sz="1128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via = </a:t>
            </a:r>
            <a:r>
              <a:rPr lang="zh-CN" sz="1128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 via &lt; people; ++via)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(std::</a:t>
            </a:r>
            <a:r>
              <a:rPr lang="zh-CN" sz="1128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from = </a:t>
            </a:r>
            <a:r>
              <a:rPr lang="zh-CN" sz="1128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 from &lt; people; ++from)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(std::</a:t>
            </a:r>
            <a:r>
              <a:rPr lang="zh-CN" sz="1128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to = </a:t>
            </a:r>
            <a:r>
              <a:rPr lang="zh-CN" sz="1128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 to &lt; people; ++to)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</a:t>
            </a:r>
            <a:r>
              <a:rPr lang="zh-CN" sz="1128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(shortest[from][via] != unreachable &amp;&amp;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    shortest[via][to] != unreachable &amp;&amp;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    shortest[from][to] &gt; shortest[from][via] + shortest[via][to])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    shortest[from][to] = shortest[from][via] + shortest[via][to];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128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第1章 概论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6 / 29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实现（续）：每行取最大，再在所有起点里取最小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1312063"/>
            <a:ext cx="11058144" cy="3973372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16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code/ch01/adt/modern.hpp#best-source-pick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std::optional&lt;std::</a:t>
            </a:r>
            <a:r>
              <a:rPr lang="zh-CN" sz="156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 result;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distance_type smallest_eccentricity = unreachable;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(std::</a:t>
            </a:r>
            <a:r>
              <a:rPr lang="zh-CN" sz="156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from = </a:t>
            </a:r>
            <a:r>
              <a:rPr lang="zh-CN" sz="156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 from &lt; people; ++from)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distance_type largest_distance = </a:t>
            </a:r>
            <a:r>
              <a:rPr lang="zh-CN" sz="156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(distance_type distance : shortest[from])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largest_distance = distance &gt; largest_distance ? distance : largest_distance;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(largest_distance &lt; smallest_eccentricity)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smallest_eccentricity = largest_distance;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result = from;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result;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5351475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第二件事：对每个起点取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这一行的最大值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（它的完成时间），最后在所有起点里取最小。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第1章 概论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7 / 29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1.2 数据结构：三个层次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graphicFrame>
        <p:nvGraphicFramePr>
          <p:cNvPr id="4" name="表"/>
          <p:cNvGraphicFramePr>
            <a:graphicFrameLocks noGrp="1"/>
          </p:cNvGraphicFramePr>
          <p:nvPr/>
        </p:nvGraphicFramePr>
        <p:xfrm>
          <a:off x="566928" y="2012188"/>
          <a:ext cx="11058144" cy="1522016"/>
        </p:xfrm>
        <a:graphic>
          <a:graphicData uri="http://schemas.openxmlformats.org/drawingml/2006/table">
            <a:tbl>
              <a:tblPr firstRow="1"/>
              <a:tblGrid>
                <a:gridCol w="1843024"/>
                <a:gridCol w="4146804"/>
                <a:gridCol w="5068316"/>
              </a:tblGrid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层次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回答什么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例子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逻辑结构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元素之间有什么关系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线性、树形、图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存储结构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关系怎么落到内存里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顺序、链接、索引、散列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运算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能对它做什么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插入、删除、检索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正文"/>
          <p:cNvSpPr txBox="1"/>
          <p:nvPr/>
        </p:nvSpPr>
        <p:spPr>
          <a:xfrm>
            <a:off x="566928" y="3649774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同一个逻辑结构可以有多种存储结构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——线性表既能顺序存（顺序表）， 也能链接存（链表），这就是第 2 章的全部内容。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第1章 概论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8 / 29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逻辑结构的三分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要点"/>
          <p:cNvSpPr txBox="1"/>
          <p:nvPr/>
        </p:nvSpPr>
        <p:spPr>
          <a:xfrm>
            <a:off x="566928" y="1995678"/>
            <a:ext cx="11058144" cy="144429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线性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：每个结点至多一个前驱、至多一个后继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树形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：至多一个前驱，可以有多个后继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图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：前驱后继都可以有多个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3506011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两条分界线：</a:t>
            </a:r>
          </a:p>
        </p:txBody>
      </p:sp>
      <p:sp>
        <p:nvSpPr>
          <p:cNvPr id="6" name="要点"/>
          <p:cNvSpPr txBox="1"/>
          <p:nvPr/>
        </p:nvSpPr>
        <p:spPr>
          <a:xfrm>
            <a:off x="566928" y="4019802"/>
            <a:ext cx="11058144" cy="96286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树和图的分界：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每个结点是否至多一个直接前驱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线和树的分界：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每个结点是否至多一个直接后继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第1章 概论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9 / 29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四种存储方法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graphicFrame>
        <p:nvGraphicFramePr>
          <p:cNvPr id="4" name="表"/>
          <p:cNvGraphicFramePr>
            <a:graphicFrameLocks noGrp="1"/>
          </p:cNvGraphicFramePr>
          <p:nvPr/>
        </p:nvGraphicFramePr>
        <p:xfrm>
          <a:off x="566928" y="2012188"/>
          <a:ext cx="11058144" cy="1902520"/>
        </p:xfrm>
        <a:graphic>
          <a:graphicData uri="http://schemas.openxmlformats.org/drawingml/2006/table">
            <a:tbl>
              <a:tblPr firstRow="1"/>
              <a:tblGrid>
                <a:gridCol w="1361840"/>
                <a:gridCol w="4085521"/>
                <a:gridCol w="5610783"/>
              </a:tblGrid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方法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怎么表示「相邻」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代价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顺序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地址相邻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按下标 O(1)；插删要搬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链接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指针相指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插删只改指针；按位置要走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索引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另造一张表，存地址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多一份空间；换来快速定位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散列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由关键码</a:t>
                      </a: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算</a:t>
                      </a: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出地址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期望 O(1)；不保序，会冲突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第1章 概论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10 / 29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索引：逻辑有序，物理无序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1915338"/>
            <a:ext cx="11058144" cy="3165043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存储区的数据 -- 物理无序, 而且每块长度不等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+----------------+----------+------------+--------------+--------+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| [1] 73         | [2] 52   | [3] 42     | [4] 98       | [5] 37 |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+----------------+----------+------------+--------------+--------+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线性索引 -- 附加在数据之外的一张小表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+------+------+------+------+------+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|  37  |  42  |  52  |  73  |  98  |   关键码: 升序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+------+------+------+------+------+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| [5]  | [3]  | [2]  | [1]  | [4]  |   指向第几块: 乱序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+------+------+------+------+------+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5146421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这两行的错位就是索引的全部意义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：上面能二分，下面一块没搬过。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第1章 概论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11 / 29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1.2.3 抽象数据类型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ADT = 一组运算 + 它们的约定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，不是一个类，更不是一个基类。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2476449"/>
            <a:ext cx="11058144" cy="1548384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ADT 名字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数据对象 D: 结点是什么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数据关系 R: 结点之间有什么关系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基本操作 P: 对外提供哪些运算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4090873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用它的人只能通过这些运算访问数据，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不能去翻内部表示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 所以换实现不用改调用方。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第1章 概论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12 / 29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1.3.1 什么才算「一个算法」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593312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算法是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对求解过程的描述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：具体、有限的操作步骤。四条性质缺一不可。</a:t>
            </a:r>
          </a:p>
        </p:txBody>
      </p:sp>
      <p:graphicFrame>
        <p:nvGraphicFramePr>
          <p:cNvPr id="5" name="表"/>
          <p:cNvGraphicFramePr>
            <a:graphicFrameLocks noGrp="1"/>
          </p:cNvGraphicFramePr>
          <p:nvPr/>
        </p:nvGraphicFramePr>
        <p:xfrm>
          <a:off x="566928" y="2123613"/>
          <a:ext cx="11058144" cy="1902520"/>
        </p:xfrm>
        <a:graphic>
          <a:graphicData uri="http://schemas.openxmlformats.org/drawingml/2006/table">
            <a:tbl>
              <a:tblPr firstRow="1"/>
              <a:tblGrid>
                <a:gridCol w="1011415"/>
                <a:gridCol w="5731355"/>
                <a:gridCol w="4315374"/>
              </a:tblGrid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性质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要求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违反时长什么样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通用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凡符合声明类型的输入都能求解且正确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只对书上那组样例成立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有效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每一步都是人或机器能确切执行的动作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出现「想办法算出 X」这种话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确定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做完这一步，下一步是什么必须说死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停在被锁住的状态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有穷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有限步内停机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死循环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正文"/>
          <p:cNvSpPr txBox="1"/>
          <p:nvPr/>
        </p:nvSpPr>
        <p:spPr>
          <a:xfrm>
            <a:off x="566928" y="4141703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指令条数有限 ≠ 执行步数有限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——循环条件写错，5 行也能转个没完。 结束条件要单独检查。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5004185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程序是算法落在某种语言里的样子。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一个对某类输入会永远循环的程序， 不是那个问题的算法。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第1章 概论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13 / 29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1.3.2 步骤从哪来：六种设计方法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graphicFrame>
        <p:nvGraphicFramePr>
          <p:cNvPr id="4" name="表"/>
          <p:cNvGraphicFramePr>
            <a:graphicFrameLocks noGrp="1"/>
          </p:cNvGraphicFramePr>
          <p:nvPr/>
        </p:nvGraphicFramePr>
        <p:xfrm>
          <a:off x="566928" y="1510979"/>
          <a:ext cx="11058144" cy="2663528"/>
        </p:xfrm>
        <a:graphic>
          <a:graphicData uri="http://schemas.openxmlformats.org/drawingml/2006/table">
            <a:tbl>
              <a:tblPr firstRow="1"/>
              <a:tblGrid>
                <a:gridCol w="1127231"/>
                <a:gridCol w="5636159"/>
                <a:gridCol w="4294754"/>
              </a:tblGrid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方法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做法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本书哪里用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穷举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把有限的候选按固定顺序一一列出来检查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2C6B57"/>
                          </a:solidFill>
                          <a:latin typeface="Noto Sans Mono CJK SC"/>
                          <a:ea typeface="Noto Sans Mono CJK SC"/>
                          <a:cs typeface="Noto Sans Mono CJK SC"/>
                        </a:rPr>
                        <a:t>switch</a:t>
                      </a: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 就是小范围穷举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回溯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枚举候选；不可能成功就退回上一步换下一个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第 3 章背包，第 5–7 章深度优先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分治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剖成同类的小问题，分别解，再合并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第 8 章快排/归并，第 10 章二分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递归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子问题是原问题的缩小版时的自然写法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与分治常常成对出现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贪心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每步按局部最优做</a:t>
                      </a: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不可撤回</a:t>
                      </a: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的选择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第 7 章 Prim、Kruskal、Dijkstra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动态规划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子问题重叠，算过的存表备查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第 7 章 Floyd，第 12 章最优 BST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正文"/>
          <p:cNvSpPr txBox="1"/>
          <p:nvPr/>
        </p:nvSpPr>
        <p:spPr>
          <a:xfrm>
            <a:off x="566928" y="4290077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贪心能不能用，全看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度量标准选得对不对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；动态规划针对的是 「按分治递归会把同一子问题算很多次」。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5152559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1.1 节要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任意两点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最短路、顶点又少，所以选 Floyd， 而不是对每个起点跑一遍 Dijkstra。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第1章 概论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14 / 29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1.4 算法分析：为什么要看增长趋势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171195"/>
            <a:ext cx="11058144" cy="69841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05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程序跑多久跟机器、编译器、输入都有关。要比较</a:t>
            </a:r>
            <a:r>
              <a:rPr lang="zh-CN" sz="2052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算法</a:t>
            </a:r>
            <a:r>
              <a:rPr lang="zh-CN" sz="205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而不是</a:t>
            </a:r>
            <a:r>
              <a:rPr lang="zh-CN" sz="2052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这次运行</a:t>
            </a:r>
            <a:r>
              <a:rPr lang="zh-CN" sz="2052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 就只能看「输入变大时，代价怎么涨」。</a:t>
            </a:r>
          </a:p>
        </p:txBody>
      </p:sp>
      <p:pic>
        <p:nvPicPr>
          <p:cNvPr id="5" name="图 1.5 常用函数的增长趋势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3830262" y="1985435"/>
            <a:ext cx="4531476" cy="3928428"/>
          </a:xfrm>
          <a:prstGeom prst="rect">
            <a:avLst/>
          </a:prstGeom>
        </p:spPr>
      </p:pic>
      <p:sp>
        <p:nvSpPr>
          <p:cNvPr id="6" name="图注"/>
          <p:cNvSpPr txBox="1"/>
          <p:nvPr/>
        </p:nvSpPr>
        <p:spPr>
          <a:xfrm>
            <a:off x="566928" y="5942818"/>
            <a:ext cx="11058144" cy="2880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424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 1.5 常用函数的增长趋势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第1章 概论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15 / 29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大 O、Ω、Θ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graphicFrame>
        <p:nvGraphicFramePr>
          <p:cNvPr id="4" name="表"/>
          <p:cNvGraphicFramePr>
            <a:graphicFrameLocks noGrp="1"/>
          </p:cNvGraphicFramePr>
          <p:nvPr/>
        </p:nvGraphicFramePr>
        <p:xfrm>
          <a:off x="566928" y="2012188"/>
          <a:ext cx="11058144" cy="1522016"/>
        </p:xfrm>
        <a:graphic>
          <a:graphicData uri="http://schemas.openxmlformats.org/drawingml/2006/table">
            <a:tbl>
              <a:tblPr firstRow="1"/>
              <a:tblGrid>
                <a:gridCol w="3602083"/>
                <a:gridCol w="4307386"/>
                <a:gridCol w="3148675"/>
              </a:tblGrid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记号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含义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日常说法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O(f)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增长</a:t>
                      </a: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不快于</a:t>
                      </a: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 </a:t>
                      </a: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f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上界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Ω(f)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增长</a:t>
                      </a: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不慢于</a:t>
                      </a: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 </a:t>
                      </a: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f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下界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Θ(f)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上下界都是 </a:t>
                      </a: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f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恰好这么快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正文"/>
          <p:cNvSpPr txBox="1"/>
          <p:nvPr/>
        </p:nvSpPr>
        <p:spPr>
          <a:xfrm>
            <a:off x="566928" y="3649774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平时说「这个算法是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O(n log n)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」，严格说往往应该是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Θ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 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说 </a:t>
            </a:r>
            <a:r>
              <a:rPr lang="zh-CN" sz="2340" dirty="0" b="1" i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O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 永远不会错，只是可能说少了。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第1章 概论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16 / 29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最好、最坏、平均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以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顺序检索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为例，表长 n：</a:t>
            </a:r>
          </a:p>
        </p:txBody>
      </p:sp>
      <p:graphicFrame>
        <p:nvGraphicFramePr>
          <p:cNvPr id="5" name="表"/>
          <p:cNvGraphicFramePr>
            <a:graphicFrameLocks noGrp="1"/>
          </p:cNvGraphicFramePr>
          <p:nvPr/>
        </p:nvGraphicFramePr>
        <p:xfrm>
          <a:off x="566928" y="2476449"/>
          <a:ext cx="11058144" cy="1522016"/>
        </p:xfrm>
        <a:graphic>
          <a:graphicData uri="http://schemas.openxmlformats.org/drawingml/2006/table">
            <a:tbl>
              <a:tblPr firstRow="1"/>
              <a:tblGrid>
                <a:gridCol w="2680298"/>
                <a:gridCol w="8377846"/>
              </a:tblGrid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情况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比较次数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最好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1（第一个就是）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最坏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n（不在表里）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平均（等概率）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1/n(1+2+⋯+n) = (n+1)/2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正文"/>
          <p:cNvSpPr txBox="1"/>
          <p:nvPr/>
        </p:nvSpPr>
        <p:spPr>
          <a:xfrm>
            <a:off x="566928" y="4114035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平均情况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依赖于输入的概率分布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——等概率只是一个假设，不是事实。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第1章 概论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17 / 29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1.4.3 时间与空间的折衷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要点"/>
          <p:cNvSpPr txBox="1"/>
          <p:nvPr/>
        </p:nvSpPr>
        <p:spPr>
          <a:xfrm>
            <a:off x="566928" y="1966108"/>
            <a:ext cx="11058144" cy="96286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存下来 → 省时间，费空间（查表、缓存、索引）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现算 → 省空间，费时间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2995010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本书里这条折衷反复出现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</a:t>
            </a:r>
          </a:p>
        </p:txBody>
      </p:sp>
      <p:graphicFrame>
        <p:nvGraphicFramePr>
          <p:cNvPr id="6" name="表"/>
          <p:cNvGraphicFramePr>
            <a:graphicFrameLocks noGrp="1"/>
          </p:cNvGraphicFramePr>
          <p:nvPr/>
        </p:nvGraphicFramePr>
        <p:xfrm>
          <a:off x="566928" y="3525311"/>
          <a:ext cx="11058144" cy="1902520"/>
        </p:xfrm>
        <a:graphic>
          <a:graphicData uri="http://schemas.openxmlformats.org/drawingml/2006/table">
            <a:tbl>
              <a:tblPr firstRow="1"/>
              <a:tblGrid>
                <a:gridCol w="1686835"/>
                <a:gridCol w="9371309"/>
              </a:tblGrid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章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折衷在哪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第 2 章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链表每个结点多一根指针，换来 O(1) 插删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第 6 章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双链表多一根 prev，换来 O(1) 删除已知结点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第 10 章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散列表用空闲槽位换期望 O(1) 检索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第 11 章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索引用附加空间换少读盘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第1章 概论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18 / 29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1.4.4 怎么挑结构：先问运算，再问规模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317267"/>
            <a:ext cx="11058144" cy="37371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196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第一问：这份数据上要做哪些运算？</a:t>
            </a:r>
          </a:p>
        </p:txBody>
      </p:sp>
      <p:sp>
        <p:nvSpPr>
          <p:cNvPr id="5" name="要点"/>
          <p:cNvSpPr txBox="1"/>
          <p:nvPr/>
        </p:nvSpPr>
        <p:spPr>
          <a:xfrm>
            <a:off x="566928" y="1799440"/>
            <a:ext cx="11058144" cy="13554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14"/>
              </a:spcBef>
              <a:buClr>
                <a:srgbClr val="8A4B2A"/>
              </a:buClr>
              <a:buFont typeface="Arial"/>
              <a:buChar char="●"/>
            </a:pPr>
            <a:r>
              <a:rPr lang="zh-CN" sz="219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要不要按下标随机访问</a:t>
            </a:r>
          </a:p>
          <a:p>
            <a:pPr marL="270000" indent="-230000" lvl="0">
              <a:lnSpc>
                <a:spcPct val="100000"/>
              </a:lnSpc>
              <a:spcBef>
                <a:spcPts val="614"/>
              </a:spcBef>
              <a:buClr>
                <a:srgbClr val="8A4B2A"/>
              </a:buClr>
              <a:buFont typeface="Arial"/>
              <a:buChar char="●"/>
            </a:pPr>
            <a:r>
              <a:rPr lang="zh-CN" sz="219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会不会在中间频繁插入、删除</a:t>
            </a:r>
          </a:p>
          <a:p>
            <a:pPr marL="270000" indent="-230000" lvl="0">
              <a:lnSpc>
                <a:spcPct val="100000"/>
              </a:lnSpc>
              <a:spcBef>
                <a:spcPts val="614"/>
              </a:spcBef>
              <a:buClr>
                <a:srgbClr val="8A4B2A"/>
              </a:buClr>
              <a:buFont typeface="Arial"/>
              <a:buChar char="●"/>
            </a:pPr>
            <a:r>
              <a:rPr lang="zh-CN" sz="219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要不要按关键码直接找到某条记录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3216828"/>
            <a:ext cx="11058144" cy="37371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196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第二问：规模多大、数据在哪一层存储？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3652519"/>
            <a:ext cx="11058144" cy="74743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19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一次磁盘 I/O 往往比一次内存比较贵</a:t>
            </a:r>
            <a:r>
              <a:rPr lang="zh-CN" sz="2196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几个数量级</a:t>
            </a:r>
            <a:r>
              <a:rPr lang="zh-CN" sz="219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 所以第 9、11 章数的是</a:t>
            </a:r>
            <a:r>
              <a:rPr lang="zh-CN" sz="2196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访外页数</a:t>
            </a:r>
            <a:r>
              <a:rPr lang="zh-CN" sz="219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，不是比较次数。</a:t>
            </a:r>
          </a:p>
        </p:txBody>
      </p:sp>
      <p:sp>
        <p:nvSpPr>
          <p:cNvPr id="8" name="正文"/>
          <p:cNvSpPr txBox="1"/>
          <p:nvPr/>
        </p:nvSpPr>
        <p:spPr>
          <a:xfrm>
            <a:off x="566928" y="4461925"/>
            <a:ext cx="11058144" cy="74743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19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回到 1.1 节：只有五个经纪人、要任意两点最短路 → </a:t>
            </a:r>
            <a:r>
              <a:rPr lang="zh-CN" sz="2196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相邻矩阵 + Floyd</a:t>
            </a:r>
            <a:r>
              <a:rPr lang="zh-CN" sz="219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，实现简单，</a:t>
            </a:r>
            <a:r>
              <a:rPr lang="zh-CN" sz="2196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n = 5</a:t>
            </a:r>
            <a:r>
              <a:rPr lang="zh-CN" sz="219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时三重循环可以忽略。</a:t>
            </a:r>
          </a:p>
        </p:txBody>
      </p:sp>
      <p:sp>
        <p:nvSpPr>
          <p:cNvPr id="9" name="正文"/>
          <p:cNvSpPr txBox="1"/>
          <p:nvPr/>
        </p:nvSpPr>
        <p:spPr>
          <a:xfrm>
            <a:off x="566928" y="5271331"/>
            <a:ext cx="11058144" cy="37371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19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换成顶点很多、边很少、只问单源 → 就该是</a:t>
            </a:r>
            <a:r>
              <a:rPr lang="zh-CN" sz="2196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邻接表 + Dijkstra</a:t>
            </a:r>
            <a:r>
              <a:rPr lang="zh-CN" sz="219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10" name="正文"/>
          <p:cNvSpPr txBox="1"/>
          <p:nvPr/>
        </p:nvSpPr>
        <p:spPr>
          <a:xfrm>
            <a:off x="566928" y="5707022"/>
            <a:ext cx="11058144" cy="37371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196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同一个问题，规模一变，答案就变。</a:t>
            </a:r>
            <a:r>
              <a:rPr lang="zh-CN" sz="219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后面每一章都会再做一次这样的取舍。</a:t>
            </a:r>
          </a:p>
        </p:txBody>
      </p:sp>
      <p:sp>
        <p:nvSpPr>
          <p:cNvPr id="11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第1章 概论</a:t>
            </a:r>
          </a:p>
        </p:txBody>
      </p:sp>
      <p:sp>
        <p:nvSpPr>
          <p:cNvPr id="12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19 / 29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课堂讲解卡：从问题到算法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先写清楚三件事：输入是什么、输出是什么、允许哪些操作。再选能让主要操作便宜的数据结构，最后才写循环。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2874670"/>
            <a:ext cx="11058144" cy="470611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需求 -&gt; 抽象数据类型 -&gt; 存储结构 -&gt; 算法 -&gt; 复杂度 -&gt; 测试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第1章 概论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20 / 29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课堂例题：五个城市的最短路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把城市当顶点、道路当带权边；邻接矩阵负责存图，Floyd 负责逐步允许中间顶点。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2476449"/>
            <a:ext cx="11058144" cy="740054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D^(k)[i][j] = min(D^(k-1)[i][j],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       D^(k-1)[i][k] + D^(k-1)[k][j])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3282543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课堂上让学生先猜“只允许经过 1 个中间点”时哪些距离会改变，再运行实现核对。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第1章 概论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21 / 29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课堂例题答案：Floyd 的三轮更新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要点"/>
          <p:cNvSpPr txBox="1"/>
          <p:nvPr/>
        </p:nvSpPr>
        <p:spPr>
          <a:xfrm>
            <a:off x="566928" y="1995678"/>
            <a:ext cx="11058144" cy="19257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spcBef>
                <a:spcPts val="655"/>
              </a:spcBef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1.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D^(0)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只含直达边和 0。</a:t>
            </a:r>
          </a:p>
          <a:p>
            <a:pPr marL="0" indent="0" lvl="0">
              <a:lnSpc>
                <a:spcPct val="100000"/>
              </a:lnSpc>
              <a:spcBef>
                <a:spcPts val="655"/>
              </a:spcBef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2. 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依次放开顶点 1、2、3、4，检查经过该顶点是否更短。</a:t>
            </a:r>
          </a:p>
          <a:p>
            <a:pPr marL="0" indent="0" lvl="0">
              <a:lnSpc>
                <a:spcPct val="100000"/>
              </a:lnSpc>
              <a:spcBef>
                <a:spcPts val="655"/>
              </a:spcBef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3. 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每轮保持“只允许前 k 个中间点”的不变量。</a:t>
            </a:r>
          </a:p>
          <a:p>
            <a:pPr marL="0" indent="0" lvl="0">
              <a:lnSpc>
                <a:spcPct val="100000"/>
              </a:lnSpc>
              <a:spcBef>
                <a:spcPts val="655"/>
              </a:spcBef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4. 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最终矩阵就是所有中间点都允许时的最短距离。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第1章 概论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22 / 29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课末自检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要点"/>
          <p:cNvSpPr txBox="1"/>
          <p:nvPr/>
        </p:nvSpPr>
        <p:spPr>
          <a:xfrm>
            <a:off x="566928" y="1995678"/>
            <a:ext cx="11058144" cy="19257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能否区分逻辑结构、存储结构和算法？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能否解释为什么同一 ADT 可以有多种实现？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能否用大 O 比较两种方案，而不是只报一次运行时间？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能否给每个结论写一个最小反例？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第1章 概论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23 / 29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课末自检参考答案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要点"/>
          <p:cNvSpPr txBox="1"/>
          <p:nvPr/>
        </p:nvSpPr>
        <p:spPr>
          <a:xfrm>
            <a:off x="566928" y="1995678"/>
            <a:ext cx="11058144" cy="19257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逻辑结构描述关系，存储结构描述布局，算法描述操作步骤。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同一 ADT 可有数组、链表或索引等不同实现。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大 O 比较规模增长趋势，不能只看一次小输入的计时。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反例应针对结论边界，例如稠密图不适合邻接表的空间优势。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第1章 概论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24 / 29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板书演算：Floyd 一次更新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取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D[0][2]=9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、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D[0][1]=3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、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D[1][2]=4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：经过顶点 1 后候选值为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3+4=7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，所以把 9 更新成 7。每次更新只比较旧值和候选值。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第1章 概论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25 / 29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反例：只看直达边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图中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0→2=9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，但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0→1=3→2=4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。若只读邻接矩阵中的直达边，会错过真正最短路。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第1章 概论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26 / 29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课堂练习与答案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课堂练习：设计一个三点图，要求直达边不是最短路；写出 Floyd 更新前后的矩阵。答案：任取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0→2=10,0→1=3,1→2=4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，最终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D[0][2]=7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第1章 概论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27 / 29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本章小结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要点"/>
          <p:cNvSpPr txBox="1"/>
          <p:nvPr/>
        </p:nvSpPr>
        <p:spPr>
          <a:xfrm>
            <a:off x="566928" y="1995678"/>
            <a:ext cx="11058144" cy="288858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问题求解的第一步是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抽象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：把应用语言翻译成结构语言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数据结构分三层：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逻辑结构、存储结构、运算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同一逻辑结构可以有多种存储；选哪种要看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在它上面做什么运算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ADT 是一组运算，不是一个基类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算法分析看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增长趋势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；最好/最坏/平均必须分开说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时间和空间是可以互换的，没有免费的午餐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第1章 概论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28 / 29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上机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2012188"/>
            <a:ext cx="11058144" cy="470611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python3 tools/check_code.py code/ch01/adt</a:t>
            </a:r>
          </a:p>
        </p:txBody>
      </p:sp>
      <p:sp>
        <p:nvSpPr>
          <p:cNvPr id="5" name="要点"/>
          <p:cNvSpPr txBox="1"/>
          <p:nvPr/>
        </p:nvSpPr>
        <p:spPr>
          <a:xfrm>
            <a:off x="566928" y="2598369"/>
            <a:ext cx="11058144" cy="96286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读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code/ch01/adt/modern.hpp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，找出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infinity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为什么不取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INT_MAX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改一处：把 Floyd 的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k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循环挪到里层，看哪条断言变红</a:t>
            </a:r>
          </a:p>
        </p:txBody>
      </p:sp>
      <p:sp>
        <p:nvSpPr>
          <p:cNvPr id="6" name="引用线"/>
          <p:cNvSpPr/>
          <p:nvPr/>
        </p:nvSpPr>
        <p:spPr>
          <a:xfrm>
            <a:off x="566928" y="3693311"/>
            <a:ext cx="32004" cy="438188"/>
          </a:xfrm>
          <a:prstGeom prst="rect">
            <a:avLst/>
          </a:prstGeom>
          <a:solidFill>
            <a:srgbClr val="DCDCD6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引用"/>
          <p:cNvSpPr txBox="1"/>
          <p:nvPr/>
        </p:nvSpPr>
        <p:spPr>
          <a:xfrm>
            <a:off x="694944" y="3693311"/>
            <a:ext cx="10820400" cy="43818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14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全书的判据都是一样的：</a:t>
            </a:r>
            <a:r>
              <a:rPr lang="zh-CN" sz="2145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把实现改回错的写法，必须有一条断言会红。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第1章 概论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29 / 29</a:t>
            </a:r>
          </a:p>
        </p:txBody>
      </p:sp>
    </p:spTree>
  </p:cSld>
</p:sld>
</file>

<file path=ppt/theme/theme1.xml><?xml version="1.0" encoding="utf-8"?>
<a:theme xmlns:a="http://schemas.openxmlformats.org/drawingml/2006/main" name="dsa">
  <a:themeElements>
    <a:clrScheme name="dsa">
      <a:dk1>
        <a:sysClr val="windowText" lastClr="000000"/>
      </a:dk1>
      <a:lt1>
        <a:sysClr val="window" lastClr="FFFFFF"/>
      </a:lt1>
      <a:dk2>
        <a:srgbClr val="1A1A18"/>
      </a:dk2>
      <a:lt2>
        <a:srgbClr val="FDFDFC"/>
      </a:lt2>
      <a:accent1>
        <a:srgbClr val="8A4B2A"/>
      </a:accent1>
      <a:accent2>
        <a:srgbClr val="2C6B57"/>
      </a:accent2>
      <a:accent3>
        <a:srgbClr val="7A5C1E"/>
      </a:accent3>
      <a:accent4>
        <a:srgbClr val="4A5AA8"/>
      </a:accent4>
      <a:accent5>
        <a:srgbClr val="6B6B66"/>
      </a:accent5>
      <a:accent6>
        <a:srgbClr val="DCDCD6"/>
      </a:accent6>
      <a:hlink>
        <a:srgbClr val="8A4B2A"/>
      </a:hlink>
      <a:folHlink>
        <a:srgbClr val="6B6B66"/>
      </a:folHlink>
    </a:clrScheme>
    <a:fontScheme name="dsa">
      <a:majorFont>
        <a:latin typeface="Segoe UI"/>
        <a:ea typeface="Noto Sans CJK SC"/>
        <a:cs typeface=""/>
      </a:majorFont>
      <a:minorFont>
        <a:latin typeface="Segoe UI"/>
        <a:ea typeface="Noto Sans CJK SC"/>
        <a:cs typeface=""/>
      </a:minorFont>
    </a:fontScheme>
    <a:fmtScheme name="ds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dsa">
  <a:themeElements>
    <a:clrScheme name="dsa">
      <a:dk1>
        <a:sysClr val="windowText" lastClr="000000"/>
      </a:dk1>
      <a:lt1>
        <a:sysClr val="window" lastClr="FFFFFF"/>
      </a:lt1>
      <a:dk2>
        <a:srgbClr val="1A1A18"/>
      </a:dk2>
      <a:lt2>
        <a:srgbClr val="FDFDFC"/>
      </a:lt2>
      <a:accent1>
        <a:srgbClr val="8A4B2A"/>
      </a:accent1>
      <a:accent2>
        <a:srgbClr val="2C6B57"/>
      </a:accent2>
      <a:accent3>
        <a:srgbClr val="7A5C1E"/>
      </a:accent3>
      <a:accent4>
        <a:srgbClr val="4A5AA8"/>
      </a:accent4>
      <a:accent5>
        <a:srgbClr val="6B6B66"/>
      </a:accent5>
      <a:accent6>
        <a:srgbClr val="DCDCD6"/>
      </a:accent6>
      <a:hlink>
        <a:srgbClr val="8A4B2A"/>
      </a:hlink>
      <a:folHlink>
        <a:srgbClr val="6B6B66"/>
      </a:folHlink>
    </a:clrScheme>
    <a:fontScheme name="dsa">
      <a:majorFont>
        <a:latin typeface="Segoe UI"/>
        <a:ea typeface="Noto Sans CJK SC"/>
        <a:cs typeface=""/>
      </a:majorFont>
      <a:minorFont>
        <a:latin typeface="Segoe UI"/>
        <a:ea typeface="Noto Sans CJK SC"/>
        <a:cs typeface=""/>
      </a:minorFont>
    </a:fontScheme>
    <a:fmtScheme name="ds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dsa-modernization/tools/build_pptx.py</Application>
  <Slides>29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第1章 概论</dc:title>
  <dc:creator>dsa-modernization</dc:creator>
  <cp:revision>1</cp:revision>
</cp:coreProperties>
</file>