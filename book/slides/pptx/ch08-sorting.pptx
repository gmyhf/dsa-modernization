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举个例子：先按成绩排，再按班级用稳定排序排，结果就是「班级内按成绩」。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用不稳定的排序做这件事就得不到想要的结果。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形象说法：像整理手里的扑克牌，抓一张就往左边已经排好的那段里插。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最好情况：输入已有序，每张牌比一次就位，O(n)。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最坏情况：输入逆序，第 i 张要比 i 次，O(n^2)。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所以说「插入排序是 O(n^2)」对，说「是 Θ(n^2)」就错了。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这是第 1 章「渐进分析不是全部」的一个实例，可以回头指一下。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标准库的 sort 内部就是这么做的（introsort：快排 + 堆排 + 插入排序）。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两步：先把整个数组建成最大堆，再反复「把根和末尾交换、堆长度减一、下沉」。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关键点：建堆是 O(n)（第 5 章证过），所以总代价 O(n log n) 里那个 log n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全部来自后面 n 次取最大值。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优点：就地、最坏也是 O(n log n)。缺点：不稳定，而且缓存局部性差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（下标跳来跳去），实际常数往往比快排大。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分割（partition）是全部难点。这里用的是最直白的写法：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boundary 左边全是小于轴值的，扫一遍把小的换过去，最后把轴值换到分界点。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平均 O(n log n)，最坏 O(n^2)——输入已经有序而轴值取末尾时，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每次只分出一个元素，递归深度 n。</a:t>
            </a:r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分治的另一种切法：快排是「先分好再递归」，归并是「先递归再合并」。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归并的两个特点：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 稳定（合并时相等取左边的）；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 最坏也是 O(n log n)，没有快排那种退化。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代价是需要 O(n) 的额外空间——这是它不如快排流行的主要原因。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归并还有一个别处没有的好处：它天然适合外排序，因为只需要顺序读写。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9 章全靠它。</a:t>
            </a:r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桶式排序：关键码范围有限时，开一排桶，直接扔进去，O(n + r)。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基数排序：把关键码按位拆开，从低位到高位依次做桶式排序。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 位、每位 r 个值时是 O(d(n + r))。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为什么必须从低位开始？因为每一轮的桶式排序必须是稳定的，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低位的结果才能被高位的排序保留下来。反过来做会把低位的功夫全废掉。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这一点值得当场问学生。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3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234120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692971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把一组记录按关键码重排成有序序列。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088195"/>
            <a:ext cx="11058144" cy="18516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插入类：直接插入、Shell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选择类：直接选择、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堆排序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交换类：冒泡、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快速排序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归并类：两路归并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分配类：桶式、基数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99065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代价从 </a:t>
            </a:r>
            <a:r>
              <a:rPr lang="zh-CN" sz="180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到 </a:t>
            </a:r>
            <a:r>
              <a:rPr lang="zh-CN" sz="180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 log n)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，靠的是什么。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8.1 基本概念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稳定性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：关键码相同的记录，排完之后相对次序不变 → 稳定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就地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：额外空间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比较模型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：只能通过「两两比较」判断次序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50601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稳定性不是可有可无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：按多个字段排序时， 先排次要字段、再用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算法排主要字段，就能得到「主序内按次序」的结果。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36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8.2 插入排序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1 插入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901479" y="1229106"/>
            <a:ext cx="4389041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8.1 插入排序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36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8.2 插入排序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878025"/>
            <a:ext cx="11058144" cy="370392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code/ch08/sorting/modern.hpp#insertion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算法8.1：直接插入排序。相等元素不越过彼此，故稳定。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insertion_sort(std::vector&lt;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index &lt; values.size(); ++index)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= values[index];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hole = index;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(hole !=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&amp;&amp; value &lt;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values[hole] =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--hole;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values[hole]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36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插入排序的两个优点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：只在严格小于时才往前挪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对近乎有序的输入极快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+ d)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，d 是逆序对数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2458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所以它常被用作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其它算法的收尾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——快排/归并递归到小区间时改用插入排序。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4888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n 小的时候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完全可能比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 log n)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快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：常数小、没有递归开销、缓存友好。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36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8.2.2 Shell 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2 Shell 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799427" y="1342946"/>
            <a:ext cx="4593145" cy="373315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95401"/>
            <a:ext cx="11058144" cy="20739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8.2 Shell 排序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41400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先按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大增量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分组做插入排序，再逐步缩小增量，最后增量为 1。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12814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为什么快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：大增量时每组元素少、几乎有序； 小增量时整体已经接近有序，而插入排序恰好对这种输入极快。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884228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代价与增量序列有关，「每次除以 2」约 </a:t>
            </a:r>
            <a:r>
              <a:rPr lang="zh-CN" sz="1368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O(n^(1.5))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不稳定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36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8.3.1 直接选择排序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78028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轮从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[i,n)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扫出最小值，与位置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交换。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310588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初始   45 34 78 12 34' 32 29 64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i=0    12 34 78 45 34' 32 29 64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i=1    12 29 78 45 34' 32 34 64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i=2    12 29 32 45 34' 78 34 64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70509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无论输入是否有序，比较次数都是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n(n-1)/2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只做至多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n-1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次交换，额外空间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：远距离交换可能让相等记录越过彼此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2154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它省的是交换，不是比较。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36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8.3.2 堆排序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4 堆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754277"/>
            <a:ext cx="11058144" cy="359614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383441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8.4 堆排序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36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8.3.2 堆排序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45870"/>
            <a:ext cx="11058144" cy="49682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code/ch08/sorting/modern.hpp#heap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算法8.4：手写最大堆筛选与堆排序，不委托 std::make_heap/sort_heap。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sift_down(std::vector&lt;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root,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(root *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count)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child = root *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(child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count &amp;&amp; values[child] &lt; values[child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 ++child;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(values[root] &gt;= values[child])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swap(values[root], values[child]);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root = child;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heap_sort(std::vector&lt;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root = values.size() /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root !=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--root)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sift_down(values, root -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values.size());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end = values.size(); end &gt;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--end)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swap(values[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], values[end -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sift_down(values,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end -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36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8.4.1 冒泡排序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150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每一趟比较相邻元素，把当前最大值“冒”到未排序区末尾。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45310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5 1 4 2 8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1 4 2 5 8   第一趟，8 已就位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1 2 4 5 8   第二趟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570377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相等元素不交换，所以稳定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一趟没有交换即可提前结束：已有序时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逆序时仍需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次比较和交换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08071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优化只改变最好情况，不改变最坏时间。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8.4.2 快速排序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6 快速排序图示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616422" y="1227714"/>
            <a:ext cx="6959155" cy="447072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719271"/>
            <a:ext cx="11058144" cy="22015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0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8.6 快速排序图示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981081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选一个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轴值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，把序列分成「小于它的」和「大于它的」两段，再各自递归。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快排的实现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49502"/>
            <a:ext cx="11058144" cy="476097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code/ch08/sorting/modern.hpp#quick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partition(std::vector&lt;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pivot = values[last -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boundary = first;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= first; index +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last; ++index)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(values[index] &lt; pivot)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swap(values[boundary], values[index]);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++boundary;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swap(values[boundary], values[last -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boundary;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quick_sort_range(std::vector&lt;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(last - first &lt;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 = partition(values, first, last);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quick_sort_range(values, first, middle);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quick_sort_range(values, middle +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last);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算法8.6：手写快排。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quick_sort(std::vector&lt;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 quick_sort_range(values,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values.size()); 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36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快排最坏情况怎么办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505169"/>
                <a:gridCol w="6552975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办法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效果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三者取中（首、中、尾）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避开「已排序」这个最常见的坏输入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随机轴值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让坏输入无法被构造出来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小区间改插入排序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省掉递归开销，常数变小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递归改成对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短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的那半递归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栈深度降到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03027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最后一条常被忽略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：不做的话，最坏情况下递归深度是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在第 3 章那张表里就是段错误。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36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8.5 归并排序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8 归并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702213" y="1229106"/>
            <a:ext cx="6787574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8.8 归并排序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8.5 归并排序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52433"/>
            <a:ext cx="11058144" cy="495511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code/ch08/sorting/modern.hpp#merge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merge_ranges(std::vector&lt;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buffer,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middle,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left = first;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right = middle;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output = first;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 &lt; middle &amp;&amp; right &lt;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buffer[output++] = values[right] &lt; values[left] ? values[right++] : values[left++];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 &lt; middle) buffer[output++] = values[left++];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(right &lt; last) buffer[output++] = values[right++];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= first; index &lt; last; ++index) values[index] = buffer[index];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merge_sort_range(std::vector&lt;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buffer,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(last - first &lt;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 = first + (last - first) /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merge_sort_range(values, buffer, first, middle);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merge_sort_range(values, buffer, middle, last);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merge_ranges(values, buffer, first, middle, last);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算法8.8：两路归并排序。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merge_sort(std::vector&lt;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buffer(values.size());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merge_sort_range(values, buffer,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values.size());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36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 分配排序：跳出比较模型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比较排序的下界是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Ω(n 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</a:t>
            </a:r>
          </a:p>
        </p:txBody>
      </p:sp>
      <p:sp>
        <p:nvSpPr>
          <p:cNvPr id="5" name="引用线"/>
          <p:cNvSpPr/>
          <p:nvPr/>
        </p:nvSpPr>
        <p:spPr>
          <a:xfrm>
            <a:off x="566928" y="2476449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引用"/>
          <p:cNvSpPr txBox="1"/>
          <p:nvPr/>
        </p:nvSpPr>
        <p:spPr>
          <a:xfrm>
            <a:off x="694944" y="2476449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 个元素有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n!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种排列，每次比较至多把可能性减半， 所以至少要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log₂(n!) = Ω(n log n)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次比较。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34571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想更快，就只能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不靠比较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：直接用关键码的值去算位置。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36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8.6.1 桶式排序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关键码落在有限值域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[0,r)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时，为每个值准备一个桶：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输入: 3 1 3 0 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计数: [1,1,1,2]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输出: 0 1 2 3 3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5198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时间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O(n+r)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，空间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；它绕过比较排序下界， 因为直接用关键码算桶号。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01624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值域很大而数据很少时，桶数组会浪费空间； 要保持稳定，每个桶必须按进入顺序输出。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36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8.6.2 基数排序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10 基数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599333" y="1229106"/>
            <a:ext cx="4993333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8.10 基数排序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8.6.2 基数排序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86378"/>
            <a:ext cx="11058144" cy="468722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code/ch08/sorting/modern.hpp#radix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算法8.11：LSD 基数排序。翻转符号位使二补码有符号 int 按无符号序排序。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radix_sort(std::vector&lt;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buffer(values.size());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unsigned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shift 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shift &lt;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32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shift +=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8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counts[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256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]{};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: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 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&lt;std::uint32_t&gt;(value) ^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0x80000000U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++counts[(key &gt;&gt; shift) &amp;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0xffU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offset 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&amp; count : counts) {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old = count; count = offset; offset += old;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: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 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&lt;std::uint32_t&gt;(value) ^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0x80000000U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buffer[counts[(key &gt;&gt; shift) &amp;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0xffU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]++]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values.swap(buffer);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36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8.6.3 索引排序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150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不移动大记录，只排序一张下标表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IndexArray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45310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记录下标:   0  1  2  3  4  5  6  7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关键码:    29 12 34 47 34 10 31 42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有序下标:   5  1  0  6  2  4  7  3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2084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按索引访问已经有序；必须原地重排时，再沿置换环搬记录。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03463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大记录、小关键码时，移动下标更便宜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相等键 34 的下标仍为 2、4，稳定性可明确控制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代价是按索引访问的局部性可能变差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36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8.7.1 简单排序的时间代价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3044032"/>
        </p:xfrm>
        <a:graphic>
          <a:graphicData uri="http://schemas.openxmlformats.org/drawingml/2006/table">
            <a:tbl>
              <a:tblPr firstRow="1"/>
              <a:tblGrid>
                <a:gridCol w="1789343"/>
                <a:gridCol w="2791376"/>
                <a:gridCol w="2684015"/>
                <a:gridCol w="2451400"/>
                <a:gridCol w="1342010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算法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平均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额外空间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稳定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直接插入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Shell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O(n^(1.5))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与增量有关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直接选择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堆排序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快速排序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归并排序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基数排序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O(d(n+r))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O(d(n+r))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O(n+r)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36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8.7.2 理论时间与实测时间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g++ 13.3 -O2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的两组结果：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008994"/>
                <a:gridCol w="3340829"/>
                <a:gridCol w="3708321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输入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算法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时间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 万随机数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冒泡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5821.9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 万随机数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213.5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 万已有序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优化快排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105.9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 万已有序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约 0.0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49453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Θ(n²)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可以差 27 倍；近乎有序时，插入甚至胜过退化快排。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95880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渐进阶先排除不合格算法，实测再决定常数与工作负载。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36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8.7.3 比较排序的下限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14 用判定树模拟基于比较的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185560" y="1229106"/>
            <a:ext cx="5820880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8.14 用判定树模拟基于比较的排序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36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8.7.3 比较排序的下限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个互异元素有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n!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种排列；一次二元比较最多把候选情况分成两半。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判定树至少有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n!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个叶子，因此高度至少：</a:t>
            </a:r>
          </a:p>
        </p:txBody>
      </p:sp>
      <p:sp>
        <p:nvSpPr>
          <p:cNvPr id="6" name="公式"/>
          <p:cNvSpPr txBox="1"/>
          <p:nvPr/>
        </p:nvSpPr>
        <p:spPr>
          <a:xfrm>
            <a:off x="566928" y="2957220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26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⌈log₂(n!)⌉ = Ω(n log n)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48223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这限制的是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只靠比较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的排序。桶式与基数利用关键码结构， 不在这个模型里，所以能达到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O(n+r)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或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O(d(n+r))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36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怎么选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一般情况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：快排（三者取中 + 小区间插入排序）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要稳定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：归并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最坏也不能退化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（实时系统）：堆排序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数据近乎有序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：插入排序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关键码是小范围整数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：桶式 / 基数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数据放不进内存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：第 9 章的外排序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95030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没有一个算法在所有维度上都最好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——这是本章真正要传达的。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36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课堂讲解卡：排序选择取决于约束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先问三个问题：数据能否全部放入内存？是否要求稳定？关键字是否有额外结构？答案决定比较排序、外排序或分配排序。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36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课堂例题：同一组数据的三种路径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5, 2, 4, 2, 1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：插入排序展示“局部有序”，快排展示分区，归并排序展示稳定合并；记录两个相同的 2 来观察稳定性。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36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课堂例题答案：排序路径对照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插入排序逐步扩大左侧有序区；快排先分区，稳定性取决于实现；归并排序在相等时取左即可稳定。三者都得到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1,2,2,4,5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，但中间状态、最坏代价和空间不同。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36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快排最坏情况来自什么输入和选点策略？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堆排序为什么不稳定但保证 O(n log n)？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归并排序的额外空间换来了什么性质？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基数排序何时能绕开比较模型下界？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36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固定端点枢轴遇到已排序输入时快排可能 O(n²)。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堆排序保证 O(n log n) 且原地，但不稳定。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归并用 O(n) 辅助空间换取稳定的 O(n log n)。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关键字可拆成有限位并稳定分配时，基数排序可绕开比较下界。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36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状态演算：归并排序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序列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[5,2,4,2]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先分成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[5,2]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[4,2]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，各自排成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[2,5]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[2,4]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，再用双指针合并为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[2,2,4,5]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36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反例：合并时相等取右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两个键相等时若总取右边元素，带卫星数据的记录可能交换，归并排序就不再稳定。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36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课堂练习：说明快排、堆排、归并的稳定性。答案：标准快排和堆排通常不稳定，归并可通过相等取左保持稳定。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36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算法轨：同一排序的可执行对照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8074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插入、堆、快排、归并、计数和基数排序都有 Python 实现；固定容量桶和环形队列等存储细节仍由 C++ 版本承担。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309266"/>
            <a:ext cx="11058144" cy="370392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code/ch08/sorting/modern.py#insertion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算法8.1：直接插入排序。相等元素不越过彼此，故稳定。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insertion_sort(values: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list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 -&gt;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(values)):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 = values[index]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hole = index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`hole &gt; 0` 这个条件在 Python 里是**承重的**，不是防御性写法：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C++ 版越界会被 ASan 当场抓住，Python 的 values[-1] 却合法——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它悄悄环绕到最后一个元素，把排序结果搅乱而不报任何错。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hole &gt;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and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&lt;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values[hole] =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hole -=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values[hole] = value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34 / 36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337001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稳定性在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多字段排序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时是刚需，不是可有可无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插入排序对近乎有序的输入是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，所以常被用作收尾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堆排序靠第 5 章的堆；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建堆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，总代价里的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来自取最大值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快排的最坏是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，靠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取轴策略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对短半边递归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避开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归并稳定、最坏有保证，代价是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额外空间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比较模型的下界是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Ω(n 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；要更快只能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不比较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基数排序必须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从低位到高位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，且每轮必须稳定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35 / 36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code/ch08/sorting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598369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用随机、已排序、逆序、全相等、含负数五组输入对拍所有算法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把基数排序改成从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高位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到低位，看结果错在哪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给快排喂一个已排序的输入，量一下递归深度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174742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4174742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测试里所有排序算法</a:t>
            </a: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互相对拍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：同一组输入必须给出同样的结果， 稳定的那几个还要额外验证稳定性。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36 / 36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第8章 内排序</dc:title>
  <dc:creator>dsa-modernization</dc:creator>
  <cp:revision>1</cp:revision>
</cp:coreProperties>
</file>