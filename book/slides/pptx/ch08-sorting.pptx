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notesMaster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举个例子：先按成绩排，再按班级用稳定排序排，结果就是「班级内按成绩」。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用不稳定的排序做这件事就得不到想要的结果。</a:t>
            </a:r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形象说法：像整理手里的扑克牌，抓一张就往左边已经排好的那段里插。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最好情况：输入已有序，每张牌比一次就位，O(n)。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最坏情况：输入逆序，第 i 张要比 i 次，O(n^2)。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所以说「插入排序是 O(n^2)」对，说「是 Θ(n^2)」就错了。</a:t>
            </a:r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这是第 1 章「渐进分析不是全部」的一个实例，可以回头指一下。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标准库的 sort 内部就是这么做的（introsort：快排 + 堆排 + 插入排序）。</a:t>
            </a:r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两步：先把整个数组建成最大堆，再反复「把根和末尾交换、堆长度减一、下沉」。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关键点：建堆是 O(n)（第 5 章证过），所以总代价 O(n log n) 里那个 log n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全部来自后面 n 次取最大值。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优点：就地、最坏也是 O(n log n)。缺点：不稳定，而且缓存局部性差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（下标跳来跳去），实际常数往往比快排大。</a:t>
            </a:r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分割（partition）是全部难点。这里用的是最直白的写法：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boundary 左边全是小于轴值的，扫一遍把小的换过去，最后把轴值换到分界点。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平均 O(n log n)，最坏 O(n^2)——输入已经有序而轴值取末尾时，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每次只分出一个元素，递归深度 n。</a:t>
            </a:r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分治的另一种切法：快排是「先分好再递归」，归并是「先递归再合并」。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归并的两个特点：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1. 稳定（合并时相等取左边的）；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2. 最坏也是 O(n log n)，没有快排那种退化。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代价是需要 O(n) 的额外空间——这是它不如快排流行的主要原因。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归并还有一个别处没有的好处：它天然适合外排序，因为只需要顺序读写。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9 章全靠它。</a:t>
            </a:r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备注"/>
          <p:cNvSpPr>
            <a:spLocks noGrp="1"/>
          </p:cNvSpPr>
          <p:nvPr>
            <p:ph type="body" idx="1"/>
          </p:nvPr>
        </p:nvSpPr>
        <p:spPr>
          <a:xfrm>
            <a:off x="457200" y="3886200"/>
            <a:ext cx="5943600" cy="4400550"/>
          </a:xfrm>
          <a:prstGeom prst="rect">
            <a:avLst/>
          </a:prstGeom>
        </p:spPr>
        <p:txBody>
          <a:bodyPr/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桶式排序：关键码范围有限时，开一排桶，直接扔进去，O(n + r)。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基数排序：把关键码按位拆开，从低位到高位依次做桶式排序。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d 位、每位 r 个值时是 O(d(n + r))。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为什么必须从低位开始？因为每一轮的桶式排序必须是稳定的，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低位的结果才能被高位的排序保留下来。反过来做会把低位的功夫全废掉。</a:t>
            </a:r>
          </a:p>
          <a:p>
            <a:pPr marL="0" indent="0" lvl="0">
              <a:lnSpc>
                <a:spcPct val="100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这一点值得当场问学生。</a:t>
            </a:r>
          </a:p>
        </p:txBody>
      </p:sp>
    </p:spTree>
  </p:cSld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1.png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2.png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3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4.png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5.png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6.png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100" Type="http://schemas.openxmlformats.org/officeDocument/2006/relationships/image" Target="../media/image7.png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6096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40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4216116" y="1057656"/>
            <a:ext cx="3759768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副标题"/>
          <p:cNvSpPr txBox="1"/>
          <p:nvPr/>
        </p:nvSpPr>
        <p:spPr>
          <a:xfrm>
            <a:off x="566928" y="2234120"/>
            <a:ext cx="11058144" cy="33185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数据结构与算法：Python 讲可迁移算法，C++ 讲存储与工程实现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692971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把一组记录按关键码重排成有序序列。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088195"/>
            <a:ext cx="11058144" cy="185166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插入类：直接插入、Shell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选择类：直接选择、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堆排序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交换类：冒泡、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快速排序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归并类：两路归并</a:t>
            </a:r>
          </a:p>
          <a:p>
            <a:pPr marL="270000" indent="-230000" lvl="0">
              <a:lnSpc>
                <a:spcPct val="100000"/>
              </a:lnSpc>
              <a:spcBef>
                <a:spcPts val="504"/>
              </a:spcBef>
              <a:buClr>
                <a:srgbClr val="8A4B2A"/>
              </a:buClr>
              <a:buFont typeface="Arial"/>
              <a:buChar char="●"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分配类：桶式、基数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990655"/>
            <a:ext cx="11058144" cy="3063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80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一条主线：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代价从 </a:t>
            </a:r>
            <a:r>
              <a:rPr lang="zh-CN" sz="180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O(n²)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到 </a:t>
            </a:r>
            <a:r>
              <a:rPr lang="zh-CN" sz="180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 log n)</a:t>
            </a:r>
            <a:r>
              <a:rPr lang="zh-CN" sz="180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，靠的是什么。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 / 36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8.1 基本概念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稳定性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：关键码相同的记录，排完之后相对次序不变 → 稳定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就地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：额外空间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O(1)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比较模型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：只能通过「两两比较」判断次序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506011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稳定性不是可有可无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：按多个字段排序时， 先排次要字段、再用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稳定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算法排主要字段，就能得到「主序内按次序」的结果。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 / 36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8.2 插入排序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8.1 插入排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901479" y="1229106"/>
            <a:ext cx="4389041" cy="468475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8.1 插入排序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 / 36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8.2 插入排序（续）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878025"/>
            <a:ext cx="11058144" cy="370392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code/ch08/sorting/modern.hpp#insertion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算法8.1：直接插入排序。相等元素不越过彼此，故稳定。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insertion_sort(std::vector&lt;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 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index &lt; values.size(); ++index)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 = values[index];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hole = index;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(hole !=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&amp;&amp; value &lt; values[hole -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values[hole] = values[hole -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--hole;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values[hole]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4 / 36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插入排序的两个优点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9628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稳定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：只在严格小于时才往前挪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对近乎有序的输入极快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 + d)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，d 是逆序对数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302458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所以它常被用作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其它算法的收尾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——快排/归并递归到小区间时改用插入排序。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48884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n 小的时候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O(n²)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完全可能比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 log n)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 快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：常数小、没有递归开销、缓存友好。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5 / 36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8.2.2 Shell 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8.2 Shell 排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799427" y="1342946"/>
            <a:ext cx="4593145" cy="3733151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095401"/>
            <a:ext cx="11058144" cy="20739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95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8.2 Shell 排序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341400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先按</a:t>
            </a: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大增量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分组做插入排序，再逐步缩小增量，最后增量为 1。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612814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为什么快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：大增量时每组元素少、几乎有序； 小增量时整体已经接近有序，而插入排序恰好对这种输入极快。</a:t>
            </a:r>
          </a:p>
        </p:txBody>
      </p:sp>
      <p:sp>
        <p:nvSpPr>
          <p:cNvPr id="8" name="正文"/>
          <p:cNvSpPr txBox="1"/>
          <p:nvPr/>
        </p:nvSpPr>
        <p:spPr>
          <a:xfrm>
            <a:off x="566928" y="5884228"/>
            <a:ext cx="11058144" cy="23280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代价与增量序列有关，「每次除以 2」约 </a:t>
            </a:r>
            <a:r>
              <a:rPr lang="zh-CN" sz="1368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O(n^(1.5))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  <a:r>
              <a:rPr lang="zh-CN" sz="1368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不稳定</a:t>
            </a:r>
            <a:r>
              <a:rPr lang="zh-CN" sz="1368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9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10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6 / 36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8.3.1 直接选择排序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78028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第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i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轮从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[i,n)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扫出最小值，与位置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i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交换。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310588"/>
            <a:ext cx="11058144" cy="12789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初始   45 34 78 12 34' 32 29 64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i=0    12 34 78 45 34' 32 29 64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i=1    12 29 78 45 34' 32 34 64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i=2    12 29 32 45 34' 78 34 64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705098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无论输入是否有序，比较次数都是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n(n-1)/2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只做至多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n-1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次交换，额外空间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O(1)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不稳定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：远距离交换可能让相等记录越过彼此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215431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它省的是交换，不是比较。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7 / 36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8.3.2 堆排序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8.4 堆排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566928" y="1754277"/>
            <a:ext cx="11058144" cy="3596144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383441"/>
            <a:ext cx="11058144" cy="32226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6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8.4 堆排序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8 / 36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8.3.2 堆排序（续）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45870"/>
            <a:ext cx="11058144" cy="4968240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93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code/ch08/sorting/modern.hpp#heap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算法8.4：手写最大堆筛选与堆排序，不委托 std::make_heap/sort_heap。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sift_down(std::vector&lt;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values, 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root, 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count)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(root *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+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&lt; count)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child = root *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+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(child +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&lt; count &amp;&amp; values[child] &lt; values[child +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]) ++child;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(values[root] &gt;= values[child])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using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std::swap;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swap(values[root], values[child]);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root = child;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heap_sort(std::vector&lt;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root = values.size() /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root !=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--root)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sift_down(values, root -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values.size());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20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end = values.size(); end &gt;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--end)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20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using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std::swap;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swap(values[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], values[end -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sift_down(values,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end - </a:t>
            </a:r>
            <a:r>
              <a:rPr lang="zh-CN" sz="120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20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9 / 36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8.4.1 冒泡排序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150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每一趟比较相邻元素，把当前最大值“冒”到未排序区末尾。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45310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5 1 4 2 8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1 4 2 5 8   第一趟，8 已就位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1 2 4 5 8   第二趟</a:t>
            </a:r>
          </a:p>
        </p:txBody>
      </p:sp>
      <p:sp>
        <p:nvSpPr>
          <p:cNvPr id="6" name="要点"/>
          <p:cNvSpPr txBox="1"/>
          <p:nvPr/>
        </p:nvSpPr>
        <p:spPr>
          <a:xfrm>
            <a:off x="566928" y="3570377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相等元素不交换，所以稳定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一趟没有交换即可提前结束：已有序时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O(n)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逆序时仍需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O(n²)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次比较和交换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508071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优化只改变最好情况，不改变最坏时间。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10 / 36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8.4.2 快速排序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8.6 快速排序图示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616422" y="1227714"/>
            <a:ext cx="6959155" cy="4470729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719271"/>
            <a:ext cx="11058144" cy="22015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02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8.6 快速排序图示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5981081"/>
            <a:ext cx="11058144" cy="251185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选一个</a:t>
            </a:r>
            <a:r>
              <a:rPr lang="zh-CN" sz="1476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轴值</a:t>
            </a:r>
            <a:r>
              <a:rPr lang="zh-CN" sz="1476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，把序列分成「小于它的」和「大于它的」两段，再各自递归。</a:t>
            </a:r>
          </a:p>
        </p:txBody>
      </p:sp>
      <p:sp>
        <p:nvSpPr>
          <p:cNvPr id="7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8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11 / 36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快排的实现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49502"/>
            <a:ext cx="11058144" cy="4760976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823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code/ch08/sorting/modern.hpp#quick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partition(std::vector&lt;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values,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first,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last)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pivot = values[last -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boundary = first;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 = first; index +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&lt; last; ++index)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(values[index] &lt; pivot)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using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std::swap;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swap(values[boundary], values[index]);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++boundary;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using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std::swap;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swap(values[boundary], values[last -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boundary;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quick_sort_range(std::vector&lt;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values,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first,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last)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(last - first &lt;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middle = partition(values, first, last);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quick_sort_range(values, first, middle);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quick_sort_range(values, middle +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last);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算法8.6：手写快排。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056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quick_sort(std::vector&lt;</a:t>
            </a:r>
            <a:r>
              <a:rPr lang="zh-CN" sz="1056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values) { quick_sort_range(values, </a:t>
            </a:r>
            <a:r>
              <a:rPr lang="zh-CN" sz="1056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056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values.size()); 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12 / 36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快排最坏情况怎么办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4505169"/>
                <a:gridCol w="6552975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办法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效果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三者取中（首、中、尾）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避开「已排序」这个最常见的坏输入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随机轴值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让坏输入无法被构造出来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小区间改插入排序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省掉递归开销，常数变小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递归改成对</a:t>
                      </a: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短</a:t>
                      </a: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的那半递归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栈深度降到 </a:t>
                      </a: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正文"/>
          <p:cNvSpPr txBox="1"/>
          <p:nvPr/>
        </p:nvSpPr>
        <p:spPr>
          <a:xfrm>
            <a:off x="566928" y="403027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最后一条常被忽略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：不做的话，最坏情况下递归深度是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 在第 3 章那张表里就是段错误。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13 / 36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8.5 归并排序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8.8 归并排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2702213" y="1229106"/>
            <a:ext cx="6787574" cy="468475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8.8 归并排序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14 / 36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8.5 归并排序（续）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252433"/>
            <a:ext cx="11058144" cy="4955113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7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code/ch08/sorting/modern.hpp#merge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merge_ranges(std::vector&lt;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values, std::vector&lt;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buffer,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first, 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middle, 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last)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left = first;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right = middle;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output = first;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(left &lt; middle &amp;&amp; right &lt; last)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buffer[output++] = values[right] &lt; values[left] ? values[right++] : values[left++];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(left &lt; middle) buffer[output++] = values[left++];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(right &lt; last) buffer[output++] = values[right++];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 = first; index &lt; last; ++index) values[index] = buffer[index];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merge_sort_range(std::vector&lt;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values, std::vector&lt;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buffer,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                 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first, 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last)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if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(last - first &lt;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return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middle = first + (last - first) /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merge_sort_range(values, buffer, first, middle);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merge_sort_range(values, buffer, middle, last);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merge_ranges(values, buffer, first, middle, last);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算法8.8：两路归并排序。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merge_sort(std::vector&lt;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983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buffer(values.size());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merge_sort_range(values, buffer, </a:t>
            </a:r>
            <a:r>
              <a:rPr lang="zh-CN" sz="983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values.size());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983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15 / 36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8.6 分配排序：跳出比较模型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比较排序的下界是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Ω(n log 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</a:t>
            </a:r>
          </a:p>
        </p:txBody>
      </p:sp>
      <p:sp>
        <p:nvSpPr>
          <p:cNvPr id="5" name="引用线"/>
          <p:cNvSpPr/>
          <p:nvPr/>
        </p:nvSpPr>
        <p:spPr>
          <a:xfrm>
            <a:off x="566928" y="2476449"/>
            <a:ext cx="32004" cy="803224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6" name="引用"/>
          <p:cNvSpPr txBox="1"/>
          <p:nvPr/>
        </p:nvSpPr>
        <p:spPr>
          <a:xfrm>
            <a:off x="694944" y="2476449"/>
            <a:ext cx="10820400" cy="8032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n 个元素有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n!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种排列，每次比较至多把可能性减半， 所以至少要 </a:t>
            </a:r>
            <a:r>
              <a:rPr lang="zh-CN" sz="2145" dirty="0" i="1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log₂(n!) = Ω(n log n)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 次比较。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345713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想更快，就只能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不靠比较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：直接用关键码的值去算位置。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16 / 36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8.6.1 桶式排序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关键码落在有限值域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[0,r)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时，为每个值准备一个桶：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76449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输入: 3 1 3 0 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计数: [1,1,1,2]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输出: 0 1 2 3 3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551986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时间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O(n+r)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，空间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O(r)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；它绕过比较排序下界， 因为直接用关键码算桶号。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016247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值域很大而数据很少时，桶数组会浪费空间； 要保持稳定，每个桶必须按进入顺序输出。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17 / 36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8.6.2 基数排序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8.10 基数排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599333" y="1229106"/>
            <a:ext cx="4993333" cy="468475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8.10 基数排序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18 / 36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8.6.2 基数排序（续）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1386378"/>
            <a:ext cx="11058144" cy="4687224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6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code/ch08/sorting/modern.hpp#radix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// 算法8.11：LSD 基数排序。翻转符号位使二补码有符号 int 按无符号序排序。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inline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void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radix_sort(std::vector&lt;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&gt;&amp; values)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std::vector&lt;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&gt; buffer(values.size());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unsigned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shift =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shift &lt;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32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 shift +=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8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counts[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256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]{};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 : values)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auto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key 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&lt;std::uint32_t&gt;(value) ^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0x80000000U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++counts[(key &gt;&gt; shift) &amp;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0xffU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std::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offset =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(std::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&amp; count : counts) {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std::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size_t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old = count; count = offset; offset += old;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(</a:t>
            </a:r>
            <a:r>
              <a:rPr lang="zh-CN" sz="1367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 : values) {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const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auto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key = </a:t>
            </a:r>
            <a:r>
              <a:rPr lang="zh-CN" sz="1367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static_cast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&lt;std::uint32_t&gt;(value) ^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0x80000000U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buffer[counts[(key &gt;&gt; shift) &amp; </a:t>
            </a:r>
            <a:r>
              <a:rPr lang="zh-CN" sz="1367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0xffU</a:t>
            </a: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]++] = value;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values.swap(buffer);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}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367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}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19 / 36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8.6.3 索引排序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150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不移动大记录，只排序一张下标表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IndexArray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445310"/>
            <a:ext cx="11058144" cy="1009497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记录下标:   0  1  2  3  4  5  6  7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关键码:    29 12 34 47 34 10 31 42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有序下标:   5  1  0  6  2  4  7  3</a:t>
            </a:r>
          </a:p>
        </p:txBody>
      </p:sp>
      <p:sp>
        <p:nvSpPr>
          <p:cNvPr id="6" name="正文"/>
          <p:cNvSpPr txBox="1"/>
          <p:nvPr/>
        </p:nvSpPr>
        <p:spPr>
          <a:xfrm>
            <a:off x="566928" y="3520847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按索引访问已经有序；必须原地重排时，再沿置换环搬记录。</a:t>
            </a:r>
          </a:p>
        </p:txBody>
      </p:sp>
      <p:sp>
        <p:nvSpPr>
          <p:cNvPr id="7" name="要点"/>
          <p:cNvSpPr txBox="1"/>
          <p:nvPr/>
        </p:nvSpPr>
        <p:spPr>
          <a:xfrm>
            <a:off x="566928" y="4034638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大记录、小关键码时，移动下标更便宜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相等键 34 的下标仍为 2、4，稳定性可明确控制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代价是按索引访问的局部性可能变差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20 / 36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8.7.1 简单排序的时间代价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graphicFrame>
        <p:nvGraphicFramePr>
          <p:cNvPr id="4" name="表"/>
          <p:cNvGraphicFramePr>
            <a:graphicFrameLocks noGrp="1"/>
          </p:cNvGraphicFramePr>
          <p:nvPr/>
        </p:nvGraphicFramePr>
        <p:xfrm>
          <a:off x="566928" y="2012188"/>
          <a:ext cx="11058144" cy="3044032"/>
        </p:xfrm>
        <a:graphic>
          <a:graphicData uri="http://schemas.openxmlformats.org/drawingml/2006/table">
            <a:tbl>
              <a:tblPr firstRow="1"/>
              <a:tblGrid>
                <a:gridCol w="1789343"/>
                <a:gridCol w="2791376"/>
                <a:gridCol w="2684015"/>
                <a:gridCol w="2451400"/>
                <a:gridCol w="1342010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算法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平均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最坏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额外空间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稳定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直接插入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O(n²)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O(n²)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Shell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O(n^(1.5))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与增量有关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否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直接选择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O(n²)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O(n²)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否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堆排序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 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 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O(1)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否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快速排序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 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O(n²)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否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归并排序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 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 log 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基数排序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O(d(n+r))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O(d(n+r))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i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O(n+r)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8A4B2A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是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21 / 36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8.7.2 理论时间与实测时间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g++ 13.3 -O2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的两组结果：</a:t>
            </a:r>
          </a:p>
        </p:txBody>
      </p:sp>
      <p:graphicFrame>
        <p:nvGraphicFramePr>
          <p:cNvPr id="5" name="表"/>
          <p:cNvGraphicFramePr>
            <a:graphicFrameLocks noGrp="1"/>
          </p:cNvGraphicFramePr>
          <p:nvPr/>
        </p:nvGraphicFramePr>
        <p:xfrm>
          <a:off x="566928" y="2476449"/>
          <a:ext cx="11058144" cy="1902520"/>
        </p:xfrm>
        <a:graphic>
          <a:graphicData uri="http://schemas.openxmlformats.org/drawingml/2006/table">
            <a:tbl>
              <a:tblPr firstRow="1"/>
              <a:tblGrid>
                <a:gridCol w="4008994"/>
                <a:gridCol w="3340829"/>
                <a:gridCol w="3708321"/>
              </a:tblGrid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输入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算法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 b="1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时间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5F4F0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5 万随机数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冒泡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5821.9 ms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5 万随机数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插入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213.5 ms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 万已有序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优化快排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105.9 ms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380504"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2 万已有序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插入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vl="0" algn="r">
                        <a:lnSpc>
                          <a:spcPct val="100000"/>
                        </a:lnSpc>
                        <a:buNone/>
                      </a:pPr>
                      <a:r>
                        <a:rPr lang="zh-CN" sz="1755" dirty="0">
                          <a:solidFill>
                            <a:srgbClr val="1A1A18"/>
                          </a:solidFill>
                          <a:latin typeface="Segoe UI"/>
                          <a:ea typeface="Noto Sans CJK SC"/>
                          <a:cs typeface="Segoe UI"/>
                        </a:rPr>
                        <a:t>约 0.0 ms</a:t>
                      </a:r>
                    </a:p>
                  </a:txBody>
                  <a:tcPr marL="45720" marR="45720" marT="27432" marB="27432" anchor="ctr">
                    <a:lnL w="9525">
                      <a:solidFill>
                        <a:srgbClr val="DCDCD6"/>
                      </a:solidFill>
                    </a:lnL>
                    <a:lnR w="9525">
                      <a:solidFill>
                        <a:srgbClr val="DCDCD6"/>
                      </a:solidFill>
                    </a:lnR>
                    <a:lnT w="9525">
                      <a:solidFill>
                        <a:srgbClr val="DCDCD6"/>
                      </a:solidFill>
                    </a:lnT>
                    <a:lnB w="9525">
                      <a:solidFill>
                        <a:srgbClr val="DCDCD6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正文"/>
          <p:cNvSpPr txBox="1"/>
          <p:nvPr/>
        </p:nvSpPr>
        <p:spPr>
          <a:xfrm>
            <a:off x="566928" y="449453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同为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Θ(n²)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可以差 27 倍；近乎有序时，插入甚至胜过退化快排。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4958800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渐进阶先排除不合格算法，实测再决定常数与工作负载。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22 / 36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8.7.3 比较排序的下限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pic>
        <p:nvPicPr>
          <p:cNvPr id="4" name="图 8.14 用判定树模拟基于比较的排序"/>
          <p:cNvPicPr>
            <a:picLocks noChangeAspect="1"/>
          </p:cNvPicPr>
          <p:nvPr/>
        </p:nvPicPr>
        <p:blipFill>
          <a:blip r:embed="rId100"/>
          <a:stretch>
            <a:fillRect/>
          </a:stretch>
        </p:blipFill>
        <p:spPr>
          <a:xfrm>
            <a:off x="3185560" y="1229106"/>
            <a:ext cx="5820880" cy="4684757"/>
          </a:xfrm>
          <a:prstGeom prst="rect">
            <a:avLst/>
          </a:prstGeom>
        </p:spPr>
      </p:pic>
      <p:sp>
        <p:nvSpPr>
          <p:cNvPr id="5" name="图注"/>
          <p:cNvSpPr txBox="1"/>
          <p:nvPr/>
        </p:nvSpPr>
        <p:spPr>
          <a:xfrm>
            <a:off x="566928" y="5942818"/>
            <a:ext cx="11058144" cy="28805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1424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图 8.14 用判定树模拟基于比较的排序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23 / 36</a:t>
            </a:r>
          </a:p>
        </p:txBody>
      </p:sp>
    </p:spTree>
  </p:cSld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8.7.3 比较排序的下限（续）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个互异元素有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n!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种排列；一次二元比较最多把候选情况分成两半。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2410409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判定树至少有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n!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个叶子，因此高度至少：</a:t>
            </a:r>
          </a:p>
        </p:txBody>
      </p:sp>
      <p:sp>
        <p:nvSpPr>
          <p:cNvPr id="6" name="公式"/>
          <p:cNvSpPr txBox="1"/>
          <p:nvPr/>
        </p:nvSpPr>
        <p:spPr>
          <a:xfrm>
            <a:off x="566928" y="2957220"/>
            <a:ext cx="11058144" cy="442468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ctr">
              <a:lnSpc>
                <a:spcPct val="100000"/>
              </a:lnSpc>
              <a:buNone/>
            </a:pPr>
            <a:r>
              <a:rPr lang="zh-CN" sz="260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⌈log₂(n!)⌉ = Ω(n log n)</a:t>
            </a:r>
          </a:p>
        </p:txBody>
      </p:sp>
      <p:sp>
        <p:nvSpPr>
          <p:cNvPr id="7" name="正文"/>
          <p:cNvSpPr txBox="1"/>
          <p:nvPr/>
        </p:nvSpPr>
        <p:spPr>
          <a:xfrm>
            <a:off x="566928" y="348223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这限制的是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只靠比较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的排序。桶式与基数利用关键码结构， 不在这个模型里，所以能达到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O(n+r)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或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O(d(n+r))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24 / 36</a:t>
            </a:r>
          </a:p>
        </p:txBody>
      </p:sp>
    </p:spTree>
  </p:cSld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怎么选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2888586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一般情况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：快排（三者取中 + 小区间插入排序）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要稳定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：归并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最坏也不能退化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（实时系统）：堆排序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数据近乎有序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：插入排序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关键码是小范围整数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：桶式 / 基数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数据放不进内存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：第 9 章的外排序</a:t>
            </a:r>
          </a:p>
        </p:txBody>
      </p:sp>
      <p:sp>
        <p:nvSpPr>
          <p:cNvPr id="5" name="正文"/>
          <p:cNvSpPr txBox="1"/>
          <p:nvPr/>
        </p:nvSpPr>
        <p:spPr>
          <a:xfrm>
            <a:off x="566928" y="4950304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没有一个算法在所有维度上都最好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——这是本章真正要传达的。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25 / 36</a:t>
            </a:r>
          </a:p>
        </p:txBody>
      </p:sp>
    </p:spTree>
  </p:cSld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课堂讲解卡：排序选择取决于约束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先问三个问题：数据能否全部放入内存？是否要求稳定？关键字是否有额外结构？答案决定比较排序、外排序或分配排序。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26 / 36</a:t>
            </a:r>
          </a:p>
        </p:txBody>
      </p:sp>
    </p:spTree>
  </p:cSld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课堂例题：同一组数据的三种路径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对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5, 2, 4, 2, 1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：插入排序展示“局部有序”，快排展示分区，归并排序展示稳定合并；记录两个相同的 2 来观察稳定性。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27 / 36</a:t>
            </a:r>
          </a:p>
        </p:txBody>
      </p:sp>
    </p:spTree>
  </p:cSld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课堂例题答案：排序路径对照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插入排序逐步扩大左侧有序区；快排先分区，稳定性取决于实现；归并排序在相等时取左即可稳定。三者都得到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1,2,2,4,5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，但中间状态、最坏代价和空间不同。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28 / 36</a:t>
            </a:r>
          </a:p>
        </p:txBody>
      </p:sp>
    </p:spTree>
  </p:cSld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快排最坏情况来自什么输入和选点策略？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堆排序为什么不稳定但保证 O(n log n)？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归并排序的额外空间换来了什么性质？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基数排序何时能绕开比较模型下界？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29 / 36</a:t>
            </a:r>
          </a:p>
        </p:txBody>
      </p:sp>
    </p:spTree>
  </p:cSld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课末自检参考答案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19257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固定端点枢轴遇到已排序输入时快排可能 O(n²)。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堆排序保证 O(n log n) 且原地，但不稳定。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归并用 O(n) 辅助空间换取稳定的 O(n log n)。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关键字可拆成有限位并稳定分配时，基数排序可绕开比较下界。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30 / 36</a:t>
            </a:r>
          </a:p>
        </p:txBody>
      </p:sp>
    </p:spTree>
  </p:cSld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状态演算：归并排序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序列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[5,2,4,2]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先分成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[5,2]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[4,2]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，各自排成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[2,5]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、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[2,4]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，再用双指针合并为 </a:t>
            </a:r>
            <a:r>
              <a:rPr lang="zh-CN" sz="234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[2,2,4,5]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31 / 36</a:t>
            </a:r>
          </a:p>
        </p:txBody>
      </p:sp>
    </p:spTree>
  </p:cSld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反例：合并时相等取右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398221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两个键相等时若总取右边元素，带卫星数据的记录可能交换，归并排序就不再稳定。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32 / 36</a:t>
            </a:r>
          </a:p>
        </p:txBody>
      </p:sp>
    </p:spTree>
  </p:cSld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课堂练习与答案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946148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课堂练习：说明快排、堆排、归并的稳定性。答案：标准快排和堆排通常不稳定，归并可通过相等取左保持稳定。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33 / 36</a:t>
            </a:r>
          </a:p>
        </p:txBody>
      </p:sp>
    </p:spTree>
  </p:cSld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Python 算法轨：同一排序的可执行对照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正文"/>
          <p:cNvSpPr txBox="1"/>
          <p:nvPr/>
        </p:nvSpPr>
        <p:spPr>
          <a:xfrm>
            <a:off x="566928" y="1380744"/>
            <a:ext cx="11058144" cy="796442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插入、堆、快排、归并、计数和基数排序都有 Python 实现；固定容量桶和环形队列等存储细节仍由 C++ 版本承担。</a:t>
            </a:r>
          </a:p>
        </p:txBody>
      </p:sp>
      <p:sp>
        <p:nvSpPr>
          <p:cNvPr id="5" name="代码"/>
          <p:cNvSpPr txBox="1"/>
          <p:nvPr/>
        </p:nvSpPr>
        <p:spPr>
          <a:xfrm>
            <a:off x="566928" y="2309266"/>
            <a:ext cx="11058144" cy="3703929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216" dirty="0">
                <a:solidFill>
                  <a:srgbClr val="6B6B66"/>
                </a:solidFill>
                <a:latin typeface="Noto Sans Mono CJK SC"/>
                <a:ea typeface="Noto Sans Mono CJK SC"/>
                <a:cs typeface="Noto Sans Mono CJK SC"/>
              </a:rPr>
              <a:t>code/ch08/sorting/modern.py#insertion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# 算法8.1：直接插入排序。相等元素不越过彼此，故稳定。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def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insertion_sort(values: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list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[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int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]) -&gt;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None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for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index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in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range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, </a:t>
            </a:r>
            <a:r>
              <a:rPr lang="zh-CN" sz="1560" dirty="0">
                <a:solidFill>
                  <a:srgbClr val="2C6B57"/>
                </a:solidFill>
                <a:latin typeface="Noto Sans Mono CJK SC"/>
                <a:ea typeface="Noto Sans Mono CJK SC"/>
                <a:cs typeface="Noto Sans Mono CJK SC"/>
              </a:rPr>
              <a:t>len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(values)):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value = values[index]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hole = index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# `hole &gt; 0` 这个条件在 Python 里是**承重的**，不是防御性写法：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# C++ 版越界会被 ASan 当场抓住，Python 的 values[-1] 却合法——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8A84"/>
                </a:solidFill>
                <a:latin typeface="Noto Sans Mono CJK SC"/>
                <a:ea typeface="Noto Sans Mono CJK SC"/>
                <a:cs typeface="Noto Sans Mono CJK SC"/>
              </a:rPr>
              <a:t># 它悄悄环绕到最后一个元素，把排序结果搅乱而不报任何错。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while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hole &gt;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0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</a:t>
            </a:r>
            <a:r>
              <a:rPr lang="zh-CN" sz="1560" dirty="0">
                <a:solidFill>
                  <a:srgbClr val="8A4B2A"/>
                </a:solidFill>
                <a:latin typeface="Noto Sans Mono CJK SC"/>
                <a:ea typeface="Noto Sans Mono CJK SC"/>
                <a:cs typeface="Noto Sans Mono CJK SC"/>
              </a:rPr>
              <a:t>and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value &lt; values[hole -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]: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values[hole] = values[hole -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]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    hole -= </a:t>
            </a:r>
            <a:r>
              <a:rPr lang="zh-CN" sz="1560" dirty="0">
                <a:solidFill>
                  <a:srgbClr val="4A5AA8"/>
                </a:solidFill>
                <a:latin typeface="Noto Sans Mono CJK SC"/>
                <a:ea typeface="Noto Sans Mono CJK SC"/>
                <a:cs typeface="Noto Sans Mono CJK SC"/>
              </a:rPr>
              <a:t>1</a:t>
            </a:r>
          </a:p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        values[hole] = value</a:t>
            </a:r>
          </a:p>
        </p:txBody>
      </p:sp>
      <p:sp>
        <p:nvSpPr>
          <p:cNvPr id="6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7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34 / 36</a:t>
            </a:r>
          </a:p>
        </p:txBody>
      </p:sp>
    </p:spTree>
  </p:cSld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本章小结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要点"/>
          <p:cNvSpPr txBox="1"/>
          <p:nvPr/>
        </p:nvSpPr>
        <p:spPr>
          <a:xfrm>
            <a:off x="566928" y="1995678"/>
            <a:ext cx="11058144" cy="3370017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稳定性在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多字段排序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时是刚需，不是可有可无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插入排序对近乎有序的输入是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，所以常被用作收尾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堆排序靠第 5 章的堆；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建堆 </a:t>
            </a:r>
            <a:r>
              <a:rPr lang="zh-CN" sz="2340" dirty="0" b="1" i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，总代价里的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log n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来自取最大值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快排的最坏是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O(n²)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，靠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取轴策略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和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对短半边递归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避开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归并稳定、最坏有保证，代价是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O(n)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 额外空间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比较模型的下界是 </a:t>
            </a:r>
            <a:r>
              <a:rPr lang="zh-CN" sz="2340" dirty="0" i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Ω(n log n)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；要更快只能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不比较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基数排序必须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从低位到高位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，且每轮必须稳定</a:t>
            </a:r>
          </a:p>
        </p:txBody>
      </p:sp>
      <p:sp>
        <p:nvSpPr>
          <p:cNvPr id="5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6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35 / 36</a:t>
            </a:r>
          </a:p>
        </p:txBody>
      </p:sp>
    </p:spTree>
  </p:cSld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"/>
          <p:cNvSpPr txBox="1"/>
          <p:nvPr/>
        </p:nvSpPr>
        <p:spPr>
          <a:xfrm>
            <a:off x="566928" y="384048"/>
            <a:ext cx="11058144" cy="48768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3200" dirty="0" b="1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上机</a:t>
            </a:r>
          </a:p>
        </p:txBody>
      </p:sp>
      <p:sp>
        <p:nvSpPr>
          <p:cNvPr id="3" name="标题线"/>
          <p:cNvSpPr/>
          <p:nvPr/>
        </p:nvSpPr>
        <p:spPr>
          <a:xfrm>
            <a:off x="566928" y="935736"/>
            <a:ext cx="11058144" cy="32004"/>
          </a:xfrm>
          <a:prstGeom prst="rect">
            <a:avLst/>
          </a:prstGeom>
          <a:solidFill>
            <a:srgbClr val="8A4B2A"/>
          </a:solidFill>
          <a:ln>
            <a:noFill/>
          </a:ln>
        </p:spPr>
        <p:txBody>
          <a:bodyPr/>
          <a:lstStyle/>
          <a:p/>
        </p:txBody>
      </p:sp>
      <p:sp>
        <p:nvSpPr>
          <p:cNvPr id="4" name="代码"/>
          <p:cNvSpPr txBox="1"/>
          <p:nvPr/>
        </p:nvSpPr>
        <p:spPr>
          <a:xfrm>
            <a:off x="566928" y="2012188"/>
            <a:ext cx="11058144" cy="470611"/>
          </a:xfrm>
          <a:prstGeom prst="roundRect">
            <a:avLst>
              <a:gd name="adj" fmla="val 6000"/>
            </a:avLst>
          </a:prstGeom>
          <a:solidFill>
            <a:srgbClr val="F5F4F0"/>
          </a:solidFill>
          <a:ln w="9525">
            <a:solidFill>
              <a:srgbClr val="DCDCD6"/>
            </a:solidFill>
          </a:ln>
        </p:spPr>
        <p:txBody>
          <a:bodyPr wrap="square" lIns="100584" tIns="100584" rIns="100584" bIns="100584">
            <a:noAutofit/>
          </a:bodyPr>
          <a:lstStyle/>
          <a:p>
            <a:pPr marL="0" indent="0" lvl="0">
              <a:lnSpc>
                <a:spcPct val="104000"/>
              </a:lnSpc>
              <a:buNone/>
            </a:pPr>
            <a:r>
              <a:rPr lang="zh-CN" sz="1560" dirty="0">
                <a:solidFill>
                  <a:srgbClr val="1A1A18"/>
                </a:solidFill>
                <a:latin typeface="Noto Sans Mono CJK SC"/>
                <a:ea typeface="Noto Sans Mono CJK SC"/>
                <a:cs typeface="Noto Sans Mono CJK SC"/>
              </a:rPr>
              <a:t>python3 tools/check_code.py code/ch08/sorting</a:t>
            </a:r>
          </a:p>
        </p:txBody>
      </p:sp>
      <p:sp>
        <p:nvSpPr>
          <p:cNvPr id="5" name="要点"/>
          <p:cNvSpPr txBox="1"/>
          <p:nvPr/>
        </p:nvSpPr>
        <p:spPr>
          <a:xfrm>
            <a:off x="566928" y="2598369"/>
            <a:ext cx="11058144" cy="1444293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用随机、已排序、逆序、全相等、含负数五组输入对拍所有算法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把基数排序改成从</a:t>
            </a:r>
            <a:r>
              <a:rPr lang="zh-CN" sz="2340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高位</a:t>
            </a: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到低位，看结果错在哪</a:t>
            </a:r>
          </a:p>
          <a:p>
            <a:pPr marL="270000" indent="-230000" lvl="0">
              <a:lnSpc>
                <a:spcPct val="100000"/>
              </a:lnSpc>
              <a:spcBef>
                <a:spcPts val="655"/>
              </a:spcBef>
              <a:buClr>
                <a:srgbClr val="8A4B2A"/>
              </a:buClr>
              <a:buFont typeface="Arial"/>
              <a:buChar char="●"/>
            </a:pPr>
            <a:r>
              <a:rPr lang="zh-CN" sz="2340" dirty="0">
                <a:solidFill>
                  <a:srgbClr val="1A1A18"/>
                </a:solidFill>
                <a:latin typeface="Segoe UI"/>
                <a:ea typeface="Noto Sans CJK SC"/>
                <a:cs typeface="Segoe UI"/>
              </a:rPr>
              <a:t>给快排喂一个已排序的输入，量一下递归深度</a:t>
            </a:r>
          </a:p>
        </p:txBody>
      </p:sp>
      <p:sp>
        <p:nvSpPr>
          <p:cNvPr id="6" name="引用线"/>
          <p:cNvSpPr/>
          <p:nvPr/>
        </p:nvSpPr>
        <p:spPr>
          <a:xfrm>
            <a:off x="566928" y="4174742"/>
            <a:ext cx="32004" cy="803224"/>
          </a:xfrm>
          <a:prstGeom prst="rect">
            <a:avLst/>
          </a:prstGeom>
          <a:solidFill>
            <a:srgbClr val="DCDCD6"/>
          </a:solidFill>
          <a:ln>
            <a:noFill/>
          </a:ln>
        </p:spPr>
        <p:txBody>
          <a:bodyPr/>
          <a:lstStyle/>
          <a:p/>
        </p:txBody>
      </p:sp>
      <p:sp>
        <p:nvSpPr>
          <p:cNvPr id="7" name="引用"/>
          <p:cNvSpPr txBox="1"/>
          <p:nvPr/>
        </p:nvSpPr>
        <p:spPr>
          <a:xfrm>
            <a:off x="694944" y="4174742"/>
            <a:ext cx="10820400" cy="803224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测试里所有排序算法</a:t>
            </a:r>
            <a:r>
              <a:rPr lang="zh-CN" sz="2145" dirty="0" b="1">
                <a:solidFill>
                  <a:srgbClr val="8A4B2A"/>
                </a:solidFill>
                <a:latin typeface="Segoe UI"/>
                <a:ea typeface="Noto Sans CJK SC"/>
                <a:cs typeface="Segoe UI"/>
              </a:rPr>
              <a:t>互相对拍</a:t>
            </a:r>
            <a:r>
              <a:rPr lang="zh-CN" sz="2145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：同一组输入必须给出同样的结果， 稳定的那几个还要额外验证稳定性。</a:t>
            </a:r>
          </a:p>
        </p:txBody>
      </p:sp>
      <p:sp>
        <p:nvSpPr>
          <p:cNvPr id="8" name="页脚"/>
          <p:cNvSpPr txBox="1"/>
          <p:nvPr/>
        </p:nvSpPr>
        <p:spPr>
          <a:xfrm>
            <a:off x="566928" y="6419088"/>
            <a:ext cx="7740700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第8章 内排序</a:t>
            </a:r>
          </a:p>
        </p:txBody>
      </p:sp>
      <p:sp>
        <p:nvSpPr>
          <p:cNvPr id="9" name="页码"/>
          <p:cNvSpPr txBox="1"/>
          <p:nvPr/>
        </p:nvSpPr>
        <p:spPr>
          <a:xfrm>
            <a:off x="8307628" y="6419088"/>
            <a:ext cx="3317443" cy="27432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marL="0" indent="0" lvl="0" algn="r">
              <a:lnSpc>
                <a:spcPct val="100000"/>
              </a:lnSpc>
              <a:buNone/>
            </a:pPr>
            <a:r>
              <a:rPr lang="zh-CN" sz="1000" dirty="0">
                <a:solidFill>
                  <a:srgbClr val="6B6B66"/>
                </a:solidFill>
                <a:latin typeface="Segoe UI"/>
                <a:ea typeface="Noto Sans CJK SC"/>
                <a:cs typeface="Segoe UI"/>
              </a:rPr>
              <a:t>36 / 36</a:t>
            </a:r>
          </a:p>
        </p:txBody>
      </p:sp>
    </p:spTree>
  </p:cSld>
</p:sld>
</file>

<file path=ppt/theme/theme1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dsa">
  <a:themeElements>
    <a:clrScheme name="dsa">
      <a:dk1>
        <a:sysClr val="windowText" lastClr="000000"/>
      </a:dk1>
      <a:lt1>
        <a:sysClr val="window" lastClr="FFFFFF"/>
      </a:lt1>
      <a:dk2>
        <a:srgbClr val="1A1A18"/>
      </a:dk2>
      <a:lt2>
        <a:srgbClr val="FDFDFC"/>
      </a:lt2>
      <a:accent1>
        <a:srgbClr val="8A4B2A"/>
      </a:accent1>
      <a:accent2>
        <a:srgbClr val="2C6B57"/>
      </a:accent2>
      <a:accent3>
        <a:srgbClr val="7A5C1E"/>
      </a:accent3>
      <a:accent4>
        <a:srgbClr val="4A5AA8"/>
      </a:accent4>
      <a:accent5>
        <a:srgbClr val="6B6B66"/>
      </a:accent5>
      <a:accent6>
        <a:srgbClr val="DCDCD6"/>
      </a:accent6>
      <a:hlink>
        <a:srgbClr val="8A4B2A"/>
      </a:hlink>
      <a:folHlink>
        <a:srgbClr val="6B6B66"/>
      </a:folHlink>
    </a:clrScheme>
    <a:fontScheme name="dsa">
      <a:majorFont>
        <a:latin typeface="Segoe UI"/>
        <a:ea typeface="Noto Sans CJK SC"/>
        <a:cs typeface=""/>
      </a:majorFont>
      <a:minorFont>
        <a:latin typeface="Segoe UI"/>
        <a:ea typeface="Noto Sans CJK SC"/>
        <a:cs typeface=""/>
      </a:minorFont>
    </a:fontScheme>
    <a:fmtScheme name="dsa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  <a:ln w="63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dsa-modernization/tools/build_pptx.py</Application>
  <Slides>36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第8章 内排序</dc:title>
  <dc:creator>dsa-modernization</dc:creator>
  <cp:revision>1</cp:revision>
</cp:coreProperties>
</file>