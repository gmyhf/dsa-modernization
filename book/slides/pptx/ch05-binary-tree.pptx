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强调「分左右」：只有一个孩子时，它是左孩子还是右孩子是不同的树。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这与第 6 章的一般树不同，那里孩子之间没有左右之分（只有次序）。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先留个悬念：完全二叉树可以按层次次序压进一个数组，父子关系变成下标算术，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一根指针都不用。这就是 5.5 节堆的基础。</a:t>
            </a:r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让学生对着图 5.5 报三遍答案。报错的多半是把「访问」和「走进去」混了。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可以提示：三个函数的代码一模一样，只差 visit 那一行的位置。</a:t>
            </a:r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可以问：为什么不能用递归做层次周游？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答案：递归天然是深度优先的，层次周游需要「跨子树」的次序，必须显式队列。</a:t>
            </a:r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create_tree 里那两句置空是考点：两棵子树的所有权转移给新树，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传进来的那两棵随即变空。不置空的话同一批结点会被两棵树各删一次，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ASan 当场报 double-free。教学版测试专门守着这一条。</a:t>
            </a:r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这段是递归的。代价是递归深度等于树高——退化成一条链的树会把运行栈压穿。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本机实测：纯左链 100 万结点，递归 destroy 段错误。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工程版改成了迭代（右旋拉直再沿右链删），见书稿 5.6a。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教学版保留递归，因为形状和定义一致，是这一章的正题。</a:t>
            </a:r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这个手法在 C 系语言里很经典，值得单独讲两分钟。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学生第一次见往往懵，可以画一下：link 指向的是 root_ 这个变量本身，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而不是 root_ 指向的结点。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重复键返回 false——那是可预期状态，不是错误。</a:t>
            </a:r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这一条我第一版的测试没盖到：前一步已经把 20 删了，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被删的 30 反而落进「无左孩子」分支，根本没走到这一路。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补了一棵专门的树（删 50，前驱 45 带左孩子 42）才钉住。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现场可以演示：去掉那一句，测试从「全绿」变成「ASan 栈溢出」。</a:t>
            </a:r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为什么搬最后一个上来？因为只有拿掉最后一个位置，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剩下的才仍然是一棵完全二叉树。这是「完全」这个条件在还债。</a:t>
            </a:r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实际后果：第 8 章堆排序总代价 O(n log n)，那个 log n 全部来自后面 n 次取最小值，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建堆那一步是白送的。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反过来，一个个 insert 建堆是 O(n log n)，就把这份便宜丢掉了。</a:t>
            </a:r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教学版的测试把 30 这个数字直接写成断言：合并时若取的不是最小的两个，它立刻变红。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可以现场改一下。</a:t>
            </a:r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压缩的收益完全来自频率的不均匀。这一条教学版测试里也有断言。</a:t>
            </a:r>
          </a:p>
        </p:txBody>
      </p:sp>
    </p:spTree>
  </p:cSld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最后一条是真实的边界，不是抠字眼：一个字符的树，编码是空串就没法传。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实现见 code/ch05/heap_huffman/teaching.hpp 的 decode。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100" Type="http://schemas.openxmlformats.org/officeDocument/2006/relationships/image" Target="../media/image1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100" Type="http://schemas.openxmlformats.org/officeDocument/2006/relationships/image" Target="../media/image2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100" Type="http://schemas.openxmlformats.org/officeDocument/2006/relationships/image" Target="../media/image3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4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100" Type="http://schemas.openxmlformats.org/officeDocument/2006/relationships/image" Target="../media/image5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6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7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8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9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0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1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2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40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3" name="标题线"/>
          <p:cNvSpPr/>
          <p:nvPr/>
        </p:nvSpPr>
        <p:spPr>
          <a:xfrm>
            <a:off x="4216116" y="1057656"/>
            <a:ext cx="3759768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副标题"/>
          <p:cNvSpPr txBox="1"/>
          <p:nvPr/>
        </p:nvSpPr>
        <p:spPr>
          <a:xfrm>
            <a:off x="566928" y="2419286"/>
            <a:ext cx="11058144" cy="3318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数据结构与算法：Python 讲可迁移算法，C++ 讲存储与工程实现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878137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每个结点最多两个孩子，而且分左右。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273361"/>
            <a:ext cx="11058144" cy="148132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周游：以什么顺序访问全部结点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二叉搜索树：加上「左小右大」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堆：把最小值放在根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Huffman 树：不断合并两个最小权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805489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一条主线：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递归的结构，用递归的算法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 / 41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5.1 定义与五种基本形态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789046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二叉树由结点的有限集合构成：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或者为空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或者由一个根结点和两棵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不相交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的左、右子树组成。</a:t>
            </a:r>
          </a:p>
        </p:txBody>
      </p:sp>
      <p:pic>
        <p:nvPicPr>
          <p:cNvPr id="5" name="图 5.1 二叉树的 5 种基本形态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2717568"/>
            <a:ext cx="11058144" cy="2067783"/>
          </a:xfrm>
          <a:prstGeom prst="rect">
            <a:avLst/>
          </a:prstGeom>
        </p:spPr>
      </p:pic>
      <p:sp>
        <p:nvSpPr>
          <p:cNvPr id="6" name="图注"/>
          <p:cNvSpPr txBox="1"/>
          <p:nvPr/>
        </p:nvSpPr>
        <p:spPr>
          <a:xfrm>
            <a:off x="566928" y="4818371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5.1 二叉树的 5 种基本形态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20667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这是一个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递归定义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——后面几乎所有算法都直接照着它写。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 / 41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满二叉树与完全二叉树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5.2 满二叉树和完全二叉树示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214713"/>
            <a:ext cx="11058144" cy="3730999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968064"/>
            <a:ext cx="11058144" cy="2329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1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图5.2 满二叉树和完全二叉树示例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5279214"/>
            <a:ext cx="11058144" cy="6517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44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满二叉树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：每个结点的度非 0 即 2（没有只有一个孩子的结点）</a:t>
            </a:r>
          </a:p>
          <a:p>
            <a:pPr marL="270000" indent="-230000" lvl="0">
              <a:lnSpc>
                <a:spcPct val="100000"/>
              </a:lnSpc>
              <a:spcBef>
                <a:spcPts val="44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完全二叉树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：除最下两层外每层排满，最下层结点集中在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左边连续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位置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975702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完全二叉树这个条件看着别扭，但它换来一件大事——见 5.3 节。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 / 41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5.1.3 三条要用到的性质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性质 3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：叶结点数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n₀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= 度为 2 的结点数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n₂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加 1。</a:t>
            </a:r>
          </a:p>
        </p:txBody>
      </p:sp>
      <p:sp>
        <p:nvSpPr>
          <p:cNvPr id="5" name="引用线"/>
          <p:cNvSpPr/>
          <p:nvPr/>
        </p:nvSpPr>
        <p:spPr>
          <a:xfrm>
            <a:off x="566928" y="2476449"/>
            <a:ext cx="32004" cy="1168260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引用"/>
          <p:cNvSpPr txBox="1"/>
          <p:nvPr/>
        </p:nvSpPr>
        <p:spPr>
          <a:xfrm>
            <a:off x="694944" y="2476449"/>
            <a:ext cx="10820400" cy="11682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证明：设结点总数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n = n₀ + n₁ + n₂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。 换个角度数边：除根外每个结点恰有一条边进入，所以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e = n - 1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； 而边都从度 1 或 2 的结点射出，所以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e = n₁ + 2n₂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。 两式合并即得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n₀ = n₂ + 1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71074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性质 4（满二叉树定理）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：非空满二叉树的树叶数 = 分支结点数 + 1。</a:t>
            </a:r>
          </a:p>
        </p:txBody>
      </p:sp>
      <p:sp>
        <p:nvSpPr>
          <p:cNvPr id="8" name="引用线"/>
          <p:cNvSpPr/>
          <p:nvPr/>
        </p:nvSpPr>
        <p:spPr>
          <a:xfrm>
            <a:off x="566928" y="4241050"/>
            <a:ext cx="32004" cy="438188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9" name="引用"/>
          <p:cNvSpPr txBox="1"/>
          <p:nvPr/>
        </p:nvSpPr>
        <p:spPr>
          <a:xfrm>
            <a:off x="694944" y="4241050"/>
            <a:ext cx="10820400" cy="4381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满二叉树里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n₁ = 0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，由性质 3 直接得出。</a:t>
            </a:r>
          </a:p>
        </p:txBody>
      </p:sp>
      <p:sp>
        <p:nvSpPr>
          <p:cNvPr id="10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11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 / 41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性质 5：一棵 n 结点的树里有 n+1 个空指针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满二叉树定理推论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：非空二叉树的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空子树数目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= 结点数 + 1。</a:t>
            </a:r>
          </a:p>
        </p:txBody>
      </p:sp>
      <p:sp>
        <p:nvSpPr>
          <p:cNvPr id="5" name="引用线"/>
          <p:cNvSpPr/>
          <p:nvPr/>
        </p:nvSpPr>
        <p:spPr>
          <a:xfrm>
            <a:off x="566928" y="2476449"/>
            <a:ext cx="32004" cy="1168260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6" name="引用"/>
          <p:cNvSpPr txBox="1"/>
          <p:nvPr/>
        </p:nvSpPr>
        <p:spPr>
          <a:xfrm>
            <a:off x="694944" y="2476449"/>
            <a:ext cx="10820400" cy="11682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证明：把所有空子树换成树叶，得到扩充二叉树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T'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。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T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原来的每个结点在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T'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里都成了分支结点。 由满二叉树定理，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T'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的树叶数 = 分支数 + 1 =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T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的结点数 + 1。 每片新叶恰对应 </a:t>
            </a:r>
            <a:r>
              <a:rPr lang="zh-CN" sz="2145" dirty="0" i="1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T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的一棵空子树。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71074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这不是纸面游戏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：链式存储时这些空指针占的空间和结点本身同阶。 线索二叉树、Trie 压缩、第 12 章 PATRICIA 的动机都从这里来。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4573231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线索二叉树（threaded binary tree）是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经典教材表示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，适合低额外空间遍历的专门场景；通用库通常使用显式栈、父指针或迭代器，不把线索化作为默认表示。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5 / 41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5.2 周游：三种深度优先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171195"/>
            <a:ext cx="11058144" cy="3492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“周游”是中文数据结构教材的传统说法，现代资料通常直接说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遍历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（traversal）。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1578315"/>
            <a:ext cx="11058144" cy="3492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访问根、走左子树、走右子树——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三件事的次序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决定了三种周游：</a:t>
            </a:r>
          </a:p>
        </p:txBody>
      </p:sp>
      <p:graphicFrame>
        <p:nvGraphicFramePr>
          <p:cNvPr id="6" name="表"/>
          <p:cNvGraphicFramePr>
            <a:graphicFrameLocks noGrp="1"/>
          </p:cNvGraphicFramePr>
          <p:nvPr/>
        </p:nvGraphicFramePr>
        <p:xfrm>
          <a:off x="566928" y="2043346"/>
          <a:ext cx="11058144" cy="1365480"/>
        </p:xfrm>
        <a:graphic>
          <a:graphicData uri="http://schemas.openxmlformats.org/drawingml/2006/table">
            <a:tbl>
              <a:tblPr firstRow="1"/>
              <a:tblGrid>
                <a:gridCol w="3489981"/>
                <a:gridCol w="7568163"/>
              </a:tblGrid>
              <a:tr h="341370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538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次序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538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名字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41370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53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根 左 右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538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前序</a:t>
                      </a:r>
                      <a:r>
                        <a:rPr lang="zh-CN" sz="153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(preorder)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1370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53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左 根 右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538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中序</a:t>
                      </a:r>
                      <a:r>
                        <a:rPr lang="zh-CN" sz="153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(inorder)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1370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53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左 右 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538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后序</a:t>
                      </a:r>
                      <a:r>
                        <a:rPr lang="zh-CN" sz="153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(postorder)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图 5.5 二叉树示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567688" y="3568082"/>
            <a:ext cx="3056623" cy="2345781"/>
          </a:xfrm>
          <a:prstGeom prst="rect">
            <a:avLst/>
          </a:prstGeom>
        </p:spPr>
      </p:pic>
      <p:sp>
        <p:nvSpPr>
          <p:cNvPr id="8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5.5 二叉树示例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6 / 41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三种周游的代码只差一行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78486"/>
            <a:ext cx="11058144" cy="209003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code/ch05/binary_tree/teaching.hpp#fn:BinaryTree::preorder_impl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template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&lt;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typename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Visitor&gt;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preorder_impl(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Node* node, Visitor&amp; visit)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 ==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visit(node-&gt;value);              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根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preorder_impl(node-&gt;left, visit);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左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preorder_impl(node-&gt;right, visit);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右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3584341"/>
            <a:ext cx="11058144" cy="209003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code/ch05/binary_tree/teaching.hpp#fn:BinaryTree::inorder_impl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template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&lt;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typename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Visitor&gt;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inorder_impl(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Node* node, Visitor&amp; visit)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 ==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inorder_impl(node-&gt;left, visit); 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左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visit(node-&gt;value);              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根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inorder_impl(node-&gt;right, visit);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右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732285"/>
            <a:ext cx="11058144" cy="3492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形状和定义一样，一眼就能对上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——这正是递归在这一章的价值。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7 / 41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广度优先：一层一层来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深度优先靠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栈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（这里是递归用的运行栈），广度优先靠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队列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154838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把根入队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只要队列非空: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出队一个结点, 访问它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它的左孩子入队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它的右孩子入队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09087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对图 5.5 那棵树，得到的次序是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逐层从左到右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555134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完整实现在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code/ch05/binary_tree/teaching.hpp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level_order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里面那条极简链式队列是现写的，因为第 3 章讲过了。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8 / 41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表达式树：周游的一个用途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6 表达式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421276" y="1333578"/>
            <a:ext cx="3349447" cy="2987344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343274"/>
            <a:ext cx="11058144" cy="2329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1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5.6 表达式树</a:t>
            </a:r>
          </a:p>
        </p:txBody>
      </p:sp>
      <p:graphicFrame>
        <p:nvGraphicFramePr>
          <p:cNvPr id="6" name="表"/>
          <p:cNvGraphicFramePr>
            <a:graphicFrameLocks noGrp="1"/>
          </p:cNvGraphicFramePr>
          <p:nvPr/>
        </p:nvGraphicFramePr>
        <p:xfrm>
          <a:off x="566928" y="4665600"/>
          <a:ext cx="11058144" cy="1113004"/>
        </p:xfrm>
        <a:graphic>
          <a:graphicData uri="http://schemas.openxmlformats.org/drawingml/2006/table">
            <a:tbl>
              <a:tblPr firstRow="1"/>
              <a:tblGrid>
                <a:gridCol w="2369602"/>
                <a:gridCol w="8688542"/>
              </a:tblGrid>
              <a:tr h="278251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188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周游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188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得到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278251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18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前序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188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前缀</a:t>
                      </a:r>
                      <a:r>
                        <a:rPr lang="zh-CN" sz="118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表达式（波兰式）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8251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18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中序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18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中缀表达式（缺括号）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8251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18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后序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188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后缀</a:t>
                      </a:r>
                      <a:r>
                        <a:rPr lang="zh-CN" sz="1188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表达式（逆波兰式）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正文"/>
          <p:cNvSpPr txBox="1"/>
          <p:nvPr/>
        </p:nvSpPr>
        <p:spPr>
          <a:xfrm>
            <a:off x="566928" y="5856836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3 章那个后缀求值器，吃的就是这棵树后序周游的结果。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9 / 41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5.3 存储结构：二叉链表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7 二叉树结点的存储结构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233014"/>
            <a:ext cx="11058144" cy="1562024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2822216"/>
            <a:ext cx="11058144" cy="27325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337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5.7 二叉树结点的存储结构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149822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一个数据域、两根链接。没有孩子就是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比原书用一个「空结点」表示要省事得多。</a:t>
            </a:r>
          </a:p>
        </p:txBody>
      </p:sp>
      <p:sp>
        <p:nvSpPr>
          <p:cNvPr id="7" name="代码"/>
          <p:cNvSpPr txBox="1"/>
          <p:nvPr/>
        </p:nvSpPr>
        <p:spPr>
          <a:xfrm>
            <a:off x="566928" y="3586300"/>
            <a:ext cx="11058144" cy="2640665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code/ch05/binary_tree/teaching.hpp#fn:create_tree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造一棵新树：一个根，接上左右两棵子树。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两棵子树的所有权**转移**给新树——传进来的那两棵随即变空，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否则同一批结点会被两棵树各删一次。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create_tree(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T&amp; value, BinaryTree&amp; left, BinaryTree&amp; right)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Node* fresh =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Node{value, left.root_, right.root_};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left.root_ =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right.root_ =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clear();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root_ = fresh;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10 / 41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释放：必须后序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00872"/>
            <a:ext cx="11058144" cy="445111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code/ch05/binary_tree/teaching.hpp#fn:destroy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【代码5.8】后序释放：**必须先删两个孩子，再删自己**。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反过来先 delete node，node-&gt;left 就成了读已释放内存。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destroy(Node* node)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 ==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destroy(node-&gt;left);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destroy(node-&gt;right);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delete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destroy(Node* node)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 ==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destroy(node-&gt;left);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destroy(node-&gt;right);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delete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809899"/>
            <a:ext cx="11058144" cy="3492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先删两个孩子，再删自己。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反过来先 </a:t>
            </a:r>
            <a:r>
              <a:rPr lang="zh-CN" sz="205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delete node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</a:t>
            </a:r>
            <a:r>
              <a:rPr lang="zh-CN" sz="205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node-&gt;left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就成了读已释放的内存。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11 / 41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5.3 另一种存法：完全二叉树进数组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9 完全二叉树的结点编号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145328" y="1348661"/>
            <a:ext cx="3901344" cy="3142163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511652"/>
            <a:ext cx="11058144" cy="22015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0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5.9 完全二叉树的结点编号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773462"/>
            <a:ext cx="11058144" cy="25118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按层次次序编号后，父子关系变成</a:t>
            </a:r>
            <a:r>
              <a:rPr lang="zh-CN" sz="147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下标算术</a:t>
            </a: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</a:p>
        </p:txBody>
      </p:sp>
      <p:sp>
        <p:nvSpPr>
          <p:cNvPr id="7" name="代码"/>
          <p:cNvSpPr txBox="1"/>
          <p:nvPr/>
        </p:nvSpPr>
        <p:spPr>
          <a:xfrm>
            <a:off x="566928" y="5107959"/>
            <a:ext cx="11058144" cy="710519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下标 i 的左孩子   2i + 1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下标 i 的右孩子   2i + 2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下标 i 的父亲     (i - 1) / 2      (i &gt; 0)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860134"/>
            <a:ext cx="11058144" cy="25118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47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一根指针都不用。</a:t>
            </a: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但只对完全二叉树成立—— 非完全二叉树这么存会留下大量空洞。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12 / 41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5.4 二叉搜索树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11 二叉搜索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376014" y="1252546"/>
            <a:ext cx="3439972" cy="3756811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031709"/>
            <a:ext cx="11058144" cy="2329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1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5.11 二叉搜索树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309331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约束只有一条：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左子树的键都小于根，右子树的都大于根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623600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有了它，查找不必遍历全树——每比较一次就砍掉一半（前提是树平衡）。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937869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中序周游一棵 BST，得到的正是升序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——这是「左小右大」的直接推论。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13 / 41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插入：指向指针的指针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57376"/>
            <a:ext cx="11058144" cy="372465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93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code/ch05/binary_tree/teaching.hpp#fn:insert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【算法5.9】插入。一路比较着往下走，走到空位就把新结点挂上去。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键已存在时返回 false——重复键是可预期状态，不是错误，所以不抛异常。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insert(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T&amp;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Node** link = &amp;root_;               </a:t>
            </a: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指向「新结点该挂在哪根指针上」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(*link !=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(value &lt; (*link)-&gt;value)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link = &amp;(*link)-&gt;left;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else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((*link)-&gt;value &lt;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link = &amp;(*link)-&gt;right;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else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false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              </a:t>
            </a:r>
            <a:r>
              <a:rPr lang="zh-CN" sz="120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已经有了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*link =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Node{value,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132832"/>
            <a:ext cx="11058144" cy="61264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Node** link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指向「新结点该挂在哪根指针上」， 于是「挂到根」和「挂到某个孩子」写成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同一句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</a:t>
            </a:r>
            <a:r>
              <a:rPr lang="zh-CN" sz="18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*link = new Node{...}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796280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空树不必另开一个分支。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14 / 41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删除：难点只有一个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13 改进的二叉搜索树的删除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878123" y="1307839"/>
            <a:ext cx="4435754" cy="3960494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290685"/>
            <a:ext cx="11058144" cy="2329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1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5.13 改进的二叉搜索树的删除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568307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被删结点有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两个孩子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时，谁来顶替？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882576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中序前驱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——左子树里最大的那个。它比左子树其余的都大、 比右子树全部都小，顶上来之后「左小右大」仍然成立。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15 / 41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删除：还藏着一步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被删结点有两个孩子时，用中序前驱顶替。但——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中序前驱自己可能还有一个左孩子。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2940710"/>
            <a:ext cx="11058144" cy="127894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被删 50, 它的中序前驱是 45, 而 45 还带着一个左孩子 42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顶替之前必须先把 42 接走: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*predecessor_link = replacement-&gt;left;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285690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漏了这一句，40 的右链仍指向 45，而 45 已经成了根——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树上出现环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 中序周游立刻无限递归，ASan 报栈溢出。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16 / 41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5.5 堆：完全二叉树 + 数组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14 最小堆对应的完全二叉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041172" y="1225460"/>
            <a:ext cx="4109656" cy="3336073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585409"/>
            <a:ext cx="11058144" cy="24568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17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5.14 最小堆对应的完全二叉树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4914656"/>
            <a:ext cx="11058144" cy="69622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47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是一棵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完全二叉树</a:t>
            </a:r>
          </a:p>
          <a:p>
            <a:pPr marL="270000" indent="-230000" lvl="0">
              <a:lnSpc>
                <a:spcPct val="100000"/>
              </a:lnSpc>
              <a:spcBef>
                <a:spcPts val="47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每个结点都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不大于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它的孩子（最小堆）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658630"/>
            <a:ext cx="11058144" cy="57588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因为完全，可以压进数组；因为堆序，根就是最小值。 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堆序只管父子，不管兄弟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——这是它比 BST 弱、也比 BST 便宜的地方。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17 / 41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插入：放末尾，然后上浮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15 在最小堆 5.14 中插入元素 1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691364" y="1273312"/>
            <a:ext cx="8809272" cy="2291429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3581505"/>
            <a:ext cx="11058144" cy="1861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8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5.15 在最小堆 5.14 中插入元素 13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3834679"/>
            <a:ext cx="11058144" cy="211628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700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code/ch05/heap_huffman/teaching.hpp#fn:sift_up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上浮：只要比父亲小就换上去。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sift_up(size_type index)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(index &gt; </a:t>
            </a:r>
            <a:r>
              <a:rPr lang="zh-CN" sz="79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size_type parent = (index - </a:t>
            </a:r>
            <a:r>
              <a:rPr lang="zh-CN" sz="79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/ </a:t>
            </a:r>
            <a:r>
              <a:rPr lang="zh-CN" sz="79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(!(data_[index] &lt; data_[parent]))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break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                      </a:t>
            </a:r>
            <a:r>
              <a:rPr lang="zh-CN" sz="792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已经不小于父亲，位置对了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T tmp = data_[index];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data_[index] = data_[parent];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data_[parent] = tmp;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index = parent;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984494"/>
            <a:ext cx="11058144" cy="20217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只要比父亲小就换上去。树高 </a:t>
            </a:r>
            <a:r>
              <a:rPr lang="zh-CN" sz="1188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 n</a:t>
            </a: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，所以代价 </a:t>
            </a:r>
            <a:r>
              <a:rPr lang="zh-CN" sz="1188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O(log n)</a:t>
            </a: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18 / 41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删除最小：搬最后一个上来，然后下沉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16 在最小堆 5.14 中删除元素 14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2012188"/>
            <a:ext cx="11058144" cy="2855089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900297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5.16 在最小堆 5.14 中删除元素 14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19 / 41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删除最小：搬最后一个上来，然后下沉（续）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221034"/>
            <a:ext cx="11058144" cy="4682215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79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code/ch05/heap_huffman/teaching.hpp#fn:sift_down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下沉：和两个孩子里较小的那个比，比它大就换下去。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**必须和较小的那个换**——跟较大的换会破坏「父亲不大于两个孩子」。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sift_down(size_type index)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(;;)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size_type left = index *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+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size_type right = left +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size_type smallest = index;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(left &lt; size_ &amp;&amp; data_[left] &lt; data_[smallest])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smallest = left;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(right &lt; size_ &amp;&amp; data_[right] &lt; data_[smallest])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smallest = right;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(smallest == index)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                     </a:t>
            </a: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父亲已经最小，停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T tmp = data_[index];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data_[index] = data_[smallest];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data_[smallest] = tmp;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index = smallest;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951001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必须和两个孩子里较小的那个交换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——跟较大的换会破坏堆序。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20 / 41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建堆为什么是 O(n)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5.17 建堆过程示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132354" y="1229106"/>
            <a:ext cx="3927291" cy="468475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5.17 建堆过程示例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21 / 41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建堆为什么是 O(n)（续）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粗算：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n/2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sift_down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× O(log n) = O(n log 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原书说这只是粗略上界。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细算的关键：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下沉距离不是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log n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，是「离底层还有多远」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 越靠底层的结点越多，能沉的距离越短——两者正好抵消。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22 / 41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建堆：把和算出来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119466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先把堆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放大成一棵满二叉树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（高度同为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 = ⌊log₂ n⌋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，结点数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≥ 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每层排满），在它上面算出来的就是上界——一般的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下堆的最后一层未必满， 不能直接把「共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 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层」当等式用。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20685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满树第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i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层恰有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2ⁱ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个结点，最多下沉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h-i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层：</a:t>
            </a:r>
          </a:p>
        </p:txBody>
      </p:sp>
      <p:sp>
        <p:nvSpPr>
          <p:cNvPr id="6" name="公式"/>
          <p:cNvSpPr txBox="1"/>
          <p:nvPr/>
        </p:nvSpPr>
        <p:spPr>
          <a:xfrm>
            <a:off x="566928" y="3753662"/>
            <a:ext cx="11058144" cy="4424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260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∑_(i = 0)ʰ 2ⁱ(h-i) = 2ʰ∑_(j = 0)ʰj/(2ʲ) &lt; 2ʰ · 2 = 2ʰ⁺¹ ≤ 2n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27868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（令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j = h-i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；末两步用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∑_(j ≥ 0) j/2ʲ = 2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与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2ʰ ≤ 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。）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474294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所以建堆是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——线性时间就能把无序序列变成堆。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23 / 41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5.5.2 优先队列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优先队列只保证“下一项最优”，不要求所有元素始终有序。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522016"/>
        </p:xfrm>
        <a:graphic>
          <a:graphicData uri="http://schemas.openxmlformats.org/drawingml/2006/table">
            <a:tbl>
              <a:tblPr firstRow="1"/>
              <a:tblGrid>
                <a:gridCol w="1847128"/>
                <a:gridCol w="3374088"/>
                <a:gridCol w="2462838"/>
                <a:gridCol w="3374090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表示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插入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查看最小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删除最小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无序表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有序表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最小堆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4114035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本书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MinHeap&lt;T&gt;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就是最小优先队列：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insert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入队，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remove_min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取最高优先级，空队列返回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nullopt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97651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Huffman、Dijkstra、Prim 都只反复需要“当前最小”，无需全排序。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24 / 41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5.6 Huffman 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规则只有一句：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反复取出权最小的两棵树，合并成一棵放回去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，直到只剩一棵。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「取最小的」正是堆的拿手好戏——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两节内容在这里接上了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graphicFrame>
        <p:nvGraphicFramePr>
          <p:cNvPr id="6" name="表"/>
          <p:cNvGraphicFramePr>
            <a:graphicFrameLocks noGrp="1"/>
          </p:cNvGraphicFramePr>
          <p:nvPr/>
        </p:nvGraphicFramePr>
        <p:xfrm>
          <a:off x="566928" y="2940710"/>
          <a:ext cx="11058144" cy="1141512"/>
        </p:xfrm>
        <a:graphic>
          <a:graphicData uri="http://schemas.openxmlformats.org/drawingml/2006/table">
            <a:tbl>
              <a:tblPr firstRow="1"/>
              <a:tblGrid>
                <a:gridCol w="2857401"/>
                <a:gridCol w="3914640"/>
                <a:gridCol w="4286103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做法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每轮取最小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总代价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线性扫描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O(n²)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最小堆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 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25 / 41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带权路径长度 WPL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以权 2、3、4、7 为例，合并过程 2+3=5 → 4+5=9 → 7+9=16：</a:t>
            </a:r>
          </a:p>
        </p:txBody>
      </p:sp>
      <p:sp>
        <p:nvSpPr>
          <p:cNvPr id="5" name="公式"/>
          <p:cNvSpPr txBox="1"/>
          <p:nvPr/>
        </p:nvSpPr>
        <p:spPr>
          <a:xfrm>
            <a:off x="566928" y="2492959"/>
            <a:ext cx="11058144" cy="4424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260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WPL = 2 × 3 + 3 × 3 + 4 × 2 + 7 × 1 = 30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01797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Huffman 树让这个数最小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——权大的离根近，编码就短。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26 / 41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5.6.2 为什么需要前缀码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传电文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abbaaadc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。定长编码每字符 2 位，共 16 位。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想更短就让高频字符用短码。比如 a=0, b=1, c=01, d=10 → 10 位。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287467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但这样的电文没法译码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：收到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011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，既可以读成 a b b，也可以读成 c b。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33893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症结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是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01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的前缀。要求任何编码都不是另一个的前缀——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前缀码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27 / 41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Huffman 树天然给出前缀码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左边标 0、右边标 1，从根走到叶子，一路的 0/1 就是那个字符的编码。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2764536"/>
                <a:gridCol w="2764536"/>
                <a:gridCol w="2764536"/>
                <a:gridCol w="2764536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字符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频率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编码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位数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a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4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0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b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10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c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110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d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111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3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449453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为什么一定无冲突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：字符只住在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叶子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上， 而一个叶子不可能在另一个叶子的路径上。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28 / 41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编码总长恰好等于 WPL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abbaaadc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编成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14 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，比定长的 16 位短。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14 正好是这棵树的 WPL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——这不是巧合： WPL 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∑(权 × 深度)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，而权就是出现次数、深度就是码长。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272891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一个反直觉的推论：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所有字符频率相同时，Huffman 一位都省不下来。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8 个等权字符建出的是平衡树，每个恰好 3 位——退化成定长编码。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29 / 41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译码：用同一棵树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981049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从根出发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读一位: 0 走左, 1 走右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走到叶子: 吐出这个字符, 回到根, 继续读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056586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前缀码保证这个过程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没有歧义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——不会出现「读到一半不知道该停还是该继续」。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52084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三处边界，测试各有一条用例：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4034638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比特串走到一半就没了 → 返回空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optional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，不吐半个字符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出现既不是 0 也不是 1 的字符 → 同样返回空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整棵树只有一个字符 → 从根到叶的路径是空串，本书约定给它一位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"0"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30 / 41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课堂讲解卡：树的形状决定代价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同样的键集合可以形成平衡树或退化链；周游、搜索、堆操作的代价都由高度和形状决定。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874670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二叉搜索树：左 &lt; 根 &lt; 右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堆：只保证根与孩子的局部次序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31 / 41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课堂例题：插入 5、3、7、2、4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先画 BST，再写中序序列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2 3 4 5 7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；随后把根删除，比较“无左子树、无右子树、两个孩子”三种情况。 最后把同一组值放入堆，指出堆的中序序列没有排序保证。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32 / 41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课堂例题答案：BST 与堆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BST 根为 5，左子树为 3（孩子 2、4），右子树为 7；中序为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2 3 4 5 7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。删除 5 时用右子树最小值 7 替换。相同数据建成小堆只保证根最小，中序不必有序。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33 / 41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完全二叉树为什么适合数组存储？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BST 删除两个孩子时，后继来自哪棵子树？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建堆为什么不是 O(n log n) 的紧确代价？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Huffman 树的 WPL 与编码总长度如何对应？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34 / 41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课末自检参考答案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完全二叉树按层紧凑，父子下标可用公式计算，适合数组。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两个孩子时取右子树最小结点或左子树最大结点。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自底向上建堆的下沉路径总和为 O(n)。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Huffman 的 WPL 就是编码总比特数。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35 / 41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状态演算：堆下沉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小堆根删除后，把末尾元素移到根；若根大于两个孩子，先与较小孩子交换，再继续向下，直到局部堆序恢复。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36 / 41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反例：只和左孩子交换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根有两个孩子时必须选较小者，否则交换后可能仍大于右孩子，下一层的堆不变量没有恢复。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37 / 41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课堂练习与答案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课堂练习：对堆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[2,5,7,9,6]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删除根，写出每次交换。答案：搬 6 得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[6,5,7,9]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，与 5 交换得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[5,6,7,9]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38 / 41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语言分工：本章为什么以 C++ 为主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二叉链表、深拷贝、析构、堆数组和 Huffman 结点所有权是本章的教学对象；Python 的垃圾回收和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heapq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会隐藏这些不变量，因此算法结论保留在 C++ 实现中讲清。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39 / 41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837616"/>
            <a:ext cx="11058144" cy="376823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二叉树是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递归定义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的，所以周游、释放、深拷贝都自然是递归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三种深度优先只差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visit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那一行的位置；广度优先必须用队列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满二叉树定理推论：n 个结点的树里有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n+1 个空指针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完全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二叉树可以进数组，父子关系变下标算术——堆的基础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BST 删除的难点是两个孩子的情形：用中序前驱顶替， 且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前驱自己的左孩子要先接走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建堆是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 log n)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Huffman 树给出前缀码，编码总长恰好等于 WPL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40 / 41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822051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code/ch05/binary_tree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code/ch05/heap_huffman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628145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故意改坏一处，看哪条断言变红：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141936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destroy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改成先删自己再删孩子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sift_down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改成和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较大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的孩子交换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BST 删除去掉「接走前驱左孩子」那一句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Huffman 合并时取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最大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的两个</a:t>
            </a:r>
          </a:p>
        </p:txBody>
      </p:sp>
      <p:sp>
        <p:nvSpPr>
          <p:cNvPr id="7" name="引用线"/>
          <p:cNvSpPr/>
          <p:nvPr/>
        </p:nvSpPr>
        <p:spPr>
          <a:xfrm>
            <a:off x="566928" y="5199740"/>
            <a:ext cx="32004" cy="438188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引用"/>
          <p:cNvSpPr txBox="1"/>
          <p:nvPr/>
        </p:nvSpPr>
        <p:spPr>
          <a:xfrm>
            <a:off x="694944" y="5199740"/>
            <a:ext cx="10820400" cy="4381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最后一条会让 WPL 变大——测试里那个 </a:t>
            </a:r>
            <a:r>
              <a:rPr lang="zh-CN" sz="2145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30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 就是为它准备的。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第5章 二叉树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41 / 41</a:t>
            </a:r>
          </a:p>
        </p:txBody>
      </p:sp>
    </p:spTree>
  </p:cSld>
</p:sld>
</file>

<file path=ppt/theme/theme1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dsa-modernization/tools/build_pptx.py</Application>
  <Slides>41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第5章 二叉树</dc:title>
  <dc:creator>dsa-modernization</dc:creator>
  <cp:revision>1</cp:revision>
</cp:coreProperties>
</file>