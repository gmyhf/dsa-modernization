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开场先问一句：为什么要专门讲这两种结构？它们的操作比线性表更少。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答案是——正因为限制了存取点，实现可以更快、更简单，而且这个限制恰好匹配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一大类问题（递归、括号匹配、表达式求值、BFS）。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那两处会在讲到顺序栈时当场演示。这是本章最有价值的教学时刻之一——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让学生看到「书上印的」和「能跑的」是两回事。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先不说 optional，让学生自己想「没有」怎么表达。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常见答案：返回 -1、返回 bool + 出参、抛异常。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这三个都有问题，下面逐个拆。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让学生举手。答案：前两个可以，第三个不行——3 先出说明 1、2 还在栈里且 2 在 1 上面，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那么 1 不可能在 2 之前出来。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可行的出栈序列个数是 Catalan 数 C(n) = (2n)! / (n!(n+1)!)，n=4 时是 14。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这是第 5 章还要再遇到的数——二叉树形态数也是它。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先让学生看清楚只有三个成员。很多人以为栈很复杂，其实就这三样。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构造函数里的初值 8 给多少都不影响正确性——因为满了会自动翻倍。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grow 里那三行的顺序是考点：先申请新的、再搬、最后才 delete 旧的。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反过来写就是读已经还回去的内存。现场可以演示：把 delete 挪到循环前面，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ASan 立刻报 heap-use-after-free。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对延迟敏感的场合（实时系统）要单独考虑这一点。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这是「摊还」和「最坏情况」的区别，第 8 章讲排序时还会用到。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这类 bug 极难查，因为出错的地方和崩溃的地方隔得很远。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std::optional 把「有没有值」搬进了类型：取值之前必须先判断。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这是本章第一个「书上印的 ≠ 能跑的」时刻。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强调：命名规则不是洁癖——数据成员和成员函数重名，语言直接拒绝。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本书的做法：栈顶位置叫 size_，top() 留给成员函数。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现场跑一遍这个例子，效果最好。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两个对象持有同一根指针，各析构一次 → 同一块内存释放两次。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小数据量下往往还不当场崩，所以它能一路活到生产环境。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上面这两个函数是一起取出来的：构造函数申请内存，拷贝构造就必须自己写。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理由很直白：你之所以要写析构函数，是因为你在管资源；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既然在管资源，编译器那份「逐成员照抄」的拷贝就一定是错的。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工程版还会补移动构造和移动赋值，那叫五法则——它们不修正确性，只修性能。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初学阶段守住三法则就够了：在分配和 T 的拷贝都不抛异常的前提下它是对的。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（T 的拷贝真抛出时，扩容中的新缓冲区会漏——那是进阶节讲的强异常保证。）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push 三步：造新结点、让它指向原栈顶、栈顶指向它。顺序不能乱。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pop 四步：摘下栈顶、取值、栈顶后移、释放结点。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注意释放必须在取值之后。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不要给「哪个更好」的答案，给判据。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补一句：链式栈的 clear 必须用循环，不能用递归——十万级链长会把运行栈压穿。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本书的测试用 80 万结点守着这条。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现场手动走一遍 "3 4 + 2 *"。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让学生注意：先弹出的是右操作数。减法和除法顺序反了就错。</a:t>
            </a:r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现场让学生跟着念一遍。两个要点：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 先弹出的是右操作数——减法和除法顺序反了就错，这是最常见的 bug；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 读完时栈里必须恰好一个元素。多了说明操作数多余，少了说明操作符多余，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两种都要报错。原书是 cerr 打一行然后继续跑。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另外提一句原书那个更隐蔽的 bug：GetTwoOperands 在第二个操作数缺失时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已经把第一个弹掉了，返回 false 时栈已经被破坏。</a:t>
            </a:r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原书把规则讲全了，却把代码留成了练习（「有兴趣的读者可作为练习」）。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本书补上了——不补的话 3.1.4 只剩半个应用。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编译器把算术式变成机器指令，走的就是这条路。</a:t>
            </a:r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 &lt; 写成 &lt;= 它立刻变红——这就是「有牙的测试」该有的样子。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可以现场改一下演示。</a:t>
            </a:r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两个例子对照着走，学生就能看出「弹不弹」这个判断是全部难点所在。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再补一句：负号和减号靠「上一个记号是什么」区分——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-3 + 5 开头那个是符号，3 - 5 里那个是运算符。</a:t>
            </a:r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所以「递归会爆栈」不是玄学——运行栈是有限的（Linux 默认 8 MB）。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下一页有实测数字。</a:t>
            </a:r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最反直觉的是 -O2 那一行：编译器把尾递归转成了循环，一次自调用都没有。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汇编确认过。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这意味着：递归深度的安全边界由优化级别决定——debug 崩、release 过。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这种不确定性不该出现在教材实现里，所以本书的容器析构一律写成迭代。</a:t>
            </a:r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绕回是靠取模实现的：rear_ = (rear_ + 1) % slots_。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漏了取模就是数组越界，ASan 当场报 heap-buffer-overflow。</a:t>
            </a:r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也可以另存一个 count 变量来区分，那样不浪费槽位但多一个要维护的状态。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原书选了前者，本书照办——教材的选择要和教材一致，学生才对得上。</a:t>
            </a:r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两段并排看效果最好：同一个 FIFO 语义，存储换了，代码形状完全不同。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顺序队列那段的关键是 % slots_；链式那段的关键是 rear_ 的两个分支。</a:t>
            </a:r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去掉那两行，AddressSanitizer 立刻报 heap-use-after-free。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教学版的测试里有一条「出队到空再入队」专门守着它。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现场演示效果很好——因为不删那两行的话，普通用例全绿。</a:t>
            </a:r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留一句话收尾：这一章的两个结构都很简单，难的是「边界」——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空、满、只剩一个、刚好摘空。本书的测试用例大半在这些地方。</a:t>
            </a:r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布置作业时强调最后这一句。学生最容易写出「顺手测一下」的用例——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那种用例在原书那份有 bug 的实现上同样全绿，等于没测。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2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100" Type="http://schemas.openxmlformats.org/officeDocument/2006/relationships/image" Target="../media/image3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4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100" Type="http://schemas.openxmlformats.org/officeDocument/2006/relationships/image" Target="../media/image5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789618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248469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限制存取点的线性表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643693"/>
            <a:ext cx="11058144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栈：只在一端进出，后进先出（LIFO）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队列：一端进、另一端出，先进先出（FIFO）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435157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本章代码全部来自 </a:t>
            </a:r>
            <a:r>
              <a:rPr lang="zh-CN" sz="18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code/ch03/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，真编译、真跑过。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42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这一章讲什么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4071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3.1 栈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：ADT、顺序栈、链式栈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3.1.4 表达式求值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：后缀求值 + 中缀转后缀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3.1.5 栈与递归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：运行栈、递归改循环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3.2 队列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：循环队列、链式队列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3.3 比较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：什么时候用哪个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46887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一条暗线：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原书这一章的代码，有两处按印刷原样根本编译不过。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42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3.1 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171195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栈(stack)是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限定仅在一端进行插入和删除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的线性表。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1621748"/>
            <a:ext cx="11058144" cy="8443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7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那一端叫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栈顶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(top)，另一端叫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栈底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(bottom)</a:t>
            </a:r>
          </a:p>
          <a:p>
            <a:pPr marL="270000" indent="-230000" lvl="0">
              <a:lnSpc>
                <a:spcPct val="100000"/>
              </a:lnSpc>
              <a:spcBef>
                <a:spcPts val="57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元素按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后进先出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(LIFO, last in first out)访问</a:t>
            </a:r>
          </a:p>
        </p:txBody>
      </p:sp>
      <p:pic>
        <p:nvPicPr>
          <p:cNvPr id="6" name="图 3.1 栈的示意图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358045" y="2581926"/>
            <a:ext cx="3475909" cy="3331937"/>
          </a:xfrm>
          <a:prstGeom prst="rect">
            <a:avLst/>
          </a:prstGeom>
        </p:spPr>
      </p:pic>
      <p:sp>
        <p:nvSpPr>
          <p:cNvPr id="7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3.1 栈的示意图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42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栈的抽象数据类型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3506930"/>
                <a:gridCol w="6009860"/>
                <a:gridCol w="1541354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运算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含义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时间代价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push(x)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把 x 压到栈顶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摊还 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pop()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弹出栈顶并带回来；空栈返回「没有」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top()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只看栈顶，不弹出；空栈返回「没有」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empty()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/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size()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判空、长度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03027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「空栈返回『没有』」这四个字，C++17 里有精确的表达方式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——待会儿见分晓。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42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先问一个问题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入栈顺序是 1, 2, 3, 4，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出栈顺序可以有哪些？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459939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1 2 3 4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可以吗？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4 3 2 1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可以吗？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3 1 4 2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可以吗？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42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3.1.2 顺序栈：存储结构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用一块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连续数组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存元素。哪一端当栈顶？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459939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下标 0 当栈顶 → 每次 push/pop 都要搬动全部元素，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表尾当栈顶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→ 只动最后一个位置，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O(1)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3554881"/>
            <a:ext cx="11058144" cy="12789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下标     0     1     2     3     4     …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内容    [A]   [B]   [C]    ?     ?     …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▲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size_ = 3   （栈顶是 C，下一个 push 写到 3）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89986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既是元素个数，也是下一个空位的下标——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一个变量干两件事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42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教学版：三个成员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T* data_;             指向底层数组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size_type capacity_;  数组能放多少个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size_type size_;      现在放了几个（同时也是下一个空位的下标）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8772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整份实现在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code/ch03/array_stack/teaching.hpp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一个文件、一个类， 抄下来就能编译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。下面几页把它拆开逐段看。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42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入栈：满了就翻倍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37960"/>
            <a:ext cx="11058144" cy="195462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code/ch03/array_stack/teaching.hpp#fn:push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入栈。满了就翻倍，所以不会有「栈满溢出」这回事。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push(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 == capacity_)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grow();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data_[size_]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++size_;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3388085"/>
            <a:ext cx="11058144" cy="273393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code/ch03/array_stack/teaching.hpp#fn:grow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扩容：申请一块两倍大的，把老元素搬过去，再把老的还回去。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每个元素在均摊意义下只被搬运常数次，所以 push 的摊还代价仍是 O(1)。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grow()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size_type next = (capacity_ ==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?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: capacity_ *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T* fresh =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T[next];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(size_type i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size_;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fresh[i] = data_[i];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[] data_;    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先搬完再释放旧的，顺序反了就会读到已释放的内存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data_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capacity_ = 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42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为什么是「翻倍」而不是「加一」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加一：push n 个元素总共搬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1+2+⋯+n = O(n²)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翻倍：总搬运次数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1+2+4+⋯+n &lt; 2n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2458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平摊到每次 push 就是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常数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——这就是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摊还 O(1)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引用线"/>
          <p:cNvSpPr/>
          <p:nvPr/>
        </p:nvSpPr>
        <p:spPr>
          <a:xfrm>
            <a:off x="566928" y="3554881"/>
            <a:ext cx="32004" cy="1168260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引用"/>
          <p:cNvSpPr txBox="1"/>
          <p:nvPr/>
        </p:nvSpPr>
        <p:spPr>
          <a:xfrm>
            <a:off x="694944" y="3554881"/>
            <a:ext cx="10820400" cy="11682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摊还的意思：单次操作偶尔很贵（那一次要搬走全部 n 个）， 但两次扩容之间至少发生了 n 次 push，分摊下去每次仍然便宜。 注意它说的是</a:t>
            </a:r>
            <a:r>
              <a:rPr lang="zh-CN" sz="2145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平均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，不是保证——那一次搬迁真的会卡住。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42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出栈：空栈怎么办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753540"/>
            <a:ext cx="11058144" cy="262615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code/ch03/array_stack/teaching.hpp#fn:pop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出栈并把元素带回来。空栈返回空的 optional，不是错误，也不打印任何东西。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std::optional&lt;T&gt; pop()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(empty())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std::nullopt;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--size_;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data_[size_];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44573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原书写的是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 pop(T &amp; item)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出参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带值、用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返回值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带成败。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909997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问题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：调用方忘了检查返回值，读到的就是那个从没被修改过的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item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程序不崩，只是默默按错误数据继续跑。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42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原书这里编译不过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原书【代码3.2】的顺序栈，三个成员是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 mSize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 top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T* st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legacy.cpp:65:5: error: ‘bool arrStack&lt;T&gt;::top(T&amp;)’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conflicts with a previous declaration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8254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 top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与成员函数 </a:t>
            </a:r>
            <a:r>
              <a:rPr lang="zh-CN" sz="2340" dirty="0" b="1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 top(T&amp;)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重名。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整个类按印刷原样进不了编译器。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74680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同一本书第 3.1.3 节的链式栈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犯了同一个错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42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更安静的一个错：三法则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arrStack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有析构函数，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却没有拷贝构造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81782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$ cat drv2.cpp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int main(){ arrStack&lt;int&gt; a(4); a.push(7); arrStack&lt;int&gt; b = a;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$ g++ -std=c++17 -fsanitize=address -g drv2.cpp -o drv2 &amp;&amp; ./drv2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==2331703==ERROR: AddressSanitizer: attempting double-free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#0 operator delete[](void*)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#1 arrStack&lt;int&gt;::~arrStack()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36031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-Wall -Wextra -Wpedantic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一句警告都不给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42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三法则（Rule of Three）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4602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一个类只要自己写了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析构、拷贝构造、拷贝赋值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中的任意一个， 通常这三个都得写。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174545"/>
            <a:ext cx="11058144" cy="397337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code/ch03/array_stack/teaching.hpp#fn:ArrayStack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构造：先要一小块数组。容量不够时会自动翻倍，所以初值给多少都不影响正确性。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explicit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ArrayStack(size_type initial_capacity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8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: data_(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T[initial_capacity]), capacity_(initial_capacity), size_(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拷贝构造：**必须自己写**。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不写的话编译器生成的版本会把 data_ 这根指针照抄一份，于是两个栈指向同一块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内存，各析构一次 —— 同一块内存被释放两次。原书 arrStack 正是漏了这个。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ArrayStack(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ArrayStack&amp; other)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: data_(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T[other.capacity_]), capacity_(other.capacity_), size_(other.size_)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(size_type i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size_;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data_[i] = other.data_[i];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42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3.1.3 链式栈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结点分散在堆上，压栈只是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接一个新结点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pic>
        <p:nvPicPr>
          <p:cNvPr id="5" name="图3.4 链式栈示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2476449"/>
            <a:ext cx="11058144" cy="2149329"/>
          </a:xfrm>
          <a:prstGeom prst="rect">
            <a:avLst/>
          </a:prstGeom>
        </p:spPr>
      </p:pic>
      <p:sp>
        <p:nvSpPr>
          <p:cNvPr id="6" name="图注"/>
          <p:cNvSpPr txBox="1"/>
          <p:nvPr/>
        </p:nvSpPr>
        <p:spPr>
          <a:xfrm>
            <a:off x="566928" y="4658798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图3.4 链式栈示意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04710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没有「栈满」这回事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——这是它与顺序栈最大的差别。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42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链式栈的入栈与出栈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40546"/>
            <a:ext cx="11058144" cy="214944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code/ch03/linked_stack/teaching.hpp#fn:push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入栈：造一个新结点，让它指向原来的栈顶，再让栈顶指向它。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**没有「栈满」这回事**——这正是链式栈相对顺序栈最大的差别。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push(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fresh =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fresh-&gt;value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fresh-&gt;next = top_;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top_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++size_;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3485499"/>
            <a:ext cx="11058144" cy="273393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code/ch03/linked_stack/teaching.hpp#fn:pop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出栈：把栈顶结点摘下来，取走它的值，再释放它。空栈返回空 optional。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std::optional&lt;T&gt; pop()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(empty())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std::nullopt;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dying = top_;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 value = dying-&gt;value;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top_ = dying-&gt;next;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dying;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--size_;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42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顺序栈 vs 链式栈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3428881"/>
                <a:gridCol w="3857492"/>
                <a:gridCol w="3771771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顺序栈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链式栈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存储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一块连续数组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分散结点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每个元素额外开销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一根指针（8 字节）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栈满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需要扩容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不存在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缓存局部性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好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扩容时的抖动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有（那一次搬全部）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41078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结论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：元素多且大小可预估 → 顺序栈；深度波动大或元素很大 → 链式栈。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42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3.1.4 表达式求值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后缀表达式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（逆波兰式）不需要括号，也不需要优先级：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459939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遇操作数 →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压栈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遇操作符 →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弹出两个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，算完再压回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读完时栈里剩下的唯一元素就是结果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4036312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3 4 + 2 *     →   压 3、压 4、弹出算 3+4=7 压回、压 2、弹出算 7*2=14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42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手动走一遍 </a:t>
            </a:r>
            <a:r>
              <a:rPr lang="zh-CN" sz="3200" dirty="0" b="1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3 4 + 2 *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208727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读到    栈内容      动作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3      [3]         压栈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4      [3 4]       压栈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+      [7]         弹出 4 和 3, 算 3+4=7, 压回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2      [7 2]       压栈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*      [14]        弹出 2 和 7, 算 7*2=14, 压回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读完    [14]        栈里唯一的元素就是结果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16549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实现见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code/ch03/expression_eval/modern.hpp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，正文 3.1.4 逐条讲。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42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可人写的是中缀式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83430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23 + (34 * 45) / (5 + 6 + 7)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298562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中间隔着一步转换——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这才是栈最典型的应用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括号和优先级造成的「先算什么」，全靠一把栈记住。</a:t>
            </a:r>
          </a:p>
        </p:txBody>
      </p:sp>
      <p:graphicFrame>
        <p:nvGraphicFramePr>
          <p:cNvPr id="6" name="表"/>
          <p:cNvGraphicFramePr>
            <a:graphicFrameLocks noGrp="1"/>
          </p:cNvGraphicFramePr>
          <p:nvPr/>
        </p:nvGraphicFramePr>
        <p:xfrm>
          <a:off x="566928" y="3227084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1657892"/>
                <a:gridCol w="9400252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遇到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做什么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操作数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直接输出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入栈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反复弹出并输出，直到遇到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；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弹掉但不输出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运算符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栈顶优先级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不低于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当前就反复弹出；然后当前入栈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扫描结束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栈里剩下的依次弹出输出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42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「不低于」三个字是承重的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如果写成「高于」，同优先级时就不先弹：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1 - 2 - 3   →   转成  1 2 3 - -   →   求值 1-(2-3) = 2      ✗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正确  1 2 - 3 -   →   求值 (1-2)-3 = -4     ✓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8254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左结合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是靠这一个符号保住的。测试里有一条专门算这个数。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42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手动走一遍 </a:t>
            </a:r>
            <a:r>
              <a:rPr lang="zh-CN" sz="3200" dirty="0" b="1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1 + 2 * 3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208727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读到    输出         运算符栈    说明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1      1            []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+      1            [+]         栈空, 直接压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2      1 2          [+]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*      1 2          [+ *]       * 优先级高于 +, 不弹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3      1 2 3        [+ *]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读完    1 2 3 * +    []          依次弹出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16549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换成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 * 2 + 3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再走一遍：读到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+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时栈顶是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*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优先级不低于它，要先弹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62975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实现见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code/ch03/expression_eval/modern.hpp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，正文 3.1.4 有完整规则表。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42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3.1.5 栈与递归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37598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递归的实现本身就是一个栈。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每次函数调用，运行栈上压入一条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活动记录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1551867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“活动记录”是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经典教材术语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；现代资料通常称它为 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stack frame（栈帧）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，其中保存返回地址、参数和局部状态。</a:t>
            </a:r>
          </a:p>
        </p:txBody>
      </p:sp>
      <p:pic>
        <p:nvPicPr>
          <p:cNvPr id="6" name="图 3.7 活动记录的内容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613643" y="1910840"/>
            <a:ext cx="2964713" cy="3281552"/>
          </a:xfrm>
          <a:prstGeom prst="rect">
            <a:avLst/>
          </a:prstGeom>
        </p:spPr>
      </p:pic>
      <p:sp>
        <p:nvSpPr>
          <p:cNvPr id="7" name="图注"/>
          <p:cNvSpPr txBox="1"/>
          <p:nvPr/>
        </p:nvSpPr>
        <p:spPr>
          <a:xfrm>
            <a:off x="566928" y="5214744"/>
            <a:ext cx="11058144" cy="2329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3.7 活动记录的内容</a:t>
            </a:r>
          </a:p>
        </p:txBody>
      </p:sp>
      <p:sp>
        <p:nvSpPr>
          <p:cNvPr id="8" name="要点"/>
          <p:cNvSpPr txBox="1"/>
          <p:nvPr/>
        </p:nvSpPr>
        <p:spPr>
          <a:xfrm>
            <a:off x="566928" y="5525894"/>
            <a:ext cx="11058144" cy="6517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44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返回地址、参数、局部变量、返回值</a:t>
            </a:r>
          </a:p>
          <a:p>
            <a:pPr marL="270000" indent="-230000" lvl="0">
              <a:lnSpc>
                <a:spcPct val="100000"/>
              </a:lnSpc>
              <a:spcBef>
                <a:spcPts val="44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函数返回时弹出这条记录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42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运行栈有多大：三个档位，三种结果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同一份递归源码，Linux / gcc 13.3 /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ulimit -s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默认 8 MB：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3669518"/>
                <a:gridCol w="1371937"/>
                <a:gridCol w="3008344"/>
                <a:gridCol w="3008345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构建档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20 万层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50 万层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100 万层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-O0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（不优化）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通过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段错误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段错误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-O1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+ ASan/UBSan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通过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stack-overflow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stack-overflow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-O2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通过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通过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通过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11403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改成显式栈（数据压进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ArrayStack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，也就是放到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堆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上）： 三档在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1000 万层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都通过。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42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3.2 队列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一端进、另一端出，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先进先出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(FIFO)。</a:t>
            </a:r>
          </a:p>
        </p:txBody>
      </p:sp>
      <p:pic>
        <p:nvPicPr>
          <p:cNvPr id="5" name="图3.9 队列的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2476449"/>
            <a:ext cx="11058144" cy="1051991"/>
          </a:xfrm>
          <a:prstGeom prst="rect">
            <a:avLst/>
          </a:prstGeom>
        </p:spPr>
      </p:pic>
      <p:sp>
        <p:nvSpPr>
          <p:cNvPr id="6" name="图注"/>
          <p:cNvSpPr txBox="1"/>
          <p:nvPr/>
        </p:nvSpPr>
        <p:spPr>
          <a:xfrm>
            <a:off x="566928" y="3561460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图3.9 队列的示例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3999292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插入端叫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队尾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(rear)，删除端叫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队头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(front)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空队列上取元素是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可预期状态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，返回空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optional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42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顺序队列：为什么要「循环」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60606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队列两头都要动。若队头固定在下标 0，每次出队都要把后面全部前移，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07032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让队头也往后走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——走到数组末尾就绕回下标 0，整块数组当成一个圈用。</a:t>
            </a:r>
          </a:p>
        </p:txBody>
      </p:sp>
      <p:pic>
        <p:nvPicPr>
          <p:cNvPr id="6" name="图 3.12 循环队列的实现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2600628"/>
            <a:ext cx="11058144" cy="2831963"/>
          </a:xfrm>
          <a:prstGeom prst="rect">
            <a:avLst/>
          </a:prstGeom>
        </p:spPr>
      </p:pic>
      <p:sp>
        <p:nvSpPr>
          <p:cNvPr id="7" name="图注"/>
          <p:cNvSpPr txBox="1"/>
          <p:nvPr/>
        </p:nvSpPr>
        <p:spPr>
          <a:xfrm>
            <a:off x="566928" y="5465611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3.12 循环队列的实现示例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42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空和满怎么分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绕回之后有个麻烦：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front == rear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既可能是空、也可能是满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原书的办法：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牺牲一个槽位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2924200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约定「rear 的下一格就是 front」时算满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于是 n+1 个槽位最多装 n 个元素，两种状态分得开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4019142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code/ch03/queue/teaching.hpp#fn:full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满的判据：rear 再往前走一格就撞上 front。那一格就是被牺牲掉的槽位。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full()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(rear_ +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% slots_ == front_; }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42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两种入队，放在一起看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57504"/>
            <a:ext cx="11058144" cy="2511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上面是</a:t>
            </a: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顺序队列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（取模绕回、队满返回 false），下面是</a:t>
            </a: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链式队列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（没有队满，靠队尾指针保持 O(1)）。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592001"/>
            <a:ext cx="11058144" cy="4275978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code/ch03/queue/teaching.hpp#fn:enqueue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入队。队满返回 false——顺序队列的容量是固定的，这是它与链式队列的核心差别。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enqueue(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(full())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false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data_[rear_]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rear_ = (rear_ +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% slots_;    </a:t>
            </a: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走到末尾就绕回 0，取模不能漏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入队：新结点接到队尾。队列原来是空的话，它同时也是队头。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enqueue(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fresh =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fresh-&gt;value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fresh-&gt;next =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(rear_ ==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front_ = rear_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rear_-&gt;next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rear_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++size_;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909635"/>
            <a:ext cx="11058144" cy="2511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没有队尾指针的话，每次入队都得从队头走到尾，</a:t>
            </a: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42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两种出队 + 一处容易漏的地方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67170"/>
            <a:ext cx="11058144" cy="4454225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1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code/ch03/queue/teaching.hpp#fn:dequeue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出队。空队列返回空 optional，不是错误，也不打印任何东西。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std::optional&lt;T&gt; dequeue()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(empty())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std::nullopt;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 value = data_[front_];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front_ = (front_ +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% slots_;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出队：摘下队头结点。摘完若队列空了，队尾指针也必须置空，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否则它就成了一根指向已释放内存的野指针。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std::optional&lt;T&gt; dequeue()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(empty())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std::nullopt;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dying = front_;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 value = dying-&gt;value;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front_ = dying-&gt;next;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(front_ ==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rear_ =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dying;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--size_;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860003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链式队列出队把队列摘空时，队尾指针必须一起置空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否则它就是一根指向已释放结点的野指针，下一次入队会写进已释放的内存。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42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3.3 栈与队列的比较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2065655"/>
                <a:gridCol w="5356934"/>
                <a:gridCol w="3635555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队列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存取点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两端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次序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后进先出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先进先出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典型用途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递归、括号匹配、表达式求值、DFS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排队服务、BFS、缓冲区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顺序实现的坑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扩容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绕回 + 空满判据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链式实现的坑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深链递归析构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空掉时的队尾指针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41078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两者都是「限制存取点的线性表」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——限制换来的是 O(1) 的操作和更简单的实现。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42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课堂讲解卡：栈、队列与调用过程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栈回答“最后进入的先出来”，队列回答“先进入的先出来”。递归调用栈就是栈 ADT 的运行时实例。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874670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递归调用 -&gt; 压入栈帧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返回     -&gt; 弹出栈帧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42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课堂例题：中缀式 </a:t>
            </a:r>
            <a:r>
              <a:rPr lang="zh-CN" sz="3200" dirty="0" b="1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1 + 2 * 3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先把运算符按优先级放入栈，再按后缀式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 2 3 * +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求值。每次弹出的顺序就是优先级规则的可视化。 让学生故意把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+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和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*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反过来，观察结果从 7 变成 9。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42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</a:t>
            </a:r>
            <a:r>
              <a:rPr lang="zh-CN" sz="3200" dirty="0" b="1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1 + 2 * 3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spcBef>
                <a:spcPts val="655"/>
              </a:spcBef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1. 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读入数字进入输出队列。</a:t>
            </a:r>
          </a:p>
          <a:p>
            <a:pPr marL="0" indent="0" lvl="0">
              <a:lnSpc>
                <a:spcPct val="100000"/>
              </a:lnSpc>
              <a:spcBef>
                <a:spcPts val="655"/>
              </a:spcBef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2.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+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入运算符栈，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*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因优先级更高继续入栈。</a:t>
            </a:r>
          </a:p>
          <a:p>
            <a:pPr marL="0" indent="0" lvl="0">
              <a:lnSpc>
                <a:spcPct val="100000"/>
              </a:lnSpc>
              <a:spcBef>
                <a:spcPts val="655"/>
              </a:spcBef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3. 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输入结束先弹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*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再弹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+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，后缀式为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 2 3 * +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  <a:p>
            <a:pPr marL="0" indent="0" lvl="0">
              <a:lnSpc>
                <a:spcPct val="100000"/>
              </a:lnSpc>
              <a:spcBef>
                <a:spcPts val="655"/>
              </a:spcBef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4. 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求值为 7；忽略优先级会错误得到 9。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32 / 42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空栈和满队列分别如何表示？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循环队列为什么要区分“空”和“满”？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递归深度很大时，如何改用显式栈？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看到“没有结果”时，应该返回 optional、布尔值还是抛异常？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33 / 42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空栈用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empty()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判断；循环队列用额外槽位或计数区分空和满。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递归深度大时，把待处理状态显式压入链式栈。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可预期缺失通常返回 optional；违反调用契约的越界通常抛异常。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队列出队要推进 front，不能只读值而不改变状态。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34 / 42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状态演算：后缀式求值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输入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2 3 + 4 *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：读 2、3 后栈为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[2,3]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；读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+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弹出 3、2 压入 5；读 4 后为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[5,4]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；读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*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得 20。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35 / 42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反例：弹出顺序写反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减法和除法不满足交换律。栈顶是右操作数，先弹出的值必须放在右边，否则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8 2 -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会被错误算成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2-8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36 / 42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课堂练习：画出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6 2 / 3 +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每一步栈状态。答案：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[6,2]→[3]→[3,3]→[6]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37 / 42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算法轨：背包递归与显式栈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186410"/>
            <a:ext cx="11058144" cy="6984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本章的 Python 例子放在背包问题：同一个状态转移先写递归，再改成显式栈；顺序栈和链式栈本身仍用 C++ 展示存储布局。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000650"/>
            <a:ext cx="11058144" cy="4215008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code/ch03/knapsack/modern.py#recursive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knapsack_recursive(capacity: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weights: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list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]) -&gt;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list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 |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"""算法3.10：两条递归规则，返回选中物品的下标。"""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_validate(capacity, weights)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chosen: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list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 = []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solve(remaining: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count: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-&gt;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remaining ==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remaining &lt;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count ==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False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solve(remaining - weights[count -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], count -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chosen.append(count -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solve(remaining, count -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chosen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solve(capacity,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(weights))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38 / 42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8885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栈 = LIFO，队列 = FIFO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；限制存取点换来 O(1)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顺序实现要处理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扩容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（翻倍 → 摊还 O(1)）和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循环绕回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链式实现没有容量上限，代价是每元素一根指针 + 缓存局部性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空状态用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std::optional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不用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+ 出参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自己管资源就要守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三法则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——原书这一章漏了两次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递归的背后就是运行栈；改显式栈 = 把数据从栈搬到堆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39 / 42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习题与上机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3610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书面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：Catalan 数（出栈序列个数）、双栈模拟队列、中缀转后缀手工演算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上机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code/ch03/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下每个单元都有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teaching_test.cpp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先跑通，再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故意改坏一处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，看哪条断言变红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3488841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code/ch03/array_stack</a:t>
            </a:r>
          </a:p>
        </p:txBody>
      </p:sp>
      <p:sp>
        <p:nvSpPr>
          <p:cNvPr id="6" name="引用线"/>
          <p:cNvSpPr/>
          <p:nvPr/>
        </p:nvSpPr>
        <p:spPr>
          <a:xfrm>
            <a:off x="566928" y="4091532"/>
            <a:ext cx="32004" cy="803224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引用"/>
          <p:cNvSpPr txBox="1"/>
          <p:nvPr/>
        </p:nvSpPr>
        <p:spPr>
          <a:xfrm>
            <a:off x="694944" y="4091532"/>
            <a:ext cx="10820400" cy="8032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判据：</a:t>
            </a:r>
            <a:r>
              <a:rPr lang="zh-CN" sz="2145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把实现退回原书的写法，必须有一条断言会红。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写不出这样的用例，说明还没想清楚那条性质是什么。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40 / 42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单调栈：把“还没找到答案”的位置留下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277112"/>
            <a:ext cx="11058144" cy="1481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栈里放索引，不放值；从左到右扫描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当前值严格大于栈顶值：栈顶的下一个更大位置就是当前下标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等值不弹出，因此语义是“严格更大”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每个位置最多入栈、出栈一次：时间 </a:t>
            </a:r>
            <a:r>
              <a:rPr lang="zh-CN" sz="18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O(n)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，空间 </a:t>
            </a:r>
            <a:r>
              <a:rPr lang="zh-CN" sz="18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O(n)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860040"/>
            <a:ext cx="11058144" cy="3310128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93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code/ch03/monotonic_stack/modern.hpp#next-greater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对每个位置返回右侧第一个严格更大值的位置；不存在时返回 n。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next_greater_indices(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 = values.size();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answer(n, n);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stack;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=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n;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(!stack.empty() &amp;&amp; values[stack.back()] &lt; values[i])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answer[stack.back()] = i;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stack.pop_back();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stack.push_back(i);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answer;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41 / 42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单调栈：直方图最大矩形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327966"/>
            <a:ext cx="11058144" cy="21442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在末尾放一个虚拟高度 </a:t>
            </a:r>
            <a:r>
              <a:rPr lang="zh-CN" sz="12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，把所有未结算柱子弹出。柱子 </a:t>
            </a:r>
            <a:r>
              <a:rPr lang="zh-CN" sz="12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h</a:t>
            </a: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弹出时：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1604622"/>
            <a:ext cx="11058144" cy="7776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352"/>
              </a:spcBef>
              <a:buClr>
                <a:srgbClr val="8A4B2A"/>
              </a:buClr>
              <a:buFont typeface="Arial"/>
              <a:buChar char="●"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右边界是当前下标，左边界是新的栈顶加一</a:t>
            </a:r>
          </a:p>
          <a:p>
            <a:pPr marL="270000" indent="-230000" lvl="0">
              <a:lnSpc>
                <a:spcPct val="100000"/>
              </a:lnSpc>
              <a:spcBef>
                <a:spcPts val="352"/>
              </a:spcBef>
              <a:buClr>
                <a:srgbClr val="8A4B2A"/>
              </a:buClr>
              <a:buFont typeface="Arial"/>
              <a:buChar char="●"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宽度 = 右边界 - 左边界</a:t>
            </a:r>
          </a:p>
          <a:p>
            <a:pPr marL="270000" indent="-230000" lvl="0">
              <a:lnSpc>
                <a:spcPct val="100000"/>
              </a:lnSpc>
              <a:spcBef>
                <a:spcPts val="352"/>
              </a:spcBef>
              <a:buClr>
                <a:srgbClr val="8A4B2A"/>
              </a:buClr>
              <a:buFont typeface="Arial"/>
              <a:buChar char="●"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面积 = </a:t>
            </a:r>
            <a:r>
              <a:rPr lang="zh-CN" sz="12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h × width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2453435"/>
            <a:ext cx="11058144" cy="339303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00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code/ch03/monotonic_stack/modern.hpp#histogram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直方图最大矩形面积；在末尾放一个 0，统一清空仍有候选边界的栈。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largest_rectangle_area(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heights)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height : heights)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(height &lt; </a:t>
            </a:r>
            <a:r>
              <a:rPr lang="zh-CN" sz="84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std::invalid_argument(</a:t>
            </a:r>
            <a:r>
              <a:rPr lang="zh-CN" sz="840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"histogram height must be non-negative"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std::vector&lt;std::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stack;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best = </a:t>
            </a:r>
            <a:r>
              <a:rPr lang="zh-CN" sz="84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= </a:t>
            </a:r>
            <a:r>
              <a:rPr lang="zh-CN" sz="84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&lt;= heights.size();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current = i == heights.size() ? </a:t>
            </a:r>
            <a:r>
              <a:rPr lang="zh-CN" sz="84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: heights[i];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(!stack.empty() &amp;&amp; heights[stack.back()] &gt; current)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top = stack.back();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stack.pop_back();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left = stack.empty() ? </a:t>
            </a:r>
            <a:r>
              <a:rPr lang="zh-CN" sz="84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: stack.back() + </a:t>
            </a:r>
            <a:r>
              <a:rPr lang="zh-CN" sz="84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width =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&gt;(i - left);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area =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8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&gt;(heights[top]) * width;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(area &gt; best) best = area;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stack.push_back(i);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84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best;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84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882028"/>
            <a:ext cx="11058144" cy="21442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独立验证用枚举区间最小高度对拍，不用单调栈当自己的答案。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第3章 栈与队列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42 / 42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42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第3章 栈与队列</dc:title>
  <dc:creator>dsa-modernization</dc:creator>
  <cp:revision>1</cp:revision>
</cp:coreProperties>
</file>