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最后一句先埋下，讲到 4.3 时兑现。这是本书在这一章最硬的一个发现，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四组数据对拍证实，值得当场演示。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可以问一句："abc" 和 "abcd" 谁大？"Z" 和 "a" 谁大？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后一个引出：比的是字符集里的编码值，不是字母表顺序。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两处要讲：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空串仍然申请 1 个字节放 '\0'——这样 c_str() 永远返回合法的 C 字符串，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调用方不必先判空指针。这是个小设计但省掉了一整类 bug。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参数是 const char* 而不是原书的 char*。原书那个签名让它自己书里的例子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String s1 = "Hello"; 从 C++11 起编译不过：字符串字面量的类型是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const char[6]，绑不到 char*。GCC 默认降级为警告，本书 -Werror 下就是错误。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这就是后面章节讨论「预留容量」的动机——std::string 和 vector 都会多要一些，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把摊还代价压到 O(1)。本书的 String 不做这个优化，为的是让代价看得见。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返回 String&amp; 而不是原书的按值返回：调用方从签名一眼看出它改的是本串，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而且 s.append('a').append('b') 可以连着写。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这与第 2 章 getPos 那一处是同一个问题、同一个改法。可以回头指一下。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比较那边也有一处：原书自己实现了一个 strcmp，返回值固定 -1/0/1，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并在正文里说「这与 C/C++ 通常的习惯不一致」——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其实不一致的是原书自己：标准 strcmp 返回的就是差值的符号，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调用方本来就只该看符号。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课程 2021 秋的《教材1-6章勘误表》独立发现了同一处（错误编号 10 和 13），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可以作为佐证提一句：这不是我们看错了。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顺带：原书正文里 next 数组比模式还长一位，与图4.11 自相矛盾。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这是全章最难的一页，值得慢讲。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关键在于让学生理解：next[i] 说的是「失配在 i 时，模式该退到哪个位置继续比」，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而不是「退多少位」。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这段代码本身就是一个 KMP——用模式串跟自己匹配，非常值得指出来。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原书【算法4.7】的 while 条件是 i&lt;m 并在循环里加了 if(i==m) break；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课程勘误表指出应为 i&lt;m-1，那句 break 是多余的。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完整实现见 code/ch04/pattern_matching/modern.hpp。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3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611056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69907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一类内容受限的线性表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：每个元素都是字符。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427031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两件事要分开：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3822255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保存字符串的类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：容量、复制、下标边界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在文本里找模式的算法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：比较顺序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61371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本章有一处不是写法问题，是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算法结果错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——原书两个匹配算法返回的位置都差 1。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4.1 基本概念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串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：零个或多个字符组成的有限序列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长度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：串中字符的数目；长度为 0 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空串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子串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：串中任意个连续字符组成的序列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50601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比较两个串的大小：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从左到右逐字符比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第一个不同的字符谁大串就谁大；都相同则短的小。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29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4.1.1 字符编码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2423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字符串的逻辑元素是“字符”，内存中保存的是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编码单元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354537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1645557"/>
                <a:gridCol w="3291114"/>
                <a:gridCol w="6121473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编码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一个码点占用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关键事实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ASCII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 字节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只覆盖 0–127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UTF-8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1–4 字节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与 ASCII 兼容，长度可变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要点"/>
          <p:cNvSpPr txBox="1"/>
          <p:nvPr/>
        </p:nvSpPr>
        <p:spPr>
          <a:xfrm>
            <a:off x="566928" y="366114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C++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是一个字节，不等于一个人眼字符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std::string::size()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返回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字节数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数 Unicode 字符必须解码，不能按字节下标猜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1714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u8"..."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表示 UTF-8 字节序列；接口仍是字符串的查找与拼接。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29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4.1.2 编码顺序不等于语言顺序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ASCII 中数字、大写字母、小写字母各自连续递增， 但码元顺序不是中文拼音、重音或大小写折叠后的自然语言顺序。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0863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std::string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，比较的是编码单元字典序：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338931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"123" &lt; "1234" &lt; "23"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8755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前缀相同时，较短者更小。比较前必须约定编码与规范化方式。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33984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C++ 陷阱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：两边都是字符串字面量时，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&lt;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比的是数组地址； 至少一边先转成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std::string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，才是内容比较。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29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4.2 变长存储：这一节的正题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46891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字符串长度会变。所以要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动态分配、按新长度重新开辟、拷贝、释放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pic>
        <p:nvPicPr>
          <p:cNvPr id="5" name="图4.3 创建字符串的示意图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415415" y="1999212"/>
            <a:ext cx="9361170" cy="2708052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4740284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图4.3 创建字符串的示意图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12858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所以这里是手写的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缓冲区，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不是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std::string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换成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std::string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，这一节就没了。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29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空串也要占一个字节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37325"/>
            <a:ext cx="11058144" cy="478532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code/ch04/string_class/teaching.hpp#fn:String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空串。**注意它仍然申请了 1 个字节**，里面放一个 '\0'。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这样 c_str() 永远返回一个合法的 C 字符串，调用方不必先判空指针。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String() : data_(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]), size_(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data_[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= </a:t>
            </a:r>
            <a:r>
              <a:rPr lang="zh-CN" sz="983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'\0'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从 C 字符串构造。参数是 `const char*` 而不是原书的 `char*`——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原书那个签名让它自己书里的例子 `String s1 = "Hello";` 从 C++11 起就编译不过：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字符串字面量的类型是 const char[6]，绑不到 char*。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这里**故意不加 explicit**，为的就是保住 `String s1 = "Hello";` 这种写法。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String(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* s) {   </a:t>
            </a: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NOLINT(google-explicit-constructor)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 ==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nullptr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983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"String: 不能用空指针构造字符串"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size_ = std::strlen(s);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 =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[size_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std::memcpy(data_, s, size_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   </a:t>
            </a: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+1 把结尾那个 '\0' 也带上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三法则：自己管着 new 出来的缓冲区，拷贝必须自己写。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原书正文里描述过赋值时「必须释放 s1 的原有空间」，却没有把拷贝构造和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拷贝赋值作为清单给出。只有析构没有这两个，一次 `String b = a;` 就是二次释放。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String(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String&amp; other) : data_(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[other.size_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]), size_(other.size_)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std::memcpy(data_, other.data_, size_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29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追加：为什么是 O(n)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406906"/>
            <a:ext cx="11058144" cy="393192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code/ch04/string_class/teaching.hpp#fn:append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在串尾添加一个字符。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**变长存储的代价在这里看得最清楚**：字符串长度变了，就得重新申请一块、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把老内容拷过去、再把老的还回去。所以 append 一个字符是 O(n)，不是 O(1)。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返回自身引用，于是 `s.append('a').append('b')` 可以连着写；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原书【代码4.1】声明的是**按值返回**，调用方从签名看不出它改不改本串。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String&amp; append(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* fresh =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[size_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        </a:t>
            </a: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老内容 + 新字符 + '\0'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std::memcpy(fresh, data_, size_);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fresh[size_] = c;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fresh[size_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= </a:t>
            </a:r>
            <a:r>
              <a:rPr lang="zh-CN" sz="1200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'\0'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[] data_;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data_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++size_;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*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this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389626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变长存储的代价在这里看得最清楚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：长度变了，就得重新申请一块、 把老内容拷过去、再把老的还回去。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46750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所以追加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字符是 O(n)，不是 O(1)。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29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抽取子串：原书这里会崩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原书【算法4.5】在起始位置越界时写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return NULL;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返回类型是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String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，所以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NULL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不是空串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它先转成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，再走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String(char*)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构造函数，于是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strlen(nullptr)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3338931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$ ./s7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准备调用 s.Substr(99, 1)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runtime error: null pointer passed as argument 1, which is declared to never be null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AddressSanitizer:DEADLYSIGNAL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ERROR: AddressSanitizer: SEGV on unknown address 0x000000000000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95335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这段能编译，崩在运行期。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29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现代写法：越界就抛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69830"/>
            <a:ext cx="11058144" cy="393641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code/ch04/string_class/teaching.hpp#fn:substr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【算法4.5】从 pos 开始取长度至多 len 的子串。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原书在 `pos &gt;= size` 时 `return NULL;`。那不是「返回空串」——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NULL 会去走 String(char*) 构造函数，然后 strlen(nullptr) 当场段错误。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这里越界就抛异常，让错误停在发生的地方。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pos == size() 是合法的，得到空串（「从末尾取 0 个字符」）。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String substr(size_type pos, size_type len)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(pos &gt; size_)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983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"String::substr: 起始位置越界"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size_type available = size_ - pos;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size_type take = (len &lt; available) ? len : available;   </a:t>
            </a: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原书的 if (n &gt; left) n = left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String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* fresh =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[take +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std::memcpy(fresh, data_ + pos, take);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fresh[take] = </a:t>
            </a:r>
            <a:r>
              <a:rPr lang="zh-CN" sz="983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'\0'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delete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[] result.data_;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result.data_ = fresh;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result.size_ = take;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5279137"/>
            <a:ext cx="11058144" cy="9110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1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越界抛 </a:t>
            </a:r>
            <a:r>
              <a:rPr lang="zh-CN" sz="147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std::out_of_range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，让错误停在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发生的地方</a:t>
            </a:r>
          </a:p>
          <a:p>
            <a:pPr marL="270000" indent="-230000" lvl="0">
              <a:lnSpc>
                <a:spcPct val="100000"/>
              </a:lnSpc>
              <a:spcBef>
                <a:spcPts val="41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47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pos == size()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合法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的，得到空串</a:t>
            </a:r>
          </a:p>
          <a:p>
            <a:pPr marL="270000" indent="-230000" lvl="0">
              <a:lnSpc>
                <a:spcPct val="100000"/>
              </a:lnSpc>
              <a:spcBef>
                <a:spcPts val="41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47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超出剩余长度时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截断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，与原书 </a:t>
            </a:r>
            <a:r>
              <a:rPr lang="zh-CN" sz="147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if (n &gt; left) n = left;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一致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29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查找与比较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716227"/>
            <a:ext cx="11058144" cy="316504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code/ch04/string_class/teaching.hpp#fn:find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【算法4.4】从 start 开始查找字符 c。找到返回下标，没找到返回空 optional。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原书用 -1 表示没找到——与「位置 0」只差一个符号，忘了判就会读错位置。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std::optional&lt;size_type&gt; find(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c, size_type start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(size_type i = start; i &lt; size_; ++i)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(data_[i] == c)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947310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-1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表示没找到——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与「位置 0」只差一个符号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调用方漏判就会把「没找到」当成「匹配在开头」。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29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4.3 模式匹配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06556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在正文 T 里找模式 P 第一次出现的位置。</a:t>
            </a:r>
          </a:p>
        </p:txBody>
      </p:sp>
      <p:pic>
        <p:nvPicPr>
          <p:cNvPr id="5" name="图 4.6 朴素匹配的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825763" y="1565529"/>
            <a:ext cx="6540474" cy="4073651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5661532"/>
            <a:ext cx="11058144" cy="2329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1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4.6 朴素匹配的示例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939154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朴素做法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：把 P 对齐到 T 的每个位置试一遍， 失配就把 P 整体右移一位，从头再比。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29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朴素匹配：手动走一遍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753540"/>
            <a:ext cx="11058144" cy="262615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文本 T   a b a b c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模式 P   a b c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对齐 0:  a b a b c      比 a=a, b=b, a!=c   失配, P 右移一位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a b c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对齐 1:  a b a b c      比 b!=a             失配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a b c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对齐 2:  a b a b c      比 a=a, b=b, c=c    匹配! 返回 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a b c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445736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每次失配，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文本指针退回去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从下一个位置重来。 最坏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× 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：T 全是 a、P 是 aaab 时，每次都要比到最后一个。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0821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code/ch04/pattern_matching/modern.hpp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29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原书这里算错了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原书【算法4.6】和【算法4.8】匹配成功时返回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j - pLen + 1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在 0 起始下标下，这个值一律差 1。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2940710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文本    abcddabcababcdaabcababcdaabcabaa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模式    abcdaabcab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正确起始下标  10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原书返回      11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28569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四组数据对拍证实。本书返回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j - pLen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29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有没有更好的办法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文本    a b a b c a b c a c b a b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模式    a b a b c a b c a c b a b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^ 在这里失配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8772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失配时，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前面那一段是已经比对过的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——它的内容我们完全知道。 朴素做法把这份信息全扔了，退回去从头再比。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95020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KMP 的想法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：利用失配位置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之前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的信息，直接算出该滑多远， 文本指针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永不回退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29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特征向量 next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对模式 P 的每个位置 i，问：</a:t>
            </a:r>
          </a:p>
        </p:txBody>
      </p:sp>
      <p:sp>
        <p:nvSpPr>
          <p:cNvPr id="5" name="引用线"/>
          <p:cNvSpPr/>
          <p:nvPr/>
        </p:nvSpPr>
        <p:spPr>
          <a:xfrm>
            <a:off x="566928" y="2476449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引用"/>
          <p:cNvSpPr txBox="1"/>
          <p:nvPr/>
        </p:nvSpPr>
        <p:spPr>
          <a:xfrm>
            <a:off x="694944" y="2476449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P[0..i-1]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这一段里，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最长的「既是前缀又是后缀」的长度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是多少？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3046717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        a  b  a  b  c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下标     0  1  2  3  4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next    -1  0  0  1  2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12225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next[3] =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P[0..2] = "aba"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，前缀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和后缀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相同，长度 1。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29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计算 next：用模式串跟自己匹配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      a  b  a  b  c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i      0  1  2  3  4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next  -1  0  0  1  2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3137255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next[2] = 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P[0..1] = "ab"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，没有相同的前后缀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next[3] =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P[0..2] = "aba"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，前缀 a 和后缀 a 相同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next[4] = 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P[0..3] = "abab"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，前缀 ab 和后缀 ab 相同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64758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代价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：i 只增不减，k 每次至多增 1， 所以总回退次数不超过总前进次数。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29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KMP：失配时模式退，文本不退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4.12 KMP 匹配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30687"/>
            <a:ext cx="11058144" cy="279838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056252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4.12 KMP 匹配示例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383858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失配在模式的第 j 位时：</a:t>
            </a:r>
          </a:p>
        </p:txBody>
      </p:sp>
      <p:sp>
        <p:nvSpPr>
          <p:cNvPr id="7" name="代码"/>
          <p:cNvSpPr txBox="1"/>
          <p:nvPr/>
        </p:nvSpPr>
        <p:spPr>
          <a:xfrm>
            <a:off x="566928" y="4820336"/>
            <a:ext cx="11058144" cy="64471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朴素   j = 0        文本指针 i 退回到本次对齐的下一位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KMP    j = next[j]  文本指针 i 一步都不退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519404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「文本指针永不回退」是全部的关键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——i 只增不减，所以是 </a:t>
            </a:r>
            <a:r>
              <a:rPr lang="zh-CN" sz="192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+ m)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正文"/>
          <p:cNvSpPr txBox="1"/>
          <p:nvPr/>
        </p:nvSpPr>
        <p:spPr>
          <a:xfrm>
            <a:off x="566928" y="5901526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完整实现见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code/ch04/pattern_matching/modern.hpp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10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11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29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朴素与 KMP：代价对照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2446492"/>
                <a:gridCol w="4477080"/>
                <a:gridCol w="4134572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朴素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KMP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预处理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O(m)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建 next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× m)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+ m)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文本指针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会回退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永不回退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额外空间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O(m)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10782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「文本指针永不回退」不只是快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——它让 KMP 能处理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流式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输入： 文本可以边读边匹配，不需要缓存回退。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29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课堂讲解卡：字符串是带边界的序列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字符串问题先处理编码、长度和边界，再讨论匹配算法。空串、非 ASCII 字符和越界输入不能留到最后才补。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29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课堂例题：模式 </a:t>
            </a:r>
            <a:r>
              <a:rPr lang="zh-CN" sz="3200" dirty="0" b="1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ABABC</a:t>
            </a: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在文本中的匹配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朴素算法失配后把文本指针退回；KMP 使用已经匹配的前缀信息，只让模式串退，文本指针不退。 课堂上逐字符标出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，让学生说出每次失配后模式串应退到哪里。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29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</a:t>
            </a:r>
            <a:r>
              <a:rPr lang="zh-CN" sz="3200" dirty="0" b="1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ABABC</a:t>
            </a: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的回退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模式前缀中最长相等真前缀/后缀长度为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0,0,1,2,0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（按实现约定可能整体右移一格）。失配时文本指针不退，模式串按表回退，因此匹配阶段为线性扫描。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29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字节数、字符数和显示宽度是否混为一谈？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子串下标越界时接口给出什么行为？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表示的到底是前缀长度还是回退位置？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能否说明 KMP 为什么是 O(n+m)？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29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字节数、字符数、显示宽度是不同层次，UTF-8 下不能混用。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子串越界应抛异常或返回明确错误状态。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next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的含义必须以实现约定为准。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KMP 预处理 O(m)，匹配 O(n)，合计 O(n+m)。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29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状态演算：KMP 失配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模式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ABABC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已匹配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ABAB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后遇到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失配；模式不能退回文本，而是依据最长相等前后缀退到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AB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，继续比较。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29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反例：文本指针回退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朴素算法可回退文本指针，但 KMP 若也回退，就失去线性复杂度；重复字符文本会造成二次扫描。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29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课堂练习：写出模式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AAAA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的前缀表。答案：按“前缀长度”约定为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0,1,2,3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；若实现采用回退下标，需按代码约定平移。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29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算法轨：KMP 模式匹配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88037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字符串缓冲区的容量、所有权和异常安全用 C++ 展示；朴素匹配和 KMP 用 Python 对照算法步骤。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824515"/>
            <a:ext cx="11058144" cy="419307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code/ch04/pattern_matching/modern.py#kmp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kmp_search(text: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pattern: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next_values: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|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-&gt;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|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"""KMP 匹配；目标串下标只向前移动。"""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pattern: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next_values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is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next_values = build_next(pattern)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(next_values) !=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(pattern):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raise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ValueError(</a:t>
            </a:r>
            <a:r>
              <a:rPr lang="zh-CN" sz="1284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"kmp_search: next 数组长度与模式不符"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i 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j 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&lt;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(pattern)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and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j &lt;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(text):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== -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or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text[j] == pattern[i]: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i +=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j +=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i = next_values[i]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j -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(pattern)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 ==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(pattern)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29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32868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字符串是元素受限的线性表；本章正题是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变长存储管理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长度一变就要重新申请、拷贝、释放 → 追加一个字符是 O(n)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原书三处硬伤：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String(char*)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让书里自己的例子编译不过；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Substr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越界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return NULL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运行期崩；两个匹配算法返回值差 1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optional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而不是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-1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——与第 2 章同一条口径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KMP 的核心是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利用失配前已知的信息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，文本指针永不回退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代价从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× 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降到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+ 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，换来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O(m)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next 表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29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code/ch04/pattern_matching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59836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用图 4.12 那对串跑一遍，确认返回 10 而不是 11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KMP 失配时的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j = next[j]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改成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j = 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，看结果和耗时怎么变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造一组最坏输入（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aaaa...a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找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aaab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），比较两个算法的比较次数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174742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174742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测试里有 3000 组随机对拍：朴素和 KMP 必须给出同样的答案。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第4章 字符串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29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第4章 字符串</dc:title>
  <dc:creator>dsa-modernization</dc:creator>
  <cp:revision>1</cp:revision>
</cp:coreProperties>
</file>