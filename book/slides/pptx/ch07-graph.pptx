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infinity 取 INT_MAX/4 而不是 INT_MAX——Floyd 里两个 infinity 会相加，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用 INT_MAX 就溢出了，而有符号溢出是未定义行为。这一处第 1 章也讲过。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无向图加边要加两次，本书用 directed 参数表达。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本书的 GraphList 里埋了一个教学计数器 scan_steps()，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可以把「扫过多少条边」量出来，让 O(V+E) 和 O(V^2) 的差别不是纸上说说。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上机题就用它。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树的周游不需要 seen，因为树没有回路。这是图与树的第一个实质差别。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DFS 递归写法的深度是路径长度，极端图上仍有爆栈风险——第 3 章那张表适用。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BFS 用队列，DFS 用栈（递归的运行栈）——这个对偶第 5 章讲二叉树时已经出现过。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BFS 的一个重要性质：在无权图上，它给出的就是最短路（按边数）。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Dijkstra 可以看成 BFS 在带权图上的推广，把队列换成了优先队列。</a:t>
            </a:r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常见误解：把所有边权统一加一个常数就能处理负权。不行——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加常数会按路径的边数增加不同的总量，边多的路径被罚得更重，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最短路的次序因此会变。这是课程习题里的一道题。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负权要用 Bellman-Ford。</a:t>
            </a:r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这是第 1 章那个股市传言问题用的算法，可以回头指一下。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代价 O(V^3)，与边数无关，所以稠密图上比跑 V 次 Dijkstra 还划算。</a:t>
            </a:r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Prim 和 Dijkstra 长得极像，都是「每轮挑一个最小的加进来」。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差别在比什么：Dijkstra 比的是「到源点的距离」，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Prim 比的是「到当前树的距离」。一个字之差，结果完全不同。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这也是课程习题里的一道题：AB=2, BC=2, AC=3 时，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Dijkstra 树总权 5，MST 总权 4。</a:t>
            </a:r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这是全书结构复用最漂亮的一处：第 6 章讲父指针表示法时看不出用途，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到这里成了 Kruskal 的核心零件。可以回头指一下。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稀疏图上 Kruskal 好（边少，排序快），稠密图上 Prim 好。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实现见 code/ch07/graph/modern.hpp 的 kruskal。</a:t>
            </a:r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这是最常见的一个混淆，值得单独一页。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可以让学生自己在纸上画一遍，比直接给结论有效。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2.png"/><Relationship Id="rId101" Type="http://schemas.openxmlformats.org/officeDocument/2006/relationships/image" Target="../media/image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5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6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7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609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40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3" name="标题线"/>
          <p:cNvSpPr/>
          <p:nvPr/>
        </p:nvSpPr>
        <p:spPr>
          <a:xfrm>
            <a:off x="4216116" y="1057656"/>
            <a:ext cx="3759768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副标题"/>
          <p:cNvSpPr txBox="1"/>
          <p:nvPr/>
        </p:nvSpPr>
        <p:spPr>
          <a:xfrm>
            <a:off x="566928" y="2048954"/>
            <a:ext cx="11058144" cy="3318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9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数据结构与算法：Python 讲可迁移算法，C++ 讲存储与工程实现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507805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结点之间的关系可以是任意的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——比线性、树形都复杂。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2903029"/>
            <a:ext cx="11058144" cy="22219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7.1 定义与基本术语：顶点、边、度、路径、连通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7.2 图的抽象数据类型：对外有哪些运算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7.3 存储：相邻矩阵 vs 邻接表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7.4 周游：DFS、BFS、拓扑排序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7.5 最短路径：Dijkstra、Floyd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7.6 最小生成树：Prim、Kruskal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175821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一条主线：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几乎每个算法的代价，都取决于图怎么存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 / 33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7.1 基本术语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7.2 图的示例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1260475"/>
            <a:ext cx="11058144" cy="2831963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4121393"/>
            <a:ext cx="11058144" cy="28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424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7.2 图的示例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4510793"/>
            <a:ext cx="11058144" cy="16887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74"/>
              </a:spcBef>
              <a:buClr>
                <a:srgbClr val="8A4B2A"/>
              </a:buClr>
              <a:buFont typeface="Arial"/>
              <a:buChar char="●"/>
            </a:pPr>
            <a:r>
              <a:rPr lang="zh-CN" sz="2052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G = (V, E)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：顶点集 + 边集</a:t>
            </a:r>
          </a:p>
          <a:p>
            <a:pPr marL="270000" indent="-230000" lvl="0">
              <a:lnSpc>
                <a:spcPct val="100000"/>
              </a:lnSpc>
              <a:spcBef>
                <a:spcPts val="574"/>
              </a:spcBef>
              <a:buClr>
                <a:srgbClr val="8A4B2A"/>
              </a:buClr>
              <a:buFont typeface="Arial"/>
              <a:buChar char="●"/>
            </a:pP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无向图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的边是顶点对 </a:t>
            </a:r>
            <a:r>
              <a:rPr lang="zh-CN" sz="2052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(u,v)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</a:t>
            </a: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有向图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的边（弧）是序偶 </a:t>
            </a:r>
            <a:r>
              <a:rPr lang="zh-CN" sz="2052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⟨u,v⟩</a:t>
            </a:r>
          </a:p>
          <a:p>
            <a:pPr marL="270000" indent="-230000" lvl="0">
              <a:lnSpc>
                <a:spcPct val="100000"/>
              </a:lnSpc>
              <a:spcBef>
                <a:spcPts val="574"/>
              </a:spcBef>
              <a:buClr>
                <a:srgbClr val="8A4B2A"/>
              </a:buClr>
              <a:buFont typeface="Arial"/>
              <a:buChar char="●"/>
            </a:pP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度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：无向图看关联的边数；有向图分</a:t>
            </a: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入度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和</a:t>
            </a: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出度</a:t>
            </a:r>
          </a:p>
          <a:p>
            <a:pPr marL="270000" indent="-230000" lvl="0">
              <a:lnSpc>
                <a:spcPct val="100000"/>
              </a:lnSpc>
              <a:spcBef>
                <a:spcPts val="574"/>
              </a:spcBef>
              <a:buClr>
                <a:srgbClr val="8A4B2A"/>
              </a:buClr>
              <a:buFont typeface="Arial"/>
              <a:buChar char="●"/>
            </a:pP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路径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回路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连通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连通分量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 / 33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连通与强连通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7.5 非连通无向图的连通分量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76633" y="1223010"/>
            <a:ext cx="10438733" cy="3157080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4396854"/>
            <a:ext cx="11058144" cy="1861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8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图7.5 非连通无向图的连通分量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4641646"/>
            <a:ext cx="11058144" cy="4888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332"/>
              </a:spcBef>
              <a:buClr>
                <a:srgbClr val="8A4B2A"/>
              </a:buClr>
              <a:buFont typeface="Arial"/>
              <a:buChar char="●"/>
            </a:pPr>
            <a:r>
              <a:rPr lang="zh-CN" sz="118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无向图：任意两点有路径 → </a:t>
            </a:r>
            <a:r>
              <a:rPr lang="zh-CN" sz="1188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连通</a:t>
            </a:r>
            <a:r>
              <a:rPr lang="zh-CN" sz="118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；极大连通子图 → </a:t>
            </a:r>
            <a:r>
              <a:rPr lang="zh-CN" sz="1188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连通分量</a:t>
            </a:r>
          </a:p>
          <a:p>
            <a:pPr marL="270000" indent="-230000" lvl="0">
              <a:lnSpc>
                <a:spcPct val="100000"/>
              </a:lnSpc>
              <a:spcBef>
                <a:spcPts val="332"/>
              </a:spcBef>
              <a:buClr>
                <a:srgbClr val="8A4B2A"/>
              </a:buClr>
              <a:buFont typeface="Arial"/>
              <a:buChar char="●"/>
            </a:pPr>
            <a:r>
              <a:rPr lang="zh-CN" sz="118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有向图：任意两点</a:t>
            </a:r>
            <a:r>
              <a:rPr lang="zh-CN" sz="1188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互相</a:t>
            </a:r>
            <a:r>
              <a:rPr lang="zh-CN" sz="118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可达 → </a:t>
            </a:r>
            <a:r>
              <a:rPr lang="zh-CN" sz="1188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强连通</a:t>
            </a:r>
            <a:r>
              <a:rPr lang="zh-CN" sz="118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；极大者 → </a:t>
            </a:r>
            <a:r>
              <a:rPr lang="zh-CN" sz="1188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强连通分量</a:t>
            </a:r>
          </a:p>
        </p:txBody>
      </p:sp>
      <p:pic>
        <p:nvPicPr>
          <p:cNvPr id="7" name="图 7.6 有向图的两个强连通分量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5417500" y="5197538"/>
            <a:ext cx="1356999" cy="836550"/>
          </a:xfrm>
          <a:prstGeom prst="rect">
            <a:avLst/>
          </a:prstGeom>
        </p:spPr>
      </p:pic>
      <p:sp>
        <p:nvSpPr>
          <p:cNvPr id="8" name="图注"/>
          <p:cNvSpPr txBox="1"/>
          <p:nvPr/>
        </p:nvSpPr>
        <p:spPr>
          <a:xfrm>
            <a:off x="566928" y="6050852"/>
            <a:ext cx="11058144" cy="1861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8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7.6 有向图的两个强连通分量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 / 33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7.2 图的 ADT：对外有哪些运算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1320727"/>
          <a:ext cx="11058144" cy="3044032"/>
        </p:xfrm>
        <a:graphic>
          <a:graphicData uri="http://schemas.openxmlformats.org/drawingml/2006/table">
            <a:tbl>
              <a:tblPr firstRow="1"/>
              <a:tblGrid>
                <a:gridCol w="1486309"/>
                <a:gridCol w="4458929"/>
                <a:gridCol w="5112906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运算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干什么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Graph</a:t>
                      </a: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上的名字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构造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指定顶点数建一张空图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Graph(count)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加边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加一条带权边（可选有向/无向）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Graph::add_edge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问规模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有多少个顶点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Graph::vertices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周游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深度优先 / 广度优先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Graph::dfs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/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Graph::bfs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拓扑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排一个线性次序，有环则说不出来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Graph::topological_sort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最短路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单源 / 每对顶点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Graph::dijkstra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/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Graph::floyd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最小生成树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从点长 / 从边挑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Graph::prim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/ </a:t>
                      </a: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Graph::kruskal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4480329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「有环」「不连通」不是异常，是可预期的结果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——所以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topological_sort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prim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kruskal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返回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std::optional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，空值就是答案。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342811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原书【代码7.1】【代码7.2】的 ADT 声明残缺，标识符还被 OCR 的空格切断。 本书直接把运算定义在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Graph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上。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 / 33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7.3.1 相邻矩阵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172921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“相邻矩阵”是原书沿用的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历史教材称呼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；现代资料通常称</a:t>
            </a:r>
            <a:r>
              <a:rPr lang="zh-CN" sz="1584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邻接矩阵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（adjacency matrix）。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1487190"/>
            <a:ext cx="11058144" cy="26956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5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m[i][j]</a:t>
            </a:r>
            <a:r>
              <a:rPr lang="zh-CN" sz="1584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是 i 到 j 一条边的权，不通就是「无穷大」。</a:t>
            </a:r>
          </a:p>
        </p:txBody>
      </p:sp>
      <p:sp>
        <p:nvSpPr>
          <p:cNvPr id="6" name="代码"/>
          <p:cNvSpPr txBox="1"/>
          <p:nvPr/>
        </p:nvSpPr>
        <p:spPr>
          <a:xfrm>
            <a:off x="566928" y="1846163"/>
            <a:ext cx="11058144" cy="4396191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23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code/ch07/graph/modern.hpp#graph-build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explicit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Graph(std::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count) : adjacency_(count, std::vector&lt;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&gt;(count, infinity))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vertex =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vertex &lt; count; ++vertex)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adjacency_[vertex][vertex] =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[[nodiscard]] 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vertices()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noexcept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adjacency_.size();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add_edge(std::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from, 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to, 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weight, 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directed =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check_vertex(from);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check_vertex(to);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(weight &lt;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std::invalid_argument(</a:t>
            </a:r>
            <a:r>
              <a:rPr lang="zh-CN" sz="1056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"negative edge"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(weight &gt;= infinity) {  </a:t>
            </a:r>
            <a:r>
              <a:rPr lang="zh-CN" sz="1056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infinity 表示「无边」，这么大的权存进去就被当成没有边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throw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std::invalid_argument(</a:t>
            </a:r>
            <a:r>
              <a:rPr lang="zh-CN" sz="1056" dirty="0">
                <a:solidFill>
                  <a:srgbClr val="7A5C1E"/>
                </a:solidFill>
                <a:latin typeface="Noto Sans Mono CJK SC"/>
                <a:ea typeface="Noto Sans Mono CJK SC"/>
                <a:cs typeface="Noto Sans Mono CJK SC"/>
              </a:rPr>
              <a:t>"edge weight must be below Graph::infinity"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adjacency_[from][to] = weight;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(!directed)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adjacency_[to][from] = weight;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5 / 33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7.3.2 邻接表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7.12 无向图的邻接表表示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80491" y="1581715"/>
            <a:ext cx="10431018" cy="3477006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091741"/>
            <a:ext cx="11058144" cy="3222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6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7.12 无向图的邻接表表示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48004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每个顶点挂一条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边表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，只存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实际存在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的边。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6 / 33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两种存法的代价对照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4146804"/>
                <a:gridCol w="4126476"/>
                <a:gridCol w="2784864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endParaRPr lang="zh-CN" sz="1755"/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相邻矩阵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邻接表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存储量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V²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V + E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遍历某点的邻居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O(V)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，要扫整行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O(deg v)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问 (u,v) 有没有边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 i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O(1)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O(deg u)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DFS / BFS 全图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O(V²)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 i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O(V + E)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403027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稀疏图（</a:t>
            </a:r>
            <a:r>
              <a:rPr lang="zh-CN" sz="2340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E ≪ V²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）用邻接表；稠密图或频繁问「这两点之间有没有边」用矩阵。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49453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没有哪种总是更好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——这正是本章要比较的东西。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7 / 33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7.3.3 十字链表：一条弧进两条链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855446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邻接表只方便沿出边走；十字链表（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经典教材表示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）让同一弧结点同时进入：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2369237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尾点的出边链：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tailnextarc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头点的入边链：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headnextarc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顶点保存：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firstoutarc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与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firstinarc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879570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因此遍历顶点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v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的出边是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O(deg⁺(v))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 遍历入边是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O(deg⁻(v))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，总空间仍是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O(V+E)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742052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更新不变量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：删除弧必须从出链、入链各摘一次； 只改一边，另一方向会留下指向已释放结点的悬空链接。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8 / 33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十字链表：沿哪根指针走？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对一条弧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u → v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，只有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一个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弧结点：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100949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u.firstoutarc -&gt; [tailvex=u | headvex=v | tailnextarc=...] -&gt; 下一条从 u 出发的弧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    ^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v.firstinarc  -&gt; 同一个结点  -- headnextarc --&gt; 下一条指向 v 的弧</a:t>
            </a:r>
          </a:p>
        </p:txBody>
      </p:sp>
      <p:graphicFrame>
        <p:nvGraphicFramePr>
          <p:cNvPr id="6" name="表"/>
          <p:cNvGraphicFramePr>
            <a:graphicFrameLocks noGrp="1"/>
          </p:cNvGraphicFramePr>
          <p:nvPr/>
        </p:nvGraphicFramePr>
        <p:xfrm>
          <a:off x="566928" y="3618026"/>
          <a:ext cx="11058144" cy="1141512"/>
        </p:xfrm>
        <a:graphic>
          <a:graphicData uri="http://schemas.openxmlformats.org/drawingml/2006/table">
            <a:tbl>
              <a:tblPr firstRow="1"/>
              <a:tblGrid>
                <a:gridCol w="2522639"/>
                <a:gridCol w="3593896"/>
                <a:gridCol w="2021566"/>
                <a:gridCol w="2920043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想问什么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从哪里开始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读什么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下一步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u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能去哪里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firstoutarc[u]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headvex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tailnextarc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谁能到 </a:t>
                      </a: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v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firstinarc[v]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tailvex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headnextarc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正文"/>
          <p:cNvSpPr txBox="1"/>
          <p:nvPr/>
        </p:nvSpPr>
        <p:spPr>
          <a:xfrm>
            <a:off x="566928" y="487510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例：插入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0 → 1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0 → 2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3 → 2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后，走 0 的出链得到 1、2；走 2 的入链得到 0、3。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9 / 33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原书式教学实现：两次挂接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71174"/>
            <a:ext cx="11058144" cy="65553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 7.3.3 只有图和字段说明；这里保留截图所用的 </a:t>
            </a:r>
            <a:r>
              <a:rPr lang="zh-CN" sz="192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ArcBox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/ </a:t>
            </a:r>
            <a:r>
              <a:rPr lang="zh-CN" sz="192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VexNode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传统表示， 并补析构和禁用浅拷贝，使教学版可以运行。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035419"/>
            <a:ext cx="11058144" cy="2418892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1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code/ch07/orthogonal_graph/teaching.hpp#orthogonal-teaching-add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add_edge(std::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tail, std::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head, 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info = </a:t>
            </a:r>
            <a:r>
              <a:rPr lang="zh-CN" sz="128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check_vertex(tail);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check_vertex(head);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auto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* arc =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ArcBox{tail, head, vertices_[tail].firstout,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        vertices_[head].firstin, info};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vertices_[tail].firstout = arc;  </a:t>
            </a: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接进 tail 的出边链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vertices_[head].firstin = arc;   </a:t>
            </a:r>
            <a:r>
              <a:rPr lang="zh-CN" sz="1284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同一结点接进 head 的入边链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++arc_count_;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4549434"/>
            <a:ext cx="11058144" cy="15850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39"/>
              </a:spcBef>
              <a:buClr>
                <a:srgbClr val="8A4B2A"/>
              </a:buClr>
              <a:buFont typeface="Arial"/>
              <a:buChar char="●"/>
            </a:pPr>
            <a:r>
              <a:rPr lang="zh-CN" sz="192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new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的是</a:t>
            </a: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一个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</a:t>
            </a:r>
            <a:r>
              <a:rPr lang="zh-CN" sz="192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ArcBox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，不是入边、出边各建一个</a:t>
            </a:r>
          </a:p>
          <a:p>
            <a:pPr marL="270000" indent="-230000" lvl="0">
              <a:lnSpc>
                <a:spcPct val="100000"/>
              </a:lnSpc>
              <a:spcBef>
                <a:spcPts val="539"/>
              </a:spcBef>
              <a:buClr>
                <a:srgbClr val="8A4B2A"/>
              </a:buClr>
              <a:buFont typeface="Arial"/>
              <a:buChar char="●"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先接 </a:t>
            </a:r>
            <a:r>
              <a:rPr lang="zh-CN" sz="192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tailnextarc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再更新 </a:t>
            </a:r>
            <a:r>
              <a:rPr lang="zh-CN" sz="192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firstout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：挂到尾点出链</a:t>
            </a:r>
          </a:p>
          <a:p>
            <a:pPr marL="270000" indent="-230000" lvl="0">
              <a:lnSpc>
                <a:spcPct val="100000"/>
              </a:lnSpc>
              <a:spcBef>
                <a:spcPts val="539"/>
              </a:spcBef>
              <a:buClr>
                <a:srgbClr val="8A4B2A"/>
              </a:buClr>
              <a:buFont typeface="Arial"/>
              <a:buChar char="●"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再接 </a:t>
            </a:r>
            <a:r>
              <a:rPr lang="zh-CN" sz="192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headnextarc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并更新 </a:t>
            </a:r>
            <a:r>
              <a:rPr lang="zh-CN" sz="192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firstin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：同一结点挂到头点入链</a:t>
            </a:r>
          </a:p>
          <a:p>
            <a:pPr marL="270000" indent="-230000" lvl="0">
              <a:lnSpc>
                <a:spcPct val="100000"/>
              </a:lnSpc>
              <a:spcBef>
                <a:spcPts val="539"/>
              </a:spcBef>
              <a:buClr>
                <a:srgbClr val="8A4B2A"/>
              </a:buClr>
              <a:buFont typeface="Arial"/>
              <a:buChar char="●"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表头插入，因此同一顶点的边按“后插先见”遍历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10 / 33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现代实现：谁拥有弧结点？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71616"/>
            <a:ext cx="11058144" cy="23280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36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arcs_</a:t>
            </a: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里的 </a:t>
            </a:r>
            <a:r>
              <a:rPr lang="zh-CN" sz="136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unique_ptr</a:t>
            </a: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是每条弧的唯一所有者；两条交叉链仍是裸的非拥有链接。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1581638"/>
            <a:ext cx="11058144" cy="429670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711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code/ch07/orthogonal_graph/modern.hpp#orthogonal-modern-remove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remove_edge(std::</a:t>
            </a:r>
            <a:r>
              <a:rPr lang="zh-CN" sz="91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tail, std::</a:t>
            </a:r>
            <a:r>
              <a:rPr lang="zh-CN" sz="912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head)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check_vertex(tail);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check_vertex(head);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Arc** out_link = &amp;vertices_[tail].firstout;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(*out_link &amp;&amp; (*out_link)-&gt;head != head)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out_link = &amp;(*out_link)-&gt;tailnextarc;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(!*out_link)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false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Arc* victim = *out_link;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*out_link = victim-&gt;tailnextarc;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Arc** in_link = &amp;vertices_[head].firstin;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(*in_link != victim)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in_link = &amp;(*in_link)-&gt;headnextarc;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*in_link = victim-&gt;headnextarc;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arcs_.erase(std::remove_if(arcs_.begin(), arcs_.end(),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            [victim](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std::unique_ptr&lt;Arc&gt;&amp; owned)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            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owned.get() == victim;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            }),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arcs_.end());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912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12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916950"/>
            <a:ext cx="11058144" cy="23280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删除顺序不能颠倒：出链摘一次，入链摘一次，最后让唯一所有者释放。只摘一条链时， 另一方向的遍历会读到已删除的弧。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11 / 33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7.4 深度优先周游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2356713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code/ch07/graph/modern.hpp#dfs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[[nodiscard]] std::vector&lt;std::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dfs(std::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source)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check_vertex(source);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seen(vertices());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std::vector&lt;std::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result;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visit_depth_first(source, seen, result);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result;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4434941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「一条路走到黑，走不动了退回来」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——和二叉树的前序周游是同一个形状， 只是多了一个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seen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数组：图里有回路，不标记就会绕圈。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12 / 33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广度优先周游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00795"/>
            <a:ext cx="11058144" cy="485839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1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code/ch07/graph/modern.hpp#bfs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[[nodiscard]] std::vector&lt;std::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bfs(std::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source)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check_vertex(source);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seen(vertices());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std::queue&lt;std::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queue;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std::vector&lt;std::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result;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queue.push(source);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seen[source] =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(!queue.empty())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from = queue.front();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queue.pop();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result.push_back(from);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28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to = </a:t>
            </a:r>
            <a:r>
              <a:rPr lang="zh-CN" sz="128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to &lt; vertices(); ++to)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(adjacency_[from][to] &lt; infinity &amp;&amp; !seen[to])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seen[to] =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queue.push(to);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8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result;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8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13 / 33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7.4.3 拓扑排序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7.17 表示课程优先关系的有向无环图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362383" y="1285172"/>
            <a:ext cx="3467233" cy="3824963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137313"/>
            <a:ext cx="11058144" cy="27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337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7.17 表示课程优先关系的有向无环图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464919"/>
            <a:ext cx="11058144" cy="3277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给有向无环图（DAG）排一个线性次序，使</a:t>
            </a: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每条边都从前指向后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847041"/>
            <a:ext cx="11058144" cy="3277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「先修课」就是典型场景。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14 / 33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拓扑排序：不断摘入度为 0 的点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720190"/>
            <a:ext cx="11058144" cy="154838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算出每个顶点的入度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把入度为 0 的都放进队列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只要队列非空: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出队一个 v, 输出它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对 v 的每个后继 w: 入度减一, 减到 0 就入队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334614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两种结局：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848405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所有顶点都输出了 → 排序成功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还有顶点没输出，却找不到入度 0 的 →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图里有环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877307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所以拓扑排序顺带就是一个环检测算法。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534156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实现见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code/ch07/graph/modern.hpp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topological_sort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15 / 33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7.5.1 单源最短路：Dijkstra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7.19 单源最短路径的示例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853305" y="1242333"/>
            <a:ext cx="4485389" cy="4292764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562275"/>
            <a:ext cx="11058144" cy="2732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337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图7.19 单源最短路径的示例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889881"/>
            <a:ext cx="11058144" cy="3277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每一轮：在</a:t>
            </a:r>
            <a:r>
              <a:rPr lang="zh-CN" sz="192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还没确定</a:t>
            </a:r>
            <a:r>
              <a:rPr lang="zh-CN" sz="192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的顶点里挑一个当前距离最小的， 把它标为确定，然后用它去松弛邻居。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16 / 33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Dijkstra 的实现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274572"/>
            <a:ext cx="11058144" cy="4553712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93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code/ch07/graph/modern.hpp#dijkstra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[[nodiscard]] std::vector&lt;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dijkstra(std::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source)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check_vertex(source);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distance(vertices(), infinity);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used(vertices());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distance[source] =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count =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count &lt; vertices(); ++count)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from = nearest_unvisited(distance, used);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(from == vertices() || distance[from] == infinity)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break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used[from] =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to =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to &lt; vertices(); ++to)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(adjacency_[from][to] &lt; infinity &amp;&amp;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distance[to] &gt; distance[from] + adjacency_[from][to])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distance[to] = distance[from] + adjacency_[from][to];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distance;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5879084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前提：边权非负。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有负权边时这个「挑最小就确定」的贪心不成立。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17 / 33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7.5.2 每对顶点：Floyd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297249"/>
            <a:ext cx="11058144" cy="3994099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141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code/ch07/graph/modern.hpp#floyd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[[nodiscard]] std::vector&lt;std::vector&lt;</a:t>
            </a:r>
            <a:r>
              <a:rPr lang="zh-CN" sz="146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&gt;&gt; floyd()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auto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distance = adjacency_;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46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via = </a:t>
            </a:r>
            <a:r>
              <a:rPr lang="zh-CN" sz="146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via &lt; vertices(); ++via)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46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from = </a:t>
            </a:r>
            <a:r>
              <a:rPr lang="zh-CN" sz="146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from &lt; vertices(); ++from)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464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to = </a:t>
            </a:r>
            <a:r>
              <a:rPr lang="zh-CN" sz="1464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to &lt; vertices(); ++to)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(distance[from][via] &lt; infinity &amp;&amp; distance[via][to] &lt; infinity)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 distance[from][to] = std::min(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     distance[from][to], distance[from][via] + distance[via][to]);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464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distance;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464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5353324"/>
            <a:ext cx="11058144" cy="3737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递推的含义：</a:t>
            </a:r>
            <a:r>
              <a:rPr lang="zh-CN" sz="219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允许经过前 k 个顶点中转时的最短路</a:t>
            </a: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789015"/>
            <a:ext cx="11058144" cy="3737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9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k 必须在最外层</a:t>
            </a: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——它是「允许中转的集合」，放到里层递推就不成立了。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18 / 33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7.6 最小生成树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7.8 网络实例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820155" y="1289471"/>
            <a:ext cx="2551690" cy="3374135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4684434"/>
            <a:ext cx="11058144" cy="22015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0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7.8 网络实例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946244"/>
            <a:ext cx="11058144" cy="2511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连通带权无向图的</a:t>
            </a:r>
            <a:r>
              <a:rPr lang="zh-CN" sz="147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生成树</a:t>
            </a: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里，边权总和最小的那一棵。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239085"/>
            <a:ext cx="11058144" cy="2511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两个经典算法，思路完全不同：</a:t>
            </a:r>
          </a:p>
        </p:txBody>
      </p:sp>
      <p:sp>
        <p:nvSpPr>
          <p:cNvPr id="8" name="要点"/>
          <p:cNvSpPr txBox="1"/>
          <p:nvPr/>
        </p:nvSpPr>
        <p:spPr>
          <a:xfrm>
            <a:off x="566928" y="5563167"/>
            <a:ext cx="11058144" cy="6073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41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47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Prim</a:t>
            </a: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：从一个点开始长，每次加一条「连到树外最便宜」的边</a:t>
            </a:r>
          </a:p>
          <a:p>
            <a:pPr marL="270000" indent="-230000" lvl="0">
              <a:lnSpc>
                <a:spcPct val="100000"/>
              </a:lnSpc>
              <a:spcBef>
                <a:spcPts val="413"/>
              </a:spcBef>
              <a:buClr>
                <a:srgbClr val="8A4B2A"/>
              </a:buClr>
              <a:buFont typeface="Arial"/>
              <a:buChar char="●"/>
            </a:pPr>
            <a:r>
              <a:rPr lang="zh-CN" sz="147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Kruskal</a:t>
            </a: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：把边按权排序，能不成环就加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19 / 33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Prim：从点出发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258306"/>
            <a:ext cx="11058144" cy="4943368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23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code/ch07/graph/modern.hpp#prim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[[nodiscard]] std::optional&lt;std::vector&lt;Edge&gt;&gt; prim(std::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source)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check_vertex(source);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distance(vertices(), infinity);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predecessor(vertices());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bool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used(vertices());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std::vector&lt;Edge&gt; result;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distance[source] =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count =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count &lt; vertices(); ++count)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from = nearest_unvisited(distance, used);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(from == vertices() || distance[from] == infinity)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std::nullopt;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used[from] =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(from != source)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result.push_back({predecessor[from], from, distance[from]});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to =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to &lt; vertices(); ++to)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(!used[to] &amp;&amp; adjacency_[from][to] &lt; distance[to])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distance[to] = adjacency_[from][to];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predecessor[to] = from;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result;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20 / 33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Kruskal：从边出发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181782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把所有边按权从小到大排序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依次考察每条边 (u, v):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u 和 v 已经连通吗?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是 -&gt; 加进来会成环, 跳过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否 -&gt; 加入生成树, 把两个集合合并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直到选够 V-1 条边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896055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「已经连通吗」怎么判？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用第 6 章的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并查集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两个端点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find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到同一个根就说明成环。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758537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代价：排序的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O(E log E)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主导。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21 / 33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最短路树 ≠ 最小生成树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127894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三个点:  A-B = 2    B-C = 2    A-C = 3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从 A 出发的 Dijkstra 树:  A-B(2) + A-C(3) = 5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最小生成树:               A-B(2) + B-C(2) = 4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3406698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Dijkstra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保证每个点到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源点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的距离最短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MST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保证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总权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最小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43560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两个目标不同，结果自然不同。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22 / 33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课堂讲解卡：图算法先看存储和不变量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先决定图是稠密还是稀疏，再选邻接矩阵或邻接表；随后给算法写不变量：已确定的距离、已访问的顶点或当前生成树。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23 / 33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课堂例题：从 0 出发的带权图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119466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用 Dijkstra 逐轮确定最小暂定距离，用 Floyd 逐个开放中间顶点；两种算法算出的距离应一致，但访问模式不同。 再删掉一个入度为 0 的点，观察拓扑排序为什么会暴露环。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24 / 33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课堂例题答案：三个算法的结果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Dijkstra 每轮确定最小暂定距离，要求边权非负；Floyd 按中间点编号逐轮更新，允许负边但不能有负环。拓扑排序若仍有顶点未摘除，说明剩余子图有环。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25 / 33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Dijkstra 为什么不能处理负权边？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DFS/BFS 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seen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何时标记，能否避免重复入队？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Prim 与 Kruskal 都生成什么对象，为什么不等于最短路树？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十字链表的两条链是否始终描述同一组弧？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26 / 33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课末自检参考答案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Dijkstra 的贪心前提被负边破坏。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DFS/BFS 入队或入栈时及时标记，避免重复加入。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Prim/Kruskal 生成最小生成树，最短路树优化的是源点距离。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每条弧同时在出链和入链中出现，插删必须同步维护。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27 / 33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状态演算：Dijkstra 松弛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当前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dist[0]=0, dist[1]=3, dist[2]=9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，边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1→2=4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；选定 1 后候选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3+4=7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，于是更新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dist[2]=7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并记录前驱 1。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28 / 33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反例：负边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若已有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dist[2]=2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却存在后续负边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1→2=-5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，先“确定”2 的贪心步骤会失效，因此 Dijkstra 禁止负权边。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29 / 33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课堂练习与答案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课堂练习：给三点图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0→1=2,1→2=5,0→2=10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，写出最终距离。答案：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[0,2,7]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，前驱数组为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[-,0,1]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30 / 33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Python 算法轨：图的遍历与最短路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304465"/>
            <a:ext cx="11058144" cy="6984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邻接矩阵、邻接表和十字链表的布局用 C++ 展示；DFS、BFS、Dijkstra、Floyd 和生成树算法用 Python 复现，便于把注意力放在不变量上。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118705"/>
            <a:ext cx="11058144" cy="3978899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6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code/ch07/graph/modern.py#dijkstra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dijkstra(self, source: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-&gt;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list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self._check_vertex(source)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distance = [self.infinity] * self.vertices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used = [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False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 * self.vertices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distance[source] = </a:t>
            </a:r>
            <a:r>
              <a:rPr lang="zh-CN" sz="1367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_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range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(self.vertices):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vertex = self._nearest(distance, used)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vertex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is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None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or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distance[vertex] == self.infinity: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break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used[vertex] =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True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target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range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(self.vertices):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candidate = distance[vertex] + self._adjacency[vertex][target]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self._adjacency[vertex][target] &lt; self.infinity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and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candidate &lt; distance[target]: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distance[target] = candidate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distance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31 / 33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本章小结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337001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图的存法决定算法代价：稀疏用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邻接表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，稠密用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相邻矩阵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DFS 用栈、BFS 用队列；图有回路，所以必须标记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seen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拓扑排序顺带是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环检测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Dijkstra 要求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边权非负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；统一加常数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不能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修复负权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Floyd 的 k 必须在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最外层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O(V³)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，与边数无关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Kruskal 用第 6 章的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并查集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判环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最短路树不是最小生成树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——目标不同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32 / 33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上机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913269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python3 tools/check_code.py code/ch07/graph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python3 tools/check_code.py code/ch07/adjacency_list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2768893"/>
            <a:ext cx="11058144" cy="184251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GraphList::scan_steps()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量一量：同一张稀疏图上， 邻接表和邻接矩阵各扫了多少条边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 Floyd 的 k 循环挪到里层，看哪条断言变红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构造一个带负权边的图，看 Dijkstra 给出什么</a:t>
            </a:r>
          </a:p>
        </p:txBody>
      </p:sp>
      <p:sp>
        <p:nvSpPr>
          <p:cNvPr id="6" name="引用线"/>
          <p:cNvSpPr/>
          <p:nvPr/>
        </p:nvSpPr>
        <p:spPr>
          <a:xfrm>
            <a:off x="566928" y="4743487"/>
            <a:ext cx="32004" cy="803224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引用"/>
          <p:cNvSpPr txBox="1"/>
          <p:nvPr/>
        </p:nvSpPr>
        <p:spPr>
          <a:xfrm>
            <a:off x="694944" y="4743487"/>
            <a:ext cx="10820400" cy="8032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邻接表和邻接矩阵两套实现在测试里</a:t>
            </a:r>
            <a:r>
              <a:rPr lang="zh-CN" sz="2145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逐项对拍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： 同一张图上，所有算法必须给出同样的答案。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第7章 图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33 / 33</a:t>
            </a:r>
          </a:p>
        </p:txBody>
      </p:sp>
    </p:spTree>
  </p:cSld>
</p:sld>
</file>

<file path=ppt/theme/theme1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dsa-modernization/tools/build_pptx.py</Application>
  <Slides>33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第7章 图</dc:title>
  <dc:creator>dsa-modernization</dc:creator>
  <cp:revision>1</cp:revision>
</cp:coreProperties>
</file>